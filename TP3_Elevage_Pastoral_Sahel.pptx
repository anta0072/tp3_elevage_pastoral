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Bree Serif" charset="1" panose="02000503040000020004"/>
      <p:regular r:id="rId24"/>
    </p:embeddedFont>
    <p:embeddedFont>
      <p:font typeface="EB Garamond Semi-Bold" charset="1" panose="00000000000000000000"/>
      <p:regular r:id="rId25"/>
    </p:embeddedFont>
    <p:embeddedFont>
      <p:font typeface="EB Garamond" charset="1" panose="00000000000000000000"/>
      <p:regular r:id="rId26"/>
    </p:embeddedFont>
    <p:embeddedFont>
      <p:font typeface="Garamond" charset="1" panose="02020404030301010803"/>
      <p:regular r:id="rId28"/>
    </p:embeddedFont>
    <p:embeddedFont>
      <p:font typeface="EB Garamond Italics" charset="1" panose="00000000000000000000"/>
      <p:regular r:id="rId29"/>
    </p:embeddedFont>
    <p:embeddedFont>
      <p:font typeface="Consolas Bold" charset="1" panose="020B0709020204030204"/>
      <p:regular r:id="rId31"/>
    </p:embeddedFont>
    <p:embeddedFont>
      <p:font typeface="Consolas" charset="1" panose="020B0609020204030204"/>
      <p:regular r:id="rId32"/>
    </p:embeddedFont>
    <p:embeddedFont>
      <p:font typeface="Calibri (MS) Bold" charset="1" panose="020F0702030404030204"/>
      <p:regular r:id="rId34"/>
    </p:embeddedFont>
    <p:embeddedFont>
      <p:font typeface="Calibri (MS) Italics" charset="1" panose="020F05020202040A0204"/>
      <p:regular r:id="rId36"/>
    </p:embeddedFont>
    <p:embeddedFont>
      <p:font typeface="Calibri (MS)" charset="1" panose="020F0502020204030204"/>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3.xml" Type="http://schemas.openxmlformats.org/officeDocument/2006/relationships/notesSlide"/><Relationship Id="rId31" Target="fonts/font31.fntdata" Type="http://schemas.openxmlformats.org/officeDocument/2006/relationships/font"/><Relationship Id="rId32" Target="fonts/font32.fntdata" Type="http://schemas.openxmlformats.org/officeDocument/2006/relationships/font"/><Relationship Id="rId33" Target="notesSlides/notesSlide4.xml" Type="http://schemas.openxmlformats.org/officeDocument/2006/relationships/notesSlide"/><Relationship Id="rId34" Target="fonts/font34.fntdata" Type="http://schemas.openxmlformats.org/officeDocument/2006/relationships/font"/><Relationship Id="rId35" Target="notesSlides/notesSlide5.xml" Type="http://schemas.openxmlformats.org/officeDocument/2006/relationships/notesSlide"/><Relationship Id="rId36" Target="fonts/font36.fntdata" Type="http://schemas.openxmlformats.org/officeDocument/2006/relationships/font"/><Relationship Id="rId37" Target="notesSlides/notesSlide6.xml" Type="http://schemas.openxmlformats.org/officeDocument/2006/relationships/notesSlide"/><Relationship Id="rId38" Target="notesSlides/notesSlide7.xml" Type="http://schemas.openxmlformats.org/officeDocument/2006/relationships/notesSlide"/><Relationship Id="rId39" Target="notesSlides/notesSlide8.xml" Type="http://schemas.openxmlformats.org/officeDocument/2006/relationships/notesSlide"/><Relationship Id="rId4" Target="theme/theme1.xml" Type="http://schemas.openxmlformats.org/officeDocument/2006/relationships/theme"/><Relationship Id="rId40" Target="notesSlides/notesSlide9.xml" Type="http://schemas.openxmlformats.org/officeDocument/2006/relationships/notesSlide"/><Relationship Id="rId41" Target="fonts/font41.fntdata" Type="http://schemas.openxmlformats.org/officeDocument/2006/relationships/font"/><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47" Target="notesSlides/notesSlide1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Ici il a été question de calculer pour chaque pays la taille en équivalent adulte des ménages, la taille du cheptel en UBT ainsi que l'indice de viabilité de l'élevage.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C4A6E"/>
        </a:solidFill>
      </p:bgPr>
    </p:bg>
    <p:spTree>
      <p:nvGrpSpPr>
        <p:cNvPr id="1" name=""/>
        <p:cNvGrpSpPr/>
        <p:nvPr/>
      </p:nvGrpSpPr>
      <p:grpSpPr>
        <a:xfrm>
          <a:off x="0" y="0"/>
          <a:ext cx="0" cy="0"/>
          <a:chOff x="0" y="0"/>
          <a:chExt cx="0" cy="0"/>
        </a:xfrm>
      </p:grpSpPr>
      <p:grpSp>
        <p:nvGrpSpPr>
          <p:cNvPr name="Group 2" id="2"/>
          <p:cNvGrpSpPr/>
          <p:nvPr/>
        </p:nvGrpSpPr>
        <p:grpSpPr>
          <a:xfrm rot="0">
            <a:off x="13703303" y="-1475737"/>
            <a:ext cx="7340603" cy="7340603"/>
            <a:chOff x="0" y="0"/>
            <a:chExt cx="9787471" cy="9787471"/>
          </a:xfrm>
        </p:grpSpPr>
        <p:sp>
          <p:nvSpPr>
            <p:cNvPr name="Freeform 3" id="3"/>
            <p:cNvSpPr/>
            <p:nvPr/>
          </p:nvSpPr>
          <p:spPr>
            <a:xfrm flipH="false" flipV="false" rot="0">
              <a:off x="16891" y="16891"/>
              <a:ext cx="9753600" cy="9753600"/>
            </a:xfrm>
            <a:custGeom>
              <a:avLst/>
              <a:gdLst/>
              <a:ahLst/>
              <a:cxnLst/>
              <a:rect r="r" b="b" t="t" l="l"/>
              <a:pathLst>
                <a:path h="9753600" w="9753600">
                  <a:moveTo>
                    <a:pt x="0" y="4876800"/>
                  </a:moveTo>
                  <a:cubicBezTo>
                    <a:pt x="0" y="2183384"/>
                    <a:pt x="2183384" y="0"/>
                    <a:pt x="4876800" y="0"/>
                  </a:cubicBezTo>
                  <a:cubicBezTo>
                    <a:pt x="7570216" y="0"/>
                    <a:pt x="9753600" y="2183384"/>
                    <a:pt x="9753600" y="4876800"/>
                  </a:cubicBezTo>
                  <a:cubicBezTo>
                    <a:pt x="9753600" y="7570216"/>
                    <a:pt x="7570216" y="9753600"/>
                    <a:pt x="4876800" y="9753600"/>
                  </a:cubicBezTo>
                  <a:cubicBezTo>
                    <a:pt x="2183384" y="9753600"/>
                    <a:pt x="0" y="7570216"/>
                    <a:pt x="0" y="4876800"/>
                  </a:cubicBezTo>
                  <a:close/>
                </a:path>
              </a:pathLst>
            </a:custGeom>
            <a:solidFill>
              <a:srgbClr val="5B8DB8">
                <a:alpha val="4706"/>
              </a:srgbClr>
            </a:solidFill>
          </p:spPr>
        </p:sp>
        <p:sp>
          <p:nvSpPr>
            <p:cNvPr name="Freeform 4" id="4"/>
            <p:cNvSpPr/>
            <p:nvPr/>
          </p:nvSpPr>
          <p:spPr>
            <a:xfrm flipH="false" flipV="false" rot="0">
              <a:off x="0" y="0"/>
              <a:ext cx="9787509" cy="9787382"/>
            </a:xfrm>
            <a:custGeom>
              <a:avLst/>
              <a:gdLst/>
              <a:ahLst/>
              <a:cxnLst/>
              <a:rect r="r" b="b" t="t" l="l"/>
              <a:pathLst>
                <a:path h="9787382" w="9787509">
                  <a:moveTo>
                    <a:pt x="0" y="4893691"/>
                  </a:moveTo>
                  <a:cubicBezTo>
                    <a:pt x="0" y="2191004"/>
                    <a:pt x="2191004" y="0"/>
                    <a:pt x="4893691" y="0"/>
                  </a:cubicBezTo>
                  <a:lnTo>
                    <a:pt x="4893691" y="16891"/>
                  </a:lnTo>
                  <a:lnTo>
                    <a:pt x="4893691" y="0"/>
                  </a:lnTo>
                  <a:cubicBezTo>
                    <a:pt x="7596505" y="0"/>
                    <a:pt x="9787509" y="2191004"/>
                    <a:pt x="9787509" y="4893691"/>
                  </a:cubicBezTo>
                  <a:lnTo>
                    <a:pt x="9770618" y="4893691"/>
                  </a:lnTo>
                  <a:lnTo>
                    <a:pt x="9787509" y="4893691"/>
                  </a:lnTo>
                  <a:cubicBezTo>
                    <a:pt x="9787509" y="7596378"/>
                    <a:pt x="7596505" y="9787382"/>
                    <a:pt x="4893818" y="9787382"/>
                  </a:cubicBezTo>
                  <a:lnTo>
                    <a:pt x="4893818" y="9770490"/>
                  </a:lnTo>
                  <a:lnTo>
                    <a:pt x="4893818" y="9787382"/>
                  </a:lnTo>
                  <a:cubicBezTo>
                    <a:pt x="2191004" y="9787509"/>
                    <a:pt x="0" y="7596505"/>
                    <a:pt x="0" y="4893691"/>
                  </a:cubicBezTo>
                  <a:lnTo>
                    <a:pt x="16891" y="4893691"/>
                  </a:lnTo>
                  <a:lnTo>
                    <a:pt x="33909" y="4893691"/>
                  </a:lnTo>
                  <a:lnTo>
                    <a:pt x="16891" y="4893691"/>
                  </a:lnTo>
                  <a:lnTo>
                    <a:pt x="0" y="4893691"/>
                  </a:lnTo>
                  <a:moveTo>
                    <a:pt x="33909" y="4893691"/>
                  </a:moveTo>
                  <a:cubicBezTo>
                    <a:pt x="33909" y="4903089"/>
                    <a:pt x="26289" y="4910582"/>
                    <a:pt x="17018" y="4910582"/>
                  </a:cubicBezTo>
                  <a:cubicBezTo>
                    <a:pt x="7747" y="4910582"/>
                    <a:pt x="0" y="4903089"/>
                    <a:pt x="0" y="4893691"/>
                  </a:cubicBezTo>
                  <a:cubicBezTo>
                    <a:pt x="0" y="4884293"/>
                    <a:pt x="7620" y="4876800"/>
                    <a:pt x="16891" y="4876800"/>
                  </a:cubicBezTo>
                  <a:cubicBezTo>
                    <a:pt x="26162" y="4876800"/>
                    <a:pt x="33782" y="4884420"/>
                    <a:pt x="33782" y="4893691"/>
                  </a:cubicBezTo>
                  <a:cubicBezTo>
                    <a:pt x="33909" y="7577709"/>
                    <a:pt x="2209673" y="9753600"/>
                    <a:pt x="4893691" y="9753600"/>
                  </a:cubicBezTo>
                  <a:cubicBezTo>
                    <a:pt x="7577709" y="9753600"/>
                    <a:pt x="9753600" y="7577709"/>
                    <a:pt x="9753600" y="4893691"/>
                  </a:cubicBezTo>
                  <a:cubicBezTo>
                    <a:pt x="9753600" y="2209673"/>
                    <a:pt x="7577709" y="33909"/>
                    <a:pt x="4893691" y="33909"/>
                  </a:cubicBezTo>
                  <a:lnTo>
                    <a:pt x="4893691" y="16891"/>
                  </a:lnTo>
                  <a:lnTo>
                    <a:pt x="4893691" y="33909"/>
                  </a:lnTo>
                  <a:cubicBezTo>
                    <a:pt x="2209673" y="33909"/>
                    <a:pt x="33909" y="2209673"/>
                    <a:pt x="33909" y="4893691"/>
                  </a:cubicBezTo>
                  <a:close/>
                </a:path>
              </a:pathLst>
            </a:custGeom>
            <a:solidFill>
              <a:srgbClr val="5B8DB8"/>
            </a:solidFill>
          </p:spPr>
        </p:sp>
      </p:grpSp>
      <p:grpSp>
        <p:nvGrpSpPr>
          <p:cNvPr name="Group 5" id="5"/>
          <p:cNvGrpSpPr/>
          <p:nvPr/>
        </p:nvGrpSpPr>
        <p:grpSpPr>
          <a:xfrm rot="0">
            <a:off x="14983463" y="5107943"/>
            <a:ext cx="4048763" cy="4048763"/>
            <a:chOff x="0" y="0"/>
            <a:chExt cx="5398351" cy="5398351"/>
          </a:xfrm>
        </p:grpSpPr>
        <p:sp>
          <p:nvSpPr>
            <p:cNvPr name="Freeform 6" id="6"/>
            <p:cNvSpPr/>
            <p:nvPr/>
          </p:nvSpPr>
          <p:spPr>
            <a:xfrm flipH="false" flipV="false" rot="0">
              <a:off x="16891" y="16891"/>
              <a:ext cx="5364480" cy="5364480"/>
            </a:xfrm>
            <a:custGeom>
              <a:avLst/>
              <a:gdLst/>
              <a:ahLst/>
              <a:cxnLst/>
              <a:rect r="r" b="b" t="t" l="l"/>
              <a:pathLst>
                <a:path h="5364480" w="5364480">
                  <a:moveTo>
                    <a:pt x="0" y="2682240"/>
                  </a:moveTo>
                  <a:cubicBezTo>
                    <a:pt x="0" y="1200912"/>
                    <a:pt x="1200912" y="0"/>
                    <a:pt x="2682240" y="0"/>
                  </a:cubicBezTo>
                  <a:cubicBezTo>
                    <a:pt x="4163568" y="0"/>
                    <a:pt x="5364480" y="1200912"/>
                    <a:pt x="5364480" y="2682240"/>
                  </a:cubicBezTo>
                  <a:cubicBezTo>
                    <a:pt x="5364480" y="4163568"/>
                    <a:pt x="4163568" y="5364480"/>
                    <a:pt x="2682240" y="5364480"/>
                  </a:cubicBezTo>
                  <a:cubicBezTo>
                    <a:pt x="1200912" y="5364480"/>
                    <a:pt x="0" y="4163695"/>
                    <a:pt x="0" y="2682240"/>
                  </a:cubicBezTo>
                  <a:close/>
                </a:path>
              </a:pathLst>
            </a:custGeom>
            <a:solidFill>
              <a:srgbClr val="C89A3E">
                <a:alpha val="4706"/>
              </a:srgbClr>
            </a:solidFill>
          </p:spPr>
        </p:sp>
        <p:sp>
          <p:nvSpPr>
            <p:cNvPr name="Freeform 7" id="7"/>
            <p:cNvSpPr/>
            <p:nvPr/>
          </p:nvSpPr>
          <p:spPr>
            <a:xfrm flipH="false" flipV="false" rot="0">
              <a:off x="0" y="0"/>
              <a:ext cx="5398389" cy="5398262"/>
            </a:xfrm>
            <a:custGeom>
              <a:avLst/>
              <a:gdLst/>
              <a:ahLst/>
              <a:cxnLst/>
              <a:rect r="r" b="b" t="t" l="l"/>
              <a:pathLst>
                <a:path h="5398262" w="5398389">
                  <a:moveTo>
                    <a:pt x="0" y="2699131"/>
                  </a:moveTo>
                  <a:cubicBezTo>
                    <a:pt x="0" y="1208405"/>
                    <a:pt x="1208405" y="0"/>
                    <a:pt x="2699131" y="0"/>
                  </a:cubicBezTo>
                  <a:lnTo>
                    <a:pt x="2699131" y="16891"/>
                  </a:lnTo>
                  <a:lnTo>
                    <a:pt x="2699131" y="0"/>
                  </a:lnTo>
                  <a:cubicBezTo>
                    <a:pt x="4189857" y="0"/>
                    <a:pt x="5398389" y="1208405"/>
                    <a:pt x="5398389" y="2699131"/>
                  </a:cubicBezTo>
                  <a:lnTo>
                    <a:pt x="5381498" y="2699131"/>
                  </a:lnTo>
                  <a:lnTo>
                    <a:pt x="5398389" y="2699131"/>
                  </a:lnTo>
                  <a:cubicBezTo>
                    <a:pt x="5398389" y="4189857"/>
                    <a:pt x="4189984" y="5398262"/>
                    <a:pt x="2699258" y="5398262"/>
                  </a:cubicBezTo>
                  <a:lnTo>
                    <a:pt x="2699258" y="5381371"/>
                  </a:lnTo>
                  <a:lnTo>
                    <a:pt x="2699258" y="5398262"/>
                  </a:lnTo>
                  <a:cubicBezTo>
                    <a:pt x="1208405" y="5398389"/>
                    <a:pt x="0" y="4189857"/>
                    <a:pt x="0" y="2699131"/>
                  </a:cubicBezTo>
                  <a:lnTo>
                    <a:pt x="16891" y="2699131"/>
                  </a:lnTo>
                  <a:lnTo>
                    <a:pt x="33909" y="2699131"/>
                  </a:lnTo>
                  <a:lnTo>
                    <a:pt x="16891" y="2699131"/>
                  </a:lnTo>
                  <a:lnTo>
                    <a:pt x="0" y="2699131"/>
                  </a:lnTo>
                  <a:moveTo>
                    <a:pt x="33909" y="2699131"/>
                  </a:moveTo>
                  <a:cubicBezTo>
                    <a:pt x="33909" y="2708529"/>
                    <a:pt x="26289" y="2716022"/>
                    <a:pt x="17018" y="2716022"/>
                  </a:cubicBezTo>
                  <a:cubicBezTo>
                    <a:pt x="7747" y="2716022"/>
                    <a:pt x="0" y="2708529"/>
                    <a:pt x="0" y="2699131"/>
                  </a:cubicBezTo>
                  <a:cubicBezTo>
                    <a:pt x="0" y="2689733"/>
                    <a:pt x="7620" y="2682240"/>
                    <a:pt x="16891" y="2682240"/>
                  </a:cubicBezTo>
                  <a:cubicBezTo>
                    <a:pt x="26162" y="2682240"/>
                    <a:pt x="33782" y="2689860"/>
                    <a:pt x="33782" y="2699131"/>
                  </a:cubicBezTo>
                  <a:cubicBezTo>
                    <a:pt x="33782" y="4171188"/>
                    <a:pt x="1227074" y="5364480"/>
                    <a:pt x="2699131" y="5364480"/>
                  </a:cubicBezTo>
                  <a:cubicBezTo>
                    <a:pt x="4171188" y="5364480"/>
                    <a:pt x="5364480" y="4171188"/>
                    <a:pt x="5364480" y="2699131"/>
                  </a:cubicBezTo>
                  <a:cubicBezTo>
                    <a:pt x="5364480" y="1227201"/>
                    <a:pt x="4171188" y="33909"/>
                    <a:pt x="2699131" y="33909"/>
                  </a:cubicBezTo>
                  <a:lnTo>
                    <a:pt x="2699131" y="16891"/>
                  </a:lnTo>
                  <a:lnTo>
                    <a:pt x="2699131" y="33909"/>
                  </a:lnTo>
                  <a:cubicBezTo>
                    <a:pt x="1227201" y="33909"/>
                    <a:pt x="33909" y="1227201"/>
                    <a:pt x="33909" y="2699131"/>
                  </a:cubicBezTo>
                  <a:close/>
                </a:path>
              </a:pathLst>
            </a:custGeom>
            <a:solidFill>
              <a:srgbClr val="C89A3E"/>
            </a:solidFill>
          </p:spPr>
        </p:sp>
      </p:grpSp>
      <p:grpSp>
        <p:nvGrpSpPr>
          <p:cNvPr name="Group 8" id="8"/>
          <p:cNvGrpSpPr/>
          <p:nvPr/>
        </p:nvGrpSpPr>
        <p:grpSpPr>
          <a:xfrm rot="0">
            <a:off x="-927097" y="6936743"/>
            <a:ext cx="4597403" cy="4597403"/>
            <a:chOff x="0" y="0"/>
            <a:chExt cx="6129871" cy="6129871"/>
          </a:xfrm>
        </p:grpSpPr>
        <p:sp>
          <p:nvSpPr>
            <p:cNvPr name="Freeform 9" id="9"/>
            <p:cNvSpPr/>
            <p:nvPr/>
          </p:nvSpPr>
          <p:spPr>
            <a:xfrm flipH="false" flipV="false" rot="0">
              <a:off x="16891" y="16891"/>
              <a:ext cx="6096000" cy="6096000"/>
            </a:xfrm>
            <a:custGeom>
              <a:avLst/>
              <a:gdLst/>
              <a:ahLst/>
              <a:cxnLst/>
              <a:rect r="r" b="b" t="t" l="l"/>
              <a:pathLst>
                <a:path h="6096000" w="6096000">
                  <a:moveTo>
                    <a:pt x="0" y="3048000"/>
                  </a:moveTo>
                  <a:cubicBezTo>
                    <a:pt x="0" y="1364615"/>
                    <a:pt x="1364615" y="0"/>
                    <a:pt x="3048000" y="0"/>
                  </a:cubicBezTo>
                  <a:cubicBezTo>
                    <a:pt x="4731385" y="0"/>
                    <a:pt x="6096000" y="1364615"/>
                    <a:pt x="6096000" y="3048000"/>
                  </a:cubicBezTo>
                  <a:cubicBezTo>
                    <a:pt x="6096000" y="4731385"/>
                    <a:pt x="4731385" y="6096000"/>
                    <a:pt x="3048000" y="6096000"/>
                  </a:cubicBezTo>
                  <a:cubicBezTo>
                    <a:pt x="1364615" y="6096000"/>
                    <a:pt x="0" y="4731385"/>
                    <a:pt x="0" y="3048000"/>
                  </a:cubicBezTo>
                  <a:close/>
                </a:path>
              </a:pathLst>
            </a:custGeom>
            <a:solidFill>
              <a:srgbClr val="5B8DB8">
                <a:alpha val="1961"/>
              </a:srgbClr>
            </a:solidFill>
          </p:spPr>
        </p:sp>
        <p:sp>
          <p:nvSpPr>
            <p:cNvPr name="Freeform 10" id="10"/>
            <p:cNvSpPr/>
            <p:nvPr/>
          </p:nvSpPr>
          <p:spPr>
            <a:xfrm flipH="false" flipV="false" rot="0">
              <a:off x="0" y="0"/>
              <a:ext cx="6129909" cy="6129782"/>
            </a:xfrm>
            <a:custGeom>
              <a:avLst/>
              <a:gdLst/>
              <a:ahLst/>
              <a:cxnLst/>
              <a:rect r="r" b="b" t="t" l="l"/>
              <a:pathLst>
                <a:path h="6129782" w="6129909">
                  <a:moveTo>
                    <a:pt x="0" y="3064891"/>
                  </a:moveTo>
                  <a:cubicBezTo>
                    <a:pt x="0" y="1372235"/>
                    <a:pt x="1372235" y="0"/>
                    <a:pt x="3064891" y="0"/>
                  </a:cubicBezTo>
                  <a:lnTo>
                    <a:pt x="3064891" y="16891"/>
                  </a:lnTo>
                  <a:lnTo>
                    <a:pt x="3064891" y="0"/>
                  </a:lnTo>
                  <a:cubicBezTo>
                    <a:pt x="4757674" y="0"/>
                    <a:pt x="6129909" y="1372235"/>
                    <a:pt x="6129909" y="3064891"/>
                  </a:cubicBezTo>
                  <a:cubicBezTo>
                    <a:pt x="6129909" y="4757547"/>
                    <a:pt x="4757674" y="6129782"/>
                    <a:pt x="3065018" y="6129782"/>
                  </a:cubicBezTo>
                  <a:lnTo>
                    <a:pt x="3065018" y="6112891"/>
                  </a:lnTo>
                  <a:lnTo>
                    <a:pt x="3065018" y="6129782"/>
                  </a:lnTo>
                  <a:cubicBezTo>
                    <a:pt x="1372235" y="6129909"/>
                    <a:pt x="0" y="4757674"/>
                    <a:pt x="0" y="3064891"/>
                  </a:cubicBezTo>
                  <a:lnTo>
                    <a:pt x="16891" y="3064891"/>
                  </a:lnTo>
                  <a:lnTo>
                    <a:pt x="29718" y="3075940"/>
                  </a:lnTo>
                  <a:cubicBezTo>
                    <a:pt x="25146" y="3081274"/>
                    <a:pt x="17653" y="3083306"/>
                    <a:pt x="10922" y="3080766"/>
                  </a:cubicBezTo>
                  <a:cubicBezTo>
                    <a:pt x="4191" y="3078226"/>
                    <a:pt x="0" y="3072003"/>
                    <a:pt x="0" y="3064891"/>
                  </a:cubicBezTo>
                  <a:moveTo>
                    <a:pt x="33909" y="3064891"/>
                  </a:moveTo>
                  <a:lnTo>
                    <a:pt x="16891" y="3064891"/>
                  </a:lnTo>
                  <a:lnTo>
                    <a:pt x="4064" y="3053842"/>
                  </a:lnTo>
                  <a:cubicBezTo>
                    <a:pt x="8636" y="3048508"/>
                    <a:pt x="16129" y="3046476"/>
                    <a:pt x="22860" y="3049016"/>
                  </a:cubicBezTo>
                  <a:cubicBezTo>
                    <a:pt x="29591" y="3051556"/>
                    <a:pt x="33909" y="3057779"/>
                    <a:pt x="33909" y="3064891"/>
                  </a:cubicBezTo>
                  <a:cubicBezTo>
                    <a:pt x="33909" y="4739005"/>
                    <a:pt x="1390904" y="6096000"/>
                    <a:pt x="3064891" y="6096000"/>
                  </a:cubicBezTo>
                  <a:cubicBezTo>
                    <a:pt x="4739005" y="6096000"/>
                    <a:pt x="6096000" y="4739005"/>
                    <a:pt x="6096000" y="3064891"/>
                  </a:cubicBezTo>
                  <a:lnTo>
                    <a:pt x="6112891" y="3064891"/>
                  </a:lnTo>
                  <a:lnTo>
                    <a:pt x="6096000" y="3064891"/>
                  </a:lnTo>
                  <a:cubicBezTo>
                    <a:pt x="6096000" y="1390904"/>
                    <a:pt x="4739005" y="33909"/>
                    <a:pt x="3064891" y="33909"/>
                  </a:cubicBezTo>
                  <a:lnTo>
                    <a:pt x="3064891" y="16891"/>
                  </a:lnTo>
                  <a:lnTo>
                    <a:pt x="3064891" y="33909"/>
                  </a:lnTo>
                  <a:cubicBezTo>
                    <a:pt x="1390904" y="33909"/>
                    <a:pt x="33909" y="1390904"/>
                    <a:pt x="33909" y="3064891"/>
                  </a:cubicBezTo>
                  <a:close/>
                </a:path>
              </a:pathLst>
            </a:custGeom>
            <a:solidFill>
              <a:srgbClr val="5B8DB8"/>
            </a:solidFill>
          </p:spPr>
        </p:sp>
      </p:grpSp>
      <p:grpSp>
        <p:nvGrpSpPr>
          <p:cNvPr name="Group 11" id="11"/>
          <p:cNvGrpSpPr/>
          <p:nvPr/>
        </p:nvGrpSpPr>
        <p:grpSpPr>
          <a:xfrm rot="0">
            <a:off x="901703" y="1048007"/>
            <a:ext cx="1854203" cy="116843"/>
            <a:chOff x="0" y="0"/>
            <a:chExt cx="2472271" cy="155791"/>
          </a:xfrm>
        </p:grpSpPr>
        <p:sp>
          <p:nvSpPr>
            <p:cNvPr name="Freeform 12" id="12"/>
            <p:cNvSpPr/>
            <p:nvPr/>
          </p:nvSpPr>
          <p:spPr>
            <a:xfrm flipH="false" flipV="false" rot="0">
              <a:off x="16891" y="16891"/>
              <a:ext cx="2438400" cy="121920"/>
            </a:xfrm>
            <a:custGeom>
              <a:avLst/>
              <a:gdLst/>
              <a:ahLst/>
              <a:cxnLst/>
              <a:rect r="r" b="b" t="t" l="l"/>
              <a:pathLst>
                <a:path h="121920" w="2438400">
                  <a:moveTo>
                    <a:pt x="0" y="0"/>
                  </a:moveTo>
                  <a:lnTo>
                    <a:pt x="2438400" y="0"/>
                  </a:lnTo>
                  <a:lnTo>
                    <a:pt x="2438400" y="121920"/>
                  </a:lnTo>
                  <a:lnTo>
                    <a:pt x="0" y="121920"/>
                  </a:lnTo>
                  <a:close/>
                </a:path>
              </a:pathLst>
            </a:custGeom>
            <a:solidFill>
              <a:srgbClr val="C89A3E"/>
            </a:solidFill>
          </p:spPr>
        </p:sp>
        <p:sp>
          <p:nvSpPr>
            <p:cNvPr name="Freeform 13" id="13"/>
            <p:cNvSpPr/>
            <p:nvPr/>
          </p:nvSpPr>
          <p:spPr>
            <a:xfrm flipH="false" flipV="false" rot="0">
              <a:off x="0" y="0"/>
              <a:ext cx="2472182" cy="155704"/>
            </a:xfrm>
            <a:custGeom>
              <a:avLst/>
              <a:gdLst/>
              <a:ahLst/>
              <a:cxnLst/>
              <a:rect r="r" b="b" t="t" l="l"/>
              <a:pathLst>
                <a:path h="155704" w="2472182">
                  <a:moveTo>
                    <a:pt x="16891" y="0"/>
                  </a:moveTo>
                  <a:lnTo>
                    <a:pt x="2455291" y="0"/>
                  </a:lnTo>
                  <a:cubicBezTo>
                    <a:pt x="2464689" y="0"/>
                    <a:pt x="2472182" y="7620"/>
                    <a:pt x="2472182" y="16891"/>
                  </a:cubicBezTo>
                  <a:lnTo>
                    <a:pt x="2472182" y="138811"/>
                  </a:lnTo>
                  <a:cubicBezTo>
                    <a:pt x="2472182" y="148209"/>
                    <a:pt x="2464562" y="155702"/>
                    <a:pt x="245529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2455291" y="121920"/>
                  </a:lnTo>
                  <a:lnTo>
                    <a:pt x="2455291" y="138811"/>
                  </a:lnTo>
                  <a:lnTo>
                    <a:pt x="2438400" y="138811"/>
                  </a:lnTo>
                  <a:lnTo>
                    <a:pt x="2438400" y="16891"/>
                  </a:lnTo>
                  <a:lnTo>
                    <a:pt x="2455291" y="16891"/>
                  </a:lnTo>
                  <a:lnTo>
                    <a:pt x="2455291" y="33909"/>
                  </a:lnTo>
                  <a:lnTo>
                    <a:pt x="16891" y="33909"/>
                  </a:lnTo>
                  <a:close/>
                </a:path>
              </a:pathLst>
            </a:custGeom>
            <a:solidFill>
              <a:srgbClr val="C89A3E"/>
            </a:solidFill>
          </p:spPr>
        </p:sp>
      </p:grpSp>
      <p:grpSp>
        <p:nvGrpSpPr>
          <p:cNvPr name="Group 14" id="14"/>
          <p:cNvGrpSpPr/>
          <p:nvPr/>
        </p:nvGrpSpPr>
        <p:grpSpPr>
          <a:xfrm rot="0">
            <a:off x="914400" y="1188720"/>
            <a:ext cx="16459200" cy="548640"/>
            <a:chOff x="0" y="0"/>
            <a:chExt cx="21945600" cy="731520"/>
          </a:xfrm>
        </p:grpSpPr>
        <p:sp>
          <p:nvSpPr>
            <p:cNvPr name="Freeform 15" id="15"/>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sp>
        <p:sp>
          <p:nvSpPr>
            <p:cNvPr name="TextBox 16" id="16"/>
            <p:cNvSpPr txBox="true"/>
            <p:nvPr/>
          </p:nvSpPr>
          <p:spPr>
            <a:xfrm>
              <a:off x="0" y="0"/>
              <a:ext cx="21945600" cy="731520"/>
            </a:xfrm>
            <a:prstGeom prst="rect">
              <a:avLst/>
            </a:prstGeom>
          </p:spPr>
          <p:txBody>
            <a:bodyPr anchor="ctr" rtlCol="false" tIns="0" lIns="0" bIns="0" rIns="0"/>
            <a:lstStyle/>
            <a:p>
              <a:pPr algn="l">
                <a:lnSpc>
                  <a:spcPts val="2760"/>
                </a:lnSpc>
              </a:pPr>
              <a:r>
                <a:rPr lang="en-US" sz="2300">
                  <a:solidFill>
                    <a:srgbClr val="8EB8D4"/>
                  </a:solidFill>
                  <a:latin typeface="Bree Serif"/>
                  <a:ea typeface="Bree Serif"/>
                  <a:cs typeface="Bree Serif"/>
                  <a:sym typeface="Bree Serif"/>
                </a:rPr>
                <a:t>TP3 : Statistiques Agricoles · ENSAE · Avril 2026</a:t>
              </a:r>
            </a:p>
          </p:txBody>
        </p:sp>
      </p:grpSp>
      <p:grpSp>
        <p:nvGrpSpPr>
          <p:cNvPr name="Group 17" id="17"/>
          <p:cNvGrpSpPr/>
          <p:nvPr/>
        </p:nvGrpSpPr>
        <p:grpSpPr>
          <a:xfrm rot="0">
            <a:off x="914400" y="2011680"/>
            <a:ext cx="15544800" cy="2069465"/>
            <a:chOff x="0" y="0"/>
            <a:chExt cx="20726400" cy="2759287"/>
          </a:xfrm>
        </p:grpSpPr>
        <p:sp>
          <p:nvSpPr>
            <p:cNvPr name="Freeform 18" id="18"/>
            <p:cNvSpPr/>
            <p:nvPr/>
          </p:nvSpPr>
          <p:spPr>
            <a:xfrm flipH="false" flipV="false" rot="0">
              <a:off x="0" y="0"/>
              <a:ext cx="20726400" cy="2759287"/>
            </a:xfrm>
            <a:custGeom>
              <a:avLst/>
              <a:gdLst/>
              <a:ahLst/>
              <a:cxnLst/>
              <a:rect r="r" b="b" t="t" l="l"/>
              <a:pathLst>
                <a:path h="2759287" w="20726400">
                  <a:moveTo>
                    <a:pt x="0" y="0"/>
                  </a:moveTo>
                  <a:lnTo>
                    <a:pt x="20726400" y="0"/>
                  </a:lnTo>
                  <a:lnTo>
                    <a:pt x="20726400" y="2759287"/>
                  </a:lnTo>
                  <a:lnTo>
                    <a:pt x="0" y="2759287"/>
                  </a:lnTo>
                  <a:close/>
                </a:path>
              </a:pathLst>
            </a:custGeom>
            <a:blipFill>
              <a:blip r:embed="rId3">
                <a:alphaModFix amt="0"/>
              </a:blip>
              <a:stretch>
                <a:fillRect l="0" t="-111013" r="0" b="-81710"/>
              </a:stretch>
            </a:blipFill>
          </p:spPr>
        </p:sp>
        <p:sp>
          <p:nvSpPr>
            <p:cNvPr name="TextBox 19" id="19"/>
            <p:cNvSpPr txBox="true"/>
            <p:nvPr/>
          </p:nvSpPr>
          <p:spPr>
            <a:xfrm>
              <a:off x="0" y="0"/>
              <a:ext cx="20726400" cy="2759287"/>
            </a:xfrm>
            <a:prstGeom prst="rect">
              <a:avLst/>
            </a:prstGeom>
          </p:spPr>
          <p:txBody>
            <a:bodyPr anchor="ctr" rtlCol="false" tIns="0" lIns="0" bIns="0" rIns="0"/>
            <a:lstStyle/>
            <a:p>
              <a:pPr algn="l">
                <a:lnSpc>
                  <a:spcPts val="11999"/>
                </a:lnSpc>
              </a:pPr>
              <a:r>
                <a:rPr lang="en-US" sz="9999" b="true">
                  <a:solidFill>
                    <a:srgbClr val="FFFFFF"/>
                  </a:solidFill>
                  <a:latin typeface="EB Garamond Semi-Bold"/>
                  <a:ea typeface="EB Garamond Semi-Bold"/>
                  <a:cs typeface="EB Garamond Semi-Bold"/>
                  <a:sym typeface="EB Garamond Semi-Bold"/>
                </a:rPr>
                <a:t>Élevage Pastoral</a:t>
              </a:r>
            </a:p>
          </p:txBody>
        </p:sp>
      </p:grpSp>
      <p:grpSp>
        <p:nvGrpSpPr>
          <p:cNvPr name="Group 20" id="20"/>
          <p:cNvGrpSpPr/>
          <p:nvPr/>
        </p:nvGrpSpPr>
        <p:grpSpPr>
          <a:xfrm rot="0">
            <a:off x="914400" y="3135633"/>
            <a:ext cx="15544800" cy="2069465"/>
            <a:chOff x="0" y="0"/>
            <a:chExt cx="20726400" cy="2759287"/>
          </a:xfrm>
        </p:grpSpPr>
        <p:sp>
          <p:nvSpPr>
            <p:cNvPr name="Freeform 21" id="21"/>
            <p:cNvSpPr/>
            <p:nvPr/>
          </p:nvSpPr>
          <p:spPr>
            <a:xfrm flipH="false" flipV="false" rot="0">
              <a:off x="0" y="0"/>
              <a:ext cx="20726400" cy="2759287"/>
            </a:xfrm>
            <a:custGeom>
              <a:avLst/>
              <a:gdLst/>
              <a:ahLst/>
              <a:cxnLst/>
              <a:rect r="r" b="b" t="t" l="l"/>
              <a:pathLst>
                <a:path h="2759287" w="20726400">
                  <a:moveTo>
                    <a:pt x="0" y="0"/>
                  </a:moveTo>
                  <a:lnTo>
                    <a:pt x="20726400" y="0"/>
                  </a:lnTo>
                  <a:lnTo>
                    <a:pt x="20726400" y="2759287"/>
                  </a:lnTo>
                  <a:lnTo>
                    <a:pt x="0" y="2759287"/>
                  </a:lnTo>
                  <a:close/>
                </a:path>
              </a:pathLst>
            </a:custGeom>
            <a:blipFill>
              <a:blip r:embed="rId3">
                <a:alphaModFix amt="0"/>
              </a:blip>
              <a:stretch>
                <a:fillRect l="0" t="-114548" r="0" b="-78175"/>
              </a:stretch>
            </a:blipFill>
          </p:spPr>
        </p:sp>
        <p:sp>
          <p:nvSpPr>
            <p:cNvPr name="TextBox 22" id="22"/>
            <p:cNvSpPr txBox="true"/>
            <p:nvPr/>
          </p:nvSpPr>
          <p:spPr>
            <a:xfrm>
              <a:off x="0" y="0"/>
              <a:ext cx="20726400" cy="2759287"/>
            </a:xfrm>
            <a:prstGeom prst="rect">
              <a:avLst/>
            </a:prstGeom>
          </p:spPr>
          <p:txBody>
            <a:bodyPr anchor="ctr" rtlCol="false" tIns="0" lIns="0" bIns="0" rIns="0"/>
            <a:lstStyle/>
            <a:p>
              <a:pPr algn="l">
                <a:lnSpc>
                  <a:spcPts val="11999"/>
                </a:lnSpc>
              </a:pPr>
              <a:r>
                <a:rPr lang="en-US" sz="9999" b="true">
                  <a:solidFill>
                    <a:srgbClr val="C89A3E"/>
                  </a:solidFill>
                  <a:latin typeface="EB Garamond Semi-Bold"/>
                  <a:ea typeface="EB Garamond Semi-Bold"/>
                  <a:cs typeface="EB Garamond Semi-Bold"/>
                  <a:sym typeface="EB Garamond Semi-Bold"/>
                </a:rPr>
                <a:t>au Sahel</a:t>
              </a:r>
            </a:p>
          </p:txBody>
        </p:sp>
      </p:grpSp>
      <p:grpSp>
        <p:nvGrpSpPr>
          <p:cNvPr name="Group 23" id="23"/>
          <p:cNvGrpSpPr/>
          <p:nvPr/>
        </p:nvGrpSpPr>
        <p:grpSpPr>
          <a:xfrm rot="0">
            <a:off x="914400" y="4846320"/>
            <a:ext cx="16093440" cy="621792"/>
            <a:chOff x="0" y="0"/>
            <a:chExt cx="21457920" cy="829056"/>
          </a:xfrm>
        </p:grpSpPr>
        <p:sp>
          <p:nvSpPr>
            <p:cNvPr name="Freeform 24" id="24"/>
            <p:cNvSpPr/>
            <p:nvPr/>
          </p:nvSpPr>
          <p:spPr>
            <a:xfrm flipH="false" flipV="false" rot="0">
              <a:off x="0" y="0"/>
              <a:ext cx="21457920" cy="829056"/>
            </a:xfrm>
            <a:custGeom>
              <a:avLst/>
              <a:gdLst/>
              <a:ahLst/>
              <a:cxnLst/>
              <a:rect r="r" b="b" t="t" l="l"/>
              <a:pathLst>
                <a:path h="829056" w="21457920">
                  <a:moveTo>
                    <a:pt x="0" y="0"/>
                  </a:moveTo>
                  <a:lnTo>
                    <a:pt x="21457920" y="0"/>
                  </a:lnTo>
                  <a:lnTo>
                    <a:pt x="21457920" y="829056"/>
                  </a:lnTo>
                  <a:lnTo>
                    <a:pt x="0" y="829056"/>
                  </a:lnTo>
                  <a:close/>
                </a:path>
              </a:pathLst>
            </a:custGeom>
            <a:blipFill>
              <a:blip r:embed="rId3">
                <a:alphaModFix amt="0"/>
              </a:blip>
              <a:stretch>
                <a:fillRect l="0" t="-454318" r="0" b="-454318"/>
              </a:stretch>
            </a:blipFill>
          </p:spPr>
        </p:sp>
        <p:sp>
          <p:nvSpPr>
            <p:cNvPr name="TextBox 25" id="25"/>
            <p:cNvSpPr txBox="true"/>
            <p:nvPr/>
          </p:nvSpPr>
          <p:spPr>
            <a:xfrm>
              <a:off x="0" y="0"/>
              <a:ext cx="21457920" cy="829056"/>
            </a:xfrm>
            <a:prstGeom prst="rect">
              <a:avLst/>
            </a:prstGeom>
          </p:spPr>
          <p:txBody>
            <a:bodyPr anchor="ctr" rtlCol="false" tIns="0" lIns="0" bIns="0" rIns="0"/>
            <a:lstStyle/>
            <a:p>
              <a:pPr algn="l">
                <a:lnSpc>
                  <a:spcPts val="3120"/>
                </a:lnSpc>
              </a:pPr>
              <a:r>
                <a:rPr lang="en-US" sz="2600">
                  <a:solidFill>
                    <a:srgbClr val="9DBDCE"/>
                  </a:solidFill>
                  <a:latin typeface="Bree Serif"/>
                  <a:ea typeface="Bree Serif"/>
                  <a:cs typeface="Bree Serif"/>
                  <a:sym typeface="Bree Serif"/>
                </a:rPr>
                <a:t>Mobilité du bétail · Subsistance pastorale · Émigration — 5 pays, 350 ménages</a:t>
              </a:r>
            </a:p>
          </p:txBody>
        </p:sp>
      </p:grpSp>
      <p:grpSp>
        <p:nvGrpSpPr>
          <p:cNvPr name="Group 26" id="26"/>
          <p:cNvGrpSpPr/>
          <p:nvPr/>
        </p:nvGrpSpPr>
        <p:grpSpPr>
          <a:xfrm rot="0">
            <a:off x="901703" y="5748023"/>
            <a:ext cx="16484603" cy="25403"/>
            <a:chOff x="0" y="0"/>
            <a:chExt cx="21979471" cy="33871"/>
          </a:xfrm>
        </p:grpSpPr>
        <p:sp>
          <p:nvSpPr>
            <p:cNvPr name="Freeform 27" id="27"/>
            <p:cNvSpPr/>
            <p:nvPr/>
          </p:nvSpPr>
          <p:spPr>
            <a:xfrm flipH="false" flipV="false" rot="0">
              <a:off x="16891" y="0"/>
              <a:ext cx="21945599" cy="33909"/>
            </a:xfrm>
            <a:custGeom>
              <a:avLst/>
              <a:gdLst/>
              <a:ahLst/>
              <a:cxnLst/>
              <a:rect r="r" b="b" t="t" l="l"/>
              <a:pathLst>
                <a:path h="33909" w="21945599">
                  <a:moveTo>
                    <a:pt x="0" y="0"/>
                  </a:moveTo>
                  <a:lnTo>
                    <a:pt x="21945599" y="0"/>
                  </a:lnTo>
                  <a:lnTo>
                    <a:pt x="21945599" y="33909"/>
                  </a:lnTo>
                  <a:lnTo>
                    <a:pt x="0" y="33909"/>
                  </a:lnTo>
                  <a:close/>
                </a:path>
              </a:pathLst>
            </a:custGeom>
            <a:solidFill>
              <a:srgbClr val="3A6080"/>
            </a:solidFill>
          </p:spPr>
        </p:sp>
      </p:grpSp>
      <p:grpSp>
        <p:nvGrpSpPr>
          <p:cNvPr name="Group 28" id="28"/>
          <p:cNvGrpSpPr/>
          <p:nvPr/>
        </p:nvGrpSpPr>
        <p:grpSpPr>
          <a:xfrm rot="0">
            <a:off x="914400" y="5998464"/>
            <a:ext cx="5486400" cy="475488"/>
            <a:chOff x="0" y="0"/>
            <a:chExt cx="7315200" cy="633984"/>
          </a:xfrm>
        </p:grpSpPr>
        <p:sp>
          <p:nvSpPr>
            <p:cNvPr name="Freeform 29" id="29"/>
            <p:cNvSpPr/>
            <p:nvPr/>
          </p:nvSpPr>
          <p:spPr>
            <a:xfrm flipH="false" flipV="false" rot="0">
              <a:off x="0" y="0"/>
              <a:ext cx="7315200" cy="633984"/>
            </a:xfrm>
            <a:custGeom>
              <a:avLst/>
              <a:gdLst/>
              <a:ahLst/>
              <a:cxnLst/>
              <a:rect r="r" b="b" t="t" l="l"/>
              <a:pathLst>
                <a:path h="633984" w="7315200">
                  <a:moveTo>
                    <a:pt x="0" y="0"/>
                  </a:moveTo>
                  <a:lnTo>
                    <a:pt x="7315200" y="0"/>
                  </a:lnTo>
                  <a:lnTo>
                    <a:pt x="7315200" y="633984"/>
                  </a:lnTo>
                  <a:lnTo>
                    <a:pt x="0" y="633984"/>
                  </a:lnTo>
                  <a:close/>
                </a:path>
              </a:pathLst>
            </a:custGeom>
            <a:blipFill>
              <a:blip r:embed="rId3">
                <a:alphaModFix amt="0"/>
              </a:blip>
              <a:stretch>
                <a:fillRect l="0" t="-174827" r="0" b="-174827"/>
              </a:stretch>
            </a:blipFill>
          </p:spPr>
        </p:sp>
        <p:sp>
          <p:nvSpPr>
            <p:cNvPr name="TextBox 30" id="30"/>
            <p:cNvSpPr txBox="true"/>
            <p:nvPr/>
          </p:nvSpPr>
          <p:spPr>
            <a:xfrm>
              <a:off x="0" y="0"/>
              <a:ext cx="7315200" cy="633984"/>
            </a:xfrm>
            <a:prstGeom prst="rect">
              <a:avLst/>
            </a:prstGeom>
          </p:spPr>
          <p:txBody>
            <a:bodyPr anchor="ctr" rtlCol="false" tIns="0" lIns="0" bIns="0" rIns="0"/>
            <a:lstStyle/>
            <a:p>
              <a:pPr algn="l">
                <a:lnSpc>
                  <a:spcPts val="2640"/>
                </a:lnSpc>
              </a:pPr>
              <a:r>
                <a:rPr lang="en-US" sz="2200">
                  <a:solidFill>
                    <a:srgbClr val="7B8FA1"/>
                  </a:solidFill>
                  <a:latin typeface="Bree Serif"/>
                  <a:ea typeface="Bree Serif"/>
                  <a:cs typeface="Bree Serif"/>
                  <a:sym typeface="Bree Serif"/>
                </a:rPr>
                <a:t>Présenté </a:t>
              </a:r>
              <a:r>
                <a:rPr lang="en-US" sz="2200">
                  <a:solidFill>
                    <a:srgbClr val="7B8FA1"/>
                  </a:solidFill>
                  <a:latin typeface="Bree Serif"/>
                  <a:ea typeface="Bree Serif"/>
                  <a:cs typeface="Bree Serif"/>
                  <a:sym typeface="Bree Serif"/>
                </a:rPr>
                <a:t>par</a:t>
              </a:r>
            </a:p>
          </p:txBody>
        </p:sp>
      </p:grpSp>
      <p:grpSp>
        <p:nvGrpSpPr>
          <p:cNvPr name="Group 31" id="31"/>
          <p:cNvGrpSpPr/>
          <p:nvPr/>
        </p:nvGrpSpPr>
        <p:grpSpPr>
          <a:xfrm rot="0">
            <a:off x="914400" y="6473952"/>
            <a:ext cx="7082877" cy="782396"/>
            <a:chOff x="0" y="0"/>
            <a:chExt cx="9443836" cy="1043195"/>
          </a:xfrm>
        </p:grpSpPr>
        <p:sp>
          <p:nvSpPr>
            <p:cNvPr name="Freeform 32" id="32"/>
            <p:cNvSpPr/>
            <p:nvPr/>
          </p:nvSpPr>
          <p:spPr>
            <a:xfrm flipH="false" flipV="false" rot="0">
              <a:off x="0" y="0"/>
              <a:ext cx="9443836" cy="1043195"/>
            </a:xfrm>
            <a:custGeom>
              <a:avLst/>
              <a:gdLst/>
              <a:ahLst/>
              <a:cxnLst/>
              <a:rect r="r" b="b" t="t" l="l"/>
              <a:pathLst>
                <a:path h="1043195" w="9443836">
                  <a:moveTo>
                    <a:pt x="0" y="0"/>
                  </a:moveTo>
                  <a:lnTo>
                    <a:pt x="9443836" y="0"/>
                  </a:lnTo>
                  <a:lnTo>
                    <a:pt x="9443836" y="1043195"/>
                  </a:lnTo>
                  <a:lnTo>
                    <a:pt x="0" y="1043195"/>
                  </a:lnTo>
                  <a:close/>
                </a:path>
              </a:pathLst>
            </a:custGeom>
            <a:blipFill>
              <a:blip r:embed="rId3">
                <a:alphaModFix amt="0"/>
              </a:blip>
              <a:stretch>
                <a:fillRect l="0" t="-272066" r="-80740" b="-265563"/>
              </a:stretch>
            </a:blipFill>
          </p:spPr>
        </p:sp>
        <p:sp>
          <p:nvSpPr>
            <p:cNvPr name="TextBox 33" id="33"/>
            <p:cNvSpPr txBox="true"/>
            <p:nvPr/>
          </p:nvSpPr>
          <p:spPr>
            <a:xfrm>
              <a:off x="0" y="9525"/>
              <a:ext cx="9443836" cy="1033670"/>
            </a:xfrm>
            <a:prstGeom prst="rect">
              <a:avLst/>
            </a:prstGeom>
          </p:spPr>
          <p:txBody>
            <a:bodyPr anchor="ctr" rtlCol="false" tIns="0" lIns="0" bIns="0" rIns="0"/>
            <a:lstStyle/>
            <a:p>
              <a:pPr algn="l">
                <a:lnSpc>
                  <a:spcPts val="4560"/>
                </a:lnSpc>
              </a:pPr>
              <a:r>
                <a:rPr lang="en-US" sz="3800" b="true">
                  <a:solidFill>
                    <a:srgbClr val="FFFFFF"/>
                  </a:solidFill>
                  <a:latin typeface="EB Garamond Semi-Bold"/>
                  <a:ea typeface="EB Garamond Semi-Bold"/>
                  <a:cs typeface="EB Garamond Semi-Bold"/>
                  <a:sym typeface="EB Garamond Semi-Bold"/>
                </a:rPr>
                <a:t>Mame Diarra Ndiaye et Anta Ndao</a:t>
              </a:r>
            </a:p>
          </p:txBody>
        </p:sp>
      </p:grpSp>
      <p:grpSp>
        <p:nvGrpSpPr>
          <p:cNvPr name="Group 34" id="34"/>
          <p:cNvGrpSpPr/>
          <p:nvPr/>
        </p:nvGrpSpPr>
        <p:grpSpPr>
          <a:xfrm rot="0">
            <a:off x="914400" y="7205472"/>
            <a:ext cx="7315200" cy="512064"/>
            <a:chOff x="0" y="0"/>
            <a:chExt cx="9753600" cy="682752"/>
          </a:xfrm>
        </p:grpSpPr>
        <p:sp>
          <p:nvSpPr>
            <p:cNvPr name="Freeform 35" id="35"/>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3">
                <a:alphaModFix amt="0"/>
              </a:blip>
              <a:stretch>
                <a:fillRect l="0" t="-228357" r="0" b="-228357"/>
              </a:stretch>
            </a:blipFill>
          </p:spPr>
        </p:sp>
        <p:sp>
          <p:nvSpPr>
            <p:cNvPr name="TextBox 36" id="36"/>
            <p:cNvSpPr txBox="true"/>
            <p:nvPr/>
          </p:nvSpPr>
          <p:spPr>
            <a:xfrm>
              <a:off x="0" y="9525"/>
              <a:ext cx="9753600" cy="673227"/>
            </a:xfrm>
            <a:prstGeom prst="rect">
              <a:avLst/>
            </a:prstGeom>
          </p:spPr>
          <p:txBody>
            <a:bodyPr anchor="ctr" rtlCol="false" tIns="0" lIns="0" bIns="0" rIns="0"/>
            <a:lstStyle/>
            <a:p>
              <a:pPr algn="l">
                <a:lnSpc>
                  <a:spcPts val="2879"/>
                </a:lnSpc>
              </a:pPr>
              <a:r>
                <a:rPr lang="en-US" sz="2400">
                  <a:solidFill>
                    <a:srgbClr val="BDC8D5"/>
                  </a:solidFill>
                  <a:latin typeface="EB Garamond"/>
                  <a:ea typeface="EB Garamond"/>
                  <a:cs typeface="EB Garamond"/>
                  <a:sym typeface="EB Garamond"/>
                </a:rPr>
                <a:t>ISEP2 / ENSAE</a:t>
              </a:r>
            </a:p>
          </p:txBody>
        </p:sp>
      </p:grpSp>
      <p:grpSp>
        <p:nvGrpSpPr>
          <p:cNvPr name="Group 37" id="37"/>
          <p:cNvGrpSpPr/>
          <p:nvPr/>
        </p:nvGrpSpPr>
        <p:grpSpPr>
          <a:xfrm rot="0">
            <a:off x="914400" y="8412480"/>
            <a:ext cx="3657600" cy="475488"/>
            <a:chOff x="0" y="0"/>
            <a:chExt cx="4876800" cy="633984"/>
          </a:xfrm>
        </p:grpSpPr>
        <p:sp>
          <p:nvSpPr>
            <p:cNvPr name="Freeform 38" id="38"/>
            <p:cNvSpPr/>
            <p:nvPr/>
          </p:nvSpPr>
          <p:spPr>
            <a:xfrm flipH="false" flipV="false" rot="0">
              <a:off x="0" y="0"/>
              <a:ext cx="4876800" cy="633984"/>
            </a:xfrm>
            <a:custGeom>
              <a:avLst/>
              <a:gdLst/>
              <a:ahLst/>
              <a:cxnLst/>
              <a:rect r="r" b="b" t="t" l="l"/>
              <a:pathLst>
                <a:path h="633984" w="4876800">
                  <a:moveTo>
                    <a:pt x="0" y="0"/>
                  </a:moveTo>
                  <a:lnTo>
                    <a:pt x="4876800" y="0"/>
                  </a:lnTo>
                  <a:lnTo>
                    <a:pt x="4876800" y="633984"/>
                  </a:lnTo>
                  <a:lnTo>
                    <a:pt x="0" y="633984"/>
                  </a:lnTo>
                  <a:close/>
                </a:path>
              </a:pathLst>
            </a:custGeom>
            <a:blipFill>
              <a:blip r:embed="rId3">
                <a:alphaModFix amt="0"/>
              </a:blip>
              <a:stretch>
                <a:fillRect l="0" t="-99884" r="0" b="-99884"/>
              </a:stretch>
            </a:blipFill>
          </p:spPr>
        </p:sp>
        <p:sp>
          <p:nvSpPr>
            <p:cNvPr name="TextBox 39" id="39"/>
            <p:cNvSpPr txBox="true"/>
            <p:nvPr/>
          </p:nvSpPr>
          <p:spPr>
            <a:xfrm>
              <a:off x="0" y="0"/>
              <a:ext cx="4876800" cy="633984"/>
            </a:xfrm>
            <a:prstGeom prst="rect">
              <a:avLst/>
            </a:prstGeom>
          </p:spPr>
          <p:txBody>
            <a:bodyPr anchor="ctr" rtlCol="false" tIns="0" lIns="0" bIns="0" rIns="0"/>
            <a:lstStyle/>
            <a:p>
              <a:pPr algn="l">
                <a:lnSpc>
                  <a:spcPts val="2640"/>
                </a:lnSpc>
              </a:pPr>
              <a:r>
                <a:rPr lang="en-US" sz="2200">
                  <a:solidFill>
                    <a:srgbClr val="7B8FA1"/>
                  </a:solidFill>
                  <a:latin typeface="Bree Serif"/>
                  <a:ea typeface="Bree Serif"/>
                  <a:cs typeface="Bree Serif"/>
                  <a:sym typeface="Bree Serif"/>
                </a:rPr>
                <a:t>Outils utilisés :</a:t>
              </a:r>
            </a:p>
          </p:txBody>
        </p:sp>
      </p:grpSp>
      <p:grpSp>
        <p:nvGrpSpPr>
          <p:cNvPr name="Group 40" id="40"/>
          <p:cNvGrpSpPr/>
          <p:nvPr/>
        </p:nvGrpSpPr>
        <p:grpSpPr>
          <a:xfrm rot="0">
            <a:off x="901703" y="8984999"/>
            <a:ext cx="3957323" cy="574043"/>
            <a:chOff x="0" y="0"/>
            <a:chExt cx="5276431" cy="765391"/>
          </a:xfrm>
        </p:grpSpPr>
        <p:sp>
          <p:nvSpPr>
            <p:cNvPr name="Freeform 41" id="41"/>
            <p:cNvSpPr/>
            <p:nvPr/>
          </p:nvSpPr>
          <p:spPr>
            <a:xfrm flipH="false" flipV="false" rot="0">
              <a:off x="16891" y="16891"/>
              <a:ext cx="5242687" cy="731520"/>
            </a:xfrm>
            <a:custGeom>
              <a:avLst/>
              <a:gdLst/>
              <a:ahLst/>
              <a:cxnLst/>
              <a:rect r="r" b="b" t="t" l="l"/>
              <a:pathLst>
                <a:path h="731520" w="5242687">
                  <a:moveTo>
                    <a:pt x="0" y="195072"/>
                  </a:moveTo>
                  <a:cubicBezTo>
                    <a:pt x="0" y="87376"/>
                    <a:pt x="90805" y="0"/>
                    <a:pt x="202819" y="0"/>
                  </a:cubicBezTo>
                  <a:lnTo>
                    <a:pt x="5039868" y="0"/>
                  </a:lnTo>
                  <a:cubicBezTo>
                    <a:pt x="5151882" y="0"/>
                    <a:pt x="5242687" y="87376"/>
                    <a:pt x="5242687" y="195072"/>
                  </a:cubicBezTo>
                  <a:lnTo>
                    <a:pt x="5242687" y="536448"/>
                  </a:lnTo>
                  <a:cubicBezTo>
                    <a:pt x="5242687" y="644144"/>
                    <a:pt x="5151882" y="731520"/>
                    <a:pt x="5039868" y="731520"/>
                  </a:cubicBezTo>
                  <a:lnTo>
                    <a:pt x="202819" y="731520"/>
                  </a:lnTo>
                  <a:cubicBezTo>
                    <a:pt x="90805" y="731520"/>
                    <a:pt x="0" y="644144"/>
                    <a:pt x="0" y="536448"/>
                  </a:cubicBezTo>
                  <a:close/>
                </a:path>
              </a:pathLst>
            </a:custGeom>
            <a:solidFill>
              <a:srgbClr val="2E5C8A"/>
            </a:solidFill>
          </p:spPr>
        </p:sp>
        <p:sp>
          <p:nvSpPr>
            <p:cNvPr name="Freeform 42" id="42"/>
            <p:cNvSpPr/>
            <p:nvPr/>
          </p:nvSpPr>
          <p:spPr>
            <a:xfrm flipH="false" flipV="false" rot="0">
              <a:off x="0" y="0"/>
              <a:ext cx="5276469" cy="765302"/>
            </a:xfrm>
            <a:custGeom>
              <a:avLst/>
              <a:gdLst/>
              <a:ahLst/>
              <a:cxnLst/>
              <a:rect r="r" b="b" t="t" l="l"/>
              <a:pathLst>
                <a:path h="765302" w="5276469">
                  <a:moveTo>
                    <a:pt x="0" y="211963"/>
                  </a:moveTo>
                  <a:cubicBezTo>
                    <a:pt x="0" y="94361"/>
                    <a:pt x="99060" y="0"/>
                    <a:pt x="219710" y="0"/>
                  </a:cubicBezTo>
                  <a:lnTo>
                    <a:pt x="5056759" y="0"/>
                  </a:lnTo>
                  <a:lnTo>
                    <a:pt x="5056759" y="16891"/>
                  </a:lnTo>
                  <a:lnTo>
                    <a:pt x="5056759" y="0"/>
                  </a:lnTo>
                  <a:cubicBezTo>
                    <a:pt x="5177536" y="0"/>
                    <a:pt x="5276469" y="94361"/>
                    <a:pt x="5276469" y="211963"/>
                  </a:cubicBezTo>
                  <a:lnTo>
                    <a:pt x="5259578" y="211963"/>
                  </a:lnTo>
                  <a:lnTo>
                    <a:pt x="5276469" y="211963"/>
                  </a:lnTo>
                  <a:lnTo>
                    <a:pt x="5276469" y="553339"/>
                  </a:lnTo>
                  <a:lnTo>
                    <a:pt x="5259578" y="553339"/>
                  </a:lnTo>
                  <a:lnTo>
                    <a:pt x="5276469" y="553339"/>
                  </a:lnTo>
                  <a:cubicBezTo>
                    <a:pt x="5276469" y="671068"/>
                    <a:pt x="5177409" y="765302"/>
                    <a:pt x="5056759" y="765302"/>
                  </a:cubicBezTo>
                  <a:lnTo>
                    <a:pt x="5056759" y="748411"/>
                  </a:lnTo>
                  <a:lnTo>
                    <a:pt x="5056759" y="765302"/>
                  </a:lnTo>
                  <a:lnTo>
                    <a:pt x="219710" y="765302"/>
                  </a:lnTo>
                  <a:lnTo>
                    <a:pt x="219710" y="748411"/>
                  </a:lnTo>
                  <a:lnTo>
                    <a:pt x="219710" y="765302"/>
                  </a:lnTo>
                  <a:cubicBezTo>
                    <a:pt x="99060" y="765429"/>
                    <a:pt x="0" y="671068"/>
                    <a:pt x="0" y="553339"/>
                  </a:cubicBezTo>
                  <a:lnTo>
                    <a:pt x="0" y="211963"/>
                  </a:lnTo>
                  <a:lnTo>
                    <a:pt x="16891" y="211963"/>
                  </a:lnTo>
                  <a:lnTo>
                    <a:pt x="0" y="211963"/>
                  </a:lnTo>
                  <a:moveTo>
                    <a:pt x="33909" y="211963"/>
                  </a:moveTo>
                  <a:lnTo>
                    <a:pt x="33909" y="553339"/>
                  </a:lnTo>
                  <a:lnTo>
                    <a:pt x="16891" y="553339"/>
                  </a:lnTo>
                  <a:lnTo>
                    <a:pt x="33909" y="553339"/>
                  </a:lnTo>
                  <a:cubicBezTo>
                    <a:pt x="33909" y="651129"/>
                    <a:pt x="116459" y="731520"/>
                    <a:pt x="219710" y="731520"/>
                  </a:cubicBezTo>
                  <a:lnTo>
                    <a:pt x="5056759" y="731520"/>
                  </a:lnTo>
                  <a:cubicBezTo>
                    <a:pt x="5160010" y="731520"/>
                    <a:pt x="5242560" y="651129"/>
                    <a:pt x="5242560" y="553339"/>
                  </a:cubicBezTo>
                  <a:lnTo>
                    <a:pt x="5242560" y="211963"/>
                  </a:lnTo>
                  <a:cubicBezTo>
                    <a:pt x="5242560" y="114173"/>
                    <a:pt x="5160010" y="33782"/>
                    <a:pt x="5056759" y="33782"/>
                  </a:cubicBezTo>
                  <a:lnTo>
                    <a:pt x="219710" y="33782"/>
                  </a:lnTo>
                  <a:lnTo>
                    <a:pt x="219710" y="16891"/>
                  </a:lnTo>
                  <a:lnTo>
                    <a:pt x="219710" y="33909"/>
                  </a:lnTo>
                  <a:cubicBezTo>
                    <a:pt x="116459" y="33909"/>
                    <a:pt x="33909" y="114300"/>
                    <a:pt x="33909" y="211963"/>
                  </a:cubicBezTo>
                  <a:close/>
                </a:path>
              </a:pathLst>
            </a:custGeom>
            <a:solidFill>
              <a:srgbClr val="2E5C8A"/>
            </a:solidFill>
          </p:spPr>
        </p:sp>
      </p:grpSp>
      <p:grpSp>
        <p:nvGrpSpPr>
          <p:cNvPr name="Group 43" id="43"/>
          <p:cNvGrpSpPr/>
          <p:nvPr/>
        </p:nvGrpSpPr>
        <p:grpSpPr>
          <a:xfrm rot="0">
            <a:off x="914400" y="9015984"/>
            <a:ext cx="3931920" cy="512064"/>
            <a:chOff x="0" y="0"/>
            <a:chExt cx="5242560" cy="682752"/>
          </a:xfrm>
        </p:grpSpPr>
        <p:sp>
          <p:nvSpPr>
            <p:cNvPr name="Freeform 44" id="44"/>
            <p:cNvSpPr/>
            <p:nvPr/>
          </p:nvSpPr>
          <p:spPr>
            <a:xfrm flipH="false" flipV="false" rot="0">
              <a:off x="0" y="0"/>
              <a:ext cx="5242560" cy="682752"/>
            </a:xfrm>
            <a:custGeom>
              <a:avLst/>
              <a:gdLst/>
              <a:ahLst/>
              <a:cxnLst/>
              <a:rect r="r" b="b" t="t" l="l"/>
              <a:pathLst>
                <a:path h="682752" w="5242560">
                  <a:moveTo>
                    <a:pt x="0" y="0"/>
                  </a:moveTo>
                  <a:lnTo>
                    <a:pt x="5242560" y="0"/>
                  </a:lnTo>
                  <a:lnTo>
                    <a:pt x="5242560" y="682752"/>
                  </a:lnTo>
                  <a:lnTo>
                    <a:pt x="0" y="682752"/>
                  </a:lnTo>
                  <a:close/>
                </a:path>
              </a:pathLst>
            </a:custGeom>
            <a:blipFill>
              <a:blip r:embed="rId3">
                <a:alphaModFix amt="0"/>
              </a:blip>
              <a:stretch>
                <a:fillRect l="0" t="-99617" r="0" b="-99617"/>
              </a:stretch>
            </a:blipFill>
          </p:spPr>
        </p:sp>
        <p:sp>
          <p:nvSpPr>
            <p:cNvPr name="TextBox 45" id="45"/>
            <p:cNvSpPr txBox="true"/>
            <p:nvPr/>
          </p:nvSpPr>
          <p:spPr>
            <a:xfrm>
              <a:off x="0" y="0"/>
              <a:ext cx="5242560" cy="682752"/>
            </a:xfrm>
            <a:prstGeom prst="rect">
              <a:avLst/>
            </a:prstGeom>
          </p:spPr>
          <p:txBody>
            <a:bodyPr anchor="ctr" rtlCol="false" tIns="0" lIns="0" bIns="0" rIns="0"/>
            <a:lstStyle/>
            <a:p>
              <a:pPr algn="ctr">
                <a:lnSpc>
                  <a:spcPts val="2640"/>
                </a:lnSpc>
              </a:pPr>
              <a:r>
                <a:rPr lang="en-US" sz="2200" b="true">
                  <a:solidFill>
                    <a:srgbClr val="FFFFFF"/>
                  </a:solidFill>
                  <a:latin typeface="EB Garamond Semi-Bold"/>
                  <a:ea typeface="EB Garamond Semi-Bold"/>
                  <a:cs typeface="EB Garamond Semi-Bold"/>
                  <a:sym typeface="EB Garamond Semi-Bold"/>
                </a:rPr>
                <a:t>Claude Code</a:t>
              </a:r>
            </a:p>
          </p:txBody>
        </p:sp>
      </p:grpSp>
      <p:grpSp>
        <p:nvGrpSpPr>
          <p:cNvPr name="Group 46" id="46"/>
          <p:cNvGrpSpPr/>
          <p:nvPr/>
        </p:nvGrpSpPr>
        <p:grpSpPr>
          <a:xfrm rot="0">
            <a:off x="5107943" y="8984999"/>
            <a:ext cx="3957323" cy="574043"/>
            <a:chOff x="0" y="0"/>
            <a:chExt cx="5276431" cy="765391"/>
          </a:xfrm>
        </p:grpSpPr>
        <p:sp>
          <p:nvSpPr>
            <p:cNvPr name="Freeform 47" id="47"/>
            <p:cNvSpPr/>
            <p:nvPr/>
          </p:nvSpPr>
          <p:spPr>
            <a:xfrm flipH="false" flipV="false" rot="0">
              <a:off x="16891" y="16891"/>
              <a:ext cx="5242687" cy="731520"/>
            </a:xfrm>
            <a:custGeom>
              <a:avLst/>
              <a:gdLst/>
              <a:ahLst/>
              <a:cxnLst/>
              <a:rect r="r" b="b" t="t" l="l"/>
              <a:pathLst>
                <a:path h="731520" w="5242687">
                  <a:moveTo>
                    <a:pt x="0" y="195072"/>
                  </a:moveTo>
                  <a:cubicBezTo>
                    <a:pt x="0" y="87376"/>
                    <a:pt x="90805" y="0"/>
                    <a:pt x="202819" y="0"/>
                  </a:cubicBezTo>
                  <a:lnTo>
                    <a:pt x="5039868" y="0"/>
                  </a:lnTo>
                  <a:cubicBezTo>
                    <a:pt x="5151882" y="0"/>
                    <a:pt x="5242687" y="87376"/>
                    <a:pt x="5242687" y="195072"/>
                  </a:cubicBezTo>
                  <a:lnTo>
                    <a:pt x="5242687" y="536448"/>
                  </a:lnTo>
                  <a:cubicBezTo>
                    <a:pt x="5242687" y="644144"/>
                    <a:pt x="5151882" y="731520"/>
                    <a:pt x="5039868" y="731520"/>
                  </a:cubicBezTo>
                  <a:lnTo>
                    <a:pt x="202819" y="731520"/>
                  </a:lnTo>
                  <a:cubicBezTo>
                    <a:pt x="90805" y="731520"/>
                    <a:pt x="0" y="644144"/>
                    <a:pt x="0" y="536448"/>
                  </a:cubicBezTo>
                  <a:close/>
                </a:path>
              </a:pathLst>
            </a:custGeom>
            <a:solidFill>
              <a:srgbClr val="3A7D8C"/>
            </a:solidFill>
          </p:spPr>
        </p:sp>
        <p:sp>
          <p:nvSpPr>
            <p:cNvPr name="Freeform 48" id="48"/>
            <p:cNvSpPr/>
            <p:nvPr/>
          </p:nvSpPr>
          <p:spPr>
            <a:xfrm flipH="false" flipV="false" rot="0">
              <a:off x="0" y="0"/>
              <a:ext cx="5276469" cy="765302"/>
            </a:xfrm>
            <a:custGeom>
              <a:avLst/>
              <a:gdLst/>
              <a:ahLst/>
              <a:cxnLst/>
              <a:rect r="r" b="b" t="t" l="l"/>
              <a:pathLst>
                <a:path h="765302" w="5276469">
                  <a:moveTo>
                    <a:pt x="0" y="211963"/>
                  </a:moveTo>
                  <a:cubicBezTo>
                    <a:pt x="0" y="94361"/>
                    <a:pt x="99060" y="0"/>
                    <a:pt x="219710" y="0"/>
                  </a:cubicBezTo>
                  <a:lnTo>
                    <a:pt x="5056759" y="0"/>
                  </a:lnTo>
                  <a:lnTo>
                    <a:pt x="5056759" y="16891"/>
                  </a:lnTo>
                  <a:lnTo>
                    <a:pt x="5056759" y="0"/>
                  </a:lnTo>
                  <a:cubicBezTo>
                    <a:pt x="5177536" y="0"/>
                    <a:pt x="5276469" y="94361"/>
                    <a:pt x="5276469" y="211963"/>
                  </a:cubicBezTo>
                  <a:lnTo>
                    <a:pt x="5259578" y="211963"/>
                  </a:lnTo>
                  <a:lnTo>
                    <a:pt x="5276469" y="211963"/>
                  </a:lnTo>
                  <a:lnTo>
                    <a:pt x="5276469" y="553339"/>
                  </a:lnTo>
                  <a:lnTo>
                    <a:pt x="5259578" y="553339"/>
                  </a:lnTo>
                  <a:lnTo>
                    <a:pt x="5276469" y="553339"/>
                  </a:lnTo>
                  <a:cubicBezTo>
                    <a:pt x="5276469" y="671068"/>
                    <a:pt x="5177409" y="765302"/>
                    <a:pt x="5056759" y="765302"/>
                  </a:cubicBezTo>
                  <a:lnTo>
                    <a:pt x="5056759" y="748411"/>
                  </a:lnTo>
                  <a:lnTo>
                    <a:pt x="5056759" y="765302"/>
                  </a:lnTo>
                  <a:lnTo>
                    <a:pt x="219710" y="765302"/>
                  </a:lnTo>
                  <a:lnTo>
                    <a:pt x="219710" y="748411"/>
                  </a:lnTo>
                  <a:lnTo>
                    <a:pt x="219710" y="765302"/>
                  </a:lnTo>
                  <a:cubicBezTo>
                    <a:pt x="99060" y="765429"/>
                    <a:pt x="0" y="671068"/>
                    <a:pt x="0" y="553339"/>
                  </a:cubicBezTo>
                  <a:lnTo>
                    <a:pt x="0" y="211963"/>
                  </a:lnTo>
                  <a:lnTo>
                    <a:pt x="16891" y="211963"/>
                  </a:lnTo>
                  <a:lnTo>
                    <a:pt x="0" y="211963"/>
                  </a:lnTo>
                  <a:moveTo>
                    <a:pt x="33909" y="211963"/>
                  </a:moveTo>
                  <a:lnTo>
                    <a:pt x="33909" y="553339"/>
                  </a:lnTo>
                  <a:lnTo>
                    <a:pt x="16891" y="553339"/>
                  </a:lnTo>
                  <a:lnTo>
                    <a:pt x="33909" y="553339"/>
                  </a:lnTo>
                  <a:cubicBezTo>
                    <a:pt x="33909" y="651129"/>
                    <a:pt x="116459" y="731520"/>
                    <a:pt x="219710" y="731520"/>
                  </a:cubicBezTo>
                  <a:lnTo>
                    <a:pt x="5056759" y="731520"/>
                  </a:lnTo>
                  <a:cubicBezTo>
                    <a:pt x="5160010" y="731520"/>
                    <a:pt x="5242560" y="651129"/>
                    <a:pt x="5242560" y="553339"/>
                  </a:cubicBezTo>
                  <a:lnTo>
                    <a:pt x="5242560" y="211963"/>
                  </a:lnTo>
                  <a:cubicBezTo>
                    <a:pt x="5242560" y="114173"/>
                    <a:pt x="5160010" y="33782"/>
                    <a:pt x="5056759" y="33782"/>
                  </a:cubicBezTo>
                  <a:lnTo>
                    <a:pt x="219710" y="33782"/>
                  </a:lnTo>
                  <a:lnTo>
                    <a:pt x="219710" y="16891"/>
                  </a:lnTo>
                  <a:lnTo>
                    <a:pt x="219710" y="33909"/>
                  </a:lnTo>
                  <a:cubicBezTo>
                    <a:pt x="116459" y="33909"/>
                    <a:pt x="33909" y="114300"/>
                    <a:pt x="33909" y="211963"/>
                  </a:cubicBezTo>
                  <a:close/>
                </a:path>
              </a:pathLst>
            </a:custGeom>
            <a:solidFill>
              <a:srgbClr val="3A7D8C"/>
            </a:solidFill>
          </p:spPr>
        </p:sp>
      </p:grpSp>
      <p:grpSp>
        <p:nvGrpSpPr>
          <p:cNvPr name="Group 49" id="49"/>
          <p:cNvGrpSpPr/>
          <p:nvPr/>
        </p:nvGrpSpPr>
        <p:grpSpPr>
          <a:xfrm rot="0">
            <a:off x="5120640" y="9015984"/>
            <a:ext cx="3931920" cy="512064"/>
            <a:chOff x="0" y="0"/>
            <a:chExt cx="5242560" cy="682752"/>
          </a:xfrm>
        </p:grpSpPr>
        <p:sp>
          <p:nvSpPr>
            <p:cNvPr name="Freeform 50" id="50"/>
            <p:cNvSpPr/>
            <p:nvPr/>
          </p:nvSpPr>
          <p:spPr>
            <a:xfrm flipH="false" flipV="false" rot="0">
              <a:off x="0" y="0"/>
              <a:ext cx="5242560" cy="682752"/>
            </a:xfrm>
            <a:custGeom>
              <a:avLst/>
              <a:gdLst/>
              <a:ahLst/>
              <a:cxnLst/>
              <a:rect r="r" b="b" t="t" l="l"/>
              <a:pathLst>
                <a:path h="682752" w="5242560">
                  <a:moveTo>
                    <a:pt x="0" y="0"/>
                  </a:moveTo>
                  <a:lnTo>
                    <a:pt x="5242560" y="0"/>
                  </a:lnTo>
                  <a:lnTo>
                    <a:pt x="5242560" y="682752"/>
                  </a:lnTo>
                  <a:lnTo>
                    <a:pt x="0" y="682752"/>
                  </a:lnTo>
                  <a:close/>
                </a:path>
              </a:pathLst>
            </a:custGeom>
            <a:blipFill>
              <a:blip r:embed="rId3">
                <a:alphaModFix amt="0"/>
              </a:blip>
              <a:stretch>
                <a:fillRect l="0" t="-99617" r="0" b="-99617"/>
              </a:stretch>
            </a:blipFill>
          </p:spPr>
        </p:sp>
        <p:sp>
          <p:nvSpPr>
            <p:cNvPr name="TextBox 51" id="51"/>
            <p:cNvSpPr txBox="true"/>
            <p:nvPr/>
          </p:nvSpPr>
          <p:spPr>
            <a:xfrm>
              <a:off x="0" y="0"/>
              <a:ext cx="5242560" cy="682752"/>
            </a:xfrm>
            <a:prstGeom prst="rect">
              <a:avLst/>
            </a:prstGeom>
          </p:spPr>
          <p:txBody>
            <a:bodyPr anchor="ctr" rtlCol="false" tIns="0" lIns="0" bIns="0" rIns="0"/>
            <a:lstStyle/>
            <a:p>
              <a:pPr algn="ctr">
                <a:lnSpc>
                  <a:spcPts val="2640"/>
                </a:lnSpc>
              </a:pPr>
              <a:r>
                <a:rPr lang="en-US" sz="2200" b="true">
                  <a:solidFill>
                    <a:srgbClr val="FFFFFF"/>
                  </a:solidFill>
                  <a:latin typeface="EB Garamond Semi-Bold"/>
                  <a:ea typeface="EB Garamond Semi-Bold"/>
                  <a:cs typeface="EB Garamond Semi-Bold"/>
                  <a:sym typeface="EB Garamond Semi-Bold"/>
                </a:rPr>
                <a:t>Claude AI</a:t>
              </a:r>
            </a:p>
          </p:txBody>
        </p:sp>
      </p:grpSp>
      <p:grpSp>
        <p:nvGrpSpPr>
          <p:cNvPr name="Group 52" id="52"/>
          <p:cNvGrpSpPr/>
          <p:nvPr/>
        </p:nvGrpSpPr>
        <p:grpSpPr>
          <a:xfrm rot="0">
            <a:off x="9314183" y="8984999"/>
            <a:ext cx="3957323" cy="574043"/>
            <a:chOff x="0" y="0"/>
            <a:chExt cx="5276431" cy="765391"/>
          </a:xfrm>
        </p:grpSpPr>
        <p:sp>
          <p:nvSpPr>
            <p:cNvPr name="Freeform 53" id="53"/>
            <p:cNvSpPr/>
            <p:nvPr/>
          </p:nvSpPr>
          <p:spPr>
            <a:xfrm flipH="false" flipV="false" rot="0">
              <a:off x="16891" y="16891"/>
              <a:ext cx="5242687" cy="731520"/>
            </a:xfrm>
            <a:custGeom>
              <a:avLst/>
              <a:gdLst/>
              <a:ahLst/>
              <a:cxnLst/>
              <a:rect r="r" b="b" t="t" l="l"/>
              <a:pathLst>
                <a:path h="731520" w="5242687">
                  <a:moveTo>
                    <a:pt x="0" y="195072"/>
                  </a:moveTo>
                  <a:cubicBezTo>
                    <a:pt x="0" y="87376"/>
                    <a:pt x="90805" y="0"/>
                    <a:pt x="202819" y="0"/>
                  </a:cubicBezTo>
                  <a:lnTo>
                    <a:pt x="5039868" y="0"/>
                  </a:lnTo>
                  <a:cubicBezTo>
                    <a:pt x="5151882" y="0"/>
                    <a:pt x="5242687" y="87376"/>
                    <a:pt x="5242687" y="195072"/>
                  </a:cubicBezTo>
                  <a:lnTo>
                    <a:pt x="5242687" y="536448"/>
                  </a:lnTo>
                  <a:cubicBezTo>
                    <a:pt x="5242687" y="644144"/>
                    <a:pt x="5151882" y="731520"/>
                    <a:pt x="5039868" y="731520"/>
                  </a:cubicBezTo>
                  <a:lnTo>
                    <a:pt x="202819" y="731520"/>
                  </a:lnTo>
                  <a:cubicBezTo>
                    <a:pt x="90805" y="731520"/>
                    <a:pt x="0" y="644144"/>
                    <a:pt x="0" y="536448"/>
                  </a:cubicBezTo>
                  <a:close/>
                </a:path>
              </a:pathLst>
            </a:custGeom>
            <a:solidFill>
              <a:srgbClr val="3D6E9A"/>
            </a:solidFill>
          </p:spPr>
        </p:sp>
        <p:sp>
          <p:nvSpPr>
            <p:cNvPr name="Freeform 54" id="54"/>
            <p:cNvSpPr/>
            <p:nvPr/>
          </p:nvSpPr>
          <p:spPr>
            <a:xfrm flipH="false" flipV="false" rot="0">
              <a:off x="0" y="0"/>
              <a:ext cx="5276469" cy="765302"/>
            </a:xfrm>
            <a:custGeom>
              <a:avLst/>
              <a:gdLst/>
              <a:ahLst/>
              <a:cxnLst/>
              <a:rect r="r" b="b" t="t" l="l"/>
              <a:pathLst>
                <a:path h="765302" w="5276469">
                  <a:moveTo>
                    <a:pt x="0" y="211963"/>
                  </a:moveTo>
                  <a:cubicBezTo>
                    <a:pt x="0" y="94361"/>
                    <a:pt x="99060" y="0"/>
                    <a:pt x="219710" y="0"/>
                  </a:cubicBezTo>
                  <a:lnTo>
                    <a:pt x="5056759" y="0"/>
                  </a:lnTo>
                  <a:lnTo>
                    <a:pt x="5056759" y="16891"/>
                  </a:lnTo>
                  <a:lnTo>
                    <a:pt x="5056759" y="0"/>
                  </a:lnTo>
                  <a:cubicBezTo>
                    <a:pt x="5177536" y="0"/>
                    <a:pt x="5276469" y="94361"/>
                    <a:pt x="5276469" y="211963"/>
                  </a:cubicBezTo>
                  <a:lnTo>
                    <a:pt x="5259578" y="211963"/>
                  </a:lnTo>
                  <a:lnTo>
                    <a:pt x="5276469" y="211963"/>
                  </a:lnTo>
                  <a:lnTo>
                    <a:pt x="5276469" y="553339"/>
                  </a:lnTo>
                  <a:lnTo>
                    <a:pt x="5259578" y="553339"/>
                  </a:lnTo>
                  <a:lnTo>
                    <a:pt x="5276469" y="553339"/>
                  </a:lnTo>
                  <a:cubicBezTo>
                    <a:pt x="5276469" y="671068"/>
                    <a:pt x="5177409" y="765302"/>
                    <a:pt x="5056759" y="765302"/>
                  </a:cubicBezTo>
                  <a:lnTo>
                    <a:pt x="5056759" y="748411"/>
                  </a:lnTo>
                  <a:lnTo>
                    <a:pt x="5056759" y="765302"/>
                  </a:lnTo>
                  <a:lnTo>
                    <a:pt x="219710" y="765302"/>
                  </a:lnTo>
                  <a:lnTo>
                    <a:pt x="219710" y="748411"/>
                  </a:lnTo>
                  <a:lnTo>
                    <a:pt x="219710" y="765302"/>
                  </a:lnTo>
                  <a:cubicBezTo>
                    <a:pt x="99060" y="765429"/>
                    <a:pt x="0" y="671068"/>
                    <a:pt x="0" y="553339"/>
                  </a:cubicBezTo>
                  <a:lnTo>
                    <a:pt x="0" y="211963"/>
                  </a:lnTo>
                  <a:lnTo>
                    <a:pt x="16891" y="211963"/>
                  </a:lnTo>
                  <a:lnTo>
                    <a:pt x="0" y="211963"/>
                  </a:lnTo>
                  <a:moveTo>
                    <a:pt x="33909" y="211963"/>
                  </a:moveTo>
                  <a:lnTo>
                    <a:pt x="33909" y="553339"/>
                  </a:lnTo>
                  <a:lnTo>
                    <a:pt x="16891" y="553339"/>
                  </a:lnTo>
                  <a:lnTo>
                    <a:pt x="33909" y="553339"/>
                  </a:lnTo>
                  <a:cubicBezTo>
                    <a:pt x="33909" y="651129"/>
                    <a:pt x="116459" y="731520"/>
                    <a:pt x="219710" y="731520"/>
                  </a:cubicBezTo>
                  <a:lnTo>
                    <a:pt x="5056759" y="731520"/>
                  </a:lnTo>
                  <a:cubicBezTo>
                    <a:pt x="5160010" y="731520"/>
                    <a:pt x="5242560" y="651129"/>
                    <a:pt x="5242560" y="553339"/>
                  </a:cubicBezTo>
                  <a:lnTo>
                    <a:pt x="5242560" y="211963"/>
                  </a:lnTo>
                  <a:cubicBezTo>
                    <a:pt x="5242560" y="114173"/>
                    <a:pt x="5160010" y="33782"/>
                    <a:pt x="5056759" y="33782"/>
                  </a:cubicBezTo>
                  <a:lnTo>
                    <a:pt x="219710" y="33782"/>
                  </a:lnTo>
                  <a:lnTo>
                    <a:pt x="219710" y="16891"/>
                  </a:lnTo>
                  <a:lnTo>
                    <a:pt x="219710" y="33909"/>
                  </a:lnTo>
                  <a:cubicBezTo>
                    <a:pt x="116459" y="33909"/>
                    <a:pt x="33909" y="114300"/>
                    <a:pt x="33909" y="211963"/>
                  </a:cubicBezTo>
                  <a:close/>
                </a:path>
              </a:pathLst>
            </a:custGeom>
            <a:solidFill>
              <a:srgbClr val="3D6E9A"/>
            </a:solidFill>
          </p:spPr>
        </p:sp>
      </p:grpSp>
      <p:grpSp>
        <p:nvGrpSpPr>
          <p:cNvPr name="Group 55" id="55"/>
          <p:cNvGrpSpPr/>
          <p:nvPr/>
        </p:nvGrpSpPr>
        <p:grpSpPr>
          <a:xfrm rot="0">
            <a:off x="9326880" y="9015984"/>
            <a:ext cx="3931920" cy="512064"/>
            <a:chOff x="0" y="0"/>
            <a:chExt cx="5242560" cy="682752"/>
          </a:xfrm>
        </p:grpSpPr>
        <p:sp>
          <p:nvSpPr>
            <p:cNvPr name="Freeform 56" id="56"/>
            <p:cNvSpPr/>
            <p:nvPr/>
          </p:nvSpPr>
          <p:spPr>
            <a:xfrm flipH="false" flipV="false" rot="0">
              <a:off x="0" y="0"/>
              <a:ext cx="5242560" cy="682752"/>
            </a:xfrm>
            <a:custGeom>
              <a:avLst/>
              <a:gdLst/>
              <a:ahLst/>
              <a:cxnLst/>
              <a:rect r="r" b="b" t="t" l="l"/>
              <a:pathLst>
                <a:path h="682752" w="5242560">
                  <a:moveTo>
                    <a:pt x="0" y="0"/>
                  </a:moveTo>
                  <a:lnTo>
                    <a:pt x="5242560" y="0"/>
                  </a:lnTo>
                  <a:lnTo>
                    <a:pt x="5242560" y="682752"/>
                  </a:lnTo>
                  <a:lnTo>
                    <a:pt x="0" y="682752"/>
                  </a:lnTo>
                  <a:close/>
                </a:path>
              </a:pathLst>
            </a:custGeom>
            <a:blipFill>
              <a:blip r:embed="rId3">
                <a:alphaModFix amt="0"/>
              </a:blip>
              <a:stretch>
                <a:fillRect l="0" t="-99617" r="0" b="-99617"/>
              </a:stretch>
            </a:blipFill>
          </p:spPr>
        </p:sp>
        <p:sp>
          <p:nvSpPr>
            <p:cNvPr name="TextBox 57" id="57"/>
            <p:cNvSpPr txBox="true"/>
            <p:nvPr/>
          </p:nvSpPr>
          <p:spPr>
            <a:xfrm>
              <a:off x="0" y="0"/>
              <a:ext cx="5242560" cy="682752"/>
            </a:xfrm>
            <a:prstGeom prst="rect">
              <a:avLst/>
            </a:prstGeom>
          </p:spPr>
          <p:txBody>
            <a:bodyPr anchor="ctr" rtlCol="false" tIns="0" lIns="0" bIns="0" rIns="0"/>
            <a:lstStyle/>
            <a:p>
              <a:pPr algn="ctr">
                <a:lnSpc>
                  <a:spcPts val="2640"/>
                </a:lnSpc>
              </a:pPr>
              <a:r>
                <a:rPr lang="en-US" sz="2200" b="true">
                  <a:solidFill>
                    <a:srgbClr val="FFFFFF"/>
                  </a:solidFill>
                  <a:latin typeface="EB Garamond Semi-Bold"/>
                  <a:ea typeface="EB Garamond Semi-Bold"/>
                  <a:cs typeface="EB Garamond Semi-Bold"/>
                  <a:sym typeface="EB Garamond Semi-Bold"/>
                </a:rPr>
                <a:t>VS Code</a:t>
              </a:r>
            </a:p>
          </p:txBody>
        </p:sp>
      </p:grpSp>
      <p:grpSp>
        <p:nvGrpSpPr>
          <p:cNvPr name="Group 58" id="58"/>
          <p:cNvGrpSpPr/>
          <p:nvPr/>
        </p:nvGrpSpPr>
        <p:grpSpPr>
          <a:xfrm rot="0">
            <a:off x="13520423" y="8984999"/>
            <a:ext cx="3957323" cy="574043"/>
            <a:chOff x="0" y="0"/>
            <a:chExt cx="5276431" cy="765391"/>
          </a:xfrm>
        </p:grpSpPr>
        <p:sp>
          <p:nvSpPr>
            <p:cNvPr name="Freeform 59" id="59"/>
            <p:cNvSpPr/>
            <p:nvPr/>
          </p:nvSpPr>
          <p:spPr>
            <a:xfrm flipH="false" flipV="false" rot="0">
              <a:off x="16891" y="16891"/>
              <a:ext cx="5242687" cy="731520"/>
            </a:xfrm>
            <a:custGeom>
              <a:avLst/>
              <a:gdLst/>
              <a:ahLst/>
              <a:cxnLst/>
              <a:rect r="r" b="b" t="t" l="l"/>
              <a:pathLst>
                <a:path h="731520" w="5242687">
                  <a:moveTo>
                    <a:pt x="0" y="195072"/>
                  </a:moveTo>
                  <a:cubicBezTo>
                    <a:pt x="0" y="87376"/>
                    <a:pt x="90805" y="0"/>
                    <a:pt x="202819" y="0"/>
                  </a:cubicBezTo>
                  <a:lnTo>
                    <a:pt x="5039868" y="0"/>
                  </a:lnTo>
                  <a:cubicBezTo>
                    <a:pt x="5151882" y="0"/>
                    <a:pt x="5242687" y="87376"/>
                    <a:pt x="5242687" y="195072"/>
                  </a:cubicBezTo>
                  <a:lnTo>
                    <a:pt x="5242687" y="536448"/>
                  </a:lnTo>
                  <a:cubicBezTo>
                    <a:pt x="5242687" y="644144"/>
                    <a:pt x="5151882" y="731520"/>
                    <a:pt x="5039868" y="731520"/>
                  </a:cubicBezTo>
                  <a:lnTo>
                    <a:pt x="202819" y="731520"/>
                  </a:lnTo>
                  <a:cubicBezTo>
                    <a:pt x="90805" y="731520"/>
                    <a:pt x="0" y="644144"/>
                    <a:pt x="0" y="536448"/>
                  </a:cubicBezTo>
                  <a:close/>
                </a:path>
              </a:pathLst>
            </a:custGeom>
            <a:solidFill>
              <a:srgbClr val="5A6E9C"/>
            </a:solidFill>
          </p:spPr>
        </p:sp>
        <p:sp>
          <p:nvSpPr>
            <p:cNvPr name="Freeform 60" id="60"/>
            <p:cNvSpPr/>
            <p:nvPr/>
          </p:nvSpPr>
          <p:spPr>
            <a:xfrm flipH="false" flipV="false" rot="0">
              <a:off x="0" y="0"/>
              <a:ext cx="5276469" cy="765302"/>
            </a:xfrm>
            <a:custGeom>
              <a:avLst/>
              <a:gdLst/>
              <a:ahLst/>
              <a:cxnLst/>
              <a:rect r="r" b="b" t="t" l="l"/>
              <a:pathLst>
                <a:path h="765302" w="5276469">
                  <a:moveTo>
                    <a:pt x="0" y="211963"/>
                  </a:moveTo>
                  <a:cubicBezTo>
                    <a:pt x="0" y="94361"/>
                    <a:pt x="99060" y="0"/>
                    <a:pt x="219710" y="0"/>
                  </a:cubicBezTo>
                  <a:lnTo>
                    <a:pt x="5056759" y="0"/>
                  </a:lnTo>
                  <a:lnTo>
                    <a:pt x="5056759" y="16891"/>
                  </a:lnTo>
                  <a:lnTo>
                    <a:pt x="5056759" y="0"/>
                  </a:lnTo>
                  <a:cubicBezTo>
                    <a:pt x="5177536" y="0"/>
                    <a:pt x="5276469" y="94361"/>
                    <a:pt x="5276469" y="211963"/>
                  </a:cubicBezTo>
                  <a:lnTo>
                    <a:pt x="5259578" y="211963"/>
                  </a:lnTo>
                  <a:lnTo>
                    <a:pt x="5276469" y="211963"/>
                  </a:lnTo>
                  <a:lnTo>
                    <a:pt x="5276469" y="553339"/>
                  </a:lnTo>
                  <a:lnTo>
                    <a:pt x="5259578" y="553339"/>
                  </a:lnTo>
                  <a:lnTo>
                    <a:pt x="5276469" y="553339"/>
                  </a:lnTo>
                  <a:cubicBezTo>
                    <a:pt x="5276469" y="671068"/>
                    <a:pt x="5177409" y="765302"/>
                    <a:pt x="5056759" y="765302"/>
                  </a:cubicBezTo>
                  <a:lnTo>
                    <a:pt x="5056759" y="748411"/>
                  </a:lnTo>
                  <a:lnTo>
                    <a:pt x="5056759" y="765302"/>
                  </a:lnTo>
                  <a:lnTo>
                    <a:pt x="219710" y="765302"/>
                  </a:lnTo>
                  <a:lnTo>
                    <a:pt x="219710" y="748411"/>
                  </a:lnTo>
                  <a:lnTo>
                    <a:pt x="219710" y="765302"/>
                  </a:lnTo>
                  <a:cubicBezTo>
                    <a:pt x="99060" y="765429"/>
                    <a:pt x="0" y="671068"/>
                    <a:pt x="0" y="553339"/>
                  </a:cubicBezTo>
                  <a:lnTo>
                    <a:pt x="0" y="211963"/>
                  </a:lnTo>
                  <a:lnTo>
                    <a:pt x="16891" y="211963"/>
                  </a:lnTo>
                  <a:lnTo>
                    <a:pt x="0" y="211963"/>
                  </a:lnTo>
                  <a:moveTo>
                    <a:pt x="33909" y="211963"/>
                  </a:moveTo>
                  <a:lnTo>
                    <a:pt x="33909" y="553339"/>
                  </a:lnTo>
                  <a:lnTo>
                    <a:pt x="16891" y="553339"/>
                  </a:lnTo>
                  <a:lnTo>
                    <a:pt x="33909" y="553339"/>
                  </a:lnTo>
                  <a:cubicBezTo>
                    <a:pt x="33909" y="651129"/>
                    <a:pt x="116459" y="731520"/>
                    <a:pt x="219710" y="731520"/>
                  </a:cubicBezTo>
                  <a:lnTo>
                    <a:pt x="5056759" y="731520"/>
                  </a:lnTo>
                  <a:cubicBezTo>
                    <a:pt x="5160010" y="731520"/>
                    <a:pt x="5242560" y="651129"/>
                    <a:pt x="5242560" y="553339"/>
                  </a:cubicBezTo>
                  <a:lnTo>
                    <a:pt x="5242560" y="211963"/>
                  </a:lnTo>
                  <a:cubicBezTo>
                    <a:pt x="5242560" y="114173"/>
                    <a:pt x="5160010" y="33782"/>
                    <a:pt x="5056759" y="33782"/>
                  </a:cubicBezTo>
                  <a:lnTo>
                    <a:pt x="219710" y="33782"/>
                  </a:lnTo>
                  <a:lnTo>
                    <a:pt x="219710" y="16891"/>
                  </a:lnTo>
                  <a:lnTo>
                    <a:pt x="219710" y="33909"/>
                  </a:lnTo>
                  <a:cubicBezTo>
                    <a:pt x="116459" y="33909"/>
                    <a:pt x="33909" y="114300"/>
                    <a:pt x="33909" y="211963"/>
                  </a:cubicBezTo>
                  <a:close/>
                </a:path>
              </a:pathLst>
            </a:custGeom>
            <a:solidFill>
              <a:srgbClr val="5A6E9C"/>
            </a:solidFill>
          </p:spPr>
        </p:sp>
      </p:grpSp>
      <p:grpSp>
        <p:nvGrpSpPr>
          <p:cNvPr name="Group 61" id="61"/>
          <p:cNvGrpSpPr/>
          <p:nvPr/>
        </p:nvGrpSpPr>
        <p:grpSpPr>
          <a:xfrm rot="0">
            <a:off x="13533120" y="9015984"/>
            <a:ext cx="3931920" cy="512064"/>
            <a:chOff x="0" y="0"/>
            <a:chExt cx="5242560" cy="682752"/>
          </a:xfrm>
        </p:grpSpPr>
        <p:sp>
          <p:nvSpPr>
            <p:cNvPr name="Freeform 62" id="62"/>
            <p:cNvSpPr/>
            <p:nvPr/>
          </p:nvSpPr>
          <p:spPr>
            <a:xfrm flipH="false" flipV="false" rot="0">
              <a:off x="0" y="0"/>
              <a:ext cx="5242560" cy="682752"/>
            </a:xfrm>
            <a:custGeom>
              <a:avLst/>
              <a:gdLst/>
              <a:ahLst/>
              <a:cxnLst/>
              <a:rect r="r" b="b" t="t" l="l"/>
              <a:pathLst>
                <a:path h="682752" w="5242560">
                  <a:moveTo>
                    <a:pt x="0" y="0"/>
                  </a:moveTo>
                  <a:lnTo>
                    <a:pt x="5242560" y="0"/>
                  </a:lnTo>
                  <a:lnTo>
                    <a:pt x="5242560" y="682752"/>
                  </a:lnTo>
                  <a:lnTo>
                    <a:pt x="0" y="682752"/>
                  </a:lnTo>
                  <a:close/>
                </a:path>
              </a:pathLst>
            </a:custGeom>
            <a:blipFill>
              <a:blip r:embed="rId3">
                <a:alphaModFix amt="0"/>
              </a:blip>
              <a:stretch>
                <a:fillRect l="0" t="-99617" r="0" b="-99617"/>
              </a:stretch>
            </a:blipFill>
          </p:spPr>
        </p:sp>
        <p:sp>
          <p:nvSpPr>
            <p:cNvPr name="TextBox 63" id="63"/>
            <p:cNvSpPr txBox="true"/>
            <p:nvPr/>
          </p:nvSpPr>
          <p:spPr>
            <a:xfrm>
              <a:off x="0" y="0"/>
              <a:ext cx="5242560" cy="682752"/>
            </a:xfrm>
            <a:prstGeom prst="rect">
              <a:avLst/>
            </a:prstGeom>
          </p:spPr>
          <p:txBody>
            <a:bodyPr anchor="ctr" rtlCol="false" tIns="0" lIns="0" bIns="0" rIns="0"/>
            <a:lstStyle/>
            <a:p>
              <a:pPr algn="ctr">
                <a:lnSpc>
                  <a:spcPts val="2640"/>
                </a:lnSpc>
              </a:pPr>
              <a:r>
                <a:rPr lang="en-US" sz="2200" b="true">
                  <a:solidFill>
                    <a:srgbClr val="FFFFFF"/>
                  </a:solidFill>
                  <a:latin typeface="EB Garamond Semi-Bold"/>
                  <a:ea typeface="EB Garamond Semi-Bold"/>
                  <a:cs typeface="EB Garamond Semi-Bold"/>
                  <a:sym typeface="EB Garamond Semi-Bold"/>
                </a:rPr>
                <a:t>Stata</a:t>
              </a:r>
            </a:p>
          </p:txBody>
        </p:sp>
      </p:grpSp>
      <p:grpSp>
        <p:nvGrpSpPr>
          <p:cNvPr name="Group 64" id="64"/>
          <p:cNvGrpSpPr/>
          <p:nvPr/>
        </p:nvGrpSpPr>
        <p:grpSpPr>
          <a:xfrm rot="0">
            <a:off x="8549640" y="5998464"/>
            <a:ext cx="5486400" cy="475488"/>
            <a:chOff x="0" y="0"/>
            <a:chExt cx="7315200" cy="633984"/>
          </a:xfrm>
        </p:grpSpPr>
        <p:sp>
          <p:nvSpPr>
            <p:cNvPr name="Freeform 65" id="65"/>
            <p:cNvSpPr/>
            <p:nvPr/>
          </p:nvSpPr>
          <p:spPr>
            <a:xfrm flipH="false" flipV="false" rot="0">
              <a:off x="0" y="0"/>
              <a:ext cx="7315200" cy="633984"/>
            </a:xfrm>
            <a:custGeom>
              <a:avLst/>
              <a:gdLst/>
              <a:ahLst/>
              <a:cxnLst/>
              <a:rect r="r" b="b" t="t" l="l"/>
              <a:pathLst>
                <a:path h="633984" w="7315200">
                  <a:moveTo>
                    <a:pt x="0" y="0"/>
                  </a:moveTo>
                  <a:lnTo>
                    <a:pt x="7315200" y="0"/>
                  </a:lnTo>
                  <a:lnTo>
                    <a:pt x="7315200" y="633984"/>
                  </a:lnTo>
                  <a:lnTo>
                    <a:pt x="0" y="633984"/>
                  </a:lnTo>
                  <a:close/>
                </a:path>
              </a:pathLst>
            </a:custGeom>
            <a:blipFill>
              <a:blip r:embed="rId3">
                <a:alphaModFix amt="0"/>
              </a:blip>
              <a:stretch>
                <a:fillRect l="0" t="-174827" r="0" b="-174827"/>
              </a:stretch>
            </a:blipFill>
          </p:spPr>
        </p:sp>
        <p:sp>
          <p:nvSpPr>
            <p:cNvPr name="TextBox 66" id="66"/>
            <p:cNvSpPr txBox="true"/>
            <p:nvPr/>
          </p:nvSpPr>
          <p:spPr>
            <a:xfrm>
              <a:off x="0" y="0"/>
              <a:ext cx="7315200" cy="633984"/>
            </a:xfrm>
            <a:prstGeom prst="rect">
              <a:avLst/>
            </a:prstGeom>
          </p:spPr>
          <p:txBody>
            <a:bodyPr anchor="ctr" rtlCol="false" tIns="0" lIns="0" bIns="0" rIns="0"/>
            <a:lstStyle/>
            <a:p>
              <a:pPr algn="l">
                <a:lnSpc>
                  <a:spcPts val="2640"/>
                </a:lnSpc>
              </a:pPr>
              <a:r>
                <a:rPr lang="en-US" sz="2200">
                  <a:solidFill>
                    <a:srgbClr val="7B8FA1"/>
                  </a:solidFill>
                  <a:latin typeface="Bree Serif"/>
                  <a:ea typeface="Bree Serif"/>
                  <a:cs typeface="Bree Serif"/>
                  <a:sym typeface="Bree Serif"/>
                </a:rPr>
                <a:t>Sous la supervision de</a:t>
              </a:r>
            </a:p>
          </p:txBody>
        </p:sp>
      </p:grpSp>
      <p:grpSp>
        <p:nvGrpSpPr>
          <p:cNvPr name="Group 67" id="67"/>
          <p:cNvGrpSpPr/>
          <p:nvPr/>
        </p:nvGrpSpPr>
        <p:grpSpPr>
          <a:xfrm rot="0">
            <a:off x="8549640" y="6473952"/>
            <a:ext cx="7082877" cy="782396"/>
            <a:chOff x="0" y="0"/>
            <a:chExt cx="9443836" cy="1043195"/>
          </a:xfrm>
        </p:grpSpPr>
        <p:sp>
          <p:nvSpPr>
            <p:cNvPr name="Freeform 68" id="68"/>
            <p:cNvSpPr/>
            <p:nvPr/>
          </p:nvSpPr>
          <p:spPr>
            <a:xfrm flipH="false" flipV="false" rot="0">
              <a:off x="0" y="0"/>
              <a:ext cx="9443836" cy="1043195"/>
            </a:xfrm>
            <a:custGeom>
              <a:avLst/>
              <a:gdLst/>
              <a:ahLst/>
              <a:cxnLst/>
              <a:rect r="r" b="b" t="t" l="l"/>
              <a:pathLst>
                <a:path h="1043195" w="9443836">
                  <a:moveTo>
                    <a:pt x="0" y="0"/>
                  </a:moveTo>
                  <a:lnTo>
                    <a:pt x="9443836" y="0"/>
                  </a:lnTo>
                  <a:lnTo>
                    <a:pt x="9443836" y="1043195"/>
                  </a:lnTo>
                  <a:lnTo>
                    <a:pt x="0" y="1043195"/>
                  </a:lnTo>
                  <a:close/>
                </a:path>
              </a:pathLst>
            </a:custGeom>
            <a:blipFill>
              <a:blip r:embed="rId3">
                <a:alphaModFix amt="0"/>
              </a:blip>
              <a:stretch>
                <a:fillRect l="0" t="-272066" r="-80740" b="-265563"/>
              </a:stretch>
            </a:blipFill>
          </p:spPr>
        </p:sp>
        <p:sp>
          <p:nvSpPr>
            <p:cNvPr name="TextBox 69" id="69"/>
            <p:cNvSpPr txBox="true"/>
            <p:nvPr/>
          </p:nvSpPr>
          <p:spPr>
            <a:xfrm>
              <a:off x="0" y="9525"/>
              <a:ext cx="9443836" cy="1033670"/>
            </a:xfrm>
            <a:prstGeom prst="rect">
              <a:avLst/>
            </a:prstGeom>
          </p:spPr>
          <p:txBody>
            <a:bodyPr anchor="ctr" rtlCol="false" tIns="0" lIns="0" bIns="0" rIns="0"/>
            <a:lstStyle/>
            <a:p>
              <a:pPr algn="l">
                <a:lnSpc>
                  <a:spcPts val="4560"/>
                </a:lnSpc>
              </a:pPr>
              <a:r>
                <a:rPr lang="en-US" sz="3800" b="true">
                  <a:solidFill>
                    <a:srgbClr val="FFFFFF"/>
                  </a:solidFill>
                  <a:latin typeface="EB Garamond Semi-Bold"/>
                  <a:ea typeface="EB Garamond Semi-Bold"/>
                  <a:cs typeface="EB Garamond Semi-Bold"/>
                  <a:sym typeface="EB Garamond Semi-Bold"/>
                </a:rPr>
                <a:t>M. Rassoul SY</a:t>
              </a:r>
            </a:p>
          </p:txBody>
        </p:sp>
      </p:grpSp>
      <p:grpSp>
        <p:nvGrpSpPr>
          <p:cNvPr name="Group 70" id="70"/>
          <p:cNvGrpSpPr/>
          <p:nvPr/>
        </p:nvGrpSpPr>
        <p:grpSpPr>
          <a:xfrm rot="0">
            <a:off x="8549640" y="7205472"/>
            <a:ext cx="7315200" cy="512064"/>
            <a:chOff x="0" y="0"/>
            <a:chExt cx="9753600" cy="682752"/>
          </a:xfrm>
        </p:grpSpPr>
        <p:sp>
          <p:nvSpPr>
            <p:cNvPr name="Freeform 71" id="71"/>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3">
                <a:alphaModFix amt="0"/>
              </a:blip>
              <a:stretch>
                <a:fillRect l="0" t="-228357" r="0" b="-228357"/>
              </a:stretch>
            </a:blipFill>
          </p:spPr>
        </p:sp>
        <p:sp>
          <p:nvSpPr>
            <p:cNvPr name="TextBox 72" id="72"/>
            <p:cNvSpPr txBox="true"/>
            <p:nvPr/>
          </p:nvSpPr>
          <p:spPr>
            <a:xfrm>
              <a:off x="0" y="9525"/>
              <a:ext cx="9753600" cy="673227"/>
            </a:xfrm>
            <a:prstGeom prst="rect">
              <a:avLst/>
            </a:prstGeom>
          </p:spPr>
          <p:txBody>
            <a:bodyPr anchor="ctr" rtlCol="false" tIns="0" lIns="0" bIns="0" rIns="0"/>
            <a:lstStyle/>
            <a:p>
              <a:pPr algn="l">
                <a:lnSpc>
                  <a:spcPts val="2879"/>
                </a:lnSpc>
              </a:pPr>
              <a:r>
                <a:rPr lang="en-US" sz="2400">
                  <a:solidFill>
                    <a:srgbClr val="BDC8D5"/>
                  </a:solidFill>
                  <a:latin typeface="EB Garamond"/>
                  <a:ea typeface="EB Garamond"/>
                  <a:cs typeface="EB Garamond"/>
                  <a:sym typeface="EB Garamond"/>
                </a:rPr>
                <a:t>Ingénieur des Travaux Statistiques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2C4A6E"/>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2C4A6E"/>
            </a:solidFill>
          </p:spPr>
        </p:sp>
      </p:grpSp>
      <p:grpSp>
        <p:nvGrpSpPr>
          <p:cNvPr name="Group 5" id="5"/>
          <p:cNvGrpSpPr/>
          <p:nvPr/>
        </p:nvGrpSpPr>
        <p:grpSpPr>
          <a:xfrm rot="0">
            <a:off x="822960" y="402336"/>
            <a:ext cx="16642080" cy="1118845"/>
            <a:chOff x="0" y="0"/>
            <a:chExt cx="22189440" cy="1491793"/>
          </a:xfrm>
        </p:grpSpPr>
        <p:sp>
          <p:nvSpPr>
            <p:cNvPr name="Freeform 6" id="6"/>
            <p:cNvSpPr/>
            <p:nvPr/>
          </p:nvSpPr>
          <p:spPr>
            <a:xfrm flipH="false" flipV="false" rot="0">
              <a:off x="0" y="0"/>
              <a:ext cx="22189439" cy="1491793"/>
            </a:xfrm>
            <a:custGeom>
              <a:avLst/>
              <a:gdLst/>
              <a:ahLst/>
              <a:cxnLst/>
              <a:rect r="r" b="b" t="t" l="l"/>
              <a:pathLst>
                <a:path h="1491793" w="22189439">
                  <a:moveTo>
                    <a:pt x="0" y="0"/>
                  </a:moveTo>
                  <a:lnTo>
                    <a:pt x="22189439" y="0"/>
                  </a:lnTo>
                  <a:lnTo>
                    <a:pt x="22189439" y="1491793"/>
                  </a:lnTo>
                  <a:lnTo>
                    <a:pt x="0" y="1491793"/>
                  </a:lnTo>
                  <a:close/>
                </a:path>
              </a:pathLst>
            </a:custGeom>
            <a:blipFill>
              <a:blip r:embed="rId3">
                <a:alphaModFix amt="0"/>
              </a:blip>
              <a:stretch>
                <a:fillRect l="0" t="-244877" r="0" b="-234777"/>
              </a:stretch>
            </a:blipFill>
          </p:spPr>
        </p:sp>
        <p:sp>
          <p:nvSpPr>
            <p:cNvPr name="TextBox 7" id="7"/>
            <p:cNvSpPr txBox="true"/>
            <p:nvPr/>
          </p:nvSpPr>
          <p:spPr>
            <a:xfrm>
              <a:off x="0" y="9525"/>
              <a:ext cx="22189440" cy="1482268"/>
            </a:xfrm>
            <a:prstGeom prst="rect">
              <a:avLst/>
            </a:prstGeom>
          </p:spPr>
          <p:txBody>
            <a:bodyPr anchor="ctr" rtlCol="false" tIns="0" lIns="0" bIns="0" rIns="0"/>
            <a:lstStyle/>
            <a:p>
              <a:pPr algn="l">
                <a:lnSpc>
                  <a:spcPts val="6480"/>
                </a:lnSpc>
              </a:pPr>
              <a:r>
                <a:rPr lang="en-US" sz="5400" b="true">
                  <a:solidFill>
                    <a:srgbClr val="1C2E40"/>
                  </a:solidFill>
                  <a:latin typeface="EB Garamond Semi-Bold"/>
                  <a:ea typeface="EB Garamond Semi-Bold"/>
                  <a:cs typeface="EB Garamond Semi-Bold"/>
                  <a:sym typeface="EB Garamond Semi-Bold"/>
                </a:rPr>
                <a:t>Démarche : Collaboration avec l'IA</a:t>
              </a:r>
            </a:p>
          </p:txBody>
        </p:sp>
      </p:grpSp>
      <p:grpSp>
        <p:nvGrpSpPr>
          <p:cNvPr name="Group 8" id="8"/>
          <p:cNvGrpSpPr/>
          <p:nvPr/>
        </p:nvGrpSpPr>
        <p:grpSpPr>
          <a:xfrm rot="0">
            <a:off x="822960" y="1426464"/>
            <a:ext cx="16642080" cy="512064"/>
            <a:chOff x="0" y="0"/>
            <a:chExt cx="22189440" cy="682752"/>
          </a:xfrm>
        </p:grpSpPr>
        <p:sp>
          <p:nvSpPr>
            <p:cNvPr name="Freeform 9" id="9"/>
            <p:cNvSpPr/>
            <p:nvPr/>
          </p:nvSpPr>
          <p:spPr>
            <a:xfrm flipH="false" flipV="false" rot="0">
              <a:off x="0" y="0"/>
              <a:ext cx="22189439" cy="682752"/>
            </a:xfrm>
            <a:custGeom>
              <a:avLst/>
              <a:gdLst/>
              <a:ahLst/>
              <a:cxnLst/>
              <a:rect r="r" b="b" t="t" l="l"/>
              <a:pathLst>
                <a:path h="682752" w="22189439">
                  <a:moveTo>
                    <a:pt x="0" y="0"/>
                  </a:moveTo>
                  <a:lnTo>
                    <a:pt x="22189439" y="0"/>
                  </a:lnTo>
                  <a:lnTo>
                    <a:pt x="22189439" y="682752"/>
                  </a:lnTo>
                  <a:lnTo>
                    <a:pt x="0" y="682752"/>
                  </a:lnTo>
                  <a:close/>
                </a:path>
              </a:pathLst>
            </a:custGeom>
            <a:blipFill>
              <a:blip r:embed="rId3">
                <a:alphaModFix amt="0"/>
              </a:blip>
              <a:stretch>
                <a:fillRect l="0" t="-583263" r="0" b="-583263"/>
              </a:stretch>
            </a:blipFill>
          </p:spPr>
        </p:sp>
        <p:sp>
          <p:nvSpPr>
            <p:cNvPr name="TextBox 10" id="10"/>
            <p:cNvSpPr txBox="true"/>
            <p:nvPr/>
          </p:nvSpPr>
          <p:spPr>
            <a:xfrm>
              <a:off x="0" y="-9525"/>
              <a:ext cx="22189440" cy="692277"/>
            </a:xfrm>
            <a:prstGeom prst="rect">
              <a:avLst/>
            </a:prstGeom>
          </p:spPr>
          <p:txBody>
            <a:bodyPr anchor="ctr" rtlCol="false" tIns="0" lIns="0" bIns="0" rIns="0"/>
            <a:lstStyle/>
            <a:p>
              <a:pPr algn="l">
                <a:lnSpc>
                  <a:spcPts val="2879"/>
                </a:lnSpc>
              </a:pPr>
              <a:r>
                <a:rPr lang="en-US" sz="2400">
                  <a:solidFill>
                    <a:srgbClr val="7B8FA1"/>
                  </a:solidFill>
                  <a:latin typeface="Garamond"/>
                  <a:ea typeface="Garamond"/>
                  <a:cs typeface="Garamond"/>
                  <a:sym typeface="Garamond"/>
                </a:rPr>
                <a:t>Comment nous avons utilisé l'IA à chaque étape du projet</a:t>
              </a:r>
            </a:p>
          </p:txBody>
        </p:sp>
      </p:grpSp>
      <p:grpSp>
        <p:nvGrpSpPr>
          <p:cNvPr name="Group 11" id="11"/>
          <p:cNvGrpSpPr/>
          <p:nvPr/>
        </p:nvGrpSpPr>
        <p:grpSpPr>
          <a:xfrm rot="0">
            <a:off x="629917" y="2038093"/>
            <a:ext cx="7975597" cy="7426957"/>
            <a:chOff x="0" y="0"/>
            <a:chExt cx="10634129" cy="9902609"/>
          </a:xfrm>
        </p:grpSpPr>
        <p:sp>
          <p:nvSpPr>
            <p:cNvPr name="Freeform 12" id="12"/>
            <p:cNvSpPr/>
            <p:nvPr/>
          </p:nvSpPr>
          <p:spPr>
            <a:xfrm flipH="false" flipV="false" rot="0">
              <a:off x="13589" y="13589"/>
              <a:ext cx="10606913" cy="9875521"/>
            </a:xfrm>
            <a:custGeom>
              <a:avLst/>
              <a:gdLst/>
              <a:ahLst/>
              <a:cxnLst/>
              <a:rect r="r" b="b" t="t" l="l"/>
              <a:pathLst>
                <a:path h="9875521" w="10606913">
                  <a:moveTo>
                    <a:pt x="0" y="243840"/>
                  </a:moveTo>
                  <a:cubicBezTo>
                    <a:pt x="0" y="109220"/>
                    <a:pt x="109220" y="0"/>
                    <a:pt x="243840" y="0"/>
                  </a:cubicBezTo>
                  <a:lnTo>
                    <a:pt x="10363073" y="0"/>
                  </a:lnTo>
                  <a:cubicBezTo>
                    <a:pt x="10497820" y="0"/>
                    <a:pt x="10606913" y="109220"/>
                    <a:pt x="10606913" y="243840"/>
                  </a:cubicBezTo>
                  <a:lnTo>
                    <a:pt x="10606913" y="9631680"/>
                  </a:lnTo>
                  <a:cubicBezTo>
                    <a:pt x="10606913" y="9766300"/>
                    <a:pt x="10497693" y="9875521"/>
                    <a:pt x="10363073" y="9875521"/>
                  </a:cubicBezTo>
                  <a:lnTo>
                    <a:pt x="243840" y="9875521"/>
                  </a:lnTo>
                  <a:cubicBezTo>
                    <a:pt x="109093" y="9875521"/>
                    <a:pt x="0" y="9766300"/>
                    <a:pt x="0" y="9631680"/>
                  </a:cubicBezTo>
                  <a:close/>
                </a:path>
              </a:pathLst>
            </a:custGeom>
            <a:solidFill>
              <a:srgbClr val="FFFFFF"/>
            </a:solidFill>
          </p:spPr>
        </p:sp>
        <p:sp>
          <p:nvSpPr>
            <p:cNvPr name="Freeform 13" id="13"/>
            <p:cNvSpPr/>
            <p:nvPr/>
          </p:nvSpPr>
          <p:spPr>
            <a:xfrm flipH="false" flipV="false" rot="0">
              <a:off x="0" y="0"/>
              <a:ext cx="10634091" cy="9902698"/>
            </a:xfrm>
            <a:custGeom>
              <a:avLst/>
              <a:gdLst/>
              <a:ahLst/>
              <a:cxnLst/>
              <a:rect r="r" b="b" t="t" l="l"/>
              <a:pathLst>
                <a:path h="9902698" w="10634091">
                  <a:moveTo>
                    <a:pt x="0" y="257429"/>
                  </a:moveTo>
                  <a:cubicBezTo>
                    <a:pt x="0" y="115189"/>
                    <a:pt x="115316" y="0"/>
                    <a:pt x="257429" y="0"/>
                  </a:cubicBezTo>
                  <a:lnTo>
                    <a:pt x="10376662" y="0"/>
                  </a:lnTo>
                  <a:lnTo>
                    <a:pt x="10376662" y="13589"/>
                  </a:lnTo>
                  <a:lnTo>
                    <a:pt x="10376662" y="0"/>
                  </a:lnTo>
                  <a:cubicBezTo>
                    <a:pt x="10518775" y="0"/>
                    <a:pt x="10634091" y="115189"/>
                    <a:pt x="10634091" y="257429"/>
                  </a:cubicBezTo>
                  <a:lnTo>
                    <a:pt x="10620502" y="257429"/>
                  </a:lnTo>
                  <a:lnTo>
                    <a:pt x="10634091" y="257429"/>
                  </a:lnTo>
                  <a:lnTo>
                    <a:pt x="10634091" y="9645269"/>
                  </a:lnTo>
                  <a:lnTo>
                    <a:pt x="10620502" y="9645269"/>
                  </a:lnTo>
                  <a:lnTo>
                    <a:pt x="10634091" y="9645269"/>
                  </a:lnTo>
                  <a:cubicBezTo>
                    <a:pt x="10634091" y="9787382"/>
                    <a:pt x="10518775" y="9902698"/>
                    <a:pt x="10376662" y="9902698"/>
                  </a:cubicBezTo>
                  <a:lnTo>
                    <a:pt x="10376662" y="9889110"/>
                  </a:lnTo>
                  <a:lnTo>
                    <a:pt x="10376662" y="9902698"/>
                  </a:lnTo>
                  <a:lnTo>
                    <a:pt x="257429" y="9902698"/>
                  </a:lnTo>
                  <a:lnTo>
                    <a:pt x="257429" y="9889110"/>
                  </a:lnTo>
                  <a:lnTo>
                    <a:pt x="257429" y="9902698"/>
                  </a:lnTo>
                  <a:cubicBezTo>
                    <a:pt x="115316" y="9902571"/>
                    <a:pt x="0" y="9787382"/>
                    <a:pt x="0" y="9645269"/>
                  </a:cubicBezTo>
                  <a:lnTo>
                    <a:pt x="0" y="257429"/>
                  </a:lnTo>
                  <a:lnTo>
                    <a:pt x="13589" y="257429"/>
                  </a:lnTo>
                  <a:lnTo>
                    <a:pt x="0" y="257429"/>
                  </a:lnTo>
                  <a:moveTo>
                    <a:pt x="27051" y="257429"/>
                  </a:moveTo>
                  <a:lnTo>
                    <a:pt x="27051" y="9645269"/>
                  </a:lnTo>
                  <a:lnTo>
                    <a:pt x="13589" y="9645269"/>
                  </a:lnTo>
                  <a:lnTo>
                    <a:pt x="27051" y="9645269"/>
                  </a:lnTo>
                  <a:cubicBezTo>
                    <a:pt x="27051" y="9772397"/>
                    <a:pt x="130175" y="9875520"/>
                    <a:pt x="257429" y="9875520"/>
                  </a:cubicBezTo>
                  <a:lnTo>
                    <a:pt x="10376662" y="9875520"/>
                  </a:lnTo>
                  <a:cubicBezTo>
                    <a:pt x="10503916" y="9875520"/>
                    <a:pt x="10607040" y="9772397"/>
                    <a:pt x="10607040" y="9645269"/>
                  </a:cubicBezTo>
                  <a:lnTo>
                    <a:pt x="10607040" y="257429"/>
                  </a:lnTo>
                  <a:cubicBezTo>
                    <a:pt x="10607040" y="130302"/>
                    <a:pt x="10503916" y="27178"/>
                    <a:pt x="10376662" y="27178"/>
                  </a:cubicBezTo>
                  <a:lnTo>
                    <a:pt x="257429" y="27178"/>
                  </a:lnTo>
                  <a:lnTo>
                    <a:pt x="257429" y="13589"/>
                  </a:lnTo>
                  <a:lnTo>
                    <a:pt x="257429" y="27051"/>
                  </a:lnTo>
                  <a:cubicBezTo>
                    <a:pt x="130175" y="27051"/>
                    <a:pt x="27051" y="130175"/>
                    <a:pt x="27051" y="257302"/>
                  </a:cubicBezTo>
                  <a:close/>
                </a:path>
              </a:pathLst>
            </a:custGeom>
            <a:solidFill>
              <a:srgbClr val="BDC8D5"/>
            </a:solidFill>
          </p:spPr>
        </p:sp>
      </p:grpSp>
      <p:grpSp>
        <p:nvGrpSpPr>
          <p:cNvPr name="Group 14" id="14"/>
          <p:cNvGrpSpPr/>
          <p:nvPr/>
        </p:nvGrpSpPr>
        <p:grpSpPr>
          <a:xfrm rot="0">
            <a:off x="627383" y="2035559"/>
            <a:ext cx="153419" cy="7432043"/>
            <a:chOff x="0" y="0"/>
            <a:chExt cx="204559" cy="9909391"/>
          </a:xfrm>
        </p:grpSpPr>
        <p:sp>
          <p:nvSpPr>
            <p:cNvPr name="Freeform 15" id="15"/>
            <p:cNvSpPr/>
            <p:nvPr/>
          </p:nvSpPr>
          <p:spPr>
            <a:xfrm flipH="false" flipV="false" rot="0">
              <a:off x="16891" y="16891"/>
              <a:ext cx="170688" cy="9875520"/>
            </a:xfrm>
            <a:custGeom>
              <a:avLst/>
              <a:gdLst/>
              <a:ahLst/>
              <a:cxnLst/>
              <a:rect r="r" b="b" t="t" l="l"/>
              <a:pathLst>
                <a:path h="9875520" w="170688">
                  <a:moveTo>
                    <a:pt x="0" y="0"/>
                  </a:moveTo>
                  <a:lnTo>
                    <a:pt x="170688" y="0"/>
                  </a:lnTo>
                  <a:lnTo>
                    <a:pt x="170688" y="9875520"/>
                  </a:lnTo>
                  <a:lnTo>
                    <a:pt x="0" y="9875520"/>
                  </a:lnTo>
                  <a:close/>
                </a:path>
              </a:pathLst>
            </a:custGeom>
            <a:solidFill>
              <a:srgbClr val="2C4A6E"/>
            </a:solidFill>
          </p:spPr>
        </p:sp>
        <p:sp>
          <p:nvSpPr>
            <p:cNvPr name="Freeform 16" id="16"/>
            <p:cNvSpPr/>
            <p:nvPr/>
          </p:nvSpPr>
          <p:spPr>
            <a:xfrm flipH="false" flipV="false" rot="0">
              <a:off x="0" y="0"/>
              <a:ext cx="204470" cy="9909301"/>
            </a:xfrm>
            <a:custGeom>
              <a:avLst/>
              <a:gdLst/>
              <a:ahLst/>
              <a:cxnLst/>
              <a:rect r="r" b="b" t="t" l="l"/>
              <a:pathLst>
                <a:path h="9909301" w="204470">
                  <a:moveTo>
                    <a:pt x="16891" y="0"/>
                  </a:moveTo>
                  <a:lnTo>
                    <a:pt x="187579" y="0"/>
                  </a:lnTo>
                  <a:cubicBezTo>
                    <a:pt x="196977" y="0"/>
                    <a:pt x="204470" y="7620"/>
                    <a:pt x="204470" y="16891"/>
                  </a:cubicBezTo>
                  <a:lnTo>
                    <a:pt x="204470" y="9892411"/>
                  </a:lnTo>
                  <a:cubicBezTo>
                    <a:pt x="204470" y="9901809"/>
                    <a:pt x="196850" y="9909301"/>
                    <a:pt x="187579" y="9909301"/>
                  </a:cubicBezTo>
                  <a:lnTo>
                    <a:pt x="16891" y="9909301"/>
                  </a:lnTo>
                  <a:cubicBezTo>
                    <a:pt x="7493" y="9909301"/>
                    <a:pt x="0" y="9901682"/>
                    <a:pt x="0" y="9892411"/>
                  </a:cubicBezTo>
                  <a:lnTo>
                    <a:pt x="0" y="16891"/>
                  </a:lnTo>
                  <a:cubicBezTo>
                    <a:pt x="0" y="7620"/>
                    <a:pt x="7620" y="0"/>
                    <a:pt x="16891" y="0"/>
                  </a:cubicBezTo>
                  <a:moveTo>
                    <a:pt x="16891" y="33909"/>
                  </a:moveTo>
                  <a:lnTo>
                    <a:pt x="16891" y="16891"/>
                  </a:lnTo>
                  <a:lnTo>
                    <a:pt x="33909" y="16891"/>
                  </a:lnTo>
                  <a:lnTo>
                    <a:pt x="33909" y="9892411"/>
                  </a:lnTo>
                  <a:lnTo>
                    <a:pt x="16891" y="9892411"/>
                  </a:lnTo>
                  <a:lnTo>
                    <a:pt x="16891" y="9875520"/>
                  </a:lnTo>
                  <a:lnTo>
                    <a:pt x="187579" y="9875520"/>
                  </a:lnTo>
                  <a:lnTo>
                    <a:pt x="187579" y="9892411"/>
                  </a:lnTo>
                  <a:lnTo>
                    <a:pt x="170688" y="9892411"/>
                  </a:lnTo>
                  <a:lnTo>
                    <a:pt x="170688" y="16891"/>
                  </a:lnTo>
                  <a:lnTo>
                    <a:pt x="187579" y="16891"/>
                  </a:lnTo>
                  <a:lnTo>
                    <a:pt x="187579" y="33909"/>
                  </a:lnTo>
                  <a:lnTo>
                    <a:pt x="16891" y="33909"/>
                  </a:lnTo>
                  <a:close/>
                </a:path>
              </a:pathLst>
            </a:custGeom>
            <a:solidFill>
              <a:srgbClr val="2C4A6E"/>
            </a:solidFill>
          </p:spPr>
        </p:sp>
      </p:grpSp>
      <p:grpSp>
        <p:nvGrpSpPr>
          <p:cNvPr name="Group 17" id="17"/>
          <p:cNvGrpSpPr/>
          <p:nvPr/>
        </p:nvGrpSpPr>
        <p:grpSpPr>
          <a:xfrm rot="0">
            <a:off x="1024128" y="2212848"/>
            <a:ext cx="7315200" cy="694944"/>
            <a:chOff x="0" y="0"/>
            <a:chExt cx="9753600" cy="926592"/>
          </a:xfrm>
        </p:grpSpPr>
        <p:sp>
          <p:nvSpPr>
            <p:cNvPr name="Freeform 18" id="18"/>
            <p:cNvSpPr/>
            <p:nvPr/>
          </p:nvSpPr>
          <p:spPr>
            <a:xfrm flipH="false" flipV="false" rot="0">
              <a:off x="0" y="0"/>
              <a:ext cx="9753600" cy="926592"/>
            </a:xfrm>
            <a:custGeom>
              <a:avLst/>
              <a:gdLst/>
              <a:ahLst/>
              <a:cxnLst/>
              <a:rect r="r" b="b" t="t" l="l"/>
              <a:pathLst>
                <a:path h="926592" w="9753600">
                  <a:moveTo>
                    <a:pt x="0" y="0"/>
                  </a:moveTo>
                  <a:lnTo>
                    <a:pt x="9753600" y="0"/>
                  </a:lnTo>
                  <a:lnTo>
                    <a:pt x="9753600" y="926592"/>
                  </a:lnTo>
                  <a:lnTo>
                    <a:pt x="0" y="926592"/>
                  </a:lnTo>
                  <a:close/>
                </a:path>
              </a:pathLst>
            </a:custGeom>
            <a:blipFill>
              <a:blip r:embed="rId3">
                <a:alphaModFix amt="0"/>
              </a:blip>
              <a:stretch>
                <a:fillRect l="0" t="-155105" r="0" b="-155105"/>
              </a:stretch>
            </a:blipFill>
          </p:spPr>
        </p:sp>
        <p:sp>
          <p:nvSpPr>
            <p:cNvPr name="TextBox 19" id="19"/>
            <p:cNvSpPr txBox="true"/>
            <p:nvPr/>
          </p:nvSpPr>
          <p:spPr>
            <a:xfrm>
              <a:off x="0" y="-9525"/>
              <a:ext cx="9753600" cy="936117"/>
            </a:xfrm>
            <a:prstGeom prst="rect">
              <a:avLst/>
            </a:prstGeom>
          </p:spPr>
          <p:txBody>
            <a:bodyPr anchor="ctr" rtlCol="false" tIns="0" lIns="0" bIns="0" rIns="0"/>
            <a:lstStyle/>
            <a:p>
              <a:pPr algn="l">
                <a:lnSpc>
                  <a:spcPts val="3600"/>
                </a:lnSpc>
              </a:pPr>
              <a:r>
                <a:rPr lang="en-US" sz="3000" b="true">
                  <a:solidFill>
                    <a:srgbClr val="2C4A6E"/>
                  </a:solidFill>
                  <a:latin typeface="EB Garamond Semi-Bold"/>
                  <a:ea typeface="EB Garamond Semi-Bold"/>
                  <a:cs typeface="EB Garamond Semi-Bold"/>
                  <a:sym typeface="EB Garamond Semi-Bold"/>
                </a:rPr>
                <a:t>Claude Code</a:t>
              </a:r>
            </a:p>
          </p:txBody>
        </p:sp>
      </p:grpSp>
      <p:grpSp>
        <p:nvGrpSpPr>
          <p:cNvPr name="Group 20" id="20"/>
          <p:cNvGrpSpPr/>
          <p:nvPr/>
        </p:nvGrpSpPr>
        <p:grpSpPr>
          <a:xfrm rot="0">
            <a:off x="1011431" y="3004823"/>
            <a:ext cx="7249163" cy="574043"/>
            <a:chOff x="0" y="0"/>
            <a:chExt cx="9665551" cy="765391"/>
          </a:xfrm>
        </p:grpSpPr>
        <p:sp>
          <p:nvSpPr>
            <p:cNvPr name="Freeform 21" id="21"/>
            <p:cNvSpPr/>
            <p:nvPr/>
          </p:nvSpPr>
          <p:spPr>
            <a:xfrm flipH="false" flipV="false" rot="0">
              <a:off x="16891" y="16891"/>
              <a:ext cx="9631807" cy="731520"/>
            </a:xfrm>
            <a:custGeom>
              <a:avLst/>
              <a:gdLst/>
              <a:ahLst/>
              <a:cxnLst/>
              <a:rect r="r" b="b" t="t" l="l"/>
              <a:pathLst>
                <a:path h="731520" w="9631807">
                  <a:moveTo>
                    <a:pt x="0" y="195072"/>
                  </a:moveTo>
                  <a:cubicBezTo>
                    <a:pt x="0" y="87376"/>
                    <a:pt x="91059" y="0"/>
                    <a:pt x="203454" y="0"/>
                  </a:cubicBezTo>
                  <a:lnTo>
                    <a:pt x="9428353" y="0"/>
                  </a:lnTo>
                  <a:cubicBezTo>
                    <a:pt x="9540621" y="0"/>
                    <a:pt x="9631807" y="87376"/>
                    <a:pt x="9631807" y="195072"/>
                  </a:cubicBezTo>
                  <a:lnTo>
                    <a:pt x="9631807" y="536448"/>
                  </a:lnTo>
                  <a:cubicBezTo>
                    <a:pt x="9631807" y="644144"/>
                    <a:pt x="9540747" y="731520"/>
                    <a:pt x="9428353" y="731520"/>
                  </a:cubicBezTo>
                  <a:lnTo>
                    <a:pt x="203454" y="731520"/>
                  </a:lnTo>
                  <a:cubicBezTo>
                    <a:pt x="91186" y="731520"/>
                    <a:pt x="0" y="644144"/>
                    <a:pt x="0" y="536448"/>
                  </a:cubicBezTo>
                  <a:close/>
                </a:path>
              </a:pathLst>
            </a:custGeom>
            <a:solidFill>
              <a:srgbClr val="2C4A6E"/>
            </a:solidFill>
          </p:spPr>
        </p:sp>
        <p:sp>
          <p:nvSpPr>
            <p:cNvPr name="Freeform 22" id="22"/>
            <p:cNvSpPr/>
            <p:nvPr/>
          </p:nvSpPr>
          <p:spPr>
            <a:xfrm flipH="false" flipV="false" rot="0">
              <a:off x="0" y="0"/>
              <a:ext cx="9665588" cy="765302"/>
            </a:xfrm>
            <a:custGeom>
              <a:avLst/>
              <a:gdLst/>
              <a:ahLst/>
              <a:cxnLst/>
              <a:rect r="r" b="b" t="t" l="l"/>
              <a:pathLst>
                <a:path h="765302" w="9665588">
                  <a:moveTo>
                    <a:pt x="0" y="211963"/>
                  </a:moveTo>
                  <a:cubicBezTo>
                    <a:pt x="0" y="94234"/>
                    <a:pt x="99314" y="0"/>
                    <a:pt x="220345" y="0"/>
                  </a:cubicBezTo>
                  <a:lnTo>
                    <a:pt x="9445244" y="0"/>
                  </a:lnTo>
                  <a:lnTo>
                    <a:pt x="9445244" y="16891"/>
                  </a:lnTo>
                  <a:lnTo>
                    <a:pt x="9445244" y="0"/>
                  </a:lnTo>
                  <a:cubicBezTo>
                    <a:pt x="9566275" y="0"/>
                    <a:pt x="9665588" y="94234"/>
                    <a:pt x="9665588" y="211963"/>
                  </a:cubicBezTo>
                  <a:lnTo>
                    <a:pt x="9648698" y="211963"/>
                  </a:lnTo>
                  <a:lnTo>
                    <a:pt x="9665588" y="211963"/>
                  </a:lnTo>
                  <a:lnTo>
                    <a:pt x="9665588" y="553339"/>
                  </a:lnTo>
                  <a:lnTo>
                    <a:pt x="9648698" y="553339"/>
                  </a:lnTo>
                  <a:lnTo>
                    <a:pt x="9665588" y="553339"/>
                  </a:lnTo>
                  <a:cubicBezTo>
                    <a:pt x="9665588" y="671068"/>
                    <a:pt x="9566275" y="765302"/>
                    <a:pt x="9445244" y="765302"/>
                  </a:cubicBezTo>
                  <a:lnTo>
                    <a:pt x="9445244" y="748411"/>
                  </a:lnTo>
                  <a:lnTo>
                    <a:pt x="9445244" y="765302"/>
                  </a:lnTo>
                  <a:lnTo>
                    <a:pt x="220345" y="765302"/>
                  </a:lnTo>
                  <a:lnTo>
                    <a:pt x="220345" y="748411"/>
                  </a:lnTo>
                  <a:lnTo>
                    <a:pt x="220345" y="765302"/>
                  </a:lnTo>
                  <a:cubicBezTo>
                    <a:pt x="99314" y="765429"/>
                    <a:pt x="0" y="671068"/>
                    <a:pt x="0" y="553339"/>
                  </a:cubicBezTo>
                  <a:lnTo>
                    <a:pt x="0" y="211963"/>
                  </a:lnTo>
                  <a:lnTo>
                    <a:pt x="16891" y="211963"/>
                  </a:lnTo>
                  <a:lnTo>
                    <a:pt x="0" y="211963"/>
                  </a:lnTo>
                  <a:moveTo>
                    <a:pt x="33909" y="211963"/>
                  </a:moveTo>
                  <a:lnTo>
                    <a:pt x="33909" y="553339"/>
                  </a:lnTo>
                  <a:lnTo>
                    <a:pt x="16891" y="553339"/>
                  </a:lnTo>
                  <a:lnTo>
                    <a:pt x="33909" y="553339"/>
                  </a:lnTo>
                  <a:cubicBezTo>
                    <a:pt x="33909" y="651002"/>
                    <a:pt x="116713" y="731520"/>
                    <a:pt x="220345" y="731520"/>
                  </a:cubicBezTo>
                  <a:lnTo>
                    <a:pt x="9445244" y="731520"/>
                  </a:lnTo>
                  <a:cubicBezTo>
                    <a:pt x="9548875" y="731520"/>
                    <a:pt x="9631680" y="651129"/>
                    <a:pt x="9631680" y="553339"/>
                  </a:cubicBezTo>
                  <a:lnTo>
                    <a:pt x="9631680" y="211963"/>
                  </a:lnTo>
                  <a:cubicBezTo>
                    <a:pt x="9631680" y="114300"/>
                    <a:pt x="9548875" y="33782"/>
                    <a:pt x="9445244" y="33782"/>
                  </a:cubicBezTo>
                  <a:lnTo>
                    <a:pt x="220345" y="33782"/>
                  </a:lnTo>
                  <a:lnTo>
                    <a:pt x="220345" y="16891"/>
                  </a:lnTo>
                  <a:lnTo>
                    <a:pt x="220345" y="33909"/>
                  </a:lnTo>
                  <a:cubicBezTo>
                    <a:pt x="116713" y="33909"/>
                    <a:pt x="33909" y="114300"/>
                    <a:pt x="33909" y="211963"/>
                  </a:cubicBezTo>
                  <a:close/>
                </a:path>
              </a:pathLst>
            </a:custGeom>
            <a:solidFill>
              <a:srgbClr val="2C4A6E"/>
            </a:solidFill>
          </p:spPr>
        </p:sp>
      </p:grpSp>
      <p:grpSp>
        <p:nvGrpSpPr>
          <p:cNvPr name="Group 23" id="23"/>
          <p:cNvGrpSpPr/>
          <p:nvPr/>
        </p:nvGrpSpPr>
        <p:grpSpPr>
          <a:xfrm rot="0">
            <a:off x="1024128" y="3035808"/>
            <a:ext cx="7223760" cy="512064"/>
            <a:chOff x="0" y="0"/>
            <a:chExt cx="9631680" cy="682752"/>
          </a:xfrm>
        </p:grpSpPr>
        <p:sp>
          <p:nvSpPr>
            <p:cNvPr name="Freeform 24" id="24"/>
            <p:cNvSpPr/>
            <p:nvPr/>
          </p:nvSpPr>
          <p:spPr>
            <a:xfrm flipH="false" flipV="false" rot="0">
              <a:off x="0" y="0"/>
              <a:ext cx="9631680" cy="682752"/>
            </a:xfrm>
            <a:custGeom>
              <a:avLst/>
              <a:gdLst/>
              <a:ahLst/>
              <a:cxnLst/>
              <a:rect r="r" b="b" t="t" l="l"/>
              <a:pathLst>
                <a:path h="682752" w="9631680">
                  <a:moveTo>
                    <a:pt x="0" y="0"/>
                  </a:moveTo>
                  <a:lnTo>
                    <a:pt x="9631680" y="0"/>
                  </a:lnTo>
                  <a:lnTo>
                    <a:pt x="9631680" y="682752"/>
                  </a:lnTo>
                  <a:lnTo>
                    <a:pt x="0" y="682752"/>
                  </a:lnTo>
                  <a:close/>
                </a:path>
              </a:pathLst>
            </a:custGeom>
            <a:blipFill>
              <a:blip r:embed="rId3">
                <a:alphaModFix amt="0"/>
              </a:blip>
              <a:stretch>
                <a:fillRect l="0" t="-224878" r="0" b="-224878"/>
              </a:stretch>
            </a:blipFill>
          </p:spPr>
        </p:sp>
        <p:sp>
          <p:nvSpPr>
            <p:cNvPr name="TextBox 25" id="25"/>
            <p:cNvSpPr txBox="true"/>
            <p:nvPr/>
          </p:nvSpPr>
          <p:spPr>
            <a:xfrm>
              <a:off x="0" y="9525"/>
              <a:ext cx="9631680" cy="673227"/>
            </a:xfrm>
            <a:prstGeom prst="rect">
              <a:avLst/>
            </a:prstGeom>
          </p:spPr>
          <p:txBody>
            <a:bodyPr anchor="ctr" rtlCol="false" tIns="0" lIns="0" bIns="0" rIns="0"/>
            <a:lstStyle/>
            <a:p>
              <a:pPr algn="ctr">
                <a:lnSpc>
                  <a:spcPts val="2160"/>
                </a:lnSpc>
              </a:pPr>
              <a:r>
                <a:rPr lang="en-US" sz="1800" b="true">
                  <a:solidFill>
                    <a:srgbClr val="FFFFFF"/>
                  </a:solidFill>
                  <a:latin typeface="EB Garamond Semi-Bold"/>
                  <a:ea typeface="EB Garamond Semi-Bold"/>
                  <a:cs typeface="EB Garamond Semi-Bold"/>
                  <a:sym typeface="EB Garamond Semi-Bold"/>
                </a:rPr>
                <a:t>Phase nettoyage : ligne de commande VS Code</a:t>
              </a:r>
            </a:p>
          </p:txBody>
        </p:sp>
      </p:grpSp>
      <p:sp>
        <p:nvSpPr>
          <p:cNvPr name="TextBox 26" id="26"/>
          <p:cNvSpPr txBox="true"/>
          <p:nvPr/>
        </p:nvSpPr>
        <p:spPr>
          <a:xfrm rot="0">
            <a:off x="950976" y="3767328"/>
            <a:ext cx="7406640" cy="666750"/>
          </a:xfrm>
          <a:prstGeom prst="rect">
            <a:avLst/>
          </a:prstGeom>
        </p:spPr>
        <p:txBody>
          <a:bodyPr anchor="t" rtlCol="false" tIns="0" lIns="0" bIns="0" rIns="0">
            <a:spAutoFit/>
          </a:bodyPr>
          <a:lstStyle/>
          <a:p>
            <a:pPr algn="l">
              <a:lnSpc>
                <a:spcPts val="2639"/>
              </a:lnSpc>
            </a:pPr>
            <a:r>
              <a:rPr lang="en-US" sz="2199" b="true">
                <a:solidFill>
                  <a:srgbClr val="C89A3E"/>
                </a:solidFill>
                <a:latin typeface="EB Garamond Semi-Bold"/>
                <a:ea typeface="EB Garamond Semi-Bold"/>
                <a:cs typeface="EB Garamond Semi-Bold"/>
                <a:sym typeface="EB Garamond Semi-Bold"/>
              </a:rPr>
              <a:t>▸ </a:t>
            </a:r>
            <a:r>
              <a:rPr lang="en-US" sz="2199">
                <a:solidFill>
                  <a:srgbClr val="364E64"/>
                </a:solidFill>
                <a:latin typeface="EB Garamond"/>
                <a:ea typeface="EB Garamond"/>
                <a:cs typeface="EB Garamond"/>
                <a:sym typeface="EB Garamond"/>
              </a:rPr>
              <a:t>Commentaire bloc par bloc du do-file cleaning.do directement dans le terminal VS Code</a:t>
            </a:r>
          </a:p>
        </p:txBody>
      </p:sp>
      <p:sp>
        <p:nvSpPr>
          <p:cNvPr name="TextBox 27" id="27"/>
          <p:cNvSpPr txBox="true"/>
          <p:nvPr/>
        </p:nvSpPr>
        <p:spPr>
          <a:xfrm rot="0">
            <a:off x="950976" y="4791456"/>
            <a:ext cx="7406640" cy="628650"/>
          </a:xfrm>
          <a:prstGeom prst="rect">
            <a:avLst/>
          </a:prstGeom>
        </p:spPr>
        <p:txBody>
          <a:bodyPr anchor="t" rtlCol="false" tIns="0" lIns="0" bIns="0" rIns="0">
            <a:spAutoFit/>
          </a:bodyPr>
          <a:lstStyle/>
          <a:p>
            <a:pPr algn="l">
              <a:lnSpc>
                <a:spcPts val="2520"/>
              </a:lnSpc>
            </a:pPr>
            <a:r>
              <a:rPr lang="en-US" sz="2100" b="true">
                <a:solidFill>
                  <a:srgbClr val="C89A3E"/>
                </a:solidFill>
                <a:latin typeface="EB Garamond Semi-Bold"/>
                <a:ea typeface="EB Garamond Semi-Bold"/>
                <a:cs typeface="EB Garamond Semi-Bold"/>
                <a:sym typeface="EB Garamond Semi-Bold"/>
              </a:rPr>
              <a:t>▸ </a:t>
            </a:r>
            <a:r>
              <a:rPr lang="en-US" sz="2100">
                <a:solidFill>
                  <a:srgbClr val="364E64"/>
                </a:solidFill>
                <a:latin typeface="EB Garamond"/>
                <a:ea typeface="EB Garamond"/>
                <a:cs typeface="EB Garamond"/>
                <a:sym typeface="EB Garamond"/>
              </a:rPr>
              <a:t>Explication ligne par ligne : que fait / pourquoi / conséquence si absent</a:t>
            </a:r>
          </a:p>
        </p:txBody>
      </p:sp>
      <p:sp>
        <p:nvSpPr>
          <p:cNvPr name="TextBox 28" id="28"/>
          <p:cNvSpPr txBox="true"/>
          <p:nvPr/>
        </p:nvSpPr>
        <p:spPr>
          <a:xfrm rot="0">
            <a:off x="950976" y="5815584"/>
            <a:ext cx="7406640" cy="628650"/>
          </a:xfrm>
          <a:prstGeom prst="rect">
            <a:avLst/>
          </a:prstGeom>
        </p:spPr>
        <p:txBody>
          <a:bodyPr anchor="t" rtlCol="false" tIns="0" lIns="0" bIns="0" rIns="0">
            <a:spAutoFit/>
          </a:bodyPr>
          <a:lstStyle/>
          <a:p>
            <a:pPr algn="l">
              <a:lnSpc>
                <a:spcPts val="2520"/>
              </a:lnSpc>
            </a:pPr>
            <a:r>
              <a:rPr lang="en-US" sz="2100" b="true">
                <a:solidFill>
                  <a:srgbClr val="C89A3E"/>
                </a:solidFill>
                <a:latin typeface="EB Garamond Semi-Bold"/>
                <a:ea typeface="EB Garamond Semi-Bold"/>
                <a:cs typeface="EB Garamond Semi-Bold"/>
                <a:sym typeface="EB Garamond Semi-Bold"/>
              </a:rPr>
              <a:t>▸ </a:t>
            </a:r>
            <a:r>
              <a:rPr lang="en-US" sz="2100">
                <a:solidFill>
                  <a:srgbClr val="364E64"/>
                </a:solidFill>
                <a:latin typeface="EB Garamond"/>
                <a:ea typeface="EB Garamond"/>
                <a:cs typeface="EB Garamond"/>
                <a:sym typeface="EB Garamond"/>
              </a:rPr>
              <a:t>Identification des choix discutables + proposition d'alternatives pour chaque bloc</a:t>
            </a:r>
          </a:p>
        </p:txBody>
      </p:sp>
      <p:sp>
        <p:nvSpPr>
          <p:cNvPr name="TextBox 29" id="29"/>
          <p:cNvSpPr txBox="true"/>
          <p:nvPr/>
        </p:nvSpPr>
        <p:spPr>
          <a:xfrm rot="0">
            <a:off x="950976" y="6839712"/>
            <a:ext cx="7406640" cy="628650"/>
          </a:xfrm>
          <a:prstGeom prst="rect">
            <a:avLst/>
          </a:prstGeom>
        </p:spPr>
        <p:txBody>
          <a:bodyPr anchor="t" rtlCol="false" tIns="0" lIns="0" bIns="0" rIns="0">
            <a:spAutoFit/>
          </a:bodyPr>
          <a:lstStyle/>
          <a:p>
            <a:pPr algn="l">
              <a:lnSpc>
                <a:spcPts val="2520"/>
              </a:lnSpc>
            </a:pPr>
            <a:r>
              <a:rPr lang="en-US" sz="2100" b="true">
                <a:solidFill>
                  <a:srgbClr val="C89A3E"/>
                </a:solidFill>
                <a:latin typeface="EB Garamond Semi-Bold"/>
                <a:ea typeface="EB Garamond Semi-Bold"/>
                <a:cs typeface="EB Garamond Semi-Bold"/>
                <a:sym typeface="EB Garamond Semi-Bold"/>
              </a:rPr>
              <a:t>▸ </a:t>
            </a:r>
            <a:r>
              <a:rPr lang="en-US" sz="2100">
                <a:solidFill>
                  <a:srgbClr val="364E64"/>
                </a:solidFill>
                <a:latin typeface="EB Garamond"/>
                <a:ea typeface="EB Garamond"/>
                <a:cs typeface="EB Garamond"/>
                <a:sym typeface="EB Garamond"/>
              </a:rPr>
              <a:t>Configuration des global macros (root, inputfile, data, codes) pour reproductibilité</a:t>
            </a:r>
          </a:p>
        </p:txBody>
      </p:sp>
      <p:sp>
        <p:nvSpPr>
          <p:cNvPr name="TextBox 30" id="30"/>
          <p:cNvSpPr txBox="true"/>
          <p:nvPr/>
        </p:nvSpPr>
        <p:spPr>
          <a:xfrm rot="0">
            <a:off x="950976" y="7863840"/>
            <a:ext cx="7406640" cy="628650"/>
          </a:xfrm>
          <a:prstGeom prst="rect">
            <a:avLst/>
          </a:prstGeom>
        </p:spPr>
        <p:txBody>
          <a:bodyPr anchor="t" rtlCol="false" tIns="0" lIns="0" bIns="0" rIns="0">
            <a:spAutoFit/>
          </a:bodyPr>
          <a:lstStyle/>
          <a:p>
            <a:pPr algn="l">
              <a:lnSpc>
                <a:spcPts val="2520"/>
              </a:lnSpc>
            </a:pPr>
            <a:r>
              <a:rPr lang="en-US" sz="2100" b="true">
                <a:solidFill>
                  <a:srgbClr val="C89A3E"/>
                </a:solidFill>
                <a:latin typeface="EB Garamond Semi-Bold"/>
                <a:ea typeface="EB Garamond Semi-Bold"/>
                <a:cs typeface="EB Garamond Semi-Bold"/>
                <a:sym typeface="EB Garamond Semi-Bold"/>
              </a:rPr>
              <a:t>▸ </a:t>
            </a:r>
            <a:r>
              <a:rPr lang="en-US" sz="2100">
                <a:solidFill>
                  <a:srgbClr val="364E64"/>
                </a:solidFill>
                <a:latin typeface="EB Garamond"/>
                <a:ea typeface="EB Garamond"/>
                <a:cs typeface="EB Garamond"/>
                <a:sym typeface="EB Garamond"/>
              </a:rPr>
              <a:t>Prédiction du contenu de emigration_cleaning.do, puis comparaison avec le fichier réel</a:t>
            </a:r>
          </a:p>
        </p:txBody>
      </p:sp>
      <p:grpSp>
        <p:nvGrpSpPr>
          <p:cNvPr name="Group 31" id="31"/>
          <p:cNvGrpSpPr/>
          <p:nvPr/>
        </p:nvGrpSpPr>
        <p:grpSpPr>
          <a:xfrm rot="0">
            <a:off x="9682477" y="2038093"/>
            <a:ext cx="7975597" cy="7426957"/>
            <a:chOff x="0" y="0"/>
            <a:chExt cx="10634129" cy="9902609"/>
          </a:xfrm>
        </p:grpSpPr>
        <p:sp>
          <p:nvSpPr>
            <p:cNvPr name="Freeform 32" id="32"/>
            <p:cNvSpPr/>
            <p:nvPr/>
          </p:nvSpPr>
          <p:spPr>
            <a:xfrm flipH="false" flipV="false" rot="0">
              <a:off x="13589" y="13589"/>
              <a:ext cx="10606913" cy="9875521"/>
            </a:xfrm>
            <a:custGeom>
              <a:avLst/>
              <a:gdLst/>
              <a:ahLst/>
              <a:cxnLst/>
              <a:rect r="r" b="b" t="t" l="l"/>
              <a:pathLst>
                <a:path h="9875521" w="10606913">
                  <a:moveTo>
                    <a:pt x="0" y="243840"/>
                  </a:moveTo>
                  <a:cubicBezTo>
                    <a:pt x="0" y="109220"/>
                    <a:pt x="109220" y="0"/>
                    <a:pt x="243840" y="0"/>
                  </a:cubicBezTo>
                  <a:lnTo>
                    <a:pt x="10363073" y="0"/>
                  </a:lnTo>
                  <a:cubicBezTo>
                    <a:pt x="10497820" y="0"/>
                    <a:pt x="10606913" y="109220"/>
                    <a:pt x="10606913" y="243840"/>
                  </a:cubicBezTo>
                  <a:lnTo>
                    <a:pt x="10606913" y="9631680"/>
                  </a:lnTo>
                  <a:cubicBezTo>
                    <a:pt x="10606913" y="9766300"/>
                    <a:pt x="10497693" y="9875521"/>
                    <a:pt x="10363073" y="9875521"/>
                  </a:cubicBezTo>
                  <a:lnTo>
                    <a:pt x="243840" y="9875521"/>
                  </a:lnTo>
                  <a:cubicBezTo>
                    <a:pt x="109093" y="9875521"/>
                    <a:pt x="0" y="9766300"/>
                    <a:pt x="0" y="9631680"/>
                  </a:cubicBezTo>
                  <a:close/>
                </a:path>
              </a:pathLst>
            </a:custGeom>
            <a:solidFill>
              <a:srgbClr val="FFFFFF"/>
            </a:solidFill>
          </p:spPr>
        </p:sp>
        <p:sp>
          <p:nvSpPr>
            <p:cNvPr name="Freeform 33" id="33"/>
            <p:cNvSpPr/>
            <p:nvPr/>
          </p:nvSpPr>
          <p:spPr>
            <a:xfrm flipH="false" flipV="false" rot="0">
              <a:off x="0" y="0"/>
              <a:ext cx="10634091" cy="9902698"/>
            </a:xfrm>
            <a:custGeom>
              <a:avLst/>
              <a:gdLst/>
              <a:ahLst/>
              <a:cxnLst/>
              <a:rect r="r" b="b" t="t" l="l"/>
              <a:pathLst>
                <a:path h="9902698" w="10634091">
                  <a:moveTo>
                    <a:pt x="0" y="257429"/>
                  </a:moveTo>
                  <a:cubicBezTo>
                    <a:pt x="0" y="115189"/>
                    <a:pt x="115316" y="0"/>
                    <a:pt x="257429" y="0"/>
                  </a:cubicBezTo>
                  <a:lnTo>
                    <a:pt x="10376662" y="0"/>
                  </a:lnTo>
                  <a:lnTo>
                    <a:pt x="10376662" y="13589"/>
                  </a:lnTo>
                  <a:lnTo>
                    <a:pt x="10376662" y="0"/>
                  </a:lnTo>
                  <a:cubicBezTo>
                    <a:pt x="10518775" y="0"/>
                    <a:pt x="10634091" y="115189"/>
                    <a:pt x="10634091" y="257429"/>
                  </a:cubicBezTo>
                  <a:lnTo>
                    <a:pt x="10620502" y="257429"/>
                  </a:lnTo>
                  <a:lnTo>
                    <a:pt x="10634091" y="257429"/>
                  </a:lnTo>
                  <a:lnTo>
                    <a:pt x="10634091" y="9645269"/>
                  </a:lnTo>
                  <a:lnTo>
                    <a:pt x="10620502" y="9645269"/>
                  </a:lnTo>
                  <a:lnTo>
                    <a:pt x="10634091" y="9645269"/>
                  </a:lnTo>
                  <a:cubicBezTo>
                    <a:pt x="10634091" y="9787382"/>
                    <a:pt x="10518775" y="9902698"/>
                    <a:pt x="10376662" y="9902698"/>
                  </a:cubicBezTo>
                  <a:lnTo>
                    <a:pt x="10376662" y="9889110"/>
                  </a:lnTo>
                  <a:lnTo>
                    <a:pt x="10376662" y="9902698"/>
                  </a:lnTo>
                  <a:lnTo>
                    <a:pt x="257429" y="9902698"/>
                  </a:lnTo>
                  <a:lnTo>
                    <a:pt x="257429" y="9889110"/>
                  </a:lnTo>
                  <a:lnTo>
                    <a:pt x="257429" y="9902698"/>
                  </a:lnTo>
                  <a:cubicBezTo>
                    <a:pt x="115316" y="9902571"/>
                    <a:pt x="0" y="9787382"/>
                    <a:pt x="0" y="9645269"/>
                  </a:cubicBezTo>
                  <a:lnTo>
                    <a:pt x="0" y="257429"/>
                  </a:lnTo>
                  <a:lnTo>
                    <a:pt x="13589" y="257429"/>
                  </a:lnTo>
                  <a:lnTo>
                    <a:pt x="0" y="257429"/>
                  </a:lnTo>
                  <a:moveTo>
                    <a:pt x="27051" y="257429"/>
                  </a:moveTo>
                  <a:lnTo>
                    <a:pt x="27051" y="9645269"/>
                  </a:lnTo>
                  <a:lnTo>
                    <a:pt x="13589" y="9645269"/>
                  </a:lnTo>
                  <a:lnTo>
                    <a:pt x="27051" y="9645269"/>
                  </a:lnTo>
                  <a:cubicBezTo>
                    <a:pt x="27051" y="9772397"/>
                    <a:pt x="130175" y="9875520"/>
                    <a:pt x="257429" y="9875520"/>
                  </a:cubicBezTo>
                  <a:lnTo>
                    <a:pt x="10376662" y="9875520"/>
                  </a:lnTo>
                  <a:cubicBezTo>
                    <a:pt x="10503916" y="9875520"/>
                    <a:pt x="10607040" y="9772397"/>
                    <a:pt x="10607040" y="9645269"/>
                  </a:cubicBezTo>
                  <a:lnTo>
                    <a:pt x="10607040" y="257429"/>
                  </a:lnTo>
                  <a:cubicBezTo>
                    <a:pt x="10607040" y="130302"/>
                    <a:pt x="10503916" y="27178"/>
                    <a:pt x="10376662" y="27178"/>
                  </a:cubicBezTo>
                  <a:lnTo>
                    <a:pt x="257429" y="27178"/>
                  </a:lnTo>
                  <a:lnTo>
                    <a:pt x="257429" y="13589"/>
                  </a:lnTo>
                  <a:lnTo>
                    <a:pt x="257429" y="27051"/>
                  </a:lnTo>
                  <a:cubicBezTo>
                    <a:pt x="130175" y="27051"/>
                    <a:pt x="27051" y="130175"/>
                    <a:pt x="27051" y="257302"/>
                  </a:cubicBezTo>
                  <a:close/>
                </a:path>
              </a:pathLst>
            </a:custGeom>
            <a:solidFill>
              <a:srgbClr val="BDC8D5"/>
            </a:solidFill>
          </p:spPr>
        </p:sp>
      </p:grpSp>
      <p:grpSp>
        <p:nvGrpSpPr>
          <p:cNvPr name="Group 34" id="34"/>
          <p:cNvGrpSpPr/>
          <p:nvPr/>
        </p:nvGrpSpPr>
        <p:grpSpPr>
          <a:xfrm rot="0">
            <a:off x="9679943" y="2035559"/>
            <a:ext cx="153419" cy="7432043"/>
            <a:chOff x="0" y="0"/>
            <a:chExt cx="204559" cy="9909391"/>
          </a:xfrm>
        </p:grpSpPr>
        <p:sp>
          <p:nvSpPr>
            <p:cNvPr name="Freeform 35" id="35"/>
            <p:cNvSpPr/>
            <p:nvPr/>
          </p:nvSpPr>
          <p:spPr>
            <a:xfrm flipH="false" flipV="false" rot="0">
              <a:off x="16891" y="16891"/>
              <a:ext cx="170688" cy="9875520"/>
            </a:xfrm>
            <a:custGeom>
              <a:avLst/>
              <a:gdLst/>
              <a:ahLst/>
              <a:cxnLst/>
              <a:rect r="r" b="b" t="t" l="l"/>
              <a:pathLst>
                <a:path h="9875520" w="170688">
                  <a:moveTo>
                    <a:pt x="0" y="0"/>
                  </a:moveTo>
                  <a:lnTo>
                    <a:pt x="170688" y="0"/>
                  </a:lnTo>
                  <a:lnTo>
                    <a:pt x="170688" y="9875520"/>
                  </a:lnTo>
                  <a:lnTo>
                    <a:pt x="0" y="9875520"/>
                  </a:lnTo>
                  <a:close/>
                </a:path>
              </a:pathLst>
            </a:custGeom>
            <a:solidFill>
              <a:srgbClr val="C89A3E"/>
            </a:solidFill>
          </p:spPr>
        </p:sp>
        <p:sp>
          <p:nvSpPr>
            <p:cNvPr name="Freeform 36" id="36"/>
            <p:cNvSpPr/>
            <p:nvPr/>
          </p:nvSpPr>
          <p:spPr>
            <a:xfrm flipH="false" flipV="false" rot="0">
              <a:off x="0" y="0"/>
              <a:ext cx="204470" cy="9909301"/>
            </a:xfrm>
            <a:custGeom>
              <a:avLst/>
              <a:gdLst/>
              <a:ahLst/>
              <a:cxnLst/>
              <a:rect r="r" b="b" t="t" l="l"/>
              <a:pathLst>
                <a:path h="9909301" w="204470">
                  <a:moveTo>
                    <a:pt x="16891" y="0"/>
                  </a:moveTo>
                  <a:lnTo>
                    <a:pt x="187579" y="0"/>
                  </a:lnTo>
                  <a:cubicBezTo>
                    <a:pt x="196977" y="0"/>
                    <a:pt x="204470" y="7620"/>
                    <a:pt x="204470" y="16891"/>
                  </a:cubicBezTo>
                  <a:lnTo>
                    <a:pt x="204470" y="9892411"/>
                  </a:lnTo>
                  <a:cubicBezTo>
                    <a:pt x="204470" y="9901809"/>
                    <a:pt x="196850" y="9909301"/>
                    <a:pt x="187579" y="9909301"/>
                  </a:cubicBezTo>
                  <a:lnTo>
                    <a:pt x="16891" y="9909301"/>
                  </a:lnTo>
                  <a:cubicBezTo>
                    <a:pt x="7493" y="9909301"/>
                    <a:pt x="0" y="9901682"/>
                    <a:pt x="0" y="9892411"/>
                  </a:cubicBezTo>
                  <a:lnTo>
                    <a:pt x="0" y="16891"/>
                  </a:lnTo>
                  <a:cubicBezTo>
                    <a:pt x="0" y="7620"/>
                    <a:pt x="7620" y="0"/>
                    <a:pt x="16891" y="0"/>
                  </a:cubicBezTo>
                  <a:moveTo>
                    <a:pt x="16891" y="33909"/>
                  </a:moveTo>
                  <a:lnTo>
                    <a:pt x="16891" y="16891"/>
                  </a:lnTo>
                  <a:lnTo>
                    <a:pt x="33909" y="16891"/>
                  </a:lnTo>
                  <a:lnTo>
                    <a:pt x="33909" y="9892411"/>
                  </a:lnTo>
                  <a:lnTo>
                    <a:pt x="16891" y="9892411"/>
                  </a:lnTo>
                  <a:lnTo>
                    <a:pt x="16891" y="9875520"/>
                  </a:lnTo>
                  <a:lnTo>
                    <a:pt x="187579" y="9875520"/>
                  </a:lnTo>
                  <a:lnTo>
                    <a:pt x="187579" y="9892411"/>
                  </a:lnTo>
                  <a:lnTo>
                    <a:pt x="170688" y="9892411"/>
                  </a:lnTo>
                  <a:lnTo>
                    <a:pt x="170688" y="16891"/>
                  </a:lnTo>
                  <a:lnTo>
                    <a:pt x="187579" y="16891"/>
                  </a:lnTo>
                  <a:lnTo>
                    <a:pt x="187579" y="33909"/>
                  </a:lnTo>
                  <a:lnTo>
                    <a:pt x="16891" y="33909"/>
                  </a:lnTo>
                  <a:close/>
                </a:path>
              </a:pathLst>
            </a:custGeom>
            <a:solidFill>
              <a:srgbClr val="C89A3E"/>
            </a:solidFill>
          </p:spPr>
        </p:sp>
      </p:grpSp>
      <p:grpSp>
        <p:nvGrpSpPr>
          <p:cNvPr name="Group 37" id="37"/>
          <p:cNvGrpSpPr/>
          <p:nvPr/>
        </p:nvGrpSpPr>
        <p:grpSpPr>
          <a:xfrm rot="0">
            <a:off x="10058400" y="2212848"/>
            <a:ext cx="7315200" cy="694944"/>
            <a:chOff x="0" y="0"/>
            <a:chExt cx="9753600" cy="926592"/>
          </a:xfrm>
        </p:grpSpPr>
        <p:sp>
          <p:nvSpPr>
            <p:cNvPr name="Freeform 38" id="38"/>
            <p:cNvSpPr/>
            <p:nvPr/>
          </p:nvSpPr>
          <p:spPr>
            <a:xfrm flipH="false" flipV="false" rot="0">
              <a:off x="0" y="0"/>
              <a:ext cx="9753600" cy="926592"/>
            </a:xfrm>
            <a:custGeom>
              <a:avLst/>
              <a:gdLst/>
              <a:ahLst/>
              <a:cxnLst/>
              <a:rect r="r" b="b" t="t" l="l"/>
              <a:pathLst>
                <a:path h="926592" w="9753600">
                  <a:moveTo>
                    <a:pt x="0" y="0"/>
                  </a:moveTo>
                  <a:lnTo>
                    <a:pt x="9753600" y="0"/>
                  </a:lnTo>
                  <a:lnTo>
                    <a:pt x="9753600" y="926592"/>
                  </a:lnTo>
                  <a:lnTo>
                    <a:pt x="0" y="926592"/>
                  </a:lnTo>
                  <a:close/>
                </a:path>
              </a:pathLst>
            </a:custGeom>
            <a:blipFill>
              <a:blip r:embed="rId3">
                <a:alphaModFix amt="0"/>
              </a:blip>
              <a:stretch>
                <a:fillRect l="0" t="-155105" r="0" b="-155105"/>
              </a:stretch>
            </a:blipFill>
          </p:spPr>
        </p:sp>
        <p:sp>
          <p:nvSpPr>
            <p:cNvPr name="TextBox 39" id="39"/>
            <p:cNvSpPr txBox="true"/>
            <p:nvPr/>
          </p:nvSpPr>
          <p:spPr>
            <a:xfrm>
              <a:off x="0" y="-9525"/>
              <a:ext cx="9753600" cy="936117"/>
            </a:xfrm>
            <a:prstGeom prst="rect">
              <a:avLst/>
            </a:prstGeom>
          </p:spPr>
          <p:txBody>
            <a:bodyPr anchor="ctr" rtlCol="false" tIns="0" lIns="0" bIns="0" rIns="0"/>
            <a:lstStyle/>
            <a:p>
              <a:pPr algn="l">
                <a:lnSpc>
                  <a:spcPts val="3600"/>
                </a:lnSpc>
              </a:pPr>
              <a:r>
                <a:rPr lang="en-US" sz="3000" b="true">
                  <a:solidFill>
                    <a:srgbClr val="1C2E40"/>
                  </a:solidFill>
                  <a:latin typeface="EB Garamond Semi-Bold"/>
                  <a:ea typeface="EB Garamond Semi-Bold"/>
                  <a:cs typeface="EB Garamond Semi-Bold"/>
                  <a:sym typeface="EB Garamond Semi-Bold"/>
                </a:rPr>
                <a:t>Claude AI</a:t>
              </a:r>
            </a:p>
          </p:txBody>
        </p:sp>
      </p:grpSp>
      <p:grpSp>
        <p:nvGrpSpPr>
          <p:cNvPr name="Group 40" id="40"/>
          <p:cNvGrpSpPr/>
          <p:nvPr/>
        </p:nvGrpSpPr>
        <p:grpSpPr>
          <a:xfrm rot="0">
            <a:off x="10045703" y="3004823"/>
            <a:ext cx="7249163" cy="574043"/>
            <a:chOff x="0" y="0"/>
            <a:chExt cx="9665551" cy="765391"/>
          </a:xfrm>
        </p:grpSpPr>
        <p:sp>
          <p:nvSpPr>
            <p:cNvPr name="Freeform 41" id="41"/>
            <p:cNvSpPr/>
            <p:nvPr/>
          </p:nvSpPr>
          <p:spPr>
            <a:xfrm flipH="false" flipV="false" rot="0">
              <a:off x="16891" y="16891"/>
              <a:ext cx="9631807" cy="731520"/>
            </a:xfrm>
            <a:custGeom>
              <a:avLst/>
              <a:gdLst/>
              <a:ahLst/>
              <a:cxnLst/>
              <a:rect r="r" b="b" t="t" l="l"/>
              <a:pathLst>
                <a:path h="731520" w="9631807">
                  <a:moveTo>
                    <a:pt x="0" y="195072"/>
                  </a:moveTo>
                  <a:cubicBezTo>
                    <a:pt x="0" y="87376"/>
                    <a:pt x="91059" y="0"/>
                    <a:pt x="203454" y="0"/>
                  </a:cubicBezTo>
                  <a:lnTo>
                    <a:pt x="9428353" y="0"/>
                  </a:lnTo>
                  <a:cubicBezTo>
                    <a:pt x="9540621" y="0"/>
                    <a:pt x="9631807" y="87376"/>
                    <a:pt x="9631807" y="195072"/>
                  </a:cubicBezTo>
                  <a:lnTo>
                    <a:pt x="9631807" y="536448"/>
                  </a:lnTo>
                  <a:cubicBezTo>
                    <a:pt x="9631807" y="644144"/>
                    <a:pt x="9540747" y="731520"/>
                    <a:pt x="9428353" y="731520"/>
                  </a:cubicBezTo>
                  <a:lnTo>
                    <a:pt x="203454" y="731520"/>
                  </a:lnTo>
                  <a:cubicBezTo>
                    <a:pt x="91186" y="731520"/>
                    <a:pt x="0" y="644144"/>
                    <a:pt x="0" y="536448"/>
                  </a:cubicBezTo>
                  <a:close/>
                </a:path>
              </a:pathLst>
            </a:custGeom>
            <a:solidFill>
              <a:srgbClr val="C89A3E"/>
            </a:solidFill>
          </p:spPr>
        </p:sp>
        <p:sp>
          <p:nvSpPr>
            <p:cNvPr name="Freeform 42" id="42"/>
            <p:cNvSpPr/>
            <p:nvPr/>
          </p:nvSpPr>
          <p:spPr>
            <a:xfrm flipH="false" flipV="false" rot="0">
              <a:off x="0" y="0"/>
              <a:ext cx="9665588" cy="765302"/>
            </a:xfrm>
            <a:custGeom>
              <a:avLst/>
              <a:gdLst/>
              <a:ahLst/>
              <a:cxnLst/>
              <a:rect r="r" b="b" t="t" l="l"/>
              <a:pathLst>
                <a:path h="765302" w="9665588">
                  <a:moveTo>
                    <a:pt x="0" y="211963"/>
                  </a:moveTo>
                  <a:cubicBezTo>
                    <a:pt x="0" y="94234"/>
                    <a:pt x="99314" y="0"/>
                    <a:pt x="220345" y="0"/>
                  </a:cubicBezTo>
                  <a:lnTo>
                    <a:pt x="9445244" y="0"/>
                  </a:lnTo>
                  <a:lnTo>
                    <a:pt x="9445244" y="16891"/>
                  </a:lnTo>
                  <a:lnTo>
                    <a:pt x="9445244" y="0"/>
                  </a:lnTo>
                  <a:cubicBezTo>
                    <a:pt x="9566275" y="0"/>
                    <a:pt x="9665588" y="94234"/>
                    <a:pt x="9665588" y="211963"/>
                  </a:cubicBezTo>
                  <a:lnTo>
                    <a:pt x="9648698" y="211963"/>
                  </a:lnTo>
                  <a:lnTo>
                    <a:pt x="9665588" y="211963"/>
                  </a:lnTo>
                  <a:lnTo>
                    <a:pt x="9665588" y="553339"/>
                  </a:lnTo>
                  <a:lnTo>
                    <a:pt x="9648698" y="553339"/>
                  </a:lnTo>
                  <a:lnTo>
                    <a:pt x="9665588" y="553339"/>
                  </a:lnTo>
                  <a:cubicBezTo>
                    <a:pt x="9665588" y="671068"/>
                    <a:pt x="9566275" y="765302"/>
                    <a:pt x="9445244" y="765302"/>
                  </a:cubicBezTo>
                  <a:lnTo>
                    <a:pt x="9445244" y="748411"/>
                  </a:lnTo>
                  <a:lnTo>
                    <a:pt x="9445244" y="765302"/>
                  </a:lnTo>
                  <a:lnTo>
                    <a:pt x="220345" y="765302"/>
                  </a:lnTo>
                  <a:lnTo>
                    <a:pt x="220345" y="748411"/>
                  </a:lnTo>
                  <a:lnTo>
                    <a:pt x="220345" y="765302"/>
                  </a:lnTo>
                  <a:cubicBezTo>
                    <a:pt x="99314" y="765429"/>
                    <a:pt x="0" y="671068"/>
                    <a:pt x="0" y="553339"/>
                  </a:cubicBezTo>
                  <a:lnTo>
                    <a:pt x="0" y="211963"/>
                  </a:lnTo>
                  <a:lnTo>
                    <a:pt x="16891" y="211963"/>
                  </a:lnTo>
                  <a:lnTo>
                    <a:pt x="0" y="211963"/>
                  </a:lnTo>
                  <a:moveTo>
                    <a:pt x="33909" y="211963"/>
                  </a:moveTo>
                  <a:lnTo>
                    <a:pt x="33909" y="553339"/>
                  </a:lnTo>
                  <a:lnTo>
                    <a:pt x="16891" y="553339"/>
                  </a:lnTo>
                  <a:lnTo>
                    <a:pt x="33909" y="553339"/>
                  </a:lnTo>
                  <a:cubicBezTo>
                    <a:pt x="33909" y="651002"/>
                    <a:pt x="116713" y="731520"/>
                    <a:pt x="220345" y="731520"/>
                  </a:cubicBezTo>
                  <a:lnTo>
                    <a:pt x="9445244" y="731520"/>
                  </a:lnTo>
                  <a:cubicBezTo>
                    <a:pt x="9548875" y="731520"/>
                    <a:pt x="9631680" y="651129"/>
                    <a:pt x="9631680" y="553339"/>
                  </a:cubicBezTo>
                  <a:lnTo>
                    <a:pt x="9631680" y="211963"/>
                  </a:lnTo>
                  <a:cubicBezTo>
                    <a:pt x="9631680" y="114300"/>
                    <a:pt x="9548875" y="33782"/>
                    <a:pt x="9445244" y="33782"/>
                  </a:cubicBezTo>
                  <a:lnTo>
                    <a:pt x="220345" y="33782"/>
                  </a:lnTo>
                  <a:lnTo>
                    <a:pt x="220345" y="16891"/>
                  </a:lnTo>
                  <a:lnTo>
                    <a:pt x="220345" y="33909"/>
                  </a:lnTo>
                  <a:cubicBezTo>
                    <a:pt x="116713" y="33909"/>
                    <a:pt x="33909" y="114300"/>
                    <a:pt x="33909" y="211963"/>
                  </a:cubicBezTo>
                  <a:close/>
                </a:path>
              </a:pathLst>
            </a:custGeom>
            <a:solidFill>
              <a:srgbClr val="C89A3E"/>
            </a:solidFill>
          </p:spPr>
        </p:sp>
      </p:grpSp>
      <p:grpSp>
        <p:nvGrpSpPr>
          <p:cNvPr name="Group 43" id="43"/>
          <p:cNvGrpSpPr/>
          <p:nvPr/>
        </p:nvGrpSpPr>
        <p:grpSpPr>
          <a:xfrm rot="0">
            <a:off x="10058400" y="3035808"/>
            <a:ext cx="7223760" cy="512064"/>
            <a:chOff x="0" y="0"/>
            <a:chExt cx="9631680" cy="682752"/>
          </a:xfrm>
        </p:grpSpPr>
        <p:sp>
          <p:nvSpPr>
            <p:cNvPr name="Freeform 44" id="44"/>
            <p:cNvSpPr/>
            <p:nvPr/>
          </p:nvSpPr>
          <p:spPr>
            <a:xfrm flipH="false" flipV="false" rot="0">
              <a:off x="0" y="0"/>
              <a:ext cx="9631680" cy="682752"/>
            </a:xfrm>
            <a:custGeom>
              <a:avLst/>
              <a:gdLst/>
              <a:ahLst/>
              <a:cxnLst/>
              <a:rect r="r" b="b" t="t" l="l"/>
              <a:pathLst>
                <a:path h="682752" w="9631680">
                  <a:moveTo>
                    <a:pt x="0" y="0"/>
                  </a:moveTo>
                  <a:lnTo>
                    <a:pt x="9631680" y="0"/>
                  </a:lnTo>
                  <a:lnTo>
                    <a:pt x="9631680" y="682752"/>
                  </a:lnTo>
                  <a:lnTo>
                    <a:pt x="0" y="682752"/>
                  </a:lnTo>
                  <a:close/>
                </a:path>
              </a:pathLst>
            </a:custGeom>
            <a:blipFill>
              <a:blip r:embed="rId3">
                <a:alphaModFix amt="0"/>
              </a:blip>
              <a:stretch>
                <a:fillRect l="0" t="-224878" r="0" b="-224878"/>
              </a:stretch>
            </a:blipFill>
          </p:spPr>
        </p:sp>
        <p:sp>
          <p:nvSpPr>
            <p:cNvPr name="TextBox 45" id="45"/>
            <p:cNvSpPr txBox="true"/>
            <p:nvPr/>
          </p:nvSpPr>
          <p:spPr>
            <a:xfrm>
              <a:off x="0" y="9525"/>
              <a:ext cx="9631680" cy="673227"/>
            </a:xfrm>
            <a:prstGeom prst="rect">
              <a:avLst/>
            </a:prstGeom>
          </p:spPr>
          <p:txBody>
            <a:bodyPr anchor="ctr" rtlCol="false" tIns="0" lIns="0" bIns="0" rIns="0"/>
            <a:lstStyle/>
            <a:p>
              <a:pPr algn="ctr">
                <a:lnSpc>
                  <a:spcPts val="2160"/>
                </a:lnSpc>
              </a:pPr>
              <a:r>
                <a:rPr lang="en-US" sz="1800" b="true">
                  <a:solidFill>
                    <a:srgbClr val="FFFFFF"/>
                  </a:solidFill>
                  <a:latin typeface="EB Garamond Semi-Bold"/>
                  <a:ea typeface="EB Garamond Semi-Bold"/>
                  <a:cs typeface="EB Garamond Semi-Bold"/>
                  <a:sym typeface="EB Garamond Semi-Bold"/>
                </a:rPr>
                <a:t>Phase analyse : interface web claude.ai</a:t>
              </a:r>
            </a:p>
          </p:txBody>
        </p:sp>
      </p:grpSp>
      <p:sp>
        <p:nvSpPr>
          <p:cNvPr name="TextBox 46" id="46"/>
          <p:cNvSpPr txBox="true"/>
          <p:nvPr/>
        </p:nvSpPr>
        <p:spPr>
          <a:xfrm rot="0">
            <a:off x="10058400" y="3952875"/>
            <a:ext cx="7406640" cy="628650"/>
          </a:xfrm>
          <a:prstGeom prst="rect">
            <a:avLst/>
          </a:prstGeom>
        </p:spPr>
        <p:txBody>
          <a:bodyPr anchor="t" rtlCol="false" tIns="0" lIns="0" bIns="0" rIns="0">
            <a:spAutoFit/>
          </a:bodyPr>
          <a:lstStyle/>
          <a:p>
            <a:pPr algn="l">
              <a:lnSpc>
                <a:spcPts val="2520"/>
              </a:lnSpc>
            </a:pPr>
            <a:r>
              <a:rPr lang="en-US" sz="2100" b="true">
                <a:solidFill>
                  <a:srgbClr val="C89A3E"/>
                </a:solidFill>
                <a:latin typeface="EB Garamond Semi-Bold"/>
                <a:ea typeface="EB Garamond Semi-Bold"/>
                <a:cs typeface="EB Garamond Semi-Bold"/>
                <a:sym typeface="EB Garamond Semi-Bold"/>
              </a:rPr>
              <a:t>▸ </a:t>
            </a:r>
            <a:r>
              <a:rPr lang="en-US" sz="2100">
                <a:solidFill>
                  <a:srgbClr val="364E64"/>
                </a:solidFill>
                <a:latin typeface="EB Garamond"/>
                <a:ea typeface="EB Garamond"/>
                <a:cs typeface="EB Garamond"/>
                <a:sym typeface="EB Garamond"/>
              </a:rPr>
              <a:t>Structuration du pipeline d'analyse et séquencement des tâches analytiques</a:t>
            </a:r>
          </a:p>
        </p:txBody>
      </p:sp>
      <p:sp>
        <p:nvSpPr>
          <p:cNvPr name="TextBox 47" id="47"/>
          <p:cNvSpPr txBox="true"/>
          <p:nvPr/>
        </p:nvSpPr>
        <p:spPr>
          <a:xfrm rot="0">
            <a:off x="10058400" y="4922901"/>
            <a:ext cx="7406640" cy="628650"/>
          </a:xfrm>
          <a:prstGeom prst="rect">
            <a:avLst/>
          </a:prstGeom>
        </p:spPr>
        <p:txBody>
          <a:bodyPr anchor="t" rtlCol="false" tIns="0" lIns="0" bIns="0" rIns="0">
            <a:spAutoFit/>
          </a:bodyPr>
          <a:lstStyle/>
          <a:p>
            <a:pPr algn="l">
              <a:lnSpc>
                <a:spcPts val="2520"/>
              </a:lnSpc>
            </a:pPr>
            <a:r>
              <a:rPr lang="en-US" sz="2100" b="true">
                <a:solidFill>
                  <a:srgbClr val="C89A3E"/>
                </a:solidFill>
                <a:latin typeface="EB Garamond Semi-Bold"/>
                <a:ea typeface="EB Garamond Semi-Bold"/>
                <a:cs typeface="EB Garamond Semi-Bold"/>
                <a:sym typeface="EB Garamond Semi-Bold"/>
              </a:rPr>
              <a:t>▸ </a:t>
            </a:r>
            <a:r>
              <a:rPr lang="en-US" sz="2100">
                <a:solidFill>
                  <a:srgbClr val="364E64"/>
                </a:solidFill>
                <a:latin typeface="EB Garamond"/>
                <a:ea typeface="EB Garamond"/>
                <a:cs typeface="EB Garamond"/>
                <a:sym typeface="EB Garamond"/>
              </a:rPr>
              <a:t>Explication et interprétation des coefficients de la régression OLS sur les prix</a:t>
            </a:r>
          </a:p>
        </p:txBody>
      </p:sp>
      <p:sp>
        <p:nvSpPr>
          <p:cNvPr name="TextBox 48" id="48"/>
          <p:cNvSpPr txBox="true"/>
          <p:nvPr/>
        </p:nvSpPr>
        <p:spPr>
          <a:xfrm rot="0">
            <a:off x="10058400" y="5815584"/>
            <a:ext cx="7406640" cy="628650"/>
          </a:xfrm>
          <a:prstGeom prst="rect">
            <a:avLst/>
          </a:prstGeom>
        </p:spPr>
        <p:txBody>
          <a:bodyPr anchor="t" rtlCol="false" tIns="0" lIns="0" bIns="0" rIns="0">
            <a:spAutoFit/>
          </a:bodyPr>
          <a:lstStyle/>
          <a:p>
            <a:pPr algn="l">
              <a:lnSpc>
                <a:spcPts val="2520"/>
              </a:lnSpc>
            </a:pPr>
            <a:r>
              <a:rPr lang="en-US" sz="2100" b="true">
                <a:solidFill>
                  <a:srgbClr val="C89A3E"/>
                </a:solidFill>
                <a:latin typeface="EB Garamond Semi-Bold"/>
                <a:ea typeface="EB Garamond Semi-Bold"/>
                <a:cs typeface="EB Garamond Semi-Bold"/>
                <a:sym typeface="EB Garamond Semi-Bold"/>
              </a:rPr>
              <a:t>▸ </a:t>
            </a:r>
            <a:r>
              <a:rPr lang="en-US" sz="2100">
                <a:solidFill>
                  <a:srgbClr val="364E64"/>
                </a:solidFill>
                <a:latin typeface="EB Garamond"/>
                <a:ea typeface="EB Garamond"/>
                <a:cs typeface="EB Garamond"/>
                <a:sym typeface="EB Garamond"/>
              </a:rPr>
              <a:t>Proposition et justification de variables additionnelles pour enrichir le modèle</a:t>
            </a:r>
          </a:p>
        </p:txBody>
      </p:sp>
      <p:grpSp>
        <p:nvGrpSpPr>
          <p:cNvPr name="Group 49" id="49"/>
          <p:cNvGrpSpPr/>
          <p:nvPr/>
        </p:nvGrpSpPr>
        <p:grpSpPr>
          <a:xfrm rot="0">
            <a:off x="-12697" y="9606791"/>
            <a:ext cx="18313403" cy="711203"/>
            <a:chOff x="0" y="0"/>
            <a:chExt cx="24417871" cy="948271"/>
          </a:xfrm>
        </p:grpSpPr>
        <p:sp>
          <p:nvSpPr>
            <p:cNvPr name="Freeform 50" id="50"/>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2C4A6E"/>
            </a:solidFill>
          </p:spPr>
        </p:sp>
        <p:sp>
          <p:nvSpPr>
            <p:cNvPr name="Freeform 51" id="51"/>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2C4A6E"/>
            </a:solidFill>
          </p:spPr>
        </p:sp>
      </p:grpSp>
      <p:grpSp>
        <p:nvGrpSpPr>
          <p:cNvPr name="Group 52" id="52"/>
          <p:cNvGrpSpPr/>
          <p:nvPr/>
        </p:nvGrpSpPr>
        <p:grpSpPr>
          <a:xfrm rot="0">
            <a:off x="640080" y="9637776"/>
            <a:ext cx="17007840" cy="621792"/>
            <a:chOff x="0" y="0"/>
            <a:chExt cx="22677120" cy="829056"/>
          </a:xfrm>
        </p:grpSpPr>
        <p:sp>
          <p:nvSpPr>
            <p:cNvPr name="Freeform 53" id="53"/>
            <p:cNvSpPr/>
            <p:nvPr/>
          </p:nvSpPr>
          <p:spPr>
            <a:xfrm flipH="false" flipV="false" rot="0">
              <a:off x="0" y="0"/>
              <a:ext cx="22677120" cy="829056"/>
            </a:xfrm>
            <a:custGeom>
              <a:avLst/>
              <a:gdLst/>
              <a:ahLst/>
              <a:cxnLst/>
              <a:rect r="r" b="b" t="t" l="l"/>
              <a:pathLst>
                <a:path h="829056" w="22677120">
                  <a:moveTo>
                    <a:pt x="0" y="0"/>
                  </a:moveTo>
                  <a:lnTo>
                    <a:pt x="22677120" y="0"/>
                  </a:lnTo>
                  <a:lnTo>
                    <a:pt x="22677120" y="829056"/>
                  </a:lnTo>
                  <a:lnTo>
                    <a:pt x="0" y="829056"/>
                  </a:lnTo>
                  <a:close/>
                </a:path>
              </a:pathLst>
            </a:custGeom>
            <a:blipFill>
              <a:blip r:embed="rId3">
                <a:alphaModFix amt="0"/>
              </a:blip>
              <a:stretch>
                <a:fillRect l="0" t="-482973" r="0" b="-482973"/>
              </a:stretch>
            </a:blipFill>
          </p:spPr>
        </p:sp>
        <p:sp>
          <p:nvSpPr>
            <p:cNvPr name="TextBox 54" id="54"/>
            <p:cNvSpPr txBox="true"/>
            <p:nvPr/>
          </p:nvSpPr>
          <p:spPr>
            <a:xfrm>
              <a:off x="0" y="0"/>
              <a:ext cx="22677120" cy="829056"/>
            </a:xfrm>
            <a:prstGeom prst="rect">
              <a:avLst/>
            </a:prstGeom>
          </p:spPr>
          <p:txBody>
            <a:bodyPr anchor="ctr" rtlCol="false" tIns="0" lIns="0" bIns="0" rIns="0"/>
            <a:lstStyle/>
            <a:p>
              <a:pPr algn="l">
                <a:lnSpc>
                  <a:spcPts val="2640"/>
                </a:lnSpc>
              </a:pPr>
              <a:r>
                <a:rPr lang="en-US" sz="2200" i="true">
                  <a:solidFill>
                    <a:srgbClr val="FFFFFF"/>
                  </a:solidFill>
                  <a:latin typeface="EB Garamond Italics"/>
                  <a:ea typeface="EB Garamond Italics"/>
                  <a:cs typeface="EB Garamond Italics"/>
                  <a:sym typeface="EB Garamond Italics"/>
                </a:rPr>
                <a:t>Règle fondamentale : Chaque résultat de l'IA a été compris, critiqué et validé avant intégration.</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2C4A6E"/>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2C4A6E"/>
            </a:solidFill>
          </p:spPr>
        </p:sp>
      </p:grpSp>
      <p:grpSp>
        <p:nvGrpSpPr>
          <p:cNvPr name="Group 5" id="5"/>
          <p:cNvGrpSpPr/>
          <p:nvPr/>
        </p:nvGrpSpPr>
        <p:grpSpPr>
          <a:xfrm rot="0">
            <a:off x="822960" y="402336"/>
            <a:ext cx="16642080" cy="1118845"/>
            <a:chOff x="0" y="0"/>
            <a:chExt cx="22189440" cy="1491793"/>
          </a:xfrm>
        </p:grpSpPr>
        <p:sp>
          <p:nvSpPr>
            <p:cNvPr name="Freeform 6" id="6"/>
            <p:cNvSpPr/>
            <p:nvPr/>
          </p:nvSpPr>
          <p:spPr>
            <a:xfrm flipH="false" flipV="false" rot="0">
              <a:off x="0" y="0"/>
              <a:ext cx="22189439" cy="1491793"/>
            </a:xfrm>
            <a:custGeom>
              <a:avLst/>
              <a:gdLst/>
              <a:ahLst/>
              <a:cxnLst/>
              <a:rect r="r" b="b" t="t" l="l"/>
              <a:pathLst>
                <a:path h="1491793" w="22189439">
                  <a:moveTo>
                    <a:pt x="0" y="0"/>
                  </a:moveTo>
                  <a:lnTo>
                    <a:pt x="22189439" y="0"/>
                  </a:lnTo>
                  <a:lnTo>
                    <a:pt x="22189439" y="1491793"/>
                  </a:lnTo>
                  <a:lnTo>
                    <a:pt x="0" y="1491793"/>
                  </a:lnTo>
                  <a:close/>
                </a:path>
              </a:pathLst>
            </a:custGeom>
            <a:blipFill>
              <a:blip r:embed="rId3">
                <a:alphaModFix amt="0"/>
              </a:blip>
              <a:stretch>
                <a:fillRect l="0" t="-244877" r="0" b="-234777"/>
              </a:stretch>
            </a:blipFill>
          </p:spPr>
        </p:sp>
        <p:sp>
          <p:nvSpPr>
            <p:cNvPr name="TextBox 7" id="7"/>
            <p:cNvSpPr txBox="true"/>
            <p:nvPr/>
          </p:nvSpPr>
          <p:spPr>
            <a:xfrm>
              <a:off x="0" y="9525"/>
              <a:ext cx="22189440" cy="1482268"/>
            </a:xfrm>
            <a:prstGeom prst="rect">
              <a:avLst/>
            </a:prstGeom>
          </p:spPr>
          <p:txBody>
            <a:bodyPr anchor="ctr" rtlCol="false" tIns="0" lIns="0" bIns="0" rIns="0"/>
            <a:lstStyle/>
            <a:p>
              <a:pPr algn="l">
                <a:lnSpc>
                  <a:spcPts val="6480"/>
                </a:lnSpc>
              </a:pPr>
              <a:r>
                <a:rPr lang="en-US" sz="5400" b="true">
                  <a:solidFill>
                    <a:srgbClr val="1C2E40"/>
                  </a:solidFill>
                  <a:latin typeface="EB Garamond Semi-Bold"/>
                  <a:ea typeface="EB Garamond Semi-Bold"/>
                  <a:cs typeface="EB Garamond Semi-Bold"/>
                  <a:sym typeface="EB Garamond Semi-Bold"/>
                </a:rPr>
                <a:t>Setup — Configuration de Claude Code</a:t>
              </a:r>
            </a:p>
          </p:txBody>
        </p:sp>
      </p:grpSp>
      <p:grpSp>
        <p:nvGrpSpPr>
          <p:cNvPr name="Group 8" id="8"/>
          <p:cNvGrpSpPr/>
          <p:nvPr/>
        </p:nvGrpSpPr>
        <p:grpSpPr>
          <a:xfrm rot="0">
            <a:off x="822960" y="1426464"/>
            <a:ext cx="16642080" cy="512064"/>
            <a:chOff x="0" y="0"/>
            <a:chExt cx="22189440" cy="682752"/>
          </a:xfrm>
        </p:grpSpPr>
        <p:sp>
          <p:nvSpPr>
            <p:cNvPr name="Freeform 9" id="9"/>
            <p:cNvSpPr/>
            <p:nvPr/>
          </p:nvSpPr>
          <p:spPr>
            <a:xfrm flipH="false" flipV="false" rot="0">
              <a:off x="0" y="0"/>
              <a:ext cx="22189439" cy="682752"/>
            </a:xfrm>
            <a:custGeom>
              <a:avLst/>
              <a:gdLst/>
              <a:ahLst/>
              <a:cxnLst/>
              <a:rect r="r" b="b" t="t" l="l"/>
              <a:pathLst>
                <a:path h="682752" w="22189439">
                  <a:moveTo>
                    <a:pt x="0" y="0"/>
                  </a:moveTo>
                  <a:lnTo>
                    <a:pt x="22189439" y="0"/>
                  </a:lnTo>
                  <a:lnTo>
                    <a:pt x="22189439" y="682752"/>
                  </a:lnTo>
                  <a:lnTo>
                    <a:pt x="0" y="682752"/>
                  </a:lnTo>
                  <a:close/>
                </a:path>
              </a:pathLst>
            </a:custGeom>
            <a:blipFill>
              <a:blip r:embed="rId3">
                <a:alphaModFix amt="0"/>
              </a:blip>
              <a:stretch>
                <a:fillRect l="0" t="-583263" r="0" b="-583263"/>
              </a:stretch>
            </a:blipFill>
          </p:spPr>
        </p:sp>
        <p:sp>
          <p:nvSpPr>
            <p:cNvPr name="TextBox 10" id="10"/>
            <p:cNvSpPr txBox="true"/>
            <p:nvPr/>
          </p:nvSpPr>
          <p:spPr>
            <a:xfrm>
              <a:off x="0" y="9525"/>
              <a:ext cx="22189440" cy="673227"/>
            </a:xfrm>
            <a:prstGeom prst="rect">
              <a:avLst/>
            </a:prstGeom>
          </p:spPr>
          <p:txBody>
            <a:bodyPr anchor="ctr" rtlCol="false" tIns="0" lIns="0" bIns="0" rIns="0"/>
            <a:lstStyle/>
            <a:p>
              <a:pPr algn="l">
                <a:lnSpc>
                  <a:spcPts val="2879"/>
                </a:lnSpc>
              </a:pPr>
              <a:r>
                <a:rPr lang="en-US" sz="2400" i="true">
                  <a:solidFill>
                    <a:srgbClr val="7B8FA1"/>
                  </a:solidFill>
                  <a:latin typeface="EB Garamond Italics"/>
                  <a:ea typeface="EB Garamond Italics"/>
                  <a:cs typeface="EB Garamond Italics"/>
                  <a:sym typeface="EB Garamond Italics"/>
                </a:rPr>
                <a:t>Architecture du projet · Installation · Workflow de reproduction</a:t>
              </a:r>
            </a:p>
          </p:txBody>
        </p:sp>
      </p:grpSp>
      <p:grpSp>
        <p:nvGrpSpPr>
          <p:cNvPr name="Group 11" id="11"/>
          <p:cNvGrpSpPr/>
          <p:nvPr/>
        </p:nvGrpSpPr>
        <p:grpSpPr>
          <a:xfrm rot="0">
            <a:off x="629917" y="2001517"/>
            <a:ext cx="7609837" cy="7426957"/>
            <a:chOff x="0" y="0"/>
            <a:chExt cx="10146449" cy="9902609"/>
          </a:xfrm>
        </p:grpSpPr>
        <p:sp>
          <p:nvSpPr>
            <p:cNvPr name="Freeform 12" id="12"/>
            <p:cNvSpPr/>
            <p:nvPr/>
          </p:nvSpPr>
          <p:spPr>
            <a:xfrm flipH="false" flipV="false" rot="0">
              <a:off x="13589" y="13589"/>
              <a:ext cx="10119361" cy="9875521"/>
            </a:xfrm>
            <a:custGeom>
              <a:avLst/>
              <a:gdLst/>
              <a:ahLst/>
              <a:cxnLst/>
              <a:rect r="r" b="b" t="t" l="l"/>
              <a:pathLst>
                <a:path h="9875521" w="10119361">
                  <a:moveTo>
                    <a:pt x="0" y="243840"/>
                  </a:moveTo>
                  <a:cubicBezTo>
                    <a:pt x="0" y="109220"/>
                    <a:pt x="109220" y="0"/>
                    <a:pt x="243840" y="0"/>
                  </a:cubicBezTo>
                  <a:lnTo>
                    <a:pt x="9875521" y="0"/>
                  </a:lnTo>
                  <a:cubicBezTo>
                    <a:pt x="10010140" y="0"/>
                    <a:pt x="10119361" y="109220"/>
                    <a:pt x="10119361" y="243840"/>
                  </a:cubicBezTo>
                  <a:lnTo>
                    <a:pt x="10119361" y="9631680"/>
                  </a:lnTo>
                  <a:cubicBezTo>
                    <a:pt x="10119361" y="9766300"/>
                    <a:pt x="10010140" y="9875521"/>
                    <a:pt x="9875521" y="9875521"/>
                  </a:cubicBezTo>
                  <a:lnTo>
                    <a:pt x="243840" y="9875521"/>
                  </a:lnTo>
                  <a:cubicBezTo>
                    <a:pt x="109220" y="9875521"/>
                    <a:pt x="0" y="9766300"/>
                    <a:pt x="0" y="9631680"/>
                  </a:cubicBezTo>
                  <a:close/>
                </a:path>
              </a:pathLst>
            </a:custGeom>
            <a:solidFill>
              <a:srgbClr val="FFFFFF"/>
            </a:solidFill>
          </p:spPr>
        </p:sp>
        <p:sp>
          <p:nvSpPr>
            <p:cNvPr name="Freeform 13" id="13"/>
            <p:cNvSpPr/>
            <p:nvPr/>
          </p:nvSpPr>
          <p:spPr>
            <a:xfrm flipH="false" flipV="false" rot="0">
              <a:off x="0" y="0"/>
              <a:ext cx="10146538" cy="9902698"/>
            </a:xfrm>
            <a:custGeom>
              <a:avLst/>
              <a:gdLst/>
              <a:ahLst/>
              <a:cxnLst/>
              <a:rect r="r" b="b" t="t" l="l"/>
              <a:pathLst>
                <a:path h="9902698" w="10146538">
                  <a:moveTo>
                    <a:pt x="0" y="257429"/>
                  </a:moveTo>
                  <a:cubicBezTo>
                    <a:pt x="0" y="115189"/>
                    <a:pt x="115189" y="0"/>
                    <a:pt x="257429" y="0"/>
                  </a:cubicBezTo>
                  <a:lnTo>
                    <a:pt x="9889110" y="0"/>
                  </a:lnTo>
                  <a:lnTo>
                    <a:pt x="9889110" y="13589"/>
                  </a:lnTo>
                  <a:lnTo>
                    <a:pt x="9889110" y="0"/>
                  </a:lnTo>
                  <a:cubicBezTo>
                    <a:pt x="10031223" y="0"/>
                    <a:pt x="10146538" y="115189"/>
                    <a:pt x="10146538" y="257429"/>
                  </a:cubicBezTo>
                  <a:lnTo>
                    <a:pt x="10132950" y="257429"/>
                  </a:lnTo>
                  <a:lnTo>
                    <a:pt x="10146538" y="257429"/>
                  </a:lnTo>
                  <a:lnTo>
                    <a:pt x="10146538" y="9645269"/>
                  </a:lnTo>
                  <a:lnTo>
                    <a:pt x="10132950" y="9645269"/>
                  </a:lnTo>
                  <a:lnTo>
                    <a:pt x="10146538" y="9645269"/>
                  </a:lnTo>
                  <a:cubicBezTo>
                    <a:pt x="10146538" y="9787382"/>
                    <a:pt x="10031350" y="9902698"/>
                    <a:pt x="9889110" y="9902698"/>
                  </a:cubicBezTo>
                  <a:lnTo>
                    <a:pt x="9889110" y="9889110"/>
                  </a:lnTo>
                  <a:lnTo>
                    <a:pt x="9889110" y="9902698"/>
                  </a:lnTo>
                  <a:lnTo>
                    <a:pt x="257429" y="9902698"/>
                  </a:lnTo>
                  <a:lnTo>
                    <a:pt x="257429" y="9889110"/>
                  </a:lnTo>
                  <a:lnTo>
                    <a:pt x="257429" y="9902698"/>
                  </a:lnTo>
                  <a:cubicBezTo>
                    <a:pt x="115189" y="9902571"/>
                    <a:pt x="0" y="9787382"/>
                    <a:pt x="0" y="9645269"/>
                  </a:cubicBezTo>
                  <a:lnTo>
                    <a:pt x="0" y="257429"/>
                  </a:lnTo>
                  <a:lnTo>
                    <a:pt x="13589" y="257429"/>
                  </a:lnTo>
                  <a:lnTo>
                    <a:pt x="0" y="257429"/>
                  </a:lnTo>
                  <a:moveTo>
                    <a:pt x="27051" y="257429"/>
                  </a:moveTo>
                  <a:lnTo>
                    <a:pt x="27051" y="9645269"/>
                  </a:lnTo>
                  <a:lnTo>
                    <a:pt x="13589" y="9645269"/>
                  </a:lnTo>
                  <a:lnTo>
                    <a:pt x="27051" y="9645269"/>
                  </a:lnTo>
                  <a:cubicBezTo>
                    <a:pt x="27051" y="9772397"/>
                    <a:pt x="130175" y="9875520"/>
                    <a:pt x="257302" y="9875520"/>
                  </a:cubicBezTo>
                  <a:lnTo>
                    <a:pt x="9888982" y="9875520"/>
                  </a:lnTo>
                  <a:cubicBezTo>
                    <a:pt x="10016110" y="9875520"/>
                    <a:pt x="10119233" y="9772397"/>
                    <a:pt x="10119233" y="9645269"/>
                  </a:cubicBezTo>
                  <a:lnTo>
                    <a:pt x="10119233" y="257429"/>
                  </a:lnTo>
                  <a:cubicBezTo>
                    <a:pt x="10119233" y="130302"/>
                    <a:pt x="10016110" y="27178"/>
                    <a:pt x="9888982" y="27178"/>
                  </a:cubicBezTo>
                  <a:lnTo>
                    <a:pt x="257429" y="27178"/>
                  </a:lnTo>
                  <a:lnTo>
                    <a:pt x="257429" y="13589"/>
                  </a:lnTo>
                  <a:lnTo>
                    <a:pt x="257429" y="27051"/>
                  </a:lnTo>
                  <a:cubicBezTo>
                    <a:pt x="130302" y="27051"/>
                    <a:pt x="27178" y="130175"/>
                    <a:pt x="27178" y="257302"/>
                  </a:cubicBezTo>
                  <a:close/>
                </a:path>
              </a:pathLst>
            </a:custGeom>
            <a:solidFill>
              <a:srgbClr val="BDC8D5"/>
            </a:solidFill>
          </p:spPr>
        </p:sp>
      </p:grpSp>
      <p:grpSp>
        <p:nvGrpSpPr>
          <p:cNvPr name="Group 14" id="14"/>
          <p:cNvGrpSpPr/>
          <p:nvPr/>
        </p:nvGrpSpPr>
        <p:grpSpPr>
          <a:xfrm rot="0">
            <a:off x="1005840" y="2194560"/>
            <a:ext cx="6949440" cy="621792"/>
            <a:chOff x="0" y="0"/>
            <a:chExt cx="9265920" cy="829056"/>
          </a:xfrm>
        </p:grpSpPr>
        <p:sp>
          <p:nvSpPr>
            <p:cNvPr name="Freeform 15" id="15"/>
            <p:cNvSpPr/>
            <p:nvPr/>
          </p:nvSpPr>
          <p:spPr>
            <a:xfrm flipH="false" flipV="false" rot="0">
              <a:off x="0" y="0"/>
              <a:ext cx="9265920" cy="829056"/>
            </a:xfrm>
            <a:custGeom>
              <a:avLst/>
              <a:gdLst/>
              <a:ahLst/>
              <a:cxnLst/>
              <a:rect r="r" b="b" t="t" l="l"/>
              <a:pathLst>
                <a:path h="829056" w="9265920">
                  <a:moveTo>
                    <a:pt x="0" y="0"/>
                  </a:moveTo>
                  <a:lnTo>
                    <a:pt x="9265920" y="0"/>
                  </a:lnTo>
                  <a:lnTo>
                    <a:pt x="9265920" y="829056"/>
                  </a:lnTo>
                  <a:lnTo>
                    <a:pt x="0" y="829056"/>
                  </a:lnTo>
                  <a:close/>
                </a:path>
              </a:pathLst>
            </a:custGeom>
            <a:blipFill>
              <a:blip r:embed="rId3">
                <a:alphaModFix amt="0"/>
              </a:blip>
              <a:stretch>
                <a:fillRect l="0" t="-167773" r="0" b="-167773"/>
              </a:stretch>
            </a:blipFill>
          </p:spPr>
        </p:sp>
        <p:sp>
          <p:nvSpPr>
            <p:cNvPr name="TextBox 16" id="16"/>
            <p:cNvSpPr txBox="true"/>
            <p:nvPr/>
          </p:nvSpPr>
          <p:spPr>
            <a:xfrm>
              <a:off x="0" y="0"/>
              <a:ext cx="9265920" cy="829056"/>
            </a:xfrm>
            <a:prstGeom prst="rect">
              <a:avLst/>
            </a:prstGeom>
          </p:spPr>
          <p:txBody>
            <a:bodyPr anchor="ctr" rtlCol="false" tIns="0" lIns="0" bIns="0" rIns="0"/>
            <a:lstStyle/>
            <a:p>
              <a:pPr algn="l">
                <a:lnSpc>
                  <a:spcPts val="3120"/>
                </a:lnSpc>
              </a:pPr>
              <a:r>
                <a:rPr lang="en-US" sz="2600" b="true">
                  <a:solidFill>
                    <a:srgbClr val="2C4A6E"/>
                  </a:solidFill>
                  <a:latin typeface="EB Garamond Semi-Bold"/>
                  <a:ea typeface="EB Garamond Semi-Bold"/>
                  <a:cs typeface="EB Garamond Semi-Bold"/>
                  <a:sym typeface="EB Garamond Semi-Bold"/>
                </a:rPr>
                <a:t>Architecture du projet</a:t>
              </a:r>
            </a:p>
          </p:txBody>
        </p:sp>
      </p:grpSp>
      <p:grpSp>
        <p:nvGrpSpPr>
          <p:cNvPr name="Group 17" id="17"/>
          <p:cNvGrpSpPr/>
          <p:nvPr/>
        </p:nvGrpSpPr>
        <p:grpSpPr>
          <a:xfrm rot="0">
            <a:off x="914400" y="2926080"/>
            <a:ext cx="7132320" cy="420624"/>
            <a:chOff x="0" y="0"/>
            <a:chExt cx="9509760" cy="560832"/>
          </a:xfrm>
        </p:grpSpPr>
        <p:sp>
          <p:nvSpPr>
            <p:cNvPr name="Freeform 18" id="18"/>
            <p:cNvSpPr/>
            <p:nvPr/>
          </p:nvSpPr>
          <p:spPr>
            <a:xfrm flipH="false" flipV="false" rot="0">
              <a:off x="0" y="0"/>
              <a:ext cx="9509760" cy="560832"/>
            </a:xfrm>
            <a:custGeom>
              <a:avLst/>
              <a:gdLst/>
              <a:ahLst/>
              <a:cxnLst/>
              <a:rect r="r" b="b" t="t" l="l"/>
              <a:pathLst>
                <a:path h="560832" w="9509760">
                  <a:moveTo>
                    <a:pt x="0" y="0"/>
                  </a:moveTo>
                  <a:lnTo>
                    <a:pt x="9509760" y="0"/>
                  </a:lnTo>
                  <a:lnTo>
                    <a:pt x="9509760" y="560832"/>
                  </a:lnTo>
                  <a:lnTo>
                    <a:pt x="0" y="560832"/>
                  </a:lnTo>
                  <a:close/>
                </a:path>
              </a:pathLst>
            </a:custGeom>
            <a:blipFill>
              <a:blip r:embed="rId3">
                <a:alphaModFix amt="0"/>
              </a:blip>
              <a:stretch>
                <a:fillRect l="0" t="-280398" r="0" b="-280398"/>
              </a:stretch>
            </a:blipFill>
          </p:spPr>
        </p:sp>
        <p:sp>
          <p:nvSpPr>
            <p:cNvPr name="TextBox 19" id="19"/>
            <p:cNvSpPr txBox="true"/>
            <p:nvPr/>
          </p:nvSpPr>
          <p:spPr>
            <a:xfrm>
              <a:off x="0" y="-38100"/>
              <a:ext cx="9509760" cy="598932"/>
            </a:xfrm>
            <a:prstGeom prst="rect">
              <a:avLst/>
            </a:prstGeom>
          </p:spPr>
          <p:txBody>
            <a:bodyPr anchor="ctr" rtlCol="false" tIns="0" lIns="0" bIns="0" rIns="0"/>
            <a:lstStyle/>
            <a:p>
              <a:pPr algn="l">
                <a:lnSpc>
                  <a:spcPts val="2160"/>
                </a:lnSpc>
              </a:pPr>
              <a:r>
                <a:rPr lang="en-US" sz="1800" b="true">
                  <a:solidFill>
                    <a:srgbClr val="2C4A6E"/>
                  </a:solidFill>
                  <a:latin typeface="Consolas Bold"/>
                  <a:ea typeface="Consolas Bold"/>
                  <a:cs typeface="Consolas Bold"/>
                  <a:sym typeface="Consolas Bold"/>
                </a:rPr>
                <a:t>TP3/</a:t>
              </a:r>
            </a:p>
          </p:txBody>
        </p:sp>
      </p:grpSp>
      <p:grpSp>
        <p:nvGrpSpPr>
          <p:cNvPr name="Group 20" id="20"/>
          <p:cNvGrpSpPr/>
          <p:nvPr/>
        </p:nvGrpSpPr>
        <p:grpSpPr>
          <a:xfrm rot="0">
            <a:off x="914400" y="3364992"/>
            <a:ext cx="7132320" cy="420624"/>
            <a:chOff x="0" y="0"/>
            <a:chExt cx="9509760" cy="560832"/>
          </a:xfrm>
        </p:grpSpPr>
        <p:sp>
          <p:nvSpPr>
            <p:cNvPr name="Freeform 21" id="21"/>
            <p:cNvSpPr/>
            <p:nvPr/>
          </p:nvSpPr>
          <p:spPr>
            <a:xfrm flipH="false" flipV="false" rot="0">
              <a:off x="0" y="0"/>
              <a:ext cx="9509760" cy="560832"/>
            </a:xfrm>
            <a:custGeom>
              <a:avLst/>
              <a:gdLst/>
              <a:ahLst/>
              <a:cxnLst/>
              <a:rect r="r" b="b" t="t" l="l"/>
              <a:pathLst>
                <a:path h="560832" w="9509760">
                  <a:moveTo>
                    <a:pt x="0" y="0"/>
                  </a:moveTo>
                  <a:lnTo>
                    <a:pt x="9509760" y="0"/>
                  </a:lnTo>
                  <a:lnTo>
                    <a:pt x="9509760" y="560832"/>
                  </a:lnTo>
                  <a:lnTo>
                    <a:pt x="0" y="560832"/>
                  </a:lnTo>
                  <a:close/>
                </a:path>
              </a:pathLst>
            </a:custGeom>
            <a:blipFill>
              <a:blip r:embed="rId3">
                <a:alphaModFix amt="0"/>
              </a:blip>
              <a:stretch>
                <a:fillRect l="0" t="-280398" r="0" b="-280398"/>
              </a:stretch>
            </a:blipFill>
          </p:spPr>
        </p:sp>
        <p:sp>
          <p:nvSpPr>
            <p:cNvPr name="TextBox 22" id="22"/>
            <p:cNvSpPr txBox="true"/>
            <p:nvPr/>
          </p:nvSpPr>
          <p:spPr>
            <a:xfrm>
              <a:off x="0" y="-38100"/>
              <a:ext cx="9509760" cy="598932"/>
            </a:xfrm>
            <a:prstGeom prst="rect">
              <a:avLst/>
            </a:prstGeom>
          </p:spPr>
          <p:txBody>
            <a:bodyPr anchor="ctr" rtlCol="false" tIns="0" lIns="0" bIns="0" rIns="0"/>
            <a:lstStyle/>
            <a:p>
              <a:pPr algn="l">
                <a:lnSpc>
                  <a:spcPts val="2160"/>
                </a:lnSpc>
              </a:pPr>
              <a:r>
                <a:rPr lang="en-US" sz="1800">
                  <a:solidFill>
                    <a:srgbClr val="1C2E40"/>
                  </a:solidFill>
                  <a:latin typeface="Consolas"/>
                  <a:ea typeface="Consolas"/>
                  <a:cs typeface="Consolas"/>
                  <a:sym typeface="Consolas"/>
                </a:rPr>
                <a:t>  ├─ data/</a:t>
              </a:r>
            </a:p>
          </p:txBody>
        </p:sp>
      </p:grpSp>
      <p:grpSp>
        <p:nvGrpSpPr>
          <p:cNvPr name="Group 23" id="23"/>
          <p:cNvGrpSpPr/>
          <p:nvPr/>
        </p:nvGrpSpPr>
        <p:grpSpPr>
          <a:xfrm rot="0">
            <a:off x="914400" y="3803904"/>
            <a:ext cx="7132320" cy="420624"/>
            <a:chOff x="0" y="0"/>
            <a:chExt cx="9509760" cy="560832"/>
          </a:xfrm>
        </p:grpSpPr>
        <p:sp>
          <p:nvSpPr>
            <p:cNvPr name="Freeform 24" id="24"/>
            <p:cNvSpPr/>
            <p:nvPr/>
          </p:nvSpPr>
          <p:spPr>
            <a:xfrm flipH="false" flipV="false" rot="0">
              <a:off x="0" y="0"/>
              <a:ext cx="9509760" cy="560832"/>
            </a:xfrm>
            <a:custGeom>
              <a:avLst/>
              <a:gdLst/>
              <a:ahLst/>
              <a:cxnLst/>
              <a:rect r="r" b="b" t="t" l="l"/>
              <a:pathLst>
                <a:path h="560832" w="9509760">
                  <a:moveTo>
                    <a:pt x="0" y="0"/>
                  </a:moveTo>
                  <a:lnTo>
                    <a:pt x="9509760" y="0"/>
                  </a:lnTo>
                  <a:lnTo>
                    <a:pt x="9509760" y="560832"/>
                  </a:lnTo>
                  <a:lnTo>
                    <a:pt x="0" y="560832"/>
                  </a:lnTo>
                  <a:close/>
                </a:path>
              </a:pathLst>
            </a:custGeom>
            <a:blipFill>
              <a:blip r:embed="rId3">
                <a:alphaModFix amt="0"/>
              </a:blip>
              <a:stretch>
                <a:fillRect l="0" t="-280398" r="0" b="-280398"/>
              </a:stretch>
            </a:blipFill>
          </p:spPr>
        </p:sp>
        <p:sp>
          <p:nvSpPr>
            <p:cNvPr name="TextBox 25" id="25"/>
            <p:cNvSpPr txBox="true"/>
            <p:nvPr/>
          </p:nvSpPr>
          <p:spPr>
            <a:xfrm>
              <a:off x="0" y="-38100"/>
              <a:ext cx="9509760" cy="598932"/>
            </a:xfrm>
            <a:prstGeom prst="rect">
              <a:avLst/>
            </a:prstGeom>
          </p:spPr>
          <p:txBody>
            <a:bodyPr anchor="ctr" rtlCol="false" tIns="0" lIns="0" bIns="0" rIns="0"/>
            <a:lstStyle/>
            <a:p>
              <a:pPr algn="l">
                <a:lnSpc>
                  <a:spcPts val="2160"/>
                </a:lnSpc>
              </a:pPr>
              <a:r>
                <a:rPr lang="en-US" sz="1800">
                  <a:solidFill>
                    <a:srgbClr val="1C2E40"/>
                  </a:solidFill>
                  <a:latin typeface="Consolas"/>
                  <a:ea typeface="Consolas"/>
                  <a:cs typeface="Consolas"/>
                  <a:sym typeface="Consolas"/>
                </a:rPr>
                <a:t>  │   ├─ raw/        famille_troupeau.dta</a:t>
              </a:r>
            </a:p>
          </p:txBody>
        </p:sp>
      </p:grpSp>
      <p:grpSp>
        <p:nvGrpSpPr>
          <p:cNvPr name="Group 26" id="26"/>
          <p:cNvGrpSpPr/>
          <p:nvPr/>
        </p:nvGrpSpPr>
        <p:grpSpPr>
          <a:xfrm rot="0">
            <a:off x="914400" y="4242816"/>
            <a:ext cx="7132320" cy="420624"/>
            <a:chOff x="0" y="0"/>
            <a:chExt cx="9509760" cy="560832"/>
          </a:xfrm>
        </p:grpSpPr>
        <p:sp>
          <p:nvSpPr>
            <p:cNvPr name="Freeform 27" id="27"/>
            <p:cNvSpPr/>
            <p:nvPr/>
          </p:nvSpPr>
          <p:spPr>
            <a:xfrm flipH="false" flipV="false" rot="0">
              <a:off x="0" y="0"/>
              <a:ext cx="9509760" cy="560832"/>
            </a:xfrm>
            <a:custGeom>
              <a:avLst/>
              <a:gdLst/>
              <a:ahLst/>
              <a:cxnLst/>
              <a:rect r="r" b="b" t="t" l="l"/>
              <a:pathLst>
                <a:path h="560832" w="9509760">
                  <a:moveTo>
                    <a:pt x="0" y="0"/>
                  </a:moveTo>
                  <a:lnTo>
                    <a:pt x="9509760" y="0"/>
                  </a:lnTo>
                  <a:lnTo>
                    <a:pt x="9509760" y="560832"/>
                  </a:lnTo>
                  <a:lnTo>
                    <a:pt x="0" y="560832"/>
                  </a:lnTo>
                  <a:close/>
                </a:path>
              </a:pathLst>
            </a:custGeom>
            <a:blipFill>
              <a:blip r:embed="rId3">
                <a:alphaModFix amt="0"/>
              </a:blip>
              <a:stretch>
                <a:fillRect l="0" t="-280398" r="0" b="-280398"/>
              </a:stretch>
            </a:blipFill>
          </p:spPr>
        </p:sp>
        <p:sp>
          <p:nvSpPr>
            <p:cNvPr name="TextBox 28" id="28"/>
            <p:cNvSpPr txBox="true"/>
            <p:nvPr/>
          </p:nvSpPr>
          <p:spPr>
            <a:xfrm>
              <a:off x="0" y="-38100"/>
              <a:ext cx="9509760" cy="598932"/>
            </a:xfrm>
            <a:prstGeom prst="rect">
              <a:avLst/>
            </a:prstGeom>
          </p:spPr>
          <p:txBody>
            <a:bodyPr anchor="ctr" rtlCol="false" tIns="0" lIns="0" bIns="0" rIns="0"/>
            <a:lstStyle/>
            <a:p>
              <a:pPr algn="l">
                <a:lnSpc>
                  <a:spcPts val="2160"/>
                </a:lnSpc>
              </a:pPr>
              <a:r>
                <a:rPr lang="en-US" sz="1800">
                  <a:solidFill>
                    <a:srgbClr val="1C2E40"/>
                  </a:solidFill>
                  <a:latin typeface="Consolas"/>
                  <a:ea typeface="Consolas"/>
                  <a:cs typeface="Consolas"/>
                  <a:sym typeface="Consolas"/>
                </a:rPr>
                <a:t>  │   └─ cleaned/    FT_cleanID.dta</a:t>
              </a:r>
            </a:p>
          </p:txBody>
        </p:sp>
      </p:grpSp>
      <p:grpSp>
        <p:nvGrpSpPr>
          <p:cNvPr name="Group 29" id="29"/>
          <p:cNvGrpSpPr/>
          <p:nvPr/>
        </p:nvGrpSpPr>
        <p:grpSpPr>
          <a:xfrm rot="0">
            <a:off x="914400" y="4681728"/>
            <a:ext cx="7132320" cy="420624"/>
            <a:chOff x="0" y="0"/>
            <a:chExt cx="9509760" cy="560832"/>
          </a:xfrm>
        </p:grpSpPr>
        <p:sp>
          <p:nvSpPr>
            <p:cNvPr name="Freeform 30" id="30"/>
            <p:cNvSpPr/>
            <p:nvPr/>
          </p:nvSpPr>
          <p:spPr>
            <a:xfrm flipH="false" flipV="false" rot="0">
              <a:off x="0" y="0"/>
              <a:ext cx="9509760" cy="560832"/>
            </a:xfrm>
            <a:custGeom>
              <a:avLst/>
              <a:gdLst/>
              <a:ahLst/>
              <a:cxnLst/>
              <a:rect r="r" b="b" t="t" l="l"/>
              <a:pathLst>
                <a:path h="560832" w="9509760">
                  <a:moveTo>
                    <a:pt x="0" y="0"/>
                  </a:moveTo>
                  <a:lnTo>
                    <a:pt x="9509760" y="0"/>
                  </a:lnTo>
                  <a:lnTo>
                    <a:pt x="9509760" y="560832"/>
                  </a:lnTo>
                  <a:lnTo>
                    <a:pt x="0" y="560832"/>
                  </a:lnTo>
                  <a:close/>
                </a:path>
              </a:pathLst>
            </a:custGeom>
            <a:blipFill>
              <a:blip r:embed="rId3">
                <a:alphaModFix amt="0"/>
              </a:blip>
              <a:stretch>
                <a:fillRect l="0" t="-280398" r="0" b="-280398"/>
              </a:stretch>
            </a:blipFill>
          </p:spPr>
        </p:sp>
        <p:sp>
          <p:nvSpPr>
            <p:cNvPr name="TextBox 31" id="31"/>
            <p:cNvSpPr txBox="true"/>
            <p:nvPr/>
          </p:nvSpPr>
          <p:spPr>
            <a:xfrm>
              <a:off x="0" y="-38100"/>
              <a:ext cx="9509760" cy="598932"/>
            </a:xfrm>
            <a:prstGeom prst="rect">
              <a:avLst/>
            </a:prstGeom>
          </p:spPr>
          <p:txBody>
            <a:bodyPr anchor="ctr" rtlCol="false" tIns="0" lIns="0" bIns="0" rIns="0"/>
            <a:lstStyle/>
            <a:p>
              <a:pPr algn="l">
                <a:lnSpc>
                  <a:spcPts val="2160"/>
                </a:lnSpc>
              </a:pPr>
              <a:r>
                <a:rPr lang="en-US" sz="1800">
                  <a:solidFill>
                    <a:srgbClr val="1C2E40"/>
                  </a:solidFill>
                  <a:latin typeface="Consolas"/>
                  <a:ea typeface="Consolas"/>
                  <a:cs typeface="Consolas"/>
                  <a:sym typeface="Consolas"/>
                </a:rPr>
                <a:t>  │                  FT_cleanMenage.dta</a:t>
              </a:r>
            </a:p>
          </p:txBody>
        </p:sp>
      </p:grpSp>
      <p:grpSp>
        <p:nvGrpSpPr>
          <p:cNvPr name="Group 32" id="32"/>
          <p:cNvGrpSpPr/>
          <p:nvPr/>
        </p:nvGrpSpPr>
        <p:grpSpPr>
          <a:xfrm rot="0">
            <a:off x="914400" y="5120640"/>
            <a:ext cx="7132320" cy="420624"/>
            <a:chOff x="0" y="0"/>
            <a:chExt cx="9509760" cy="560832"/>
          </a:xfrm>
        </p:grpSpPr>
        <p:sp>
          <p:nvSpPr>
            <p:cNvPr name="Freeform 33" id="33"/>
            <p:cNvSpPr/>
            <p:nvPr/>
          </p:nvSpPr>
          <p:spPr>
            <a:xfrm flipH="false" flipV="false" rot="0">
              <a:off x="0" y="0"/>
              <a:ext cx="9509760" cy="560832"/>
            </a:xfrm>
            <a:custGeom>
              <a:avLst/>
              <a:gdLst/>
              <a:ahLst/>
              <a:cxnLst/>
              <a:rect r="r" b="b" t="t" l="l"/>
              <a:pathLst>
                <a:path h="560832" w="9509760">
                  <a:moveTo>
                    <a:pt x="0" y="0"/>
                  </a:moveTo>
                  <a:lnTo>
                    <a:pt x="9509760" y="0"/>
                  </a:lnTo>
                  <a:lnTo>
                    <a:pt x="9509760" y="560832"/>
                  </a:lnTo>
                  <a:lnTo>
                    <a:pt x="0" y="560832"/>
                  </a:lnTo>
                  <a:close/>
                </a:path>
              </a:pathLst>
            </a:custGeom>
            <a:blipFill>
              <a:blip r:embed="rId3">
                <a:alphaModFix amt="0"/>
              </a:blip>
              <a:stretch>
                <a:fillRect l="0" t="-280398" r="0" b="-280398"/>
              </a:stretch>
            </a:blipFill>
          </p:spPr>
        </p:sp>
        <p:sp>
          <p:nvSpPr>
            <p:cNvPr name="TextBox 34" id="34"/>
            <p:cNvSpPr txBox="true"/>
            <p:nvPr/>
          </p:nvSpPr>
          <p:spPr>
            <a:xfrm>
              <a:off x="0" y="-38100"/>
              <a:ext cx="9509760" cy="598932"/>
            </a:xfrm>
            <a:prstGeom prst="rect">
              <a:avLst/>
            </a:prstGeom>
          </p:spPr>
          <p:txBody>
            <a:bodyPr anchor="ctr" rtlCol="false" tIns="0" lIns="0" bIns="0" rIns="0"/>
            <a:lstStyle/>
            <a:p>
              <a:pPr algn="l">
                <a:lnSpc>
                  <a:spcPts val="2160"/>
                </a:lnSpc>
              </a:pPr>
              <a:r>
                <a:rPr lang="en-US" sz="1800">
                  <a:solidFill>
                    <a:srgbClr val="1C2E40"/>
                  </a:solidFill>
                  <a:latin typeface="Consolas"/>
                  <a:ea typeface="Consolas"/>
                  <a:cs typeface="Consolas"/>
                  <a:sym typeface="Consolas"/>
                </a:rPr>
                <a:t>  │                  FT_cleanMenage_Analysed.dta</a:t>
              </a:r>
            </a:p>
          </p:txBody>
        </p:sp>
      </p:grpSp>
      <p:grpSp>
        <p:nvGrpSpPr>
          <p:cNvPr name="Group 35" id="35"/>
          <p:cNvGrpSpPr/>
          <p:nvPr/>
        </p:nvGrpSpPr>
        <p:grpSpPr>
          <a:xfrm rot="0">
            <a:off x="914400" y="5559552"/>
            <a:ext cx="7132320" cy="420624"/>
            <a:chOff x="0" y="0"/>
            <a:chExt cx="9509760" cy="560832"/>
          </a:xfrm>
        </p:grpSpPr>
        <p:sp>
          <p:nvSpPr>
            <p:cNvPr name="Freeform 36" id="36"/>
            <p:cNvSpPr/>
            <p:nvPr/>
          </p:nvSpPr>
          <p:spPr>
            <a:xfrm flipH="false" flipV="false" rot="0">
              <a:off x="0" y="0"/>
              <a:ext cx="9509760" cy="560832"/>
            </a:xfrm>
            <a:custGeom>
              <a:avLst/>
              <a:gdLst/>
              <a:ahLst/>
              <a:cxnLst/>
              <a:rect r="r" b="b" t="t" l="l"/>
              <a:pathLst>
                <a:path h="560832" w="9509760">
                  <a:moveTo>
                    <a:pt x="0" y="0"/>
                  </a:moveTo>
                  <a:lnTo>
                    <a:pt x="9509760" y="0"/>
                  </a:lnTo>
                  <a:lnTo>
                    <a:pt x="9509760" y="560832"/>
                  </a:lnTo>
                  <a:lnTo>
                    <a:pt x="0" y="560832"/>
                  </a:lnTo>
                  <a:close/>
                </a:path>
              </a:pathLst>
            </a:custGeom>
            <a:blipFill>
              <a:blip r:embed="rId3">
                <a:alphaModFix amt="0"/>
              </a:blip>
              <a:stretch>
                <a:fillRect l="0" t="-280398" r="0" b="-280398"/>
              </a:stretch>
            </a:blipFill>
          </p:spPr>
        </p:sp>
        <p:sp>
          <p:nvSpPr>
            <p:cNvPr name="TextBox 37" id="37"/>
            <p:cNvSpPr txBox="true"/>
            <p:nvPr/>
          </p:nvSpPr>
          <p:spPr>
            <a:xfrm>
              <a:off x="0" y="-38100"/>
              <a:ext cx="9509760" cy="598932"/>
            </a:xfrm>
            <a:prstGeom prst="rect">
              <a:avLst/>
            </a:prstGeom>
          </p:spPr>
          <p:txBody>
            <a:bodyPr anchor="ctr" rtlCol="false" tIns="0" lIns="0" bIns="0" rIns="0"/>
            <a:lstStyle/>
            <a:p>
              <a:pPr algn="l">
                <a:lnSpc>
                  <a:spcPts val="2160"/>
                </a:lnSpc>
              </a:pPr>
              <a:r>
                <a:rPr lang="en-US" sz="1800">
                  <a:solidFill>
                    <a:srgbClr val="1C2E40"/>
                  </a:solidFill>
                  <a:latin typeface="Consolas"/>
                  <a:ea typeface="Consolas"/>
                  <a:cs typeface="Consolas"/>
                  <a:sym typeface="Consolas"/>
                </a:rPr>
                <a:t>  │                  vente_betail_cleaned.dta</a:t>
              </a:r>
            </a:p>
          </p:txBody>
        </p:sp>
      </p:grpSp>
      <p:grpSp>
        <p:nvGrpSpPr>
          <p:cNvPr name="Group 38" id="38"/>
          <p:cNvGrpSpPr/>
          <p:nvPr/>
        </p:nvGrpSpPr>
        <p:grpSpPr>
          <a:xfrm rot="0">
            <a:off x="914400" y="5998464"/>
            <a:ext cx="7132320" cy="420624"/>
            <a:chOff x="0" y="0"/>
            <a:chExt cx="9509760" cy="560832"/>
          </a:xfrm>
        </p:grpSpPr>
        <p:sp>
          <p:nvSpPr>
            <p:cNvPr name="Freeform 39" id="39"/>
            <p:cNvSpPr/>
            <p:nvPr/>
          </p:nvSpPr>
          <p:spPr>
            <a:xfrm flipH="false" flipV="false" rot="0">
              <a:off x="0" y="0"/>
              <a:ext cx="9509760" cy="560832"/>
            </a:xfrm>
            <a:custGeom>
              <a:avLst/>
              <a:gdLst/>
              <a:ahLst/>
              <a:cxnLst/>
              <a:rect r="r" b="b" t="t" l="l"/>
              <a:pathLst>
                <a:path h="560832" w="9509760">
                  <a:moveTo>
                    <a:pt x="0" y="0"/>
                  </a:moveTo>
                  <a:lnTo>
                    <a:pt x="9509760" y="0"/>
                  </a:lnTo>
                  <a:lnTo>
                    <a:pt x="9509760" y="560832"/>
                  </a:lnTo>
                  <a:lnTo>
                    <a:pt x="0" y="560832"/>
                  </a:lnTo>
                  <a:close/>
                </a:path>
              </a:pathLst>
            </a:custGeom>
            <a:blipFill>
              <a:blip r:embed="rId3">
                <a:alphaModFix amt="0"/>
              </a:blip>
              <a:stretch>
                <a:fillRect l="0" t="-280398" r="0" b="-280398"/>
              </a:stretch>
            </a:blipFill>
          </p:spPr>
        </p:sp>
        <p:sp>
          <p:nvSpPr>
            <p:cNvPr name="TextBox 40" id="40"/>
            <p:cNvSpPr txBox="true"/>
            <p:nvPr/>
          </p:nvSpPr>
          <p:spPr>
            <a:xfrm>
              <a:off x="0" y="-38100"/>
              <a:ext cx="9509760" cy="598932"/>
            </a:xfrm>
            <a:prstGeom prst="rect">
              <a:avLst/>
            </a:prstGeom>
          </p:spPr>
          <p:txBody>
            <a:bodyPr anchor="ctr" rtlCol="false" tIns="0" lIns="0" bIns="0" rIns="0"/>
            <a:lstStyle/>
            <a:p>
              <a:pPr algn="l">
                <a:lnSpc>
                  <a:spcPts val="2160"/>
                </a:lnSpc>
              </a:pPr>
              <a:r>
                <a:rPr lang="en-US" sz="1800">
                  <a:solidFill>
                    <a:srgbClr val="1C2E40"/>
                  </a:solidFill>
                  <a:latin typeface="Consolas"/>
                  <a:ea typeface="Consolas"/>
                  <a:cs typeface="Consolas"/>
                  <a:sym typeface="Consolas"/>
                </a:rPr>
                <a:t>  │                  emigration_cleaned.dta</a:t>
              </a:r>
            </a:p>
          </p:txBody>
        </p:sp>
      </p:grpSp>
      <p:grpSp>
        <p:nvGrpSpPr>
          <p:cNvPr name="Group 41" id="41"/>
          <p:cNvGrpSpPr/>
          <p:nvPr/>
        </p:nvGrpSpPr>
        <p:grpSpPr>
          <a:xfrm rot="0">
            <a:off x="914400" y="6437376"/>
            <a:ext cx="7132320" cy="420624"/>
            <a:chOff x="0" y="0"/>
            <a:chExt cx="9509760" cy="560832"/>
          </a:xfrm>
        </p:grpSpPr>
        <p:sp>
          <p:nvSpPr>
            <p:cNvPr name="Freeform 42" id="42"/>
            <p:cNvSpPr/>
            <p:nvPr/>
          </p:nvSpPr>
          <p:spPr>
            <a:xfrm flipH="false" flipV="false" rot="0">
              <a:off x="0" y="0"/>
              <a:ext cx="9509760" cy="560832"/>
            </a:xfrm>
            <a:custGeom>
              <a:avLst/>
              <a:gdLst/>
              <a:ahLst/>
              <a:cxnLst/>
              <a:rect r="r" b="b" t="t" l="l"/>
              <a:pathLst>
                <a:path h="560832" w="9509760">
                  <a:moveTo>
                    <a:pt x="0" y="0"/>
                  </a:moveTo>
                  <a:lnTo>
                    <a:pt x="9509760" y="0"/>
                  </a:lnTo>
                  <a:lnTo>
                    <a:pt x="9509760" y="560832"/>
                  </a:lnTo>
                  <a:lnTo>
                    <a:pt x="0" y="560832"/>
                  </a:lnTo>
                  <a:close/>
                </a:path>
              </a:pathLst>
            </a:custGeom>
            <a:blipFill>
              <a:blip r:embed="rId3">
                <a:alphaModFix amt="0"/>
              </a:blip>
              <a:stretch>
                <a:fillRect l="0" t="-280398" r="0" b="-280398"/>
              </a:stretch>
            </a:blipFill>
          </p:spPr>
        </p:sp>
        <p:sp>
          <p:nvSpPr>
            <p:cNvPr name="TextBox 43" id="43"/>
            <p:cNvSpPr txBox="true"/>
            <p:nvPr/>
          </p:nvSpPr>
          <p:spPr>
            <a:xfrm>
              <a:off x="0" y="-38100"/>
              <a:ext cx="9509760" cy="598932"/>
            </a:xfrm>
            <a:prstGeom prst="rect">
              <a:avLst/>
            </a:prstGeom>
          </p:spPr>
          <p:txBody>
            <a:bodyPr anchor="ctr" rtlCol="false" tIns="0" lIns="0" bIns="0" rIns="0"/>
            <a:lstStyle/>
            <a:p>
              <a:pPr algn="l">
                <a:lnSpc>
                  <a:spcPts val="2160"/>
                </a:lnSpc>
              </a:pPr>
              <a:r>
                <a:rPr lang="en-US" sz="1800" b="true">
                  <a:solidFill>
                    <a:srgbClr val="2C4A6E"/>
                  </a:solidFill>
                  <a:latin typeface="Consolas Bold"/>
                  <a:ea typeface="Consolas Bold"/>
                  <a:cs typeface="Consolas Bold"/>
                  <a:sym typeface="Consolas Bold"/>
                </a:rPr>
                <a:t>  ├─ scripts/</a:t>
              </a:r>
            </a:p>
          </p:txBody>
        </p:sp>
      </p:grpSp>
      <p:grpSp>
        <p:nvGrpSpPr>
          <p:cNvPr name="Group 44" id="44"/>
          <p:cNvGrpSpPr/>
          <p:nvPr/>
        </p:nvGrpSpPr>
        <p:grpSpPr>
          <a:xfrm rot="0">
            <a:off x="914400" y="6876288"/>
            <a:ext cx="7132320" cy="420624"/>
            <a:chOff x="0" y="0"/>
            <a:chExt cx="9509760" cy="560832"/>
          </a:xfrm>
        </p:grpSpPr>
        <p:sp>
          <p:nvSpPr>
            <p:cNvPr name="Freeform 45" id="45"/>
            <p:cNvSpPr/>
            <p:nvPr/>
          </p:nvSpPr>
          <p:spPr>
            <a:xfrm flipH="false" flipV="false" rot="0">
              <a:off x="0" y="0"/>
              <a:ext cx="9509760" cy="560832"/>
            </a:xfrm>
            <a:custGeom>
              <a:avLst/>
              <a:gdLst/>
              <a:ahLst/>
              <a:cxnLst/>
              <a:rect r="r" b="b" t="t" l="l"/>
              <a:pathLst>
                <a:path h="560832" w="9509760">
                  <a:moveTo>
                    <a:pt x="0" y="0"/>
                  </a:moveTo>
                  <a:lnTo>
                    <a:pt x="9509760" y="0"/>
                  </a:lnTo>
                  <a:lnTo>
                    <a:pt x="9509760" y="560832"/>
                  </a:lnTo>
                  <a:lnTo>
                    <a:pt x="0" y="560832"/>
                  </a:lnTo>
                  <a:close/>
                </a:path>
              </a:pathLst>
            </a:custGeom>
            <a:blipFill>
              <a:blip r:embed="rId3">
                <a:alphaModFix amt="0"/>
              </a:blip>
              <a:stretch>
                <a:fillRect l="0" t="-280398" r="0" b="-280398"/>
              </a:stretch>
            </a:blipFill>
          </p:spPr>
        </p:sp>
        <p:sp>
          <p:nvSpPr>
            <p:cNvPr name="TextBox 46" id="46"/>
            <p:cNvSpPr txBox="true"/>
            <p:nvPr/>
          </p:nvSpPr>
          <p:spPr>
            <a:xfrm>
              <a:off x="0" y="-38100"/>
              <a:ext cx="9509760" cy="598932"/>
            </a:xfrm>
            <a:prstGeom prst="rect">
              <a:avLst/>
            </a:prstGeom>
          </p:spPr>
          <p:txBody>
            <a:bodyPr anchor="ctr" rtlCol="false" tIns="0" lIns="0" bIns="0" rIns="0"/>
            <a:lstStyle/>
            <a:p>
              <a:pPr algn="l">
                <a:lnSpc>
                  <a:spcPts val="2160"/>
                </a:lnSpc>
              </a:pPr>
              <a:r>
                <a:rPr lang="en-US" sz="1800">
                  <a:solidFill>
                    <a:srgbClr val="1C2E40"/>
                  </a:solidFill>
                  <a:latin typeface="Consolas"/>
                  <a:ea typeface="Consolas"/>
                  <a:cs typeface="Consolas"/>
                  <a:sym typeface="Consolas"/>
                </a:rPr>
                <a:t>  │   ├─ cleaning_commented.do</a:t>
              </a:r>
            </a:p>
          </p:txBody>
        </p:sp>
      </p:grpSp>
      <p:grpSp>
        <p:nvGrpSpPr>
          <p:cNvPr name="Group 47" id="47"/>
          <p:cNvGrpSpPr/>
          <p:nvPr/>
        </p:nvGrpSpPr>
        <p:grpSpPr>
          <a:xfrm rot="0">
            <a:off x="914400" y="7315200"/>
            <a:ext cx="7132320" cy="420624"/>
            <a:chOff x="0" y="0"/>
            <a:chExt cx="9509760" cy="560832"/>
          </a:xfrm>
        </p:grpSpPr>
        <p:sp>
          <p:nvSpPr>
            <p:cNvPr name="Freeform 48" id="48"/>
            <p:cNvSpPr/>
            <p:nvPr/>
          </p:nvSpPr>
          <p:spPr>
            <a:xfrm flipH="false" flipV="false" rot="0">
              <a:off x="0" y="0"/>
              <a:ext cx="9509760" cy="560832"/>
            </a:xfrm>
            <a:custGeom>
              <a:avLst/>
              <a:gdLst/>
              <a:ahLst/>
              <a:cxnLst/>
              <a:rect r="r" b="b" t="t" l="l"/>
              <a:pathLst>
                <a:path h="560832" w="9509760">
                  <a:moveTo>
                    <a:pt x="0" y="0"/>
                  </a:moveTo>
                  <a:lnTo>
                    <a:pt x="9509760" y="0"/>
                  </a:lnTo>
                  <a:lnTo>
                    <a:pt x="9509760" y="560832"/>
                  </a:lnTo>
                  <a:lnTo>
                    <a:pt x="0" y="560832"/>
                  </a:lnTo>
                  <a:close/>
                </a:path>
              </a:pathLst>
            </a:custGeom>
            <a:blipFill>
              <a:blip r:embed="rId3">
                <a:alphaModFix amt="0"/>
              </a:blip>
              <a:stretch>
                <a:fillRect l="0" t="-280398" r="0" b="-280398"/>
              </a:stretch>
            </a:blipFill>
          </p:spPr>
        </p:sp>
        <p:sp>
          <p:nvSpPr>
            <p:cNvPr name="TextBox 49" id="49"/>
            <p:cNvSpPr txBox="true"/>
            <p:nvPr/>
          </p:nvSpPr>
          <p:spPr>
            <a:xfrm>
              <a:off x="0" y="-38100"/>
              <a:ext cx="9509760" cy="598932"/>
            </a:xfrm>
            <a:prstGeom prst="rect">
              <a:avLst/>
            </a:prstGeom>
          </p:spPr>
          <p:txBody>
            <a:bodyPr anchor="ctr" rtlCol="false" tIns="0" lIns="0" bIns="0" rIns="0"/>
            <a:lstStyle/>
            <a:p>
              <a:pPr algn="l">
                <a:lnSpc>
                  <a:spcPts val="2160"/>
                </a:lnSpc>
              </a:pPr>
              <a:r>
                <a:rPr lang="en-US" sz="1800">
                  <a:solidFill>
                    <a:srgbClr val="1C2E40"/>
                  </a:solidFill>
                  <a:latin typeface="Consolas"/>
                  <a:ea typeface="Consolas"/>
                  <a:cs typeface="Consolas"/>
                  <a:sym typeface="Consolas"/>
                </a:rPr>
                <a:t>  │   ├─ emigration_cleaning.do</a:t>
              </a:r>
            </a:p>
          </p:txBody>
        </p:sp>
      </p:grpSp>
      <p:grpSp>
        <p:nvGrpSpPr>
          <p:cNvPr name="Group 50" id="50"/>
          <p:cNvGrpSpPr/>
          <p:nvPr/>
        </p:nvGrpSpPr>
        <p:grpSpPr>
          <a:xfrm rot="0">
            <a:off x="914400" y="7754112"/>
            <a:ext cx="7132320" cy="420624"/>
            <a:chOff x="0" y="0"/>
            <a:chExt cx="9509760" cy="560832"/>
          </a:xfrm>
        </p:grpSpPr>
        <p:sp>
          <p:nvSpPr>
            <p:cNvPr name="Freeform 51" id="51"/>
            <p:cNvSpPr/>
            <p:nvPr/>
          </p:nvSpPr>
          <p:spPr>
            <a:xfrm flipH="false" flipV="false" rot="0">
              <a:off x="0" y="0"/>
              <a:ext cx="9509760" cy="560832"/>
            </a:xfrm>
            <a:custGeom>
              <a:avLst/>
              <a:gdLst/>
              <a:ahLst/>
              <a:cxnLst/>
              <a:rect r="r" b="b" t="t" l="l"/>
              <a:pathLst>
                <a:path h="560832" w="9509760">
                  <a:moveTo>
                    <a:pt x="0" y="0"/>
                  </a:moveTo>
                  <a:lnTo>
                    <a:pt x="9509760" y="0"/>
                  </a:lnTo>
                  <a:lnTo>
                    <a:pt x="9509760" y="560832"/>
                  </a:lnTo>
                  <a:lnTo>
                    <a:pt x="0" y="560832"/>
                  </a:lnTo>
                  <a:close/>
                </a:path>
              </a:pathLst>
            </a:custGeom>
            <a:blipFill>
              <a:blip r:embed="rId3">
                <a:alphaModFix amt="0"/>
              </a:blip>
              <a:stretch>
                <a:fillRect l="0" t="-280398" r="0" b="-280398"/>
              </a:stretch>
            </a:blipFill>
          </p:spPr>
        </p:sp>
        <p:sp>
          <p:nvSpPr>
            <p:cNvPr name="TextBox 52" id="52"/>
            <p:cNvSpPr txBox="true"/>
            <p:nvPr/>
          </p:nvSpPr>
          <p:spPr>
            <a:xfrm>
              <a:off x="0" y="-38100"/>
              <a:ext cx="9509760" cy="598932"/>
            </a:xfrm>
            <a:prstGeom prst="rect">
              <a:avLst/>
            </a:prstGeom>
          </p:spPr>
          <p:txBody>
            <a:bodyPr anchor="ctr" rtlCol="false" tIns="0" lIns="0" bIns="0" rIns="0"/>
            <a:lstStyle/>
            <a:p>
              <a:pPr algn="l">
                <a:lnSpc>
                  <a:spcPts val="2160"/>
                </a:lnSpc>
              </a:pPr>
              <a:r>
                <a:rPr lang="en-US" sz="1800">
                  <a:solidFill>
                    <a:srgbClr val="1C2E40"/>
                  </a:solidFill>
                  <a:latin typeface="Consolas"/>
                  <a:ea typeface="Consolas"/>
                  <a:cs typeface="Consolas"/>
                  <a:sym typeface="Consolas"/>
                </a:rPr>
                <a:t>  │   └─ Analysis.do</a:t>
              </a:r>
            </a:p>
          </p:txBody>
        </p:sp>
      </p:grpSp>
      <p:grpSp>
        <p:nvGrpSpPr>
          <p:cNvPr name="Group 53" id="53"/>
          <p:cNvGrpSpPr/>
          <p:nvPr/>
        </p:nvGrpSpPr>
        <p:grpSpPr>
          <a:xfrm rot="0">
            <a:off x="914400" y="8193024"/>
            <a:ext cx="7132320" cy="420624"/>
            <a:chOff x="0" y="0"/>
            <a:chExt cx="9509760" cy="560832"/>
          </a:xfrm>
        </p:grpSpPr>
        <p:sp>
          <p:nvSpPr>
            <p:cNvPr name="Freeform 54" id="54"/>
            <p:cNvSpPr/>
            <p:nvPr/>
          </p:nvSpPr>
          <p:spPr>
            <a:xfrm flipH="false" flipV="false" rot="0">
              <a:off x="0" y="0"/>
              <a:ext cx="9509760" cy="560832"/>
            </a:xfrm>
            <a:custGeom>
              <a:avLst/>
              <a:gdLst/>
              <a:ahLst/>
              <a:cxnLst/>
              <a:rect r="r" b="b" t="t" l="l"/>
              <a:pathLst>
                <a:path h="560832" w="9509760">
                  <a:moveTo>
                    <a:pt x="0" y="0"/>
                  </a:moveTo>
                  <a:lnTo>
                    <a:pt x="9509760" y="0"/>
                  </a:lnTo>
                  <a:lnTo>
                    <a:pt x="9509760" y="560832"/>
                  </a:lnTo>
                  <a:lnTo>
                    <a:pt x="0" y="560832"/>
                  </a:lnTo>
                  <a:close/>
                </a:path>
              </a:pathLst>
            </a:custGeom>
            <a:blipFill>
              <a:blip r:embed="rId3">
                <a:alphaModFix amt="0"/>
              </a:blip>
              <a:stretch>
                <a:fillRect l="0" t="-280398" r="0" b="-280398"/>
              </a:stretch>
            </a:blipFill>
          </p:spPr>
        </p:sp>
        <p:sp>
          <p:nvSpPr>
            <p:cNvPr name="TextBox 55" id="55"/>
            <p:cNvSpPr txBox="true"/>
            <p:nvPr/>
          </p:nvSpPr>
          <p:spPr>
            <a:xfrm>
              <a:off x="0" y="-38100"/>
              <a:ext cx="9509760" cy="598932"/>
            </a:xfrm>
            <a:prstGeom prst="rect">
              <a:avLst/>
            </a:prstGeom>
          </p:spPr>
          <p:txBody>
            <a:bodyPr anchor="ctr" rtlCol="false" tIns="0" lIns="0" bIns="0" rIns="0"/>
            <a:lstStyle/>
            <a:p>
              <a:pPr algn="l">
                <a:lnSpc>
                  <a:spcPts val="2160"/>
                </a:lnSpc>
              </a:pPr>
              <a:r>
                <a:rPr lang="en-US" sz="1800">
                  <a:solidFill>
                    <a:srgbClr val="1C2E40"/>
                  </a:solidFill>
                  <a:latin typeface="Consolas"/>
                  <a:ea typeface="Consolas"/>
                  <a:cs typeface="Consolas"/>
                  <a:sym typeface="Consolas"/>
                </a:rPr>
                <a:t>  ├─ output/         graphiques .png</a:t>
              </a:r>
            </a:p>
          </p:txBody>
        </p:sp>
      </p:grpSp>
      <p:grpSp>
        <p:nvGrpSpPr>
          <p:cNvPr name="Group 56" id="56"/>
          <p:cNvGrpSpPr/>
          <p:nvPr/>
        </p:nvGrpSpPr>
        <p:grpSpPr>
          <a:xfrm rot="0">
            <a:off x="914400" y="8631936"/>
            <a:ext cx="7132320" cy="420624"/>
            <a:chOff x="0" y="0"/>
            <a:chExt cx="9509760" cy="560832"/>
          </a:xfrm>
        </p:grpSpPr>
        <p:sp>
          <p:nvSpPr>
            <p:cNvPr name="Freeform 57" id="57"/>
            <p:cNvSpPr/>
            <p:nvPr/>
          </p:nvSpPr>
          <p:spPr>
            <a:xfrm flipH="false" flipV="false" rot="0">
              <a:off x="0" y="0"/>
              <a:ext cx="9509760" cy="560832"/>
            </a:xfrm>
            <a:custGeom>
              <a:avLst/>
              <a:gdLst/>
              <a:ahLst/>
              <a:cxnLst/>
              <a:rect r="r" b="b" t="t" l="l"/>
              <a:pathLst>
                <a:path h="560832" w="9509760">
                  <a:moveTo>
                    <a:pt x="0" y="0"/>
                  </a:moveTo>
                  <a:lnTo>
                    <a:pt x="9509760" y="0"/>
                  </a:lnTo>
                  <a:lnTo>
                    <a:pt x="9509760" y="560832"/>
                  </a:lnTo>
                  <a:lnTo>
                    <a:pt x="0" y="560832"/>
                  </a:lnTo>
                  <a:close/>
                </a:path>
              </a:pathLst>
            </a:custGeom>
            <a:blipFill>
              <a:blip r:embed="rId3">
                <a:alphaModFix amt="0"/>
              </a:blip>
              <a:stretch>
                <a:fillRect l="0" t="-280398" r="0" b="-280398"/>
              </a:stretch>
            </a:blipFill>
          </p:spPr>
        </p:sp>
        <p:sp>
          <p:nvSpPr>
            <p:cNvPr name="TextBox 58" id="58"/>
            <p:cNvSpPr txBox="true"/>
            <p:nvPr/>
          </p:nvSpPr>
          <p:spPr>
            <a:xfrm>
              <a:off x="0" y="-38100"/>
              <a:ext cx="9509760" cy="598932"/>
            </a:xfrm>
            <a:prstGeom prst="rect">
              <a:avLst/>
            </a:prstGeom>
          </p:spPr>
          <p:txBody>
            <a:bodyPr anchor="ctr" rtlCol="false" tIns="0" lIns="0" bIns="0" rIns="0"/>
            <a:lstStyle/>
            <a:p>
              <a:pPr algn="l">
                <a:lnSpc>
                  <a:spcPts val="2160"/>
                </a:lnSpc>
              </a:pPr>
              <a:r>
                <a:rPr lang="en-US" sz="1800">
                  <a:solidFill>
                    <a:srgbClr val="1C2E40"/>
                  </a:solidFill>
                  <a:latin typeface="Consolas"/>
                  <a:ea typeface="Consolas"/>
                  <a:cs typeface="Consolas"/>
                  <a:sym typeface="Consolas"/>
                </a:rPr>
                <a:t>  └─ README.md</a:t>
              </a:r>
            </a:p>
          </p:txBody>
        </p:sp>
      </p:grpSp>
      <p:grpSp>
        <p:nvGrpSpPr>
          <p:cNvPr name="Group 59" id="59"/>
          <p:cNvGrpSpPr/>
          <p:nvPr/>
        </p:nvGrpSpPr>
        <p:grpSpPr>
          <a:xfrm rot="0">
            <a:off x="8676637" y="2001517"/>
            <a:ext cx="8981437" cy="7426957"/>
            <a:chOff x="0" y="0"/>
            <a:chExt cx="11975249" cy="9902609"/>
          </a:xfrm>
        </p:grpSpPr>
        <p:sp>
          <p:nvSpPr>
            <p:cNvPr name="Freeform 60" id="60"/>
            <p:cNvSpPr/>
            <p:nvPr/>
          </p:nvSpPr>
          <p:spPr>
            <a:xfrm flipH="false" flipV="false" rot="0">
              <a:off x="13462" y="13589"/>
              <a:ext cx="11948287" cy="9875521"/>
            </a:xfrm>
            <a:custGeom>
              <a:avLst/>
              <a:gdLst/>
              <a:ahLst/>
              <a:cxnLst/>
              <a:rect r="r" b="b" t="t" l="l"/>
              <a:pathLst>
                <a:path h="9875521" w="11948287">
                  <a:moveTo>
                    <a:pt x="127" y="243840"/>
                  </a:moveTo>
                  <a:cubicBezTo>
                    <a:pt x="127" y="109220"/>
                    <a:pt x="109347" y="0"/>
                    <a:pt x="244094" y="0"/>
                  </a:cubicBezTo>
                  <a:lnTo>
                    <a:pt x="11704320" y="0"/>
                  </a:lnTo>
                  <a:cubicBezTo>
                    <a:pt x="11839066" y="0"/>
                    <a:pt x="11948287" y="109220"/>
                    <a:pt x="11948287" y="243840"/>
                  </a:cubicBezTo>
                  <a:lnTo>
                    <a:pt x="11948287" y="9631680"/>
                  </a:lnTo>
                  <a:cubicBezTo>
                    <a:pt x="11948287" y="9766300"/>
                    <a:pt x="11839066" y="9875521"/>
                    <a:pt x="11704320" y="9875521"/>
                  </a:cubicBezTo>
                  <a:lnTo>
                    <a:pt x="243967" y="9875521"/>
                  </a:lnTo>
                  <a:cubicBezTo>
                    <a:pt x="109220" y="9875521"/>
                    <a:pt x="0" y="9766300"/>
                    <a:pt x="0" y="9631680"/>
                  </a:cubicBezTo>
                  <a:close/>
                </a:path>
              </a:pathLst>
            </a:custGeom>
            <a:solidFill>
              <a:srgbClr val="FFFFFF"/>
            </a:solidFill>
          </p:spPr>
        </p:sp>
        <p:sp>
          <p:nvSpPr>
            <p:cNvPr name="Freeform 61" id="61"/>
            <p:cNvSpPr/>
            <p:nvPr/>
          </p:nvSpPr>
          <p:spPr>
            <a:xfrm flipH="false" flipV="false" rot="0">
              <a:off x="0" y="0"/>
              <a:ext cx="11975211" cy="9902698"/>
            </a:xfrm>
            <a:custGeom>
              <a:avLst/>
              <a:gdLst/>
              <a:ahLst/>
              <a:cxnLst/>
              <a:rect r="r" b="b" t="t" l="l"/>
              <a:pathLst>
                <a:path h="9902698" w="11975211">
                  <a:moveTo>
                    <a:pt x="0" y="257429"/>
                  </a:moveTo>
                  <a:cubicBezTo>
                    <a:pt x="0" y="115189"/>
                    <a:pt x="115316" y="0"/>
                    <a:pt x="257429" y="0"/>
                  </a:cubicBezTo>
                  <a:lnTo>
                    <a:pt x="11717782" y="0"/>
                  </a:lnTo>
                  <a:lnTo>
                    <a:pt x="11717782" y="13589"/>
                  </a:lnTo>
                  <a:lnTo>
                    <a:pt x="11717782" y="0"/>
                  </a:lnTo>
                  <a:cubicBezTo>
                    <a:pt x="11860022" y="0"/>
                    <a:pt x="11975211" y="115189"/>
                    <a:pt x="11975211" y="257429"/>
                  </a:cubicBezTo>
                  <a:lnTo>
                    <a:pt x="11961622" y="257429"/>
                  </a:lnTo>
                  <a:lnTo>
                    <a:pt x="11975211" y="257429"/>
                  </a:lnTo>
                  <a:lnTo>
                    <a:pt x="11975211" y="9645269"/>
                  </a:lnTo>
                  <a:lnTo>
                    <a:pt x="11961622" y="9645269"/>
                  </a:lnTo>
                  <a:lnTo>
                    <a:pt x="11975211" y="9645269"/>
                  </a:lnTo>
                  <a:cubicBezTo>
                    <a:pt x="11975211" y="9787382"/>
                    <a:pt x="11859895" y="9902698"/>
                    <a:pt x="11717782" y="9902698"/>
                  </a:cubicBezTo>
                  <a:lnTo>
                    <a:pt x="11717782" y="9889110"/>
                  </a:lnTo>
                  <a:lnTo>
                    <a:pt x="11717782" y="9902698"/>
                  </a:lnTo>
                  <a:lnTo>
                    <a:pt x="257429" y="9902698"/>
                  </a:lnTo>
                  <a:lnTo>
                    <a:pt x="257429" y="9889110"/>
                  </a:lnTo>
                  <a:lnTo>
                    <a:pt x="257429" y="9902698"/>
                  </a:lnTo>
                  <a:cubicBezTo>
                    <a:pt x="115316" y="9902571"/>
                    <a:pt x="0" y="9787382"/>
                    <a:pt x="0" y="9645269"/>
                  </a:cubicBezTo>
                  <a:lnTo>
                    <a:pt x="0" y="257429"/>
                  </a:lnTo>
                  <a:lnTo>
                    <a:pt x="13589" y="257429"/>
                  </a:lnTo>
                  <a:lnTo>
                    <a:pt x="0" y="257429"/>
                  </a:lnTo>
                  <a:moveTo>
                    <a:pt x="27051" y="257429"/>
                  </a:moveTo>
                  <a:lnTo>
                    <a:pt x="27051" y="9645269"/>
                  </a:lnTo>
                  <a:lnTo>
                    <a:pt x="13589" y="9645269"/>
                  </a:lnTo>
                  <a:lnTo>
                    <a:pt x="27051" y="9645269"/>
                  </a:lnTo>
                  <a:cubicBezTo>
                    <a:pt x="27051" y="9772397"/>
                    <a:pt x="130175" y="9875520"/>
                    <a:pt x="257429" y="9875520"/>
                  </a:cubicBezTo>
                  <a:lnTo>
                    <a:pt x="11717782" y="9875520"/>
                  </a:lnTo>
                  <a:cubicBezTo>
                    <a:pt x="11845036" y="9875520"/>
                    <a:pt x="11948160" y="9772397"/>
                    <a:pt x="11948160" y="9645269"/>
                  </a:cubicBezTo>
                  <a:lnTo>
                    <a:pt x="11948160" y="257429"/>
                  </a:lnTo>
                  <a:cubicBezTo>
                    <a:pt x="11948160" y="130302"/>
                    <a:pt x="11845036" y="27178"/>
                    <a:pt x="11717782" y="27178"/>
                  </a:cubicBezTo>
                  <a:lnTo>
                    <a:pt x="257429" y="27178"/>
                  </a:lnTo>
                  <a:lnTo>
                    <a:pt x="257429" y="13589"/>
                  </a:lnTo>
                  <a:lnTo>
                    <a:pt x="257429" y="27051"/>
                  </a:lnTo>
                  <a:cubicBezTo>
                    <a:pt x="130175" y="27051"/>
                    <a:pt x="27051" y="130175"/>
                    <a:pt x="27051" y="257302"/>
                  </a:cubicBezTo>
                  <a:close/>
                </a:path>
              </a:pathLst>
            </a:custGeom>
            <a:solidFill>
              <a:srgbClr val="BDC8D5"/>
            </a:solidFill>
          </p:spPr>
        </p:sp>
      </p:grpSp>
      <p:grpSp>
        <p:nvGrpSpPr>
          <p:cNvPr name="Group 62" id="62"/>
          <p:cNvGrpSpPr/>
          <p:nvPr/>
        </p:nvGrpSpPr>
        <p:grpSpPr>
          <a:xfrm rot="0">
            <a:off x="9052560" y="2194560"/>
            <a:ext cx="8321040" cy="621792"/>
            <a:chOff x="0" y="0"/>
            <a:chExt cx="11094720" cy="829056"/>
          </a:xfrm>
        </p:grpSpPr>
        <p:sp>
          <p:nvSpPr>
            <p:cNvPr name="Freeform 63" id="63"/>
            <p:cNvSpPr/>
            <p:nvPr/>
          </p:nvSpPr>
          <p:spPr>
            <a:xfrm flipH="false" flipV="false" rot="0">
              <a:off x="0" y="0"/>
              <a:ext cx="11094720" cy="829056"/>
            </a:xfrm>
            <a:custGeom>
              <a:avLst/>
              <a:gdLst/>
              <a:ahLst/>
              <a:cxnLst/>
              <a:rect r="r" b="b" t="t" l="l"/>
              <a:pathLst>
                <a:path h="829056" w="11094720">
                  <a:moveTo>
                    <a:pt x="0" y="0"/>
                  </a:moveTo>
                  <a:lnTo>
                    <a:pt x="11094720" y="0"/>
                  </a:lnTo>
                  <a:lnTo>
                    <a:pt x="11094720" y="829056"/>
                  </a:lnTo>
                  <a:lnTo>
                    <a:pt x="0" y="829056"/>
                  </a:lnTo>
                  <a:close/>
                </a:path>
              </a:pathLst>
            </a:custGeom>
            <a:blipFill>
              <a:blip r:embed="rId3">
                <a:alphaModFix amt="0"/>
              </a:blip>
              <a:stretch>
                <a:fillRect l="0" t="-210755" r="0" b="-210755"/>
              </a:stretch>
            </a:blipFill>
          </p:spPr>
        </p:sp>
        <p:sp>
          <p:nvSpPr>
            <p:cNvPr name="TextBox 64" id="64"/>
            <p:cNvSpPr txBox="true"/>
            <p:nvPr/>
          </p:nvSpPr>
          <p:spPr>
            <a:xfrm>
              <a:off x="0" y="0"/>
              <a:ext cx="11094720" cy="829056"/>
            </a:xfrm>
            <a:prstGeom prst="rect">
              <a:avLst/>
            </a:prstGeom>
          </p:spPr>
          <p:txBody>
            <a:bodyPr anchor="ctr" rtlCol="false" tIns="0" lIns="0" bIns="0" rIns="0"/>
            <a:lstStyle/>
            <a:p>
              <a:pPr algn="l">
                <a:lnSpc>
                  <a:spcPts val="3120"/>
                </a:lnSpc>
              </a:pPr>
              <a:r>
                <a:rPr lang="en-US" sz="2600" b="true">
                  <a:solidFill>
                    <a:srgbClr val="2C4A6E"/>
                  </a:solidFill>
                  <a:latin typeface="EB Garamond Semi-Bold"/>
                  <a:ea typeface="EB Garamond Semi-Bold"/>
                  <a:cs typeface="EB Garamond Semi-Bold"/>
                  <a:sym typeface="EB Garamond Semi-Bold"/>
                </a:rPr>
                <a:t>Installation &amp; Workflow</a:t>
              </a:r>
            </a:p>
          </p:txBody>
        </p:sp>
      </p:grpSp>
      <p:grpSp>
        <p:nvGrpSpPr>
          <p:cNvPr name="Group 65" id="65"/>
          <p:cNvGrpSpPr/>
          <p:nvPr/>
        </p:nvGrpSpPr>
        <p:grpSpPr>
          <a:xfrm rot="0">
            <a:off x="8948423" y="3132839"/>
            <a:ext cx="683771" cy="683771"/>
            <a:chOff x="0" y="0"/>
            <a:chExt cx="911695" cy="911695"/>
          </a:xfrm>
        </p:grpSpPr>
        <p:sp>
          <p:nvSpPr>
            <p:cNvPr name="Freeform 66" id="66"/>
            <p:cNvSpPr/>
            <p:nvPr/>
          </p:nvSpPr>
          <p:spPr>
            <a:xfrm flipH="false" flipV="false" rot="0">
              <a:off x="16891" y="16891"/>
              <a:ext cx="877824" cy="877824"/>
            </a:xfrm>
            <a:custGeom>
              <a:avLst/>
              <a:gdLst/>
              <a:ahLst/>
              <a:cxnLst/>
              <a:rect r="r" b="b" t="t" l="l"/>
              <a:pathLst>
                <a:path h="877824" w="877824">
                  <a:moveTo>
                    <a:pt x="0" y="438912"/>
                  </a:moveTo>
                  <a:cubicBezTo>
                    <a:pt x="0" y="196469"/>
                    <a:pt x="196469" y="0"/>
                    <a:pt x="438912" y="0"/>
                  </a:cubicBezTo>
                  <a:cubicBezTo>
                    <a:pt x="681355" y="0"/>
                    <a:pt x="877824" y="196596"/>
                    <a:pt x="877824" y="438912"/>
                  </a:cubicBezTo>
                  <a:cubicBezTo>
                    <a:pt x="877824" y="681228"/>
                    <a:pt x="681355" y="877824"/>
                    <a:pt x="438912" y="877824"/>
                  </a:cubicBezTo>
                  <a:cubicBezTo>
                    <a:pt x="196469" y="877824"/>
                    <a:pt x="0" y="681355"/>
                    <a:pt x="0" y="438912"/>
                  </a:cubicBezTo>
                  <a:close/>
                </a:path>
              </a:pathLst>
            </a:custGeom>
            <a:solidFill>
              <a:srgbClr val="2C4A6E"/>
            </a:solidFill>
          </p:spPr>
        </p:sp>
        <p:sp>
          <p:nvSpPr>
            <p:cNvPr name="Freeform 67" id="67"/>
            <p:cNvSpPr/>
            <p:nvPr/>
          </p:nvSpPr>
          <p:spPr>
            <a:xfrm flipH="false" flipV="false" rot="0">
              <a:off x="0" y="0"/>
              <a:ext cx="911733" cy="911606"/>
            </a:xfrm>
            <a:custGeom>
              <a:avLst/>
              <a:gdLst/>
              <a:ahLst/>
              <a:cxnLst/>
              <a:rect r="r" b="b" t="t" l="l"/>
              <a:pathLst>
                <a:path h="911606" w="911733">
                  <a:moveTo>
                    <a:pt x="0" y="455803"/>
                  </a:moveTo>
                  <a:cubicBezTo>
                    <a:pt x="0" y="204089"/>
                    <a:pt x="204089" y="0"/>
                    <a:pt x="455803" y="0"/>
                  </a:cubicBezTo>
                  <a:lnTo>
                    <a:pt x="455803" y="16891"/>
                  </a:lnTo>
                  <a:lnTo>
                    <a:pt x="455803" y="0"/>
                  </a:lnTo>
                  <a:cubicBezTo>
                    <a:pt x="707644" y="0"/>
                    <a:pt x="911733" y="204089"/>
                    <a:pt x="911733" y="455803"/>
                  </a:cubicBezTo>
                  <a:cubicBezTo>
                    <a:pt x="911733" y="707517"/>
                    <a:pt x="707644" y="911606"/>
                    <a:pt x="455930" y="911606"/>
                  </a:cubicBezTo>
                  <a:lnTo>
                    <a:pt x="455930" y="894715"/>
                  </a:lnTo>
                  <a:lnTo>
                    <a:pt x="455930" y="911606"/>
                  </a:lnTo>
                  <a:cubicBezTo>
                    <a:pt x="204089" y="911733"/>
                    <a:pt x="0" y="707644"/>
                    <a:pt x="0" y="455803"/>
                  </a:cubicBezTo>
                  <a:lnTo>
                    <a:pt x="16891" y="455803"/>
                  </a:lnTo>
                  <a:lnTo>
                    <a:pt x="31242" y="464820"/>
                  </a:lnTo>
                  <a:cubicBezTo>
                    <a:pt x="27178" y="471170"/>
                    <a:pt x="19431" y="474218"/>
                    <a:pt x="12192" y="472059"/>
                  </a:cubicBezTo>
                  <a:cubicBezTo>
                    <a:pt x="4953" y="469900"/>
                    <a:pt x="0" y="463423"/>
                    <a:pt x="0" y="455803"/>
                  </a:cubicBezTo>
                  <a:moveTo>
                    <a:pt x="33909" y="455803"/>
                  </a:moveTo>
                  <a:lnTo>
                    <a:pt x="16891" y="455803"/>
                  </a:lnTo>
                  <a:lnTo>
                    <a:pt x="2540" y="446913"/>
                  </a:lnTo>
                  <a:cubicBezTo>
                    <a:pt x="6604" y="440563"/>
                    <a:pt x="14351" y="437515"/>
                    <a:pt x="21590" y="439674"/>
                  </a:cubicBezTo>
                  <a:cubicBezTo>
                    <a:pt x="28829" y="441833"/>
                    <a:pt x="33909" y="448437"/>
                    <a:pt x="33909" y="455930"/>
                  </a:cubicBezTo>
                  <a:cubicBezTo>
                    <a:pt x="33909" y="688975"/>
                    <a:pt x="222885" y="877951"/>
                    <a:pt x="455930" y="877951"/>
                  </a:cubicBezTo>
                  <a:cubicBezTo>
                    <a:pt x="688975" y="877951"/>
                    <a:pt x="877951" y="688975"/>
                    <a:pt x="877951" y="455930"/>
                  </a:cubicBezTo>
                  <a:lnTo>
                    <a:pt x="894842" y="455930"/>
                  </a:lnTo>
                  <a:lnTo>
                    <a:pt x="877951" y="455930"/>
                  </a:lnTo>
                  <a:cubicBezTo>
                    <a:pt x="877951" y="222885"/>
                    <a:pt x="688975" y="33909"/>
                    <a:pt x="455930" y="33909"/>
                  </a:cubicBezTo>
                  <a:lnTo>
                    <a:pt x="455930" y="16891"/>
                  </a:lnTo>
                  <a:lnTo>
                    <a:pt x="455930" y="33909"/>
                  </a:lnTo>
                  <a:cubicBezTo>
                    <a:pt x="222758" y="33909"/>
                    <a:pt x="33909" y="222758"/>
                    <a:pt x="33909" y="455803"/>
                  </a:cubicBezTo>
                  <a:close/>
                </a:path>
              </a:pathLst>
            </a:custGeom>
            <a:solidFill>
              <a:srgbClr val="2C4A6E"/>
            </a:solidFill>
          </p:spPr>
        </p:sp>
      </p:grpSp>
      <p:grpSp>
        <p:nvGrpSpPr>
          <p:cNvPr name="Group 68" id="68"/>
          <p:cNvGrpSpPr/>
          <p:nvPr/>
        </p:nvGrpSpPr>
        <p:grpSpPr>
          <a:xfrm rot="0">
            <a:off x="8961120" y="3145536"/>
            <a:ext cx="658368" cy="658368"/>
            <a:chOff x="0" y="0"/>
            <a:chExt cx="877824" cy="877824"/>
          </a:xfrm>
        </p:grpSpPr>
        <p:sp>
          <p:nvSpPr>
            <p:cNvPr name="Freeform 69" id="69"/>
            <p:cNvSpPr/>
            <p:nvPr/>
          </p:nvSpPr>
          <p:spPr>
            <a:xfrm flipH="false" flipV="false" rot="0">
              <a:off x="0" y="0"/>
              <a:ext cx="877824" cy="877824"/>
            </a:xfrm>
            <a:custGeom>
              <a:avLst/>
              <a:gdLst/>
              <a:ahLst/>
              <a:cxnLst/>
              <a:rect r="r" b="b" t="t" l="l"/>
              <a:pathLst>
                <a:path h="877824" w="877824">
                  <a:moveTo>
                    <a:pt x="0" y="0"/>
                  </a:moveTo>
                  <a:lnTo>
                    <a:pt x="877824" y="0"/>
                  </a:lnTo>
                  <a:lnTo>
                    <a:pt x="877824" y="877824"/>
                  </a:lnTo>
                  <a:lnTo>
                    <a:pt x="0" y="877824"/>
                  </a:lnTo>
                  <a:close/>
                </a:path>
              </a:pathLst>
            </a:custGeom>
            <a:blipFill>
              <a:blip r:embed="rId3">
                <a:alphaModFix amt="0"/>
              </a:blip>
              <a:stretch>
                <a:fillRect l="-78303" t="0" r="-78303" b="0"/>
              </a:stretch>
            </a:blipFill>
          </p:spPr>
        </p:sp>
        <p:sp>
          <p:nvSpPr>
            <p:cNvPr name="TextBox 70" id="70"/>
            <p:cNvSpPr txBox="true"/>
            <p:nvPr/>
          </p:nvSpPr>
          <p:spPr>
            <a:xfrm>
              <a:off x="0" y="9525"/>
              <a:ext cx="877824" cy="868299"/>
            </a:xfrm>
            <a:prstGeom prst="rect">
              <a:avLst/>
            </a:prstGeom>
          </p:spPr>
          <p:txBody>
            <a:bodyPr anchor="ctr" rtlCol="false" tIns="0" lIns="0" bIns="0" rIns="0"/>
            <a:lstStyle/>
            <a:p>
              <a:pPr algn="ctr">
                <a:lnSpc>
                  <a:spcPts val="2879"/>
                </a:lnSpc>
              </a:pPr>
              <a:r>
                <a:rPr lang="en-US" sz="2400" b="true">
                  <a:solidFill>
                    <a:srgbClr val="FFFFFF"/>
                  </a:solidFill>
                  <a:latin typeface="EB Garamond Semi-Bold"/>
                  <a:ea typeface="EB Garamond Semi-Bold"/>
                  <a:cs typeface="EB Garamond Semi-Bold"/>
                  <a:sym typeface="EB Garamond Semi-Bold"/>
                </a:rPr>
                <a:t>1</a:t>
              </a:r>
            </a:p>
          </p:txBody>
        </p:sp>
      </p:grpSp>
      <p:grpSp>
        <p:nvGrpSpPr>
          <p:cNvPr name="Group 71" id="71"/>
          <p:cNvGrpSpPr/>
          <p:nvPr/>
        </p:nvGrpSpPr>
        <p:grpSpPr>
          <a:xfrm rot="0">
            <a:off x="9802368" y="3073527"/>
            <a:ext cx="7680960" cy="510921"/>
            <a:chOff x="0" y="0"/>
            <a:chExt cx="10241280" cy="681228"/>
          </a:xfrm>
        </p:grpSpPr>
        <p:sp>
          <p:nvSpPr>
            <p:cNvPr name="Freeform 72" id="72"/>
            <p:cNvSpPr/>
            <p:nvPr/>
          </p:nvSpPr>
          <p:spPr>
            <a:xfrm flipH="false" flipV="false" rot="0">
              <a:off x="0" y="0"/>
              <a:ext cx="10241280" cy="681228"/>
            </a:xfrm>
            <a:custGeom>
              <a:avLst/>
              <a:gdLst/>
              <a:ahLst/>
              <a:cxnLst/>
              <a:rect r="r" b="b" t="t" l="l"/>
              <a:pathLst>
                <a:path h="681228" w="10241280">
                  <a:moveTo>
                    <a:pt x="0" y="0"/>
                  </a:moveTo>
                  <a:lnTo>
                    <a:pt x="10241280" y="0"/>
                  </a:lnTo>
                  <a:lnTo>
                    <a:pt x="10241280" y="681228"/>
                  </a:lnTo>
                  <a:lnTo>
                    <a:pt x="0" y="681228"/>
                  </a:lnTo>
                  <a:close/>
                </a:path>
              </a:pathLst>
            </a:custGeom>
            <a:blipFill>
              <a:blip r:embed="rId3">
                <a:alphaModFix amt="0"/>
              </a:blip>
              <a:stretch>
                <a:fillRect l="0" t="-242817" r="0" b="-243041"/>
              </a:stretch>
            </a:blipFill>
          </p:spPr>
        </p:sp>
        <p:sp>
          <p:nvSpPr>
            <p:cNvPr name="TextBox 73" id="73"/>
            <p:cNvSpPr txBox="true"/>
            <p:nvPr/>
          </p:nvSpPr>
          <p:spPr>
            <a:xfrm>
              <a:off x="0" y="0"/>
              <a:ext cx="10241280" cy="681228"/>
            </a:xfrm>
            <a:prstGeom prst="rect">
              <a:avLst/>
            </a:prstGeom>
          </p:spPr>
          <p:txBody>
            <a:bodyPr anchor="ctr" rtlCol="false" tIns="0" lIns="0" bIns="0" rIns="0"/>
            <a:lstStyle/>
            <a:p>
              <a:pPr algn="l">
                <a:lnSpc>
                  <a:spcPts val="2760"/>
                </a:lnSpc>
              </a:pPr>
              <a:r>
                <a:rPr lang="en-US" sz="2300" b="true">
                  <a:solidFill>
                    <a:srgbClr val="1C2E40"/>
                  </a:solidFill>
                  <a:latin typeface="EB Garamond Semi-Bold"/>
                  <a:ea typeface="EB Garamond Semi-Bold"/>
                  <a:cs typeface="EB Garamond Semi-Bold"/>
                  <a:sym typeface="EB Garamond Semi-Bold"/>
                </a:rPr>
                <a:t>Nettoyage des données</a:t>
              </a:r>
            </a:p>
          </p:txBody>
        </p:sp>
      </p:grpSp>
      <p:grpSp>
        <p:nvGrpSpPr>
          <p:cNvPr name="Group 74" id="74"/>
          <p:cNvGrpSpPr/>
          <p:nvPr/>
        </p:nvGrpSpPr>
        <p:grpSpPr>
          <a:xfrm rot="0">
            <a:off x="9802368" y="3566160"/>
            <a:ext cx="7680960" cy="548640"/>
            <a:chOff x="0" y="0"/>
            <a:chExt cx="10241280" cy="731520"/>
          </a:xfrm>
        </p:grpSpPr>
        <p:sp>
          <p:nvSpPr>
            <p:cNvPr name="Freeform 75" id="75"/>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76" id="76"/>
            <p:cNvSpPr txBox="true"/>
            <p:nvPr/>
          </p:nvSpPr>
          <p:spPr>
            <a:xfrm>
              <a:off x="0" y="9525"/>
              <a:ext cx="10241280" cy="721995"/>
            </a:xfrm>
            <a:prstGeom prst="rect">
              <a:avLst/>
            </a:prstGeom>
          </p:spPr>
          <p:txBody>
            <a:bodyPr anchor="ctr" rtlCol="false" tIns="0" lIns="0" bIns="0" rIns="0"/>
            <a:lstStyle/>
            <a:p>
              <a:pPr algn="l">
                <a:lnSpc>
                  <a:spcPts val="2280"/>
                </a:lnSpc>
              </a:pPr>
              <a:r>
                <a:rPr lang="en-US" sz="1900" i="true">
                  <a:solidFill>
                    <a:srgbClr val="7B8FA1"/>
                  </a:solidFill>
                  <a:latin typeface="EB Garamond Italics"/>
                  <a:ea typeface="EB Garamond Italics"/>
                  <a:cs typeface="EB Garamond Italics"/>
                  <a:sym typeface="EB Garamond Italics"/>
                </a:rPr>
                <a:t>Explication et analyse critique du code de nettoyage des données</a:t>
              </a:r>
            </a:p>
          </p:txBody>
        </p:sp>
      </p:grpSp>
      <p:grpSp>
        <p:nvGrpSpPr>
          <p:cNvPr name="Group 77" id="77"/>
          <p:cNvGrpSpPr/>
          <p:nvPr/>
        </p:nvGrpSpPr>
        <p:grpSpPr>
          <a:xfrm rot="0">
            <a:off x="8948423" y="4412999"/>
            <a:ext cx="683771" cy="683771"/>
            <a:chOff x="0" y="0"/>
            <a:chExt cx="911695" cy="911695"/>
          </a:xfrm>
        </p:grpSpPr>
        <p:sp>
          <p:nvSpPr>
            <p:cNvPr name="Freeform 78" id="78"/>
            <p:cNvSpPr/>
            <p:nvPr/>
          </p:nvSpPr>
          <p:spPr>
            <a:xfrm flipH="false" flipV="false" rot="0">
              <a:off x="16891" y="16891"/>
              <a:ext cx="877824" cy="877824"/>
            </a:xfrm>
            <a:custGeom>
              <a:avLst/>
              <a:gdLst/>
              <a:ahLst/>
              <a:cxnLst/>
              <a:rect r="r" b="b" t="t" l="l"/>
              <a:pathLst>
                <a:path h="877824" w="877824">
                  <a:moveTo>
                    <a:pt x="0" y="438912"/>
                  </a:moveTo>
                  <a:cubicBezTo>
                    <a:pt x="0" y="196469"/>
                    <a:pt x="196469" y="0"/>
                    <a:pt x="438912" y="0"/>
                  </a:cubicBezTo>
                  <a:cubicBezTo>
                    <a:pt x="681355" y="0"/>
                    <a:pt x="877824" y="196596"/>
                    <a:pt x="877824" y="438912"/>
                  </a:cubicBezTo>
                  <a:cubicBezTo>
                    <a:pt x="877824" y="681228"/>
                    <a:pt x="681355" y="877824"/>
                    <a:pt x="438912" y="877824"/>
                  </a:cubicBezTo>
                  <a:cubicBezTo>
                    <a:pt x="196469" y="877824"/>
                    <a:pt x="0" y="681355"/>
                    <a:pt x="0" y="438912"/>
                  </a:cubicBezTo>
                  <a:close/>
                </a:path>
              </a:pathLst>
            </a:custGeom>
            <a:solidFill>
              <a:srgbClr val="2C4A6E"/>
            </a:solidFill>
          </p:spPr>
        </p:sp>
        <p:sp>
          <p:nvSpPr>
            <p:cNvPr name="Freeform 79" id="79"/>
            <p:cNvSpPr/>
            <p:nvPr/>
          </p:nvSpPr>
          <p:spPr>
            <a:xfrm flipH="false" flipV="false" rot="0">
              <a:off x="0" y="0"/>
              <a:ext cx="911733" cy="911606"/>
            </a:xfrm>
            <a:custGeom>
              <a:avLst/>
              <a:gdLst/>
              <a:ahLst/>
              <a:cxnLst/>
              <a:rect r="r" b="b" t="t" l="l"/>
              <a:pathLst>
                <a:path h="911606" w="911733">
                  <a:moveTo>
                    <a:pt x="0" y="455803"/>
                  </a:moveTo>
                  <a:cubicBezTo>
                    <a:pt x="0" y="204089"/>
                    <a:pt x="204089" y="0"/>
                    <a:pt x="455803" y="0"/>
                  </a:cubicBezTo>
                  <a:lnTo>
                    <a:pt x="455803" y="16891"/>
                  </a:lnTo>
                  <a:lnTo>
                    <a:pt x="455803" y="0"/>
                  </a:lnTo>
                  <a:cubicBezTo>
                    <a:pt x="707644" y="0"/>
                    <a:pt x="911733" y="204089"/>
                    <a:pt x="911733" y="455803"/>
                  </a:cubicBezTo>
                  <a:cubicBezTo>
                    <a:pt x="911733" y="707517"/>
                    <a:pt x="707644" y="911606"/>
                    <a:pt x="455930" y="911606"/>
                  </a:cubicBezTo>
                  <a:lnTo>
                    <a:pt x="455930" y="894715"/>
                  </a:lnTo>
                  <a:lnTo>
                    <a:pt x="455930" y="911606"/>
                  </a:lnTo>
                  <a:cubicBezTo>
                    <a:pt x="204089" y="911733"/>
                    <a:pt x="0" y="707644"/>
                    <a:pt x="0" y="455803"/>
                  </a:cubicBezTo>
                  <a:lnTo>
                    <a:pt x="16891" y="455803"/>
                  </a:lnTo>
                  <a:lnTo>
                    <a:pt x="31242" y="464820"/>
                  </a:lnTo>
                  <a:cubicBezTo>
                    <a:pt x="27178" y="471170"/>
                    <a:pt x="19431" y="474218"/>
                    <a:pt x="12192" y="472059"/>
                  </a:cubicBezTo>
                  <a:cubicBezTo>
                    <a:pt x="4953" y="469900"/>
                    <a:pt x="0" y="463423"/>
                    <a:pt x="0" y="455803"/>
                  </a:cubicBezTo>
                  <a:moveTo>
                    <a:pt x="33909" y="455803"/>
                  </a:moveTo>
                  <a:lnTo>
                    <a:pt x="16891" y="455803"/>
                  </a:lnTo>
                  <a:lnTo>
                    <a:pt x="2540" y="446913"/>
                  </a:lnTo>
                  <a:cubicBezTo>
                    <a:pt x="6604" y="440563"/>
                    <a:pt x="14351" y="437515"/>
                    <a:pt x="21590" y="439674"/>
                  </a:cubicBezTo>
                  <a:cubicBezTo>
                    <a:pt x="28829" y="441833"/>
                    <a:pt x="33909" y="448437"/>
                    <a:pt x="33909" y="455930"/>
                  </a:cubicBezTo>
                  <a:cubicBezTo>
                    <a:pt x="33909" y="688975"/>
                    <a:pt x="222885" y="877951"/>
                    <a:pt x="455930" y="877951"/>
                  </a:cubicBezTo>
                  <a:cubicBezTo>
                    <a:pt x="688975" y="877951"/>
                    <a:pt x="877951" y="688975"/>
                    <a:pt x="877951" y="455930"/>
                  </a:cubicBezTo>
                  <a:lnTo>
                    <a:pt x="894842" y="455930"/>
                  </a:lnTo>
                  <a:lnTo>
                    <a:pt x="877951" y="455930"/>
                  </a:lnTo>
                  <a:cubicBezTo>
                    <a:pt x="877951" y="222885"/>
                    <a:pt x="688975" y="33909"/>
                    <a:pt x="455930" y="33909"/>
                  </a:cubicBezTo>
                  <a:lnTo>
                    <a:pt x="455930" y="16891"/>
                  </a:lnTo>
                  <a:lnTo>
                    <a:pt x="455930" y="33909"/>
                  </a:lnTo>
                  <a:cubicBezTo>
                    <a:pt x="222758" y="33909"/>
                    <a:pt x="33909" y="222758"/>
                    <a:pt x="33909" y="455803"/>
                  </a:cubicBezTo>
                  <a:close/>
                </a:path>
              </a:pathLst>
            </a:custGeom>
            <a:solidFill>
              <a:srgbClr val="2C4A6E"/>
            </a:solidFill>
          </p:spPr>
        </p:sp>
      </p:grpSp>
      <p:grpSp>
        <p:nvGrpSpPr>
          <p:cNvPr name="Group 80" id="80"/>
          <p:cNvGrpSpPr/>
          <p:nvPr/>
        </p:nvGrpSpPr>
        <p:grpSpPr>
          <a:xfrm rot="0">
            <a:off x="8961120" y="4425696"/>
            <a:ext cx="658368" cy="658368"/>
            <a:chOff x="0" y="0"/>
            <a:chExt cx="877824" cy="877824"/>
          </a:xfrm>
        </p:grpSpPr>
        <p:sp>
          <p:nvSpPr>
            <p:cNvPr name="Freeform 81" id="81"/>
            <p:cNvSpPr/>
            <p:nvPr/>
          </p:nvSpPr>
          <p:spPr>
            <a:xfrm flipH="false" flipV="false" rot="0">
              <a:off x="0" y="0"/>
              <a:ext cx="877824" cy="877824"/>
            </a:xfrm>
            <a:custGeom>
              <a:avLst/>
              <a:gdLst/>
              <a:ahLst/>
              <a:cxnLst/>
              <a:rect r="r" b="b" t="t" l="l"/>
              <a:pathLst>
                <a:path h="877824" w="877824">
                  <a:moveTo>
                    <a:pt x="0" y="0"/>
                  </a:moveTo>
                  <a:lnTo>
                    <a:pt x="877824" y="0"/>
                  </a:lnTo>
                  <a:lnTo>
                    <a:pt x="877824" y="877824"/>
                  </a:lnTo>
                  <a:lnTo>
                    <a:pt x="0" y="877824"/>
                  </a:lnTo>
                  <a:close/>
                </a:path>
              </a:pathLst>
            </a:custGeom>
            <a:blipFill>
              <a:blip r:embed="rId3">
                <a:alphaModFix amt="0"/>
              </a:blip>
              <a:stretch>
                <a:fillRect l="-78303" t="0" r="-78303" b="0"/>
              </a:stretch>
            </a:blipFill>
          </p:spPr>
        </p:sp>
        <p:sp>
          <p:nvSpPr>
            <p:cNvPr name="TextBox 82" id="82"/>
            <p:cNvSpPr txBox="true"/>
            <p:nvPr/>
          </p:nvSpPr>
          <p:spPr>
            <a:xfrm>
              <a:off x="0" y="9525"/>
              <a:ext cx="877824" cy="868299"/>
            </a:xfrm>
            <a:prstGeom prst="rect">
              <a:avLst/>
            </a:prstGeom>
          </p:spPr>
          <p:txBody>
            <a:bodyPr anchor="ctr" rtlCol="false" tIns="0" lIns="0" bIns="0" rIns="0"/>
            <a:lstStyle/>
            <a:p>
              <a:pPr algn="ctr">
                <a:lnSpc>
                  <a:spcPts val="2879"/>
                </a:lnSpc>
              </a:pPr>
              <a:r>
                <a:rPr lang="en-US" sz="2400" b="true">
                  <a:solidFill>
                    <a:srgbClr val="FFFFFF"/>
                  </a:solidFill>
                  <a:latin typeface="EB Garamond Semi-Bold"/>
                  <a:ea typeface="EB Garamond Semi-Bold"/>
                  <a:cs typeface="EB Garamond Semi-Bold"/>
                  <a:sym typeface="EB Garamond Semi-Bold"/>
                </a:rPr>
                <a:t>2</a:t>
              </a:r>
            </a:p>
          </p:txBody>
        </p:sp>
      </p:grpSp>
      <p:grpSp>
        <p:nvGrpSpPr>
          <p:cNvPr name="Group 83" id="83"/>
          <p:cNvGrpSpPr/>
          <p:nvPr/>
        </p:nvGrpSpPr>
        <p:grpSpPr>
          <a:xfrm rot="0">
            <a:off x="9802368" y="4352544"/>
            <a:ext cx="7680960" cy="512064"/>
            <a:chOff x="0" y="0"/>
            <a:chExt cx="10241280" cy="682752"/>
          </a:xfrm>
        </p:grpSpPr>
        <p:sp>
          <p:nvSpPr>
            <p:cNvPr name="Freeform 84" id="84"/>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85" id="85"/>
            <p:cNvSpPr txBox="true"/>
            <p:nvPr/>
          </p:nvSpPr>
          <p:spPr>
            <a:xfrm>
              <a:off x="0" y="0"/>
              <a:ext cx="10241280" cy="682752"/>
            </a:xfrm>
            <a:prstGeom prst="rect">
              <a:avLst/>
            </a:prstGeom>
          </p:spPr>
          <p:txBody>
            <a:bodyPr anchor="ctr" rtlCol="false" tIns="0" lIns="0" bIns="0" rIns="0"/>
            <a:lstStyle/>
            <a:p>
              <a:pPr algn="l">
                <a:lnSpc>
                  <a:spcPts val="2760"/>
                </a:lnSpc>
              </a:pPr>
              <a:r>
                <a:rPr lang="en-US" sz="2300" b="true">
                  <a:solidFill>
                    <a:srgbClr val="1C2E40"/>
                  </a:solidFill>
                  <a:latin typeface="EB Garamond Semi-Bold"/>
                  <a:ea typeface="EB Garamond Semi-Bold"/>
                  <a:cs typeface="EB Garamond Semi-Bold"/>
                  <a:sym typeface="EB Garamond Semi-Bold"/>
                </a:rPr>
                <a:t>Subsistance des ménages</a:t>
              </a:r>
            </a:p>
          </p:txBody>
        </p:sp>
      </p:grpSp>
      <p:grpSp>
        <p:nvGrpSpPr>
          <p:cNvPr name="Group 86" id="86"/>
          <p:cNvGrpSpPr/>
          <p:nvPr/>
        </p:nvGrpSpPr>
        <p:grpSpPr>
          <a:xfrm rot="0">
            <a:off x="9802368" y="4846320"/>
            <a:ext cx="7680960" cy="548640"/>
            <a:chOff x="0" y="0"/>
            <a:chExt cx="10241280" cy="731520"/>
          </a:xfrm>
        </p:grpSpPr>
        <p:sp>
          <p:nvSpPr>
            <p:cNvPr name="Freeform 87" id="87"/>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88" id="88"/>
            <p:cNvSpPr txBox="true"/>
            <p:nvPr/>
          </p:nvSpPr>
          <p:spPr>
            <a:xfrm>
              <a:off x="0" y="9525"/>
              <a:ext cx="10241280" cy="721995"/>
            </a:xfrm>
            <a:prstGeom prst="rect">
              <a:avLst/>
            </a:prstGeom>
          </p:spPr>
          <p:txBody>
            <a:bodyPr anchor="ctr" rtlCol="false" tIns="0" lIns="0" bIns="0" rIns="0"/>
            <a:lstStyle/>
            <a:p>
              <a:pPr algn="l">
                <a:lnSpc>
                  <a:spcPts val="2280"/>
                </a:lnSpc>
              </a:pPr>
              <a:r>
                <a:rPr lang="en-US" sz="1900" i="true">
                  <a:solidFill>
                    <a:srgbClr val="7B8FA1"/>
                  </a:solidFill>
                  <a:latin typeface="EB Garamond Italics"/>
                  <a:ea typeface="EB Garamond Italics"/>
                  <a:cs typeface="EB Garamond Italics"/>
                  <a:sym typeface="EB Garamond Italics"/>
                </a:rPr>
                <a:t>Analyse à l’échelle de chaque pays</a:t>
              </a:r>
            </a:p>
          </p:txBody>
        </p:sp>
      </p:grpSp>
      <p:grpSp>
        <p:nvGrpSpPr>
          <p:cNvPr name="Group 89" id="89"/>
          <p:cNvGrpSpPr/>
          <p:nvPr/>
        </p:nvGrpSpPr>
        <p:grpSpPr>
          <a:xfrm rot="0">
            <a:off x="8948423" y="5693159"/>
            <a:ext cx="683771" cy="683771"/>
            <a:chOff x="0" y="0"/>
            <a:chExt cx="911695" cy="911695"/>
          </a:xfrm>
        </p:grpSpPr>
        <p:sp>
          <p:nvSpPr>
            <p:cNvPr name="Freeform 90" id="90"/>
            <p:cNvSpPr/>
            <p:nvPr/>
          </p:nvSpPr>
          <p:spPr>
            <a:xfrm flipH="false" flipV="false" rot="0">
              <a:off x="16891" y="16891"/>
              <a:ext cx="877824" cy="877824"/>
            </a:xfrm>
            <a:custGeom>
              <a:avLst/>
              <a:gdLst/>
              <a:ahLst/>
              <a:cxnLst/>
              <a:rect r="r" b="b" t="t" l="l"/>
              <a:pathLst>
                <a:path h="877824" w="877824">
                  <a:moveTo>
                    <a:pt x="0" y="438912"/>
                  </a:moveTo>
                  <a:cubicBezTo>
                    <a:pt x="0" y="196469"/>
                    <a:pt x="196469" y="0"/>
                    <a:pt x="438912" y="0"/>
                  </a:cubicBezTo>
                  <a:cubicBezTo>
                    <a:pt x="681355" y="0"/>
                    <a:pt x="877824" y="196596"/>
                    <a:pt x="877824" y="438912"/>
                  </a:cubicBezTo>
                  <a:cubicBezTo>
                    <a:pt x="877824" y="681228"/>
                    <a:pt x="681355" y="877824"/>
                    <a:pt x="438912" y="877824"/>
                  </a:cubicBezTo>
                  <a:cubicBezTo>
                    <a:pt x="196469" y="877824"/>
                    <a:pt x="0" y="681355"/>
                    <a:pt x="0" y="438912"/>
                  </a:cubicBezTo>
                  <a:close/>
                </a:path>
              </a:pathLst>
            </a:custGeom>
            <a:solidFill>
              <a:srgbClr val="2C4A6E"/>
            </a:solidFill>
          </p:spPr>
        </p:sp>
        <p:sp>
          <p:nvSpPr>
            <p:cNvPr name="Freeform 91" id="91"/>
            <p:cNvSpPr/>
            <p:nvPr/>
          </p:nvSpPr>
          <p:spPr>
            <a:xfrm flipH="false" flipV="false" rot="0">
              <a:off x="0" y="0"/>
              <a:ext cx="911733" cy="911606"/>
            </a:xfrm>
            <a:custGeom>
              <a:avLst/>
              <a:gdLst/>
              <a:ahLst/>
              <a:cxnLst/>
              <a:rect r="r" b="b" t="t" l="l"/>
              <a:pathLst>
                <a:path h="911606" w="911733">
                  <a:moveTo>
                    <a:pt x="0" y="455803"/>
                  </a:moveTo>
                  <a:cubicBezTo>
                    <a:pt x="0" y="204089"/>
                    <a:pt x="204089" y="0"/>
                    <a:pt x="455803" y="0"/>
                  </a:cubicBezTo>
                  <a:lnTo>
                    <a:pt x="455803" y="16891"/>
                  </a:lnTo>
                  <a:lnTo>
                    <a:pt x="455803" y="0"/>
                  </a:lnTo>
                  <a:cubicBezTo>
                    <a:pt x="707644" y="0"/>
                    <a:pt x="911733" y="204089"/>
                    <a:pt x="911733" y="455803"/>
                  </a:cubicBezTo>
                  <a:cubicBezTo>
                    <a:pt x="911733" y="707517"/>
                    <a:pt x="707644" y="911606"/>
                    <a:pt x="455930" y="911606"/>
                  </a:cubicBezTo>
                  <a:lnTo>
                    <a:pt x="455930" y="894715"/>
                  </a:lnTo>
                  <a:lnTo>
                    <a:pt x="455930" y="911606"/>
                  </a:lnTo>
                  <a:cubicBezTo>
                    <a:pt x="204089" y="911733"/>
                    <a:pt x="0" y="707644"/>
                    <a:pt x="0" y="455803"/>
                  </a:cubicBezTo>
                  <a:lnTo>
                    <a:pt x="16891" y="455803"/>
                  </a:lnTo>
                  <a:lnTo>
                    <a:pt x="31242" y="464820"/>
                  </a:lnTo>
                  <a:cubicBezTo>
                    <a:pt x="27178" y="471170"/>
                    <a:pt x="19431" y="474218"/>
                    <a:pt x="12192" y="472059"/>
                  </a:cubicBezTo>
                  <a:cubicBezTo>
                    <a:pt x="4953" y="469900"/>
                    <a:pt x="0" y="463423"/>
                    <a:pt x="0" y="455803"/>
                  </a:cubicBezTo>
                  <a:moveTo>
                    <a:pt x="33909" y="455803"/>
                  </a:moveTo>
                  <a:lnTo>
                    <a:pt x="16891" y="455803"/>
                  </a:lnTo>
                  <a:lnTo>
                    <a:pt x="2540" y="446913"/>
                  </a:lnTo>
                  <a:cubicBezTo>
                    <a:pt x="6604" y="440563"/>
                    <a:pt x="14351" y="437515"/>
                    <a:pt x="21590" y="439674"/>
                  </a:cubicBezTo>
                  <a:cubicBezTo>
                    <a:pt x="28829" y="441833"/>
                    <a:pt x="33909" y="448437"/>
                    <a:pt x="33909" y="455930"/>
                  </a:cubicBezTo>
                  <a:cubicBezTo>
                    <a:pt x="33909" y="688975"/>
                    <a:pt x="222885" y="877951"/>
                    <a:pt x="455930" y="877951"/>
                  </a:cubicBezTo>
                  <a:cubicBezTo>
                    <a:pt x="688975" y="877951"/>
                    <a:pt x="877951" y="688975"/>
                    <a:pt x="877951" y="455930"/>
                  </a:cubicBezTo>
                  <a:lnTo>
                    <a:pt x="894842" y="455930"/>
                  </a:lnTo>
                  <a:lnTo>
                    <a:pt x="877951" y="455930"/>
                  </a:lnTo>
                  <a:cubicBezTo>
                    <a:pt x="877951" y="222885"/>
                    <a:pt x="688975" y="33909"/>
                    <a:pt x="455930" y="33909"/>
                  </a:cubicBezTo>
                  <a:lnTo>
                    <a:pt x="455930" y="16891"/>
                  </a:lnTo>
                  <a:lnTo>
                    <a:pt x="455930" y="33909"/>
                  </a:lnTo>
                  <a:cubicBezTo>
                    <a:pt x="222758" y="33909"/>
                    <a:pt x="33909" y="222758"/>
                    <a:pt x="33909" y="455803"/>
                  </a:cubicBezTo>
                  <a:close/>
                </a:path>
              </a:pathLst>
            </a:custGeom>
            <a:solidFill>
              <a:srgbClr val="2C4A6E"/>
            </a:solidFill>
          </p:spPr>
        </p:sp>
      </p:grpSp>
      <p:grpSp>
        <p:nvGrpSpPr>
          <p:cNvPr name="Group 92" id="92"/>
          <p:cNvGrpSpPr/>
          <p:nvPr/>
        </p:nvGrpSpPr>
        <p:grpSpPr>
          <a:xfrm rot="0">
            <a:off x="8961120" y="5705856"/>
            <a:ext cx="658368" cy="658368"/>
            <a:chOff x="0" y="0"/>
            <a:chExt cx="877824" cy="877824"/>
          </a:xfrm>
        </p:grpSpPr>
        <p:sp>
          <p:nvSpPr>
            <p:cNvPr name="Freeform 93" id="93"/>
            <p:cNvSpPr/>
            <p:nvPr/>
          </p:nvSpPr>
          <p:spPr>
            <a:xfrm flipH="false" flipV="false" rot="0">
              <a:off x="0" y="0"/>
              <a:ext cx="877824" cy="877824"/>
            </a:xfrm>
            <a:custGeom>
              <a:avLst/>
              <a:gdLst/>
              <a:ahLst/>
              <a:cxnLst/>
              <a:rect r="r" b="b" t="t" l="l"/>
              <a:pathLst>
                <a:path h="877824" w="877824">
                  <a:moveTo>
                    <a:pt x="0" y="0"/>
                  </a:moveTo>
                  <a:lnTo>
                    <a:pt x="877824" y="0"/>
                  </a:lnTo>
                  <a:lnTo>
                    <a:pt x="877824" y="877824"/>
                  </a:lnTo>
                  <a:lnTo>
                    <a:pt x="0" y="877824"/>
                  </a:lnTo>
                  <a:close/>
                </a:path>
              </a:pathLst>
            </a:custGeom>
            <a:blipFill>
              <a:blip r:embed="rId3">
                <a:alphaModFix amt="0"/>
              </a:blip>
              <a:stretch>
                <a:fillRect l="-78303" t="0" r="-78303" b="0"/>
              </a:stretch>
            </a:blipFill>
          </p:spPr>
        </p:sp>
        <p:sp>
          <p:nvSpPr>
            <p:cNvPr name="TextBox 94" id="94"/>
            <p:cNvSpPr txBox="true"/>
            <p:nvPr/>
          </p:nvSpPr>
          <p:spPr>
            <a:xfrm>
              <a:off x="0" y="9525"/>
              <a:ext cx="877824" cy="868299"/>
            </a:xfrm>
            <a:prstGeom prst="rect">
              <a:avLst/>
            </a:prstGeom>
          </p:spPr>
          <p:txBody>
            <a:bodyPr anchor="ctr" rtlCol="false" tIns="0" lIns="0" bIns="0" rIns="0"/>
            <a:lstStyle/>
            <a:p>
              <a:pPr algn="ctr">
                <a:lnSpc>
                  <a:spcPts val="2879"/>
                </a:lnSpc>
              </a:pPr>
              <a:r>
                <a:rPr lang="en-US" sz="2400" b="true">
                  <a:solidFill>
                    <a:srgbClr val="FFFFFF"/>
                  </a:solidFill>
                  <a:latin typeface="EB Garamond Semi-Bold"/>
                  <a:ea typeface="EB Garamond Semi-Bold"/>
                  <a:cs typeface="EB Garamond Semi-Bold"/>
                  <a:sym typeface="EB Garamond Semi-Bold"/>
                </a:rPr>
                <a:t>3</a:t>
              </a:r>
            </a:p>
          </p:txBody>
        </p:sp>
      </p:grpSp>
      <p:grpSp>
        <p:nvGrpSpPr>
          <p:cNvPr name="Group 95" id="95"/>
          <p:cNvGrpSpPr/>
          <p:nvPr/>
        </p:nvGrpSpPr>
        <p:grpSpPr>
          <a:xfrm rot="0">
            <a:off x="9802368" y="5632704"/>
            <a:ext cx="7680960" cy="512064"/>
            <a:chOff x="0" y="0"/>
            <a:chExt cx="10241280" cy="682752"/>
          </a:xfrm>
        </p:grpSpPr>
        <p:sp>
          <p:nvSpPr>
            <p:cNvPr name="Freeform 96" id="96"/>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97" id="97"/>
            <p:cNvSpPr txBox="true"/>
            <p:nvPr/>
          </p:nvSpPr>
          <p:spPr>
            <a:xfrm>
              <a:off x="0" y="0"/>
              <a:ext cx="10241280" cy="682752"/>
            </a:xfrm>
            <a:prstGeom prst="rect">
              <a:avLst/>
            </a:prstGeom>
          </p:spPr>
          <p:txBody>
            <a:bodyPr anchor="ctr" rtlCol="false" tIns="0" lIns="0" bIns="0" rIns="0"/>
            <a:lstStyle/>
            <a:p>
              <a:pPr algn="l">
                <a:lnSpc>
                  <a:spcPts val="2760"/>
                </a:lnSpc>
              </a:pPr>
              <a:r>
                <a:rPr lang="en-US" sz="2300" b="true">
                  <a:solidFill>
                    <a:srgbClr val="1C2E40"/>
                  </a:solidFill>
                  <a:latin typeface="EB Garamond Semi-Bold"/>
                  <a:ea typeface="EB Garamond Semi-Bold"/>
                  <a:cs typeface="EB Garamond Semi-Bold"/>
                  <a:sym typeface="EB Garamond Semi-Bold"/>
                </a:rPr>
                <a:t>Vente de bétails</a:t>
              </a:r>
            </a:p>
          </p:txBody>
        </p:sp>
      </p:grpSp>
      <p:grpSp>
        <p:nvGrpSpPr>
          <p:cNvPr name="Group 98" id="98"/>
          <p:cNvGrpSpPr/>
          <p:nvPr/>
        </p:nvGrpSpPr>
        <p:grpSpPr>
          <a:xfrm rot="0">
            <a:off x="9802368" y="6126480"/>
            <a:ext cx="7680960" cy="548640"/>
            <a:chOff x="0" y="0"/>
            <a:chExt cx="10241280" cy="731520"/>
          </a:xfrm>
        </p:grpSpPr>
        <p:sp>
          <p:nvSpPr>
            <p:cNvPr name="Freeform 99" id="99"/>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100" id="100"/>
            <p:cNvSpPr txBox="true"/>
            <p:nvPr/>
          </p:nvSpPr>
          <p:spPr>
            <a:xfrm>
              <a:off x="0" y="9525"/>
              <a:ext cx="10241280" cy="721995"/>
            </a:xfrm>
            <a:prstGeom prst="rect">
              <a:avLst/>
            </a:prstGeom>
          </p:spPr>
          <p:txBody>
            <a:bodyPr anchor="ctr" rtlCol="false" tIns="0" lIns="0" bIns="0" rIns="0"/>
            <a:lstStyle/>
            <a:p>
              <a:pPr algn="l">
                <a:lnSpc>
                  <a:spcPts val="2280"/>
                </a:lnSpc>
              </a:pPr>
              <a:r>
                <a:rPr lang="en-US" sz="1900" i="true">
                  <a:solidFill>
                    <a:srgbClr val="7B8FA1"/>
                  </a:solidFill>
                  <a:latin typeface="EB Garamond Italics"/>
                  <a:ea typeface="EB Garamond Italics"/>
                  <a:cs typeface="EB Garamond Italics"/>
                  <a:sym typeface="EB Garamond Italics"/>
                </a:rPr>
                <a:t>Utilisation de la base de vente de bétails, sortie de tableau</a:t>
              </a:r>
            </a:p>
          </p:txBody>
        </p:sp>
      </p:grpSp>
      <p:grpSp>
        <p:nvGrpSpPr>
          <p:cNvPr name="Group 101" id="101"/>
          <p:cNvGrpSpPr/>
          <p:nvPr/>
        </p:nvGrpSpPr>
        <p:grpSpPr>
          <a:xfrm rot="0">
            <a:off x="8948423" y="6973319"/>
            <a:ext cx="683771" cy="683771"/>
            <a:chOff x="0" y="0"/>
            <a:chExt cx="911695" cy="911695"/>
          </a:xfrm>
        </p:grpSpPr>
        <p:sp>
          <p:nvSpPr>
            <p:cNvPr name="Freeform 102" id="102"/>
            <p:cNvSpPr/>
            <p:nvPr/>
          </p:nvSpPr>
          <p:spPr>
            <a:xfrm flipH="false" flipV="false" rot="0">
              <a:off x="16891" y="16891"/>
              <a:ext cx="877824" cy="877824"/>
            </a:xfrm>
            <a:custGeom>
              <a:avLst/>
              <a:gdLst/>
              <a:ahLst/>
              <a:cxnLst/>
              <a:rect r="r" b="b" t="t" l="l"/>
              <a:pathLst>
                <a:path h="877824" w="877824">
                  <a:moveTo>
                    <a:pt x="0" y="438912"/>
                  </a:moveTo>
                  <a:cubicBezTo>
                    <a:pt x="0" y="196469"/>
                    <a:pt x="196469" y="0"/>
                    <a:pt x="438912" y="0"/>
                  </a:cubicBezTo>
                  <a:cubicBezTo>
                    <a:pt x="681355" y="0"/>
                    <a:pt x="877824" y="196596"/>
                    <a:pt x="877824" y="438912"/>
                  </a:cubicBezTo>
                  <a:cubicBezTo>
                    <a:pt x="877824" y="681228"/>
                    <a:pt x="681355" y="877824"/>
                    <a:pt x="438912" y="877824"/>
                  </a:cubicBezTo>
                  <a:cubicBezTo>
                    <a:pt x="196469" y="877824"/>
                    <a:pt x="0" y="681355"/>
                    <a:pt x="0" y="438912"/>
                  </a:cubicBezTo>
                  <a:close/>
                </a:path>
              </a:pathLst>
            </a:custGeom>
            <a:solidFill>
              <a:srgbClr val="2C4A6E"/>
            </a:solidFill>
          </p:spPr>
        </p:sp>
        <p:sp>
          <p:nvSpPr>
            <p:cNvPr name="Freeform 103" id="103"/>
            <p:cNvSpPr/>
            <p:nvPr/>
          </p:nvSpPr>
          <p:spPr>
            <a:xfrm flipH="false" flipV="false" rot="0">
              <a:off x="0" y="0"/>
              <a:ext cx="911733" cy="911606"/>
            </a:xfrm>
            <a:custGeom>
              <a:avLst/>
              <a:gdLst/>
              <a:ahLst/>
              <a:cxnLst/>
              <a:rect r="r" b="b" t="t" l="l"/>
              <a:pathLst>
                <a:path h="911606" w="911733">
                  <a:moveTo>
                    <a:pt x="0" y="455803"/>
                  </a:moveTo>
                  <a:cubicBezTo>
                    <a:pt x="0" y="204089"/>
                    <a:pt x="204089" y="0"/>
                    <a:pt x="455803" y="0"/>
                  </a:cubicBezTo>
                  <a:lnTo>
                    <a:pt x="455803" y="16891"/>
                  </a:lnTo>
                  <a:lnTo>
                    <a:pt x="455803" y="0"/>
                  </a:lnTo>
                  <a:cubicBezTo>
                    <a:pt x="707644" y="0"/>
                    <a:pt x="911733" y="204089"/>
                    <a:pt x="911733" y="455803"/>
                  </a:cubicBezTo>
                  <a:cubicBezTo>
                    <a:pt x="911733" y="707517"/>
                    <a:pt x="707644" y="911606"/>
                    <a:pt x="455930" y="911606"/>
                  </a:cubicBezTo>
                  <a:lnTo>
                    <a:pt x="455930" y="894715"/>
                  </a:lnTo>
                  <a:lnTo>
                    <a:pt x="455930" y="911606"/>
                  </a:lnTo>
                  <a:cubicBezTo>
                    <a:pt x="204089" y="911733"/>
                    <a:pt x="0" y="707644"/>
                    <a:pt x="0" y="455803"/>
                  </a:cubicBezTo>
                  <a:lnTo>
                    <a:pt x="16891" y="455803"/>
                  </a:lnTo>
                  <a:lnTo>
                    <a:pt x="31242" y="464820"/>
                  </a:lnTo>
                  <a:cubicBezTo>
                    <a:pt x="27178" y="471170"/>
                    <a:pt x="19431" y="474218"/>
                    <a:pt x="12192" y="472059"/>
                  </a:cubicBezTo>
                  <a:cubicBezTo>
                    <a:pt x="4953" y="469900"/>
                    <a:pt x="0" y="463423"/>
                    <a:pt x="0" y="455803"/>
                  </a:cubicBezTo>
                  <a:moveTo>
                    <a:pt x="33909" y="455803"/>
                  </a:moveTo>
                  <a:lnTo>
                    <a:pt x="16891" y="455803"/>
                  </a:lnTo>
                  <a:lnTo>
                    <a:pt x="2540" y="446913"/>
                  </a:lnTo>
                  <a:cubicBezTo>
                    <a:pt x="6604" y="440563"/>
                    <a:pt x="14351" y="437515"/>
                    <a:pt x="21590" y="439674"/>
                  </a:cubicBezTo>
                  <a:cubicBezTo>
                    <a:pt x="28829" y="441833"/>
                    <a:pt x="33909" y="448437"/>
                    <a:pt x="33909" y="455930"/>
                  </a:cubicBezTo>
                  <a:cubicBezTo>
                    <a:pt x="33909" y="688975"/>
                    <a:pt x="222885" y="877951"/>
                    <a:pt x="455930" y="877951"/>
                  </a:cubicBezTo>
                  <a:cubicBezTo>
                    <a:pt x="688975" y="877951"/>
                    <a:pt x="877951" y="688975"/>
                    <a:pt x="877951" y="455930"/>
                  </a:cubicBezTo>
                  <a:lnTo>
                    <a:pt x="894842" y="455930"/>
                  </a:lnTo>
                  <a:lnTo>
                    <a:pt x="877951" y="455930"/>
                  </a:lnTo>
                  <a:cubicBezTo>
                    <a:pt x="877951" y="222885"/>
                    <a:pt x="688975" y="33909"/>
                    <a:pt x="455930" y="33909"/>
                  </a:cubicBezTo>
                  <a:lnTo>
                    <a:pt x="455930" y="16891"/>
                  </a:lnTo>
                  <a:lnTo>
                    <a:pt x="455930" y="33909"/>
                  </a:lnTo>
                  <a:cubicBezTo>
                    <a:pt x="222758" y="33909"/>
                    <a:pt x="33909" y="222758"/>
                    <a:pt x="33909" y="455803"/>
                  </a:cubicBezTo>
                  <a:close/>
                </a:path>
              </a:pathLst>
            </a:custGeom>
            <a:solidFill>
              <a:srgbClr val="2C4A6E"/>
            </a:solidFill>
          </p:spPr>
        </p:sp>
      </p:grpSp>
      <p:grpSp>
        <p:nvGrpSpPr>
          <p:cNvPr name="Group 104" id="104"/>
          <p:cNvGrpSpPr/>
          <p:nvPr/>
        </p:nvGrpSpPr>
        <p:grpSpPr>
          <a:xfrm rot="0">
            <a:off x="8961120" y="6986016"/>
            <a:ext cx="658368" cy="658368"/>
            <a:chOff x="0" y="0"/>
            <a:chExt cx="877824" cy="877824"/>
          </a:xfrm>
        </p:grpSpPr>
        <p:sp>
          <p:nvSpPr>
            <p:cNvPr name="Freeform 105" id="105"/>
            <p:cNvSpPr/>
            <p:nvPr/>
          </p:nvSpPr>
          <p:spPr>
            <a:xfrm flipH="false" flipV="false" rot="0">
              <a:off x="0" y="0"/>
              <a:ext cx="877824" cy="877824"/>
            </a:xfrm>
            <a:custGeom>
              <a:avLst/>
              <a:gdLst/>
              <a:ahLst/>
              <a:cxnLst/>
              <a:rect r="r" b="b" t="t" l="l"/>
              <a:pathLst>
                <a:path h="877824" w="877824">
                  <a:moveTo>
                    <a:pt x="0" y="0"/>
                  </a:moveTo>
                  <a:lnTo>
                    <a:pt x="877824" y="0"/>
                  </a:lnTo>
                  <a:lnTo>
                    <a:pt x="877824" y="877824"/>
                  </a:lnTo>
                  <a:lnTo>
                    <a:pt x="0" y="877824"/>
                  </a:lnTo>
                  <a:close/>
                </a:path>
              </a:pathLst>
            </a:custGeom>
            <a:blipFill>
              <a:blip r:embed="rId3">
                <a:alphaModFix amt="0"/>
              </a:blip>
              <a:stretch>
                <a:fillRect l="-78303" t="0" r="-78303" b="0"/>
              </a:stretch>
            </a:blipFill>
          </p:spPr>
        </p:sp>
        <p:sp>
          <p:nvSpPr>
            <p:cNvPr name="TextBox 106" id="106"/>
            <p:cNvSpPr txBox="true"/>
            <p:nvPr/>
          </p:nvSpPr>
          <p:spPr>
            <a:xfrm>
              <a:off x="0" y="9525"/>
              <a:ext cx="877824" cy="868299"/>
            </a:xfrm>
            <a:prstGeom prst="rect">
              <a:avLst/>
            </a:prstGeom>
          </p:spPr>
          <p:txBody>
            <a:bodyPr anchor="ctr" rtlCol="false" tIns="0" lIns="0" bIns="0" rIns="0"/>
            <a:lstStyle/>
            <a:p>
              <a:pPr algn="ctr">
                <a:lnSpc>
                  <a:spcPts val="2879"/>
                </a:lnSpc>
              </a:pPr>
              <a:r>
                <a:rPr lang="en-US" sz="2400" b="true">
                  <a:solidFill>
                    <a:srgbClr val="FFFFFF"/>
                  </a:solidFill>
                  <a:latin typeface="EB Garamond Semi-Bold"/>
                  <a:ea typeface="EB Garamond Semi-Bold"/>
                  <a:cs typeface="EB Garamond Semi-Bold"/>
                  <a:sym typeface="EB Garamond Semi-Bold"/>
                </a:rPr>
                <a:t>4</a:t>
              </a:r>
            </a:p>
          </p:txBody>
        </p:sp>
      </p:grpSp>
      <p:grpSp>
        <p:nvGrpSpPr>
          <p:cNvPr name="Group 107" id="107"/>
          <p:cNvGrpSpPr/>
          <p:nvPr/>
        </p:nvGrpSpPr>
        <p:grpSpPr>
          <a:xfrm rot="0">
            <a:off x="9802368" y="6912864"/>
            <a:ext cx="7680960" cy="512064"/>
            <a:chOff x="0" y="0"/>
            <a:chExt cx="10241280" cy="682752"/>
          </a:xfrm>
        </p:grpSpPr>
        <p:sp>
          <p:nvSpPr>
            <p:cNvPr name="Freeform 108" id="108"/>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109" id="109"/>
            <p:cNvSpPr txBox="true"/>
            <p:nvPr/>
          </p:nvSpPr>
          <p:spPr>
            <a:xfrm>
              <a:off x="0" y="0"/>
              <a:ext cx="10241280" cy="682752"/>
            </a:xfrm>
            <a:prstGeom prst="rect">
              <a:avLst/>
            </a:prstGeom>
          </p:spPr>
          <p:txBody>
            <a:bodyPr anchor="ctr" rtlCol="false" tIns="0" lIns="0" bIns="0" rIns="0"/>
            <a:lstStyle/>
            <a:p>
              <a:pPr algn="l">
                <a:lnSpc>
                  <a:spcPts val="2760"/>
                </a:lnSpc>
              </a:pPr>
              <a:r>
                <a:rPr lang="en-US" sz="2300" b="true">
                  <a:solidFill>
                    <a:srgbClr val="1C2E40"/>
                  </a:solidFill>
                  <a:latin typeface="EB Garamond Semi-Bold"/>
                  <a:ea typeface="EB Garamond Semi-Bold"/>
                  <a:cs typeface="EB Garamond Semi-Bold"/>
                  <a:sym typeface="EB Garamond Semi-Bold"/>
                </a:rPr>
                <a:t>Elevage et émigration</a:t>
              </a:r>
            </a:p>
          </p:txBody>
        </p:sp>
      </p:grpSp>
      <p:grpSp>
        <p:nvGrpSpPr>
          <p:cNvPr name="Group 110" id="110"/>
          <p:cNvGrpSpPr/>
          <p:nvPr/>
        </p:nvGrpSpPr>
        <p:grpSpPr>
          <a:xfrm rot="0">
            <a:off x="9802368" y="7406640"/>
            <a:ext cx="7680960" cy="548640"/>
            <a:chOff x="0" y="0"/>
            <a:chExt cx="10241280" cy="731520"/>
          </a:xfrm>
        </p:grpSpPr>
        <p:sp>
          <p:nvSpPr>
            <p:cNvPr name="Freeform 111" id="111"/>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112" id="112"/>
            <p:cNvSpPr txBox="true"/>
            <p:nvPr/>
          </p:nvSpPr>
          <p:spPr>
            <a:xfrm>
              <a:off x="0" y="9525"/>
              <a:ext cx="10241280" cy="721995"/>
            </a:xfrm>
            <a:prstGeom prst="rect">
              <a:avLst/>
            </a:prstGeom>
          </p:spPr>
          <p:txBody>
            <a:bodyPr anchor="ctr" rtlCol="false" tIns="0" lIns="0" bIns="0" rIns="0"/>
            <a:lstStyle/>
            <a:p>
              <a:pPr algn="l">
                <a:lnSpc>
                  <a:spcPts val="2280"/>
                </a:lnSpc>
              </a:pPr>
              <a:r>
                <a:rPr lang="en-US" sz="1900" i="true">
                  <a:solidFill>
                    <a:srgbClr val="7B8FA1"/>
                  </a:solidFill>
                  <a:latin typeface="EB Garamond Italics"/>
                  <a:ea typeface="EB Garamond Italics"/>
                  <a:cs typeface="EB Garamond Italics"/>
                  <a:sym typeface="EB Garamond Italics"/>
                </a:rPr>
                <a:t>Analyse de la distribution des émigrés dans les différents pays</a:t>
              </a:r>
            </a:p>
          </p:txBody>
        </p:sp>
      </p:grpSp>
      <p:grpSp>
        <p:nvGrpSpPr>
          <p:cNvPr name="Group 113" id="113"/>
          <p:cNvGrpSpPr/>
          <p:nvPr/>
        </p:nvGrpSpPr>
        <p:grpSpPr>
          <a:xfrm rot="0">
            <a:off x="8948423" y="8253479"/>
            <a:ext cx="683771" cy="683771"/>
            <a:chOff x="0" y="0"/>
            <a:chExt cx="911695" cy="911695"/>
          </a:xfrm>
        </p:grpSpPr>
        <p:sp>
          <p:nvSpPr>
            <p:cNvPr name="Freeform 114" id="114"/>
            <p:cNvSpPr/>
            <p:nvPr/>
          </p:nvSpPr>
          <p:spPr>
            <a:xfrm flipH="false" flipV="false" rot="0">
              <a:off x="16891" y="16891"/>
              <a:ext cx="877824" cy="877824"/>
            </a:xfrm>
            <a:custGeom>
              <a:avLst/>
              <a:gdLst/>
              <a:ahLst/>
              <a:cxnLst/>
              <a:rect r="r" b="b" t="t" l="l"/>
              <a:pathLst>
                <a:path h="877824" w="877824">
                  <a:moveTo>
                    <a:pt x="0" y="438912"/>
                  </a:moveTo>
                  <a:cubicBezTo>
                    <a:pt x="0" y="196469"/>
                    <a:pt x="196469" y="0"/>
                    <a:pt x="438912" y="0"/>
                  </a:cubicBezTo>
                  <a:cubicBezTo>
                    <a:pt x="681355" y="0"/>
                    <a:pt x="877824" y="196596"/>
                    <a:pt x="877824" y="438912"/>
                  </a:cubicBezTo>
                  <a:cubicBezTo>
                    <a:pt x="877824" y="681228"/>
                    <a:pt x="681355" y="877824"/>
                    <a:pt x="438912" y="877824"/>
                  </a:cubicBezTo>
                  <a:cubicBezTo>
                    <a:pt x="196469" y="877824"/>
                    <a:pt x="0" y="681355"/>
                    <a:pt x="0" y="438912"/>
                  </a:cubicBezTo>
                  <a:close/>
                </a:path>
              </a:pathLst>
            </a:custGeom>
            <a:solidFill>
              <a:srgbClr val="2C4A6E"/>
            </a:solidFill>
          </p:spPr>
        </p:sp>
        <p:sp>
          <p:nvSpPr>
            <p:cNvPr name="Freeform 115" id="115"/>
            <p:cNvSpPr/>
            <p:nvPr/>
          </p:nvSpPr>
          <p:spPr>
            <a:xfrm flipH="false" flipV="false" rot="0">
              <a:off x="0" y="0"/>
              <a:ext cx="911733" cy="911606"/>
            </a:xfrm>
            <a:custGeom>
              <a:avLst/>
              <a:gdLst/>
              <a:ahLst/>
              <a:cxnLst/>
              <a:rect r="r" b="b" t="t" l="l"/>
              <a:pathLst>
                <a:path h="911606" w="911733">
                  <a:moveTo>
                    <a:pt x="0" y="455803"/>
                  </a:moveTo>
                  <a:cubicBezTo>
                    <a:pt x="0" y="204089"/>
                    <a:pt x="204089" y="0"/>
                    <a:pt x="455803" y="0"/>
                  </a:cubicBezTo>
                  <a:lnTo>
                    <a:pt x="455803" y="16891"/>
                  </a:lnTo>
                  <a:lnTo>
                    <a:pt x="455803" y="0"/>
                  </a:lnTo>
                  <a:cubicBezTo>
                    <a:pt x="707644" y="0"/>
                    <a:pt x="911733" y="204089"/>
                    <a:pt x="911733" y="455803"/>
                  </a:cubicBezTo>
                  <a:cubicBezTo>
                    <a:pt x="911733" y="707517"/>
                    <a:pt x="707644" y="911606"/>
                    <a:pt x="455930" y="911606"/>
                  </a:cubicBezTo>
                  <a:lnTo>
                    <a:pt x="455930" y="894715"/>
                  </a:lnTo>
                  <a:lnTo>
                    <a:pt x="455930" y="911606"/>
                  </a:lnTo>
                  <a:cubicBezTo>
                    <a:pt x="204089" y="911733"/>
                    <a:pt x="0" y="707644"/>
                    <a:pt x="0" y="455803"/>
                  </a:cubicBezTo>
                  <a:lnTo>
                    <a:pt x="16891" y="455803"/>
                  </a:lnTo>
                  <a:lnTo>
                    <a:pt x="31242" y="464820"/>
                  </a:lnTo>
                  <a:cubicBezTo>
                    <a:pt x="27178" y="471170"/>
                    <a:pt x="19431" y="474218"/>
                    <a:pt x="12192" y="472059"/>
                  </a:cubicBezTo>
                  <a:cubicBezTo>
                    <a:pt x="4953" y="469900"/>
                    <a:pt x="0" y="463423"/>
                    <a:pt x="0" y="455803"/>
                  </a:cubicBezTo>
                  <a:moveTo>
                    <a:pt x="33909" y="455803"/>
                  </a:moveTo>
                  <a:lnTo>
                    <a:pt x="16891" y="455803"/>
                  </a:lnTo>
                  <a:lnTo>
                    <a:pt x="2540" y="446913"/>
                  </a:lnTo>
                  <a:cubicBezTo>
                    <a:pt x="6604" y="440563"/>
                    <a:pt x="14351" y="437515"/>
                    <a:pt x="21590" y="439674"/>
                  </a:cubicBezTo>
                  <a:cubicBezTo>
                    <a:pt x="28829" y="441833"/>
                    <a:pt x="33909" y="448437"/>
                    <a:pt x="33909" y="455930"/>
                  </a:cubicBezTo>
                  <a:cubicBezTo>
                    <a:pt x="33909" y="688975"/>
                    <a:pt x="222885" y="877951"/>
                    <a:pt x="455930" y="877951"/>
                  </a:cubicBezTo>
                  <a:cubicBezTo>
                    <a:pt x="688975" y="877951"/>
                    <a:pt x="877951" y="688975"/>
                    <a:pt x="877951" y="455930"/>
                  </a:cubicBezTo>
                  <a:lnTo>
                    <a:pt x="894842" y="455930"/>
                  </a:lnTo>
                  <a:lnTo>
                    <a:pt x="877951" y="455930"/>
                  </a:lnTo>
                  <a:cubicBezTo>
                    <a:pt x="877951" y="222885"/>
                    <a:pt x="688975" y="33909"/>
                    <a:pt x="455930" y="33909"/>
                  </a:cubicBezTo>
                  <a:lnTo>
                    <a:pt x="455930" y="16891"/>
                  </a:lnTo>
                  <a:lnTo>
                    <a:pt x="455930" y="33909"/>
                  </a:lnTo>
                  <a:cubicBezTo>
                    <a:pt x="222758" y="33909"/>
                    <a:pt x="33909" y="222758"/>
                    <a:pt x="33909" y="455803"/>
                  </a:cubicBezTo>
                  <a:close/>
                </a:path>
              </a:pathLst>
            </a:custGeom>
            <a:solidFill>
              <a:srgbClr val="2C4A6E"/>
            </a:solidFill>
          </p:spPr>
        </p:sp>
      </p:grpSp>
      <p:grpSp>
        <p:nvGrpSpPr>
          <p:cNvPr name="Group 116" id="116"/>
          <p:cNvGrpSpPr/>
          <p:nvPr/>
        </p:nvGrpSpPr>
        <p:grpSpPr>
          <a:xfrm rot="0">
            <a:off x="8961120" y="8266176"/>
            <a:ext cx="658368" cy="658368"/>
            <a:chOff x="0" y="0"/>
            <a:chExt cx="877824" cy="877824"/>
          </a:xfrm>
        </p:grpSpPr>
        <p:sp>
          <p:nvSpPr>
            <p:cNvPr name="Freeform 117" id="117"/>
            <p:cNvSpPr/>
            <p:nvPr/>
          </p:nvSpPr>
          <p:spPr>
            <a:xfrm flipH="false" flipV="false" rot="0">
              <a:off x="0" y="0"/>
              <a:ext cx="877824" cy="877824"/>
            </a:xfrm>
            <a:custGeom>
              <a:avLst/>
              <a:gdLst/>
              <a:ahLst/>
              <a:cxnLst/>
              <a:rect r="r" b="b" t="t" l="l"/>
              <a:pathLst>
                <a:path h="877824" w="877824">
                  <a:moveTo>
                    <a:pt x="0" y="0"/>
                  </a:moveTo>
                  <a:lnTo>
                    <a:pt x="877824" y="0"/>
                  </a:lnTo>
                  <a:lnTo>
                    <a:pt x="877824" y="877824"/>
                  </a:lnTo>
                  <a:lnTo>
                    <a:pt x="0" y="877824"/>
                  </a:lnTo>
                  <a:close/>
                </a:path>
              </a:pathLst>
            </a:custGeom>
            <a:blipFill>
              <a:blip r:embed="rId3">
                <a:alphaModFix amt="0"/>
              </a:blip>
              <a:stretch>
                <a:fillRect l="-78303" t="0" r="-78303" b="0"/>
              </a:stretch>
            </a:blipFill>
          </p:spPr>
        </p:sp>
        <p:sp>
          <p:nvSpPr>
            <p:cNvPr name="TextBox 118" id="118"/>
            <p:cNvSpPr txBox="true"/>
            <p:nvPr/>
          </p:nvSpPr>
          <p:spPr>
            <a:xfrm>
              <a:off x="0" y="9525"/>
              <a:ext cx="877824" cy="868299"/>
            </a:xfrm>
            <a:prstGeom prst="rect">
              <a:avLst/>
            </a:prstGeom>
          </p:spPr>
          <p:txBody>
            <a:bodyPr anchor="ctr" rtlCol="false" tIns="0" lIns="0" bIns="0" rIns="0"/>
            <a:lstStyle/>
            <a:p>
              <a:pPr algn="ctr">
                <a:lnSpc>
                  <a:spcPts val="2879"/>
                </a:lnSpc>
              </a:pPr>
              <a:r>
                <a:rPr lang="en-US" sz="2400" b="true">
                  <a:solidFill>
                    <a:srgbClr val="FFFFFF"/>
                  </a:solidFill>
                  <a:latin typeface="EB Garamond Semi-Bold"/>
                  <a:ea typeface="EB Garamond Semi-Bold"/>
                  <a:cs typeface="EB Garamond Semi-Bold"/>
                  <a:sym typeface="EB Garamond Semi-Bold"/>
                </a:rPr>
                <a:t>5</a:t>
              </a:r>
            </a:p>
          </p:txBody>
        </p:sp>
      </p:grpSp>
      <p:grpSp>
        <p:nvGrpSpPr>
          <p:cNvPr name="Group 119" id="119"/>
          <p:cNvGrpSpPr/>
          <p:nvPr/>
        </p:nvGrpSpPr>
        <p:grpSpPr>
          <a:xfrm rot="0">
            <a:off x="9802368" y="8193024"/>
            <a:ext cx="7680960" cy="512064"/>
            <a:chOff x="0" y="0"/>
            <a:chExt cx="10241280" cy="682752"/>
          </a:xfrm>
        </p:grpSpPr>
        <p:sp>
          <p:nvSpPr>
            <p:cNvPr name="Freeform 120" id="120"/>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121" id="121"/>
            <p:cNvSpPr txBox="true"/>
            <p:nvPr/>
          </p:nvSpPr>
          <p:spPr>
            <a:xfrm>
              <a:off x="0" y="0"/>
              <a:ext cx="10241280" cy="682752"/>
            </a:xfrm>
            <a:prstGeom prst="rect">
              <a:avLst/>
            </a:prstGeom>
          </p:spPr>
          <p:txBody>
            <a:bodyPr anchor="ctr" rtlCol="false" tIns="0" lIns="0" bIns="0" rIns="0"/>
            <a:lstStyle/>
            <a:p>
              <a:pPr algn="l">
                <a:lnSpc>
                  <a:spcPts val="2760"/>
                </a:lnSpc>
              </a:pPr>
              <a:r>
                <a:rPr lang="en-US" sz="2300" b="true">
                  <a:solidFill>
                    <a:srgbClr val="1C2E40"/>
                  </a:solidFill>
                  <a:latin typeface="EB Garamond Semi-Bold"/>
                  <a:ea typeface="EB Garamond Semi-Bold"/>
                  <a:cs typeface="EB Garamond Semi-Bold"/>
                  <a:sym typeface="EB Garamond Semi-Bold"/>
                </a:rPr>
                <a:t>Ce que l’IA a bien fait/mal fait</a:t>
              </a:r>
            </a:p>
          </p:txBody>
        </p:sp>
      </p:grpSp>
      <p:grpSp>
        <p:nvGrpSpPr>
          <p:cNvPr name="Group 122" id="122"/>
          <p:cNvGrpSpPr/>
          <p:nvPr/>
        </p:nvGrpSpPr>
        <p:grpSpPr>
          <a:xfrm rot="0">
            <a:off x="9802368" y="8686800"/>
            <a:ext cx="7680960" cy="548640"/>
            <a:chOff x="0" y="0"/>
            <a:chExt cx="10241280" cy="731520"/>
          </a:xfrm>
        </p:grpSpPr>
        <p:sp>
          <p:nvSpPr>
            <p:cNvPr name="Freeform 123" id="123"/>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124" id="124"/>
            <p:cNvSpPr txBox="true"/>
            <p:nvPr/>
          </p:nvSpPr>
          <p:spPr>
            <a:xfrm>
              <a:off x="0" y="9525"/>
              <a:ext cx="10241280" cy="721995"/>
            </a:xfrm>
            <a:prstGeom prst="rect">
              <a:avLst/>
            </a:prstGeom>
          </p:spPr>
          <p:txBody>
            <a:bodyPr anchor="ctr" rtlCol="false" tIns="0" lIns="0" bIns="0" rIns="0"/>
            <a:lstStyle/>
            <a:p>
              <a:pPr algn="l">
                <a:lnSpc>
                  <a:spcPts val="2280"/>
                </a:lnSpc>
              </a:pPr>
              <a:r>
                <a:rPr lang="en-US" sz="1900" i="true">
                  <a:solidFill>
                    <a:srgbClr val="7B8FA1"/>
                  </a:solidFill>
                  <a:latin typeface="EB Garamond Italics"/>
                  <a:ea typeface="EB Garamond Italics"/>
                  <a:cs typeface="EB Garamond Italics"/>
                  <a:sym typeface="EB Garamond Italics"/>
                </a:rPr>
                <a:t>Analyse critique des réponses de l’IA</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5B8DB8"/>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5B8DB8"/>
            </a:solidFill>
          </p:spPr>
        </p:sp>
      </p:grpSp>
      <p:grpSp>
        <p:nvGrpSpPr>
          <p:cNvPr name="Group 5" id="5"/>
          <p:cNvGrpSpPr/>
          <p:nvPr/>
        </p:nvGrpSpPr>
        <p:grpSpPr>
          <a:xfrm rot="0">
            <a:off x="822960" y="402336"/>
            <a:ext cx="16642080" cy="1118845"/>
            <a:chOff x="0" y="0"/>
            <a:chExt cx="22189440" cy="1491793"/>
          </a:xfrm>
        </p:grpSpPr>
        <p:sp>
          <p:nvSpPr>
            <p:cNvPr name="Freeform 6" id="6"/>
            <p:cNvSpPr/>
            <p:nvPr/>
          </p:nvSpPr>
          <p:spPr>
            <a:xfrm flipH="false" flipV="false" rot="0">
              <a:off x="0" y="0"/>
              <a:ext cx="22189439" cy="1491793"/>
            </a:xfrm>
            <a:custGeom>
              <a:avLst/>
              <a:gdLst/>
              <a:ahLst/>
              <a:cxnLst/>
              <a:rect r="r" b="b" t="t" l="l"/>
              <a:pathLst>
                <a:path h="1491793" w="22189439">
                  <a:moveTo>
                    <a:pt x="0" y="0"/>
                  </a:moveTo>
                  <a:lnTo>
                    <a:pt x="22189439" y="0"/>
                  </a:lnTo>
                  <a:lnTo>
                    <a:pt x="22189439" y="1491793"/>
                  </a:lnTo>
                  <a:lnTo>
                    <a:pt x="0" y="1491793"/>
                  </a:lnTo>
                  <a:close/>
                </a:path>
              </a:pathLst>
            </a:custGeom>
            <a:blipFill>
              <a:blip r:embed="rId3">
                <a:alphaModFix amt="0"/>
              </a:blip>
              <a:stretch>
                <a:fillRect l="0" t="-244877" r="0" b="-234777"/>
              </a:stretch>
            </a:blipFill>
          </p:spPr>
        </p:sp>
        <p:sp>
          <p:nvSpPr>
            <p:cNvPr name="TextBox 7" id="7"/>
            <p:cNvSpPr txBox="true"/>
            <p:nvPr/>
          </p:nvSpPr>
          <p:spPr>
            <a:xfrm>
              <a:off x="0" y="9525"/>
              <a:ext cx="22189440" cy="1482268"/>
            </a:xfrm>
            <a:prstGeom prst="rect">
              <a:avLst/>
            </a:prstGeom>
          </p:spPr>
          <p:txBody>
            <a:bodyPr anchor="ctr" rtlCol="false" tIns="0" lIns="0" bIns="0" rIns="0"/>
            <a:lstStyle/>
            <a:p>
              <a:pPr algn="l">
                <a:lnSpc>
                  <a:spcPts val="6480"/>
                </a:lnSpc>
              </a:pPr>
              <a:r>
                <a:rPr lang="en-US" sz="5400" b="true">
                  <a:solidFill>
                    <a:srgbClr val="1C2E40"/>
                  </a:solidFill>
                  <a:latin typeface="EB Garamond Semi-Bold"/>
                  <a:ea typeface="EB Garamond Semi-Bold"/>
                  <a:cs typeface="EB Garamond Semi-Bold"/>
                  <a:sym typeface="EB Garamond Semi-Bold"/>
                </a:rPr>
                <a:t>Nettoyage des données — Pipeline en 4 blocs</a:t>
              </a:r>
            </a:p>
          </p:txBody>
        </p:sp>
      </p:grpSp>
      <p:grpSp>
        <p:nvGrpSpPr>
          <p:cNvPr name="Group 8" id="8"/>
          <p:cNvGrpSpPr/>
          <p:nvPr/>
        </p:nvGrpSpPr>
        <p:grpSpPr>
          <a:xfrm rot="0">
            <a:off x="822960" y="1426464"/>
            <a:ext cx="16642080" cy="512064"/>
            <a:chOff x="0" y="0"/>
            <a:chExt cx="22189440" cy="682752"/>
          </a:xfrm>
        </p:grpSpPr>
        <p:sp>
          <p:nvSpPr>
            <p:cNvPr name="Freeform 9" id="9"/>
            <p:cNvSpPr/>
            <p:nvPr/>
          </p:nvSpPr>
          <p:spPr>
            <a:xfrm flipH="false" flipV="false" rot="0">
              <a:off x="0" y="0"/>
              <a:ext cx="22189439" cy="682752"/>
            </a:xfrm>
            <a:custGeom>
              <a:avLst/>
              <a:gdLst/>
              <a:ahLst/>
              <a:cxnLst/>
              <a:rect r="r" b="b" t="t" l="l"/>
              <a:pathLst>
                <a:path h="682752" w="22189439">
                  <a:moveTo>
                    <a:pt x="0" y="0"/>
                  </a:moveTo>
                  <a:lnTo>
                    <a:pt x="22189439" y="0"/>
                  </a:lnTo>
                  <a:lnTo>
                    <a:pt x="22189439" y="682752"/>
                  </a:lnTo>
                  <a:lnTo>
                    <a:pt x="0" y="682752"/>
                  </a:lnTo>
                  <a:close/>
                </a:path>
              </a:pathLst>
            </a:custGeom>
            <a:blipFill>
              <a:blip r:embed="rId3">
                <a:alphaModFix amt="0"/>
              </a:blip>
              <a:stretch>
                <a:fillRect l="0" t="-583263" r="0" b="-583263"/>
              </a:stretch>
            </a:blipFill>
          </p:spPr>
        </p:sp>
        <p:sp>
          <p:nvSpPr>
            <p:cNvPr name="TextBox 10" id="10"/>
            <p:cNvSpPr txBox="true"/>
            <p:nvPr/>
          </p:nvSpPr>
          <p:spPr>
            <a:xfrm>
              <a:off x="0" y="9525"/>
              <a:ext cx="22189440" cy="673227"/>
            </a:xfrm>
            <a:prstGeom prst="rect">
              <a:avLst/>
            </a:prstGeom>
          </p:spPr>
          <p:txBody>
            <a:bodyPr anchor="ctr" rtlCol="false" tIns="0" lIns="0" bIns="0" rIns="0"/>
            <a:lstStyle/>
            <a:p>
              <a:pPr algn="l">
                <a:lnSpc>
                  <a:spcPts val="2879"/>
                </a:lnSpc>
              </a:pPr>
              <a:r>
                <a:rPr lang="en-US" sz="2400" i="true">
                  <a:solidFill>
                    <a:srgbClr val="7B8FA1"/>
                  </a:solidFill>
                  <a:latin typeface="EB Garamond Italics"/>
                  <a:ea typeface="EB Garamond Italics"/>
                  <a:cs typeface="EB Garamond Italics"/>
                  <a:sym typeface="EB Garamond Italics"/>
                </a:rPr>
                <a:t>Base famille_troupeau.dta · 382 ménages · 5 pays · Temps 1 : commentaire du code</a:t>
              </a:r>
            </a:p>
          </p:txBody>
        </p:sp>
      </p:grpSp>
      <p:grpSp>
        <p:nvGrpSpPr>
          <p:cNvPr name="Group 11" id="11"/>
          <p:cNvGrpSpPr/>
          <p:nvPr/>
        </p:nvGrpSpPr>
        <p:grpSpPr>
          <a:xfrm rot="0">
            <a:off x="629917" y="1964941"/>
            <a:ext cx="8249917" cy="4080253"/>
            <a:chOff x="0" y="0"/>
            <a:chExt cx="10999889" cy="5440337"/>
          </a:xfrm>
        </p:grpSpPr>
        <p:sp>
          <p:nvSpPr>
            <p:cNvPr name="Freeform 12" id="12"/>
            <p:cNvSpPr/>
            <p:nvPr/>
          </p:nvSpPr>
          <p:spPr>
            <a:xfrm flipH="false" flipV="false" rot="0">
              <a:off x="13589" y="13589"/>
              <a:ext cx="10972800" cy="5413121"/>
            </a:xfrm>
            <a:custGeom>
              <a:avLst/>
              <a:gdLst/>
              <a:ahLst/>
              <a:cxnLst/>
              <a:rect r="r" b="b" t="t" l="l"/>
              <a:pathLst>
                <a:path h="5413121" w="10972800">
                  <a:moveTo>
                    <a:pt x="0" y="243840"/>
                  </a:moveTo>
                  <a:cubicBezTo>
                    <a:pt x="0" y="109093"/>
                    <a:pt x="109474" y="0"/>
                    <a:pt x="244475" y="0"/>
                  </a:cubicBezTo>
                  <a:lnTo>
                    <a:pt x="10728325" y="0"/>
                  </a:lnTo>
                  <a:cubicBezTo>
                    <a:pt x="10863326" y="0"/>
                    <a:pt x="10972800" y="109220"/>
                    <a:pt x="10972800" y="243840"/>
                  </a:cubicBezTo>
                  <a:lnTo>
                    <a:pt x="10972800" y="5169281"/>
                  </a:lnTo>
                  <a:cubicBezTo>
                    <a:pt x="10972800" y="5304028"/>
                    <a:pt x="10863326" y="5413121"/>
                    <a:pt x="10728325" y="5413121"/>
                  </a:cubicBezTo>
                  <a:lnTo>
                    <a:pt x="244475" y="5413121"/>
                  </a:lnTo>
                  <a:cubicBezTo>
                    <a:pt x="109474" y="5413121"/>
                    <a:pt x="0" y="5303901"/>
                    <a:pt x="0" y="5169281"/>
                  </a:cubicBezTo>
                  <a:close/>
                </a:path>
              </a:pathLst>
            </a:custGeom>
            <a:solidFill>
              <a:srgbClr val="FFFFFF"/>
            </a:solidFill>
          </p:spPr>
        </p:sp>
        <p:sp>
          <p:nvSpPr>
            <p:cNvPr name="Freeform 13" id="13"/>
            <p:cNvSpPr/>
            <p:nvPr/>
          </p:nvSpPr>
          <p:spPr>
            <a:xfrm flipH="false" flipV="false" rot="0">
              <a:off x="0" y="0"/>
              <a:ext cx="10999978" cy="5440299"/>
            </a:xfrm>
            <a:custGeom>
              <a:avLst/>
              <a:gdLst/>
              <a:ahLst/>
              <a:cxnLst/>
              <a:rect r="r" b="b" t="t" l="l"/>
              <a:pathLst>
                <a:path h="5440299" w="10999978">
                  <a:moveTo>
                    <a:pt x="0" y="257429"/>
                  </a:moveTo>
                  <a:cubicBezTo>
                    <a:pt x="0" y="115189"/>
                    <a:pt x="115570" y="0"/>
                    <a:pt x="258064" y="0"/>
                  </a:cubicBezTo>
                  <a:lnTo>
                    <a:pt x="10741914" y="0"/>
                  </a:lnTo>
                  <a:lnTo>
                    <a:pt x="10741914" y="13589"/>
                  </a:lnTo>
                  <a:lnTo>
                    <a:pt x="10741914" y="0"/>
                  </a:lnTo>
                  <a:cubicBezTo>
                    <a:pt x="10884408" y="0"/>
                    <a:pt x="10999978" y="115189"/>
                    <a:pt x="10999978" y="257429"/>
                  </a:cubicBezTo>
                  <a:lnTo>
                    <a:pt x="10986389" y="257429"/>
                  </a:lnTo>
                  <a:lnTo>
                    <a:pt x="10999978" y="257429"/>
                  </a:lnTo>
                  <a:lnTo>
                    <a:pt x="10999978" y="5182870"/>
                  </a:lnTo>
                  <a:lnTo>
                    <a:pt x="10986389" y="5182870"/>
                  </a:lnTo>
                  <a:lnTo>
                    <a:pt x="10999978" y="5182870"/>
                  </a:lnTo>
                  <a:cubicBezTo>
                    <a:pt x="10999978" y="5325110"/>
                    <a:pt x="10884408" y="5440299"/>
                    <a:pt x="10741914" y="5440299"/>
                  </a:cubicBezTo>
                  <a:lnTo>
                    <a:pt x="10741914" y="5426710"/>
                  </a:lnTo>
                  <a:lnTo>
                    <a:pt x="10741914" y="5440299"/>
                  </a:lnTo>
                  <a:lnTo>
                    <a:pt x="258064" y="5440299"/>
                  </a:lnTo>
                  <a:lnTo>
                    <a:pt x="258064" y="5426710"/>
                  </a:lnTo>
                  <a:lnTo>
                    <a:pt x="258064" y="5440299"/>
                  </a:lnTo>
                  <a:cubicBezTo>
                    <a:pt x="115570" y="5440299"/>
                    <a:pt x="0" y="5325110"/>
                    <a:pt x="0" y="5182870"/>
                  </a:cubicBezTo>
                  <a:lnTo>
                    <a:pt x="0" y="257429"/>
                  </a:lnTo>
                  <a:lnTo>
                    <a:pt x="13589" y="257429"/>
                  </a:lnTo>
                  <a:lnTo>
                    <a:pt x="0" y="257429"/>
                  </a:lnTo>
                  <a:moveTo>
                    <a:pt x="27051" y="257429"/>
                  </a:moveTo>
                  <a:lnTo>
                    <a:pt x="27051" y="5182870"/>
                  </a:lnTo>
                  <a:lnTo>
                    <a:pt x="13589" y="5182870"/>
                  </a:lnTo>
                  <a:lnTo>
                    <a:pt x="27051" y="5182870"/>
                  </a:lnTo>
                  <a:cubicBezTo>
                    <a:pt x="27051" y="5309997"/>
                    <a:pt x="130429" y="5413248"/>
                    <a:pt x="257937" y="5413248"/>
                  </a:cubicBezTo>
                  <a:lnTo>
                    <a:pt x="10741787" y="5413248"/>
                  </a:lnTo>
                  <a:cubicBezTo>
                    <a:pt x="10869422" y="5413248"/>
                    <a:pt x="10972673" y="5310124"/>
                    <a:pt x="10972673" y="5182870"/>
                  </a:cubicBezTo>
                  <a:lnTo>
                    <a:pt x="10972673" y="257429"/>
                  </a:lnTo>
                  <a:cubicBezTo>
                    <a:pt x="10972673" y="130302"/>
                    <a:pt x="10869295" y="27051"/>
                    <a:pt x="10741787" y="27051"/>
                  </a:cubicBezTo>
                  <a:lnTo>
                    <a:pt x="258064" y="27051"/>
                  </a:lnTo>
                  <a:lnTo>
                    <a:pt x="258064" y="13589"/>
                  </a:lnTo>
                  <a:lnTo>
                    <a:pt x="258064" y="27051"/>
                  </a:lnTo>
                  <a:cubicBezTo>
                    <a:pt x="130429" y="27051"/>
                    <a:pt x="27178" y="130175"/>
                    <a:pt x="27178" y="257429"/>
                  </a:cubicBezTo>
                  <a:close/>
                </a:path>
              </a:pathLst>
            </a:custGeom>
            <a:solidFill>
              <a:srgbClr val="BDC8D5"/>
            </a:solidFill>
          </p:spPr>
        </p:sp>
      </p:grpSp>
      <p:grpSp>
        <p:nvGrpSpPr>
          <p:cNvPr name="Group 14" id="14"/>
          <p:cNvGrpSpPr/>
          <p:nvPr/>
        </p:nvGrpSpPr>
        <p:grpSpPr>
          <a:xfrm rot="0">
            <a:off x="627383" y="1962407"/>
            <a:ext cx="153419" cy="4085339"/>
            <a:chOff x="0" y="0"/>
            <a:chExt cx="204559" cy="5447119"/>
          </a:xfrm>
        </p:grpSpPr>
        <p:sp>
          <p:nvSpPr>
            <p:cNvPr name="Freeform 15" id="15"/>
            <p:cNvSpPr/>
            <p:nvPr/>
          </p:nvSpPr>
          <p:spPr>
            <a:xfrm flipH="false" flipV="false" rot="0">
              <a:off x="16891" y="16891"/>
              <a:ext cx="170688" cy="5413248"/>
            </a:xfrm>
            <a:custGeom>
              <a:avLst/>
              <a:gdLst/>
              <a:ahLst/>
              <a:cxnLst/>
              <a:rect r="r" b="b" t="t" l="l"/>
              <a:pathLst>
                <a:path h="5413248" w="170688">
                  <a:moveTo>
                    <a:pt x="0" y="0"/>
                  </a:moveTo>
                  <a:lnTo>
                    <a:pt x="170688" y="0"/>
                  </a:lnTo>
                  <a:lnTo>
                    <a:pt x="170688" y="5413248"/>
                  </a:lnTo>
                  <a:lnTo>
                    <a:pt x="0" y="5413248"/>
                  </a:lnTo>
                  <a:close/>
                </a:path>
              </a:pathLst>
            </a:custGeom>
            <a:solidFill>
              <a:srgbClr val="2C4A6E"/>
            </a:solidFill>
          </p:spPr>
        </p:sp>
        <p:sp>
          <p:nvSpPr>
            <p:cNvPr name="Freeform 16" id="16"/>
            <p:cNvSpPr/>
            <p:nvPr/>
          </p:nvSpPr>
          <p:spPr>
            <a:xfrm flipH="false" flipV="false" rot="0">
              <a:off x="0" y="0"/>
              <a:ext cx="204470" cy="5447030"/>
            </a:xfrm>
            <a:custGeom>
              <a:avLst/>
              <a:gdLst/>
              <a:ahLst/>
              <a:cxnLst/>
              <a:rect r="r" b="b" t="t" l="l"/>
              <a:pathLst>
                <a:path h="5447030" w="204470">
                  <a:moveTo>
                    <a:pt x="16891" y="0"/>
                  </a:moveTo>
                  <a:lnTo>
                    <a:pt x="187579" y="0"/>
                  </a:lnTo>
                  <a:cubicBezTo>
                    <a:pt x="196977" y="0"/>
                    <a:pt x="204470" y="7620"/>
                    <a:pt x="204470" y="16891"/>
                  </a:cubicBezTo>
                  <a:lnTo>
                    <a:pt x="204470" y="5430139"/>
                  </a:lnTo>
                  <a:cubicBezTo>
                    <a:pt x="204470" y="5439537"/>
                    <a:pt x="196850" y="5447030"/>
                    <a:pt x="187579" y="5447030"/>
                  </a:cubicBezTo>
                  <a:lnTo>
                    <a:pt x="16891" y="5447030"/>
                  </a:lnTo>
                  <a:cubicBezTo>
                    <a:pt x="7493" y="5447030"/>
                    <a:pt x="0" y="5439410"/>
                    <a:pt x="0" y="5430139"/>
                  </a:cubicBezTo>
                  <a:lnTo>
                    <a:pt x="0" y="16891"/>
                  </a:lnTo>
                  <a:cubicBezTo>
                    <a:pt x="0" y="7620"/>
                    <a:pt x="7620" y="0"/>
                    <a:pt x="16891" y="0"/>
                  </a:cubicBezTo>
                  <a:moveTo>
                    <a:pt x="16891" y="33909"/>
                  </a:moveTo>
                  <a:lnTo>
                    <a:pt x="16891" y="16891"/>
                  </a:lnTo>
                  <a:lnTo>
                    <a:pt x="33909" y="16891"/>
                  </a:lnTo>
                  <a:lnTo>
                    <a:pt x="33909" y="5430139"/>
                  </a:lnTo>
                  <a:lnTo>
                    <a:pt x="16891" y="5430139"/>
                  </a:lnTo>
                  <a:lnTo>
                    <a:pt x="16891" y="5413248"/>
                  </a:lnTo>
                  <a:lnTo>
                    <a:pt x="187579" y="5413248"/>
                  </a:lnTo>
                  <a:lnTo>
                    <a:pt x="187579" y="5430139"/>
                  </a:lnTo>
                  <a:lnTo>
                    <a:pt x="170688" y="5430139"/>
                  </a:lnTo>
                  <a:lnTo>
                    <a:pt x="170688" y="16891"/>
                  </a:lnTo>
                  <a:lnTo>
                    <a:pt x="187579" y="16891"/>
                  </a:lnTo>
                  <a:lnTo>
                    <a:pt x="187579" y="33909"/>
                  </a:lnTo>
                  <a:lnTo>
                    <a:pt x="16891" y="33909"/>
                  </a:lnTo>
                  <a:close/>
                </a:path>
              </a:pathLst>
            </a:custGeom>
            <a:solidFill>
              <a:srgbClr val="2C4A6E"/>
            </a:solidFill>
          </p:spPr>
        </p:sp>
      </p:grpSp>
      <p:grpSp>
        <p:nvGrpSpPr>
          <p:cNvPr name="Group 17" id="17"/>
          <p:cNvGrpSpPr/>
          <p:nvPr/>
        </p:nvGrpSpPr>
        <p:grpSpPr>
          <a:xfrm rot="0">
            <a:off x="993143" y="2108711"/>
            <a:ext cx="683771" cy="683771"/>
            <a:chOff x="0" y="0"/>
            <a:chExt cx="911695" cy="911695"/>
          </a:xfrm>
        </p:grpSpPr>
        <p:sp>
          <p:nvSpPr>
            <p:cNvPr name="Freeform 18" id="18"/>
            <p:cNvSpPr/>
            <p:nvPr/>
          </p:nvSpPr>
          <p:spPr>
            <a:xfrm flipH="false" flipV="false" rot="0">
              <a:off x="16891" y="16891"/>
              <a:ext cx="877824" cy="877824"/>
            </a:xfrm>
            <a:custGeom>
              <a:avLst/>
              <a:gdLst/>
              <a:ahLst/>
              <a:cxnLst/>
              <a:rect r="r" b="b" t="t" l="l"/>
              <a:pathLst>
                <a:path h="877824" w="877824">
                  <a:moveTo>
                    <a:pt x="0" y="438912"/>
                  </a:moveTo>
                  <a:cubicBezTo>
                    <a:pt x="0" y="196469"/>
                    <a:pt x="196469" y="0"/>
                    <a:pt x="438912" y="0"/>
                  </a:cubicBezTo>
                  <a:cubicBezTo>
                    <a:pt x="681355" y="0"/>
                    <a:pt x="877824" y="196596"/>
                    <a:pt x="877824" y="438912"/>
                  </a:cubicBezTo>
                  <a:cubicBezTo>
                    <a:pt x="877824" y="681228"/>
                    <a:pt x="681355" y="877824"/>
                    <a:pt x="438912" y="877824"/>
                  </a:cubicBezTo>
                  <a:cubicBezTo>
                    <a:pt x="196469" y="877824"/>
                    <a:pt x="0" y="681355"/>
                    <a:pt x="0" y="438912"/>
                  </a:cubicBezTo>
                  <a:close/>
                </a:path>
              </a:pathLst>
            </a:custGeom>
            <a:solidFill>
              <a:srgbClr val="2C4A6E"/>
            </a:solidFill>
          </p:spPr>
        </p:sp>
        <p:sp>
          <p:nvSpPr>
            <p:cNvPr name="Freeform 19" id="19"/>
            <p:cNvSpPr/>
            <p:nvPr/>
          </p:nvSpPr>
          <p:spPr>
            <a:xfrm flipH="false" flipV="false" rot="0">
              <a:off x="0" y="0"/>
              <a:ext cx="911733" cy="911606"/>
            </a:xfrm>
            <a:custGeom>
              <a:avLst/>
              <a:gdLst/>
              <a:ahLst/>
              <a:cxnLst/>
              <a:rect r="r" b="b" t="t" l="l"/>
              <a:pathLst>
                <a:path h="911606" w="911733">
                  <a:moveTo>
                    <a:pt x="0" y="455803"/>
                  </a:moveTo>
                  <a:cubicBezTo>
                    <a:pt x="0" y="204089"/>
                    <a:pt x="204089" y="0"/>
                    <a:pt x="455803" y="0"/>
                  </a:cubicBezTo>
                  <a:lnTo>
                    <a:pt x="455803" y="16891"/>
                  </a:lnTo>
                  <a:lnTo>
                    <a:pt x="455803" y="0"/>
                  </a:lnTo>
                  <a:cubicBezTo>
                    <a:pt x="707644" y="0"/>
                    <a:pt x="911733" y="204089"/>
                    <a:pt x="911733" y="455803"/>
                  </a:cubicBezTo>
                  <a:cubicBezTo>
                    <a:pt x="911733" y="707517"/>
                    <a:pt x="707644" y="911606"/>
                    <a:pt x="455930" y="911606"/>
                  </a:cubicBezTo>
                  <a:lnTo>
                    <a:pt x="455930" y="894715"/>
                  </a:lnTo>
                  <a:lnTo>
                    <a:pt x="455930" y="911606"/>
                  </a:lnTo>
                  <a:cubicBezTo>
                    <a:pt x="204089" y="911733"/>
                    <a:pt x="0" y="707644"/>
                    <a:pt x="0" y="455803"/>
                  </a:cubicBezTo>
                  <a:lnTo>
                    <a:pt x="16891" y="455803"/>
                  </a:lnTo>
                  <a:lnTo>
                    <a:pt x="31242" y="464820"/>
                  </a:lnTo>
                  <a:cubicBezTo>
                    <a:pt x="27178" y="471170"/>
                    <a:pt x="19431" y="474218"/>
                    <a:pt x="12192" y="472059"/>
                  </a:cubicBezTo>
                  <a:cubicBezTo>
                    <a:pt x="4953" y="469900"/>
                    <a:pt x="0" y="463423"/>
                    <a:pt x="0" y="455803"/>
                  </a:cubicBezTo>
                  <a:moveTo>
                    <a:pt x="33909" y="455803"/>
                  </a:moveTo>
                  <a:lnTo>
                    <a:pt x="16891" y="455803"/>
                  </a:lnTo>
                  <a:lnTo>
                    <a:pt x="2540" y="446913"/>
                  </a:lnTo>
                  <a:cubicBezTo>
                    <a:pt x="6604" y="440563"/>
                    <a:pt x="14351" y="437515"/>
                    <a:pt x="21590" y="439674"/>
                  </a:cubicBezTo>
                  <a:cubicBezTo>
                    <a:pt x="28829" y="441833"/>
                    <a:pt x="33909" y="448437"/>
                    <a:pt x="33909" y="455930"/>
                  </a:cubicBezTo>
                  <a:cubicBezTo>
                    <a:pt x="33909" y="688975"/>
                    <a:pt x="222885" y="877951"/>
                    <a:pt x="455930" y="877951"/>
                  </a:cubicBezTo>
                  <a:cubicBezTo>
                    <a:pt x="688975" y="877951"/>
                    <a:pt x="877951" y="688975"/>
                    <a:pt x="877951" y="455930"/>
                  </a:cubicBezTo>
                  <a:lnTo>
                    <a:pt x="894842" y="455930"/>
                  </a:lnTo>
                  <a:lnTo>
                    <a:pt x="877951" y="455930"/>
                  </a:lnTo>
                  <a:cubicBezTo>
                    <a:pt x="877951" y="222885"/>
                    <a:pt x="688975" y="33909"/>
                    <a:pt x="455930" y="33909"/>
                  </a:cubicBezTo>
                  <a:lnTo>
                    <a:pt x="455930" y="16891"/>
                  </a:lnTo>
                  <a:lnTo>
                    <a:pt x="455930" y="33909"/>
                  </a:lnTo>
                  <a:cubicBezTo>
                    <a:pt x="222758" y="33909"/>
                    <a:pt x="33909" y="222758"/>
                    <a:pt x="33909" y="455803"/>
                  </a:cubicBezTo>
                  <a:close/>
                </a:path>
              </a:pathLst>
            </a:custGeom>
            <a:solidFill>
              <a:srgbClr val="2C4A6E"/>
            </a:solidFill>
          </p:spPr>
        </p:sp>
      </p:grpSp>
      <p:grpSp>
        <p:nvGrpSpPr>
          <p:cNvPr name="Group 20" id="20"/>
          <p:cNvGrpSpPr/>
          <p:nvPr/>
        </p:nvGrpSpPr>
        <p:grpSpPr>
          <a:xfrm rot="0">
            <a:off x="1005840" y="2121408"/>
            <a:ext cx="658368" cy="658368"/>
            <a:chOff x="0" y="0"/>
            <a:chExt cx="877824" cy="877824"/>
          </a:xfrm>
        </p:grpSpPr>
        <p:sp>
          <p:nvSpPr>
            <p:cNvPr name="Freeform 21" id="21"/>
            <p:cNvSpPr/>
            <p:nvPr/>
          </p:nvSpPr>
          <p:spPr>
            <a:xfrm flipH="false" flipV="false" rot="0">
              <a:off x="0" y="0"/>
              <a:ext cx="877824" cy="877824"/>
            </a:xfrm>
            <a:custGeom>
              <a:avLst/>
              <a:gdLst/>
              <a:ahLst/>
              <a:cxnLst/>
              <a:rect r="r" b="b" t="t" l="l"/>
              <a:pathLst>
                <a:path h="877824" w="877824">
                  <a:moveTo>
                    <a:pt x="0" y="0"/>
                  </a:moveTo>
                  <a:lnTo>
                    <a:pt x="877824" y="0"/>
                  </a:lnTo>
                  <a:lnTo>
                    <a:pt x="877824" y="877824"/>
                  </a:lnTo>
                  <a:lnTo>
                    <a:pt x="0" y="877824"/>
                  </a:lnTo>
                  <a:close/>
                </a:path>
              </a:pathLst>
            </a:custGeom>
            <a:blipFill>
              <a:blip r:embed="rId3">
                <a:alphaModFix amt="0"/>
              </a:blip>
              <a:stretch>
                <a:fillRect l="-78303" t="0" r="-78303" b="0"/>
              </a:stretch>
            </a:blipFill>
          </p:spPr>
        </p:sp>
        <p:sp>
          <p:nvSpPr>
            <p:cNvPr name="TextBox 22" id="22"/>
            <p:cNvSpPr txBox="true"/>
            <p:nvPr/>
          </p:nvSpPr>
          <p:spPr>
            <a:xfrm>
              <a:off x="0" y="9525"/>
              <a:ext cx="877824" cy="868299"/>
            </a:xfrm>
            <a:prstGeom prst="rect">
              <a:avLst/>
            </a:prstGeom>
          </p:spPr>
          <p:txBody>
            <a:bodyPr anchor="ctr" rtlCol="false" tIns="0" lIns="0" bIns="0" rIns="0"/>
            <a:lstStyle/>
            <a:p>
              <a:pPr algn="ctr">
                <a:lnSpc>
                  <a:spcPts val="2879"/>
                </a:lnSpc>
              </a:pPr>
              <a:r>
                <a:rPr lang="en-US" sz="2400" b="true">
                  <a:solidFill>
                    <a:srgbClr val="FFFFFF"/>
                  </a:solidFill>
                  <a:latin typeface="EB Garamond Semi-Bold"/>
                  <a:ea typeface="EB Garamond Semi-Bold"/>
                  <a:cs typeface="EB Garamond Semi-Bold"/>
                  <a:sym typeface="EB Garamond Semi-Bold"/>
                </a:rPr>
                <a:t>1</a:t>
              </a:r>
            </a:p>
          </p:txBody>
        </p:sp>
      </p:grpSp>
      <p:grpSp>
        <p:nvGrpSpPr>
          <p:cNvPr name="Group 23" id="23"/>
          <p:cNvGrpSpPr/>
          <p:nvPr/>
        </p:nvGrpSpPr>
        <p:grpSpPr>
          <a:xfrm rot="0">
            <a:off x="1883664" y="2176272"/>
            <a:ext cx="6675120" cy="658368"/>
            <a:chOff x="0" y="0"/>
            <a:chExt cx="8900160" cy="877824"/>
          </a:xfrm>
        </p:grpSpPr>
        <p:sp>
          <p:nvSpPr>
            <p:cNvPr name="Freeform 24" id="24"/>
            <p:cNvSpPr/>
            <p:nvPr/>
          </p:nvSpPr>
          <p:spPr>
            <a:xfrm flipH="false" flipV="false" rot="0">
              <a:off x="0" y="0"/>
              <a:ext cx="8900160" cy="877824"/>
            </a:xfrm>
            <a:custGeom>
              <a:avLst/>
              <a:gdLst/>
              <a:ahLst/>
              <a:cxnLst/>
              <a:rect r="r" b="b" t="t" l="l"/>
              <a:pathLst>
                <a:path h="877824" w="8900160">
                  <a:moveTo>
                    <a:pt x="0" y="0"/>
                  </a:moveTo>
                  <a:lnTo>
                    <a:pt x="8900160" y="0"/>
                  </a:lnTo>
                  <a:lnTo>
                    <a:pt x="8900160" y="877824"/>
                  </a:lnTo>
                  <a:lnTo>
                    <a:pt x="0" y="877824"/>
                  </a:lnTo>
                  <a:close/>
                </a:path>
              </a:pathLst>
            </a:custGeom>
            <a:blipFill>
              <a:blip r:embed="rId3">
                <a:alphaModFix amt="0"/>
              </a:blip>
              <a:stretch>
                <a:fillRect l="0" t="-147556" r="0" b="-147556"/>
              </a:stretch>
            </a:blipFill>
          </p:spPr>
        </p:sp>
        <p:sp>
          <p:nvSpPr>
            <p:cNvPr name="TextBox 25" id="25"/>
            <p:cNvSpPr txBox="true"/>
            <p:nvPr/>
          </p:nvSpPr>
          <p:spPr>
            <a:xfrm>
              <a:off x="0" y="0"/>
              <a:ext cx="8900160" cy="877824"/>
            </a:xfrm>
            <a:prstGeom prst="rect">
              <a:avLst/>
            </a:prstGeom>
          </p:spPr>
          <p:txBody>
            <a:bodyPr anchor="ctr" rtlCol="false" tIns="0" lIns="0" bIns="0" rIns="0"/>
            <a:lstStyle/>
            <a:p>
              <a:pPr algn="l">
                <a:lnSpc>
                  <a:spcPts val="3120"/>
                </a:lnSpc>
              </a:pPr>
              <a:r>
                <a:rPr lang="en-US" sz="2600" b="true">
                  <a:solidFill>
                    <a:srgbClr val="1C2E40"/>
                  </a:solidFill>
                  <a:latin typeface="EB Garamond Semi-Bold"/>
                  <a:ea typeface="EB Garamond Semi-Bold"/>
                  <a:cs typeface="EB Garamond Semi-Bold"/>
                  <a:sym typeface="EB Garamond Semi-Bold"/>
                </a:rPr>
                <a:t>Identifiants &amp; Géographie</a:t>
              </a:r>
            </a:p>
          </p:txBody>
        </p:sp>
      </p:grpSp>
      <p:grpSp>
        <p:nvGrpSpPr>
          <p:cNvPr name="Group 26" id="26"/>
          <p:cNvGrpSpPr/>
          <p:nvPr/>
        </p:nvGrpSpPr>
        <p:grpSpPr>
          <a:xfrm rot="0">
            <a:off x="1005840" y="3017520"/>
            <a:ext cx="7589520" cy="640080"/>
            <a:chOff x="0" y="0"/>
            <a:chExt cx="10119360" cy="853440"/>
          </a:xfrm>
        </p:grpSpPr>
        <p:sp>
          <p:nvSpPr>
            <p:cNvPr name="Freeform 27" id="27"/>
            <p:cNvSpPr/>
            <p:nvPr/>
          </p:nvSpPr>
          <p:spPr>
            <a:xfrm flipH="false" flipV="false" rot="0">
              <a:off x="0" y="0"/>
              <a:ext cx="10119360" cy="853440"/>
            </a:xfrm>
            <a:custGeom>
              <a:avLst/>
              <a:gdLst/>
              <a:ahLst/>
              <a:cxnLst/>
              <a:rect r="r" b="b" t="t" l="l"/>
              <a:pathLst>
                <a:path h="853440" w="10119360">
                  <a:moveTo>
                    <a:pt x="0" y="0"/>
                  </a:moveTo>
                  <a:lnTo>
                    <a:pt x="10119360" y="0"/>
                  </a:lnTo>
                  <a:lnTo>
                    <a:pt x="10119360" y="853440"/>
                  </a:lnTo>
                  <a:lnTo>
                    <a:pt x="0" y="853440"/>
                  </a:lnTo>
                  <a:close/>
                </a:path>
              </a:pathLst>
            </a:custGeom>
            <a:blipFill>
              <a:blip r:embed="rId3">
                <a:alphaModFix amt="0"/>
              </a:blip>
              <a:stretch>
                <a:fillRect l="0" t="-181036" r="0" b="-181036"/>
              </a:stretch>
            </a:blipFill>
          </p:spPr>
        </p:sp>
        <p:sp>
          <p:nvSpPr>
            <p:cNvPr name="TextBox 28" id="28"/>
            <p:cNvSpPr txBox="true"/>
            <p:nvPr/>
          </p:nvSpPr>
          <p:spPr>
            <a:xfrm>
              <a:off x="0" y="-9525"/>
              <a:ext cx="10119360" cy="862965"/>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Renommage → ID, suppression doublons + manquants</a:t>
              </a:r>
            </a:p>
          </p:txBody>
        </p:sp>
      </p:grpSp>
      <p:grpSp>
        <p:nvGrpSpPr>
          <p:cNvPr name="Group 29" id="29"/>
          <p:cNvGrpSpPr/>
          <p:nvPr/>
        </p:nvGrpSpPr>
        <p:grpSpPr>
          <a:xfrm rot="0">
            <a:off x="1005840" y="3712464"/>
            <a:ext cx="7589520" cy="640080"/>
            <a:chOff x="0" y="0"/>
            <a:chExt cx="10119360" cy="853440"/>
          </a:xfrm>
        </p:grpSpPr>
        <p:sp>
          <p:nvSpPr>
            <p:cNvPr name="Freeform 30" id="30"/>
            <p:cNvSpPr/>
            <p:nvPr/>
          </p:nvSpPr>
          <p:spPr>
            <a:xfrm flipH="false" flipV="false" rot="0">
              <a:off x="0" y="0"/>
              <a:ext cx="10119360" cy="853440"/>
            </a:xfrm>
            <a:custGeom>
              <a:avLst/>
              <a:gdLst/>
              <a:ahLst/>
              <a:cxnLst/>
              <a:rect r="r" b="b" t="t" l="l"/>
              <a:pathLst>
                <a:path h="853440" w="10119360">
                  <a:moveTo>
                    <a:pt x="0" y="0"/>
                  </a:moveTo>
                  <a:lnTo>
                    <a:pt x="10119360" y="0"/>
                  </a:lnTo>
                  <a:lnTo>
                    <a:pt x="10119360" y="853440"/>
                  </a:lnTo>
                  <a:lnTo>
                    <a:pt x="0" y="853440"/>
                  </a:lnTo>
                  <a:close/>
                </a:path>
              </a:pathLst>
            </a:custGeom>
            <a:blipFill>
              <a:blip r:embed="rId3">
                <a:alphaModFix amt="0"/>
              </a:blip>
              <a:stretch>
                <a:fillRect l="0" t="-181036" r="0" b="-181036"/>
              </a:stretch>
            </a:blipFill>
          </p:spPr>
        </p:sp>
        <p:sp>
          <p:nvSpPr>
            <p:cNvPr name="TextBox 31" id="31"/>
            <p:cNvSpPr txBox="true"/>
            <p:nvPr/>
          </p:nvSpPr>
          <p:spPr>
            <a:xfrm>
              <a:off x="0" y="-9525"/>
              <a:ext cx="10119360" cy="862965"/>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Extraction country = substr(ID,1,1)</a:t>
              </a:r>
            </a:p>
          </p:txBody>
        </p:sp>
      </p:grpSp>
      <p:grpSp>
        <p:nvGrpSpPr>
          <p:cNvPr name="Group 32" id="32"/>
          <p:cNvGrpSpPr/>
          <p:nvPr/>
        </p:nvGrpSpPr>
        <p:grpSpPr>
          <a:xfrm rot="0">
            <a:off x="1005840" y="4407408"/>
            <a:ext cx="7589520" cy="640080"/>
            <a:chOff x="0" y="0"/>
            <a:chExt cx="10119360" cy="853440"/>
          </a:xfrm>
        </p:grpSpPr>
        <p:sp>
          <p:nvSpPr>
            <p:cNvPr name="Freeform 33" id="33"/>
            <p:cNvSpPr/>
            <p:nvPr/>
          </p:nvSpPr>
          <p:spPr>
            <a:xfrm flipH="false" flipV="false" rot="0">
              <a:off x="0" y="0"/>
              <a:ext cx="10119360" cy="853440"/>
            </a:xfrm>
            <a:custGeom>
              <a:avLst/>
              <a:gdLst/>
              <a:ahLst/>
              <a:cxnLst/>
              <a:rect r="r" b="b" t="t" l="l"/>
              <a:pathLst>
                <a:path h="853440" w="10119360">
                  <a:moveTo>
                    <a:pt x="0" y="0"/>
                  </a:moveTo>
                  <a:lnTo>
                    <a:pt x="10119360" y="0"/>
                  </a:lnTo>
                  <a:lnTo>
                    <a:pt x="10119360" y="853440"/>
                  </a:lnTo>
                  <a:lnTo>
                    <a:pt x="0" y="853440"/>
                  </a:lnTo>
                  <a:close/>
                </a:path>
              </a:pathLst>
            </a:custGeom>
            <a:blipFill>
              <a:blip r:embed="rId3">
                <a:alphaModFix amt="0"/>
              </a:blip>
              <a:stretch>
                <a:fillRect l="0" t="-181036" r="0" b="-181036"/>
              </a:stretch>
            </a:blipFill>
          </p:spPr>
        </p:sp>
        <p:sp>
          <p:nvSpPr>
            <p:cNvPr name="TextBox 34" id="34"/>
            <p:cNvSpPr txBox="true"/>
            <p:nvPr/>
          </p:nvSpPr>
          <p:spPr>
            <a:xfrm>
              <a:off x="0" y="-9525"/>
              <a:ext cx="10119360" cy="862965"/>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Corrections manuelles (Kayes→Mali, Tillabery→Niger…)</a:t>
              </a:r>
            </a:p>
          </p:txBody>
        </p:sp>
      </p:grpSp>
      <p:grpSp>
        <p:nvGrpSpPr>
          <p:cNvPr name="Group 35" id="35"/>
          <p:cNvGrpSpPr/>
          <p:nvPr/>
        </p:nvGrpSpPr>
        <p:grpSpPr>
          <a:xfrm rot="0">
            <a:off x="1005840" y="5102352"/>
            <a:ext cx="7589520" cy="640080"/>
            <a:chOff x="0" y="0"/>
            <a:chExt cx="10119360" cy="853440"/>
          </a:xfrm>
        </p:grpSpPr>
        <p:sp>
          <p:nvSpPr>
            <p:cNvPr name="Freeform 36" id="36"/>
            <p:cNvSpPr/>
            <p:nvPr/>
          </p:nvSpPr>
          <p:spPr>
            <a:xfrm flipH="false" flipV="false" rot="0">
              <a:off x="0" y="0"/>
              <a:ext cx="10119360" cy="853440"/>
            </a:xfrm>
            <a:custGeom>
              <a:avLst/>
              <a:gdLst/>
              <a:ahLst/>
              <a:cxnLst/>
              <a:rect r="r" b="b" t="t" l="l"/>
              <a:pathLst>
                <a:path h="853440" w="10119360">
                  <a:moveTo>
                    <a:pt x="0" y="0"/>
                  </a:moveTo>
                  <a:lnTo>
                    <a:pt x="10119360" y="0"/>
                  </a:lnTo>
                  <a:lnTo>
                    <a:pt x="10119360" y="853440"/>
                  </a:lnTo>
                  <a:lnTo>
                    <a:pt x="0" y="853440"/>
                  </a:lnTo>
                  <a:close/>
                </a:path>
              </a:pathLst>
            </a:custGeom>
            <a:blipFill>
              <a:blip r:embed="rId3">
                <a:alphaModFix amt="0"/>
              </a:blip>
              <a:stretch>
                <a:fillRect l="0" t="-181036" r="0" b="-181036"/>
              </a:stretch>
            </a:blipFill>
          </p:spPr>
        </p:sp>
        <p:sp>
          <p:nvSpPr>
            <p:cNvPr name="TextBox 37" id="37"/>
            <p:cNvSpPr txBox="true"/>
            <p:nvPr/>
          </p:nvSpPr>
          <p:spPr>
            <a:xfrm>
              <a:off x="0" y="-9525"/>
              <a:ext cx="10119360" cy="862965"/>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Drop Ordredesaisie, PAYS, Groupedorigine</a:t>
              </a:r>
            </a:p>
          </p:txBody>
        </p:sp>
      </p:grpSp>
      <p:grpSp>
        <p:nvGrpSpPr>
          <p:cNvPr name="Group 38" id="38"/>
          <p:cNvGrpSpPr/>
          <p:nvPr/>
        </p:nvGrpSpPr>
        <p:grpSpPr>
          <a:xfrm rot="0">
            <a:off x="9499597" y="1964941"/>
            <a:ext cx="8249917" cy="4080253"/>
            <a:chOff x="0" y="0"/>
            <a:chExt cx="10999889" cy="5440337"/>
          </a:xfrm>
        </p:grpSpPr>
        <p:sp>
          <p:nvSpPr>
            <p:cNvPr name="Freeform 39" id="39"/>
            <p:cNvSpPr/>
            <p:nvPr/>
          </p:nvSpPr>
          <p:spPr>
            <a:xfrm flipH="false" flipV="false" rot="0">
              <a:off x="13589" y="13589"/>
              <a:ext cx="10972800" cy="5413121"/>
            </a:xfrm>
            <a:custGeom>
              <a:avLst/>
              <a:gdLst/>
              <a:ahLst/>
              <a:cxnLst/>
              <a:rect r="r" b="b" t="t" l="l"/>
              <a:pathLst>
                <a:path h="5413121" w="10972800">
                  <a:moveTo>
                    <a:pt x="0" y="243840"/>
                  </a:moveTo>
                  <a:cubicBezTo>
                    <a:pt x="0" y="109093"/>
                    <a:pt x="109474" y="0"/>
                    <a:pt x="244475" y="0"/>
                  </a:cubicBezTo>
                  <a:lnTo>
                    <a:pt x="10728325" y="0"/>
                  </a:lnTo>
                  <a:cubicBezTo>
                    <a:pt x="10863326" y="0"/>
                    <a:pt x="10972800" y="109220"/>
                    <a:pt x="10972800" y="243840"/>
                  </a:cubicBezTo>
                  <a:lnTo>
                    <a:pt x="10972800" y="5169281"/>
                  </a:lnTo>
                  <a:cubicBezTo>
                    <a:pt x="10972800" y="5304028"/>
                    <a:pt x="10863326" y="5413121"/>
                    <a:pt x="10728325" y="5413121"/>
                  </a:cubicBezTo>
                  <a:lnTo>
                    <a:pt x="244475" y="5413121"/>
                  </a:lnTo>
                  <a:cubicBezTo>
                    <a:pt x="109474" y="5413121"/>
                    <a:pt x="0" y="5303901"/>
                    <a:pt x="0" y="5169281"/>
                  </a:cubicBezTo>
                  <a:close/>
                </a:path>
              </a:pathLst>
            </a:custGeom>
            <a:solidFill>
              <a:srgbClr val="FFFFFF"/>
            </a:solidFill>
          </p:spPr>
        </p:sp>
        <p:sp>
          <p:nvSpPr>
            <p:cNvPr name="Freeform 40" id="40"/>
            <p:cNvSpPr/>
            <p:nvPr/>
          </p:nvSpPr>
          <p:spPr>
            <a:xfrm flipH="false" flipV="false" rot="0">
              <a:off x="0" y="0"/>
              <a:ext cx="10999978" cy="5440299"/>
            </a:xfrm>
            <a:custGeom>
              <a:avLst/>
              <a:gdLst/>
              <a:ahLst/>
              <a:cxnLst/>
              <a:rect r="r" b="b" t="t" l="l"/>
              <a:pathLst>
                <a:path h="5440299" w="10999978">
                  <a:moveTo>
                    <a:pt x="0" y="257429"/>
                  </a:moveTo>
                  <a:cubicBezTo>
                    <a:pt x="0" y="115189"/>
                    <a:pt x="115570" y="0"/>
                    <a:pt x="258064" y="0"/>
                  </a:cubicBezTo>
                  <a:lnTo>
                    <a:pt x="10741914" y="0"/>
                  </a:lnTo>
                  <a:lnTo>
                    <a:pt x="10741914" y="13589"/>
                  </a:lnTo>
                  <a:lnTo>
                    <a:pt x="10741914" y="0"/>
                  </a:lnTo>
                  <a:cubicBezTo>
                    <a:pt x="10884408" y="0"/>
                    <a:pt x="10999978" y="115189"/>
                    <a:pt x="10999978" y="257429"/>
                  </a:cubicBezTo>
                  <a:lnTo>
                    <a:pt x="10986389" y="257429"/>
                  </a:lnTo>
                  <a:lnTo>
                    <a:pt x="10999978" y="257429"/>
                  </a:lnTo>
                  <a:lnTo>
                    <a:pt x="10999978" y="5182870"/>
                  </a:lnTo>
                  <a:lnTo>
                    <a:pt x="10986389" y="5182870"/>
                  </a:lnTo>
                  <a:lnTo>
                    <a:pt x="10999978" y="5182870"/>
                  </a:lnTo>
                  <a:cubicBezTo>
                    <a:pt x="10999978" y="5325110"/>
                    <a:pt x="10884408" y="5440299"/>
                    <a:pt x="10741914" y="5440299"/>
                  </a:cubicBezTo>
                  <a:lnTo>
                    <a:pt x="10741914" y="5426710"/>
                  </a:lnTo>
                  <a:lnTo>
                    <a:pt x="10741914" y="5440299"/>
                  </a:lnTo>
                  <a:lnTo>
                    <a:pt x="258064" y="5440299"/>
                  </a:lnTo>
                  <a:lnTo>
                    <a:pt x="258064" y="5426710"/>
                  </a:lnTo>
                  <a:lnTo>
                    <a:pt x="258064" y="5440299"/>
                  </a:lnTo>
                  <a:cubicBezTo>
                    <a:pt x="115570" y="5440299"/>
                    <a:pt x="0" y="5325110"/>
                    <a:pt x="0" y="5182870"/>
                  </a:cubicBezTo>
                  <a:lnTo>
                    <a:pt x="0" y="257429"/>
                  </a:lnTo>
                  <a:lnTo>
                    <a:pt x="13589" y="257429"/>
                  </a:lnTo>
                  <a:lnTo>
                    <a:pt x="0" y="257429"/>
                  </a:lnTo>
                  <a:moveTo>
                    <a:pt x="27051" y="257429"/>
                  </a:moveTo>
                  <a:lnTo>
                    <a:pt x="27051" y="5182870"/>
                  </a:lnTo>
                  <a:lnTo>
                    <a:pt x="13589" y="5182870"/>
                  </a:lnTo>
                  <a:lnTo>
                    <a:pt x="27051" y="5182870"/>
                  </a:lnTo>
                  <a:cubicBezTo>
                    <a:pt x="27051" y="5309997"/>
                    <a:pt x="130429" y="5413248"/>
                    <a:pt x="257937" y="5413248"/>
                  </a:cubicBezTo>
                  <a:lnTo>
                    <a:pt x="10741787" y="5413248"/>
                  </a:lnTo>
                  <a:cubicBezTo>
                    <a:pt x="10869422" y="5413248"/>
                    <a:pt x="10972673" y="5310124"/>
                    <a:pt x="10972673" y="5182870"/>
                  </a:cubicBezTo>
                  <a:lnTo>
                    <a:pt x="10972673" y="257429"/>
                  </a:lnTo>
                  <a:cubicBezTo>
                    <a:pt x="10972673" y="130302"/>
                    <a:pt x="10869295" y="27051"/>
                    <a:pt x="10741787" y="27051"/>
                  </a:cubicBezTo>
                  <a:lnTo>
                    <a:pt x="258064" y="27051"/>
                  </a:lnTo>
                  <a:lnTo>
                    <a:pt x="258064" y="13589"/>
                  </a:lnTo>
                  <a:lnTo>
                    <a:pt x="258064" y="27051"/>
                  </a:lnTo>
                  <a:cubicBezTo>
                    <a:pt x="130429" y="27051"/>
                    <a:pt x="27178" y="130175"/>
                    <a:pt x="27178" y="257429"/>
                  </a:cubicBezTo>
                  <a:close/>
                </a:path>
              </a:pathLst>
            </a:custGeom>
            <a:solidFill>
              <a:srgbClr val="BDC8D5"/>
            </a:solidFill>
          </p:spPr>
        </p:sp>
      </p:grpSp>
      <p:grpSp>
        <p:nvGrpSpPr>
          <p:cNvPr name="Group 41" id="41"/>
          <p:cNvGrpSpPr/>
          <p:nvPr/>
        </p:nvGrpSpPr>
        <p:grpSpPr>
          <a:xfrm rot="0">
            <a:off x="9497063" y="1962407"/>
            <a:ext cx="153419" cy="4085339"/>
            <a:chOff x="0" y="0"/>
            <a:chExt cx="204559" cy="5447119"/>
          </a:xfrm>
        </p:grpSpPr>
        <p:sp>
          <p:nvSpPr>
            <p:cNvPr name="Freeform 42" id="42"/>
            <p:cNvSpPr/>
            <p:nvPr/>
          </p:nvSpPr>
          <p:spPr>
            <a:xfrm flipH="false" flipV="false" rot="0">
              <a:off x="16891" y="16891"/>
              <a:ext cx="170688" cy="5413248"/>
            </a:xfrm>
            <a:custGeom>
              <a:avLst/>
              <a:gdLst/>
              <a:ahLst/>
              <a:cxnLst/>
              <a:rect r="r" b="b" t="t" l="l"/>
              <a:pathLst>
                <a:path h="5413248" w="170688">
                  <a:moveTo>
                    <a:pt x="0" y="0"/>
                  </a:moveTo>
                  <a:lnTo>
                    <a:pt x="170688" y="0"/>
                  </a:lnTo>
                  <a:lnTo>
                    <a:pt x="170688" y="5413248"/>
                  </a:lnTo>
                  <a:lnTo>
                    <a:pt x="0" y="5413248"/>
                  </a:lnTo>
                  <a:close/>
                </a:path>
              </a:pathLst>
            </a:custGeom>
            <a:solidFill>
              <a:srgbClr val="5B8DB8"/>
            </a:solidFill>
          </p:spPr>
        </p:sp>
        <p:sp>
          <p:nvSpPr>
            <p:cNvPr name="Freeform 43" id="43"/>
            <p:cNvSpPr/>
            <p:nvPr/>
          </p:nvSpPr>
          <p:spPr>
            <a:xfrm flipH="false" flipV="false" rot="0">
              <a:off x="0" y="0"/>
              <a:ext cx="204470" cy="5447030"/>
            </a:xfrm>
            <a:custGeom>
              <a:avLst/>
              <a:gdLst/>
              <a:ahLst/>
              <a:cxnLst/>
              <a:rect r="r" b="b" t="t" l="l"/>
              <a:pathLst>
                <a:path h="5447030" w="204470">
                  <a:moveTo>
                    <a:pt x="16891" y="0"/>
                  </a:moveTo>
                  <a:lnTo>
                    <a:pt x="187579" y="0"/>
                  </a:lnTo>
                  <a:cubicBezTo>
                    <a:pt x="196977" y="0"/>
                    <a:pt x="204470" y="7620"/>
                    <a:pt x="204470" y="16891"/>
                  </a:cubicBezTo>
                  <a:lnTo>
                    <a:pt x="204470" y="5430139"/>
                  </a:lnTo>
                  <a:cubicBezTo>
                    <a:pt x="204470" y="5439537"/>
                    <a:pt x="196850" y="5447030"/>
                    <a:pt x="187579" y="5447030"/>
                  </a:cubicBezTo>
                  <a:lnTo>
                    <a:pt x="16891" y="5447030"/>
                  </a:lnTo>
                  <a:cubicBezTo>
                    <a:pt x="7493" y="5447030"/>
                    <a:pt x="0" y="5439410"/>
                    <a:pt x="0" y="5430139"/>
                  </a:cubicBezTo>
                  <a:lnTo>
                    <a:pt x="0" y="16891"/>
                  </a:lnTo>
                  <a:cubicBezTo>
                    <a:pt x="0" y="7620"/>
                    <a:pt x="7620" y="0"/>
                    <a:pt x="16891" y="0"/>
                  </a:cubicBezTo>
                  <a:moveTo>
                    <a:pt x="16891" y="33909"/>
                  </a:moveTo>
                  <a:lnTo>
                    <a:pt x="16891" y="16891"/>
                  </a:lnTo>
                  <a:lnTo>
                    <a:pt x="33909" y="16891"/>
                  </a:lnTo>
                  <a:lnTo>
                    <a:pt x="33909" y="5430139"/>
                  </a:lnTo>
                  <a:lnTo>
                    <a:pt x="16891" y="5430139"/>
                  </a:lnTo>
                  <a:lnTo>
                    <a:pt x="16891" y="5413248"/>
                  </a:lnTo>
                  <a:lnTo>
                    <a:pt x="187579" y="5413248"/>
                  </a:lnTo>
                  <a:lnTo>
                    <a:pt x="187579" y="5430139"/>
                  </a:lnTo>
                  <a:lnTo>
                    <a:pt x="170688" y="5430139"/>
                  </a:lnTo>
                  <a:lnTo>
                    <a:pt x="170688" y="16891"/>
                  </a:lnTo>
                  <a:lnTo>
                    <a:pt x="187579" y="16891"/>
                  </a:lnTo>
                  <a:lnTo>
                    <a:pt x="187579" y="33909"/>
                  </a:lnTo>
                  <a:lnTo>
                    <a:pt x="16891" y="33909"/>
                  </a:lnTo>
                  <a:close/>
                </a:path>
              </a:pathLst>
            </a:custGeom>
            <a:solidFill>
              <a:srgbClr val="5B8DB8"/>
            </a:solidFill>
          </p:spPr>
        </p:sp>
      </p:grpSp>
      <p:grpSp>
        <p:nvGrpSpPr>
          <p:cNvPr name="Group 44" id="44"/>
          <p:cNvGrpSpPr/>
          <p:nvPr/>
        </p:nvGrpSpPr>
        <p:grpSpPr>
          <a:xfrm rot="0">
            <a:off x="9862823" y="2108711"/>
            <a:ext cx="683771" cy="683771"/>
            <a:chOff x="0" y="0"/>
            <a:chExt cx="911695" cy="911695"/>
          </a:xfrm>
        </p:grpSpPr>
        <p:sp>
          <p:nvSpPr>
            <p:cNvPr name="Freeform 45" id="45"/>
            <p:cNvSpPr/>
            <p:nvPr/>
          </p:nvSpPr>
          <p:spPr>
            <a:xfrm flipH="false" flipV="false" rot="0">
              <a:off x="16891" y="16891"/>
              <a:ext cx="877824" cy="877824"/>
            </a:xfrm>
            <a:custGeom>
              <a:avLst/>
              <a:gdLst/>
              <a:ahLst/>
              <a:cxnLst/>
              <a:rect r="r" b="b" t="t" l="l"/>
              <a:pathLst>
                <a:path h="877824" w="877824">
                  <a:moveTo>
                    <a:pt x="0" y="438912"/>
                  </a:moveTo>
                  <a:cubicBezTo>
                    <a:pt x="0" y="196469"/>
                    <a:pt x="196469" y="0"/>
                    <a:pt x="438912" y="0"/>
                  </a:cubicBezTo>
                  <a:cubicBezTo>
                    <a:pt x="681355" y="0"/>
                    <a:pt x="877824" y="196596"/>
                    <a:pt x="877824" y="438912"/>
                  </a:cubicBezTo>
                  <a:cubicBezTo>
                    <a:pt x="877824" y="681228"/>
                    <a:pt x="681355" y="877824"/>
                    <a:pt x="438912" y="877824"/>
                  </a:cubicBezTo>
                  <a:cubicBezTo>
                    <a:pt x="196469" y="877824"/>
                    <a:pt x="0" y="681355"/>
                    <a:pt x="0" y="438912"/>
                  </a:cubicBezTo>
                  <a:close/>
                </a:path>
              </a:pathLst>
            </a:custGeom>
            <a:solidFill>
              <a:srgbClr val="5B8DB8"/>
            </a:solidFill>
          </p:spPr>
        </p:sp>
        <p:sp>
          <p:nvSpPr>
            <p:cNvPr name="Freeform 46" id="46"/>
            <p:cNvSpPr/>
            <p:nvPr/>
          </p:nvSpPr>
          <p:spPr>
            <a:xfrm flipH="false" flipV="false" rot="0">
              <a:off x="0" y="0"/>
              <a:ext cx="911733" cy="911606"/>
            </a:xfrm>
            <a:custGeom>
              <a:avLst/>
              <a:gdLst/>
              <a:ahLst/>
              <a:cxnLst/>
              <a:rect r="r" b="b" t="t" l="l"/>
              <a:pathLst>
                <a:path h="911606" w="911733">
                  <a:moveTo>
                    <a:pt x="0" y="455803"/>
                  </a:moveTo>
                  <a:cubicBezTo>
                    <a:pt x="0" y="204089"/>
                    <a:pt x="204089" y="0"/>
                    <a:pt x="455803" y="0"/>
                  </a:cubicBezTo>
                  <a:lnTo>
                    <a:pt x="455803" y="16891"/>
                  </a:lnTo>
                  <a:lnTo>
                    <a:pt x="455803" y="0"/>
                  </a:lnTo>
                  <a:cubicBezTo>
                    <a:pt x="707644" y="0"/>
                    <a:pt x="911733" y="204089"/>
                    <a:pt x="911733" y="455803"/>
                  </a:cubicBezTo>
                  <a:cubicBezTo>
                    <a:pt x="911733" y="707517"/>
                    <a:pt x="707644" y="911606"/>
                    <a:pt x="455930" y="911606"/>
                  </a:cubicBezTo>
                  <a:lnTo>
                    <a:pt x="455930" y="894715"/>
                  </a:lnTo>
                  <a:lnTo>
                    <a:pt x="455930" y="911606"/>
                  </a:lnTo>
                  <a:cubicBezTo>
                    <a:pt x="204089" y="911733"/>
                    <a:pt x="0" y="707644"/>
                    <a:pt x="0" y="455803"/>
                  </a:cubicBezTo>
                  <a:lnTo>
                    <a:pt x="16891" y="455803"/>
                  </a:lnTo>
                  <a:lnTo>
                    <a:pt x="31242" y="464820"/>
                  </a:lnTo>
                  <a:cubicBezTo>
                    <a:pt x="27178" y="471170"/>
                    <a:pt x="19431" y="474218"/>
                    <a:pt x="12192" y="472059"/>
                  </a:cubicBezTo>
                  <a:cubicBezTo>
                    <a:pt x="4953" y="469900"/>
                    <a:pt x="0" y="463423"/>
                    <a:pt x="0" y="455803"/>
                  </a:cubicBezTo>
                  <a:moveTo>
                    <a:pt x="33909" y="455803"/>
                  </a:moveTo>
                  <a:lnTo>
                    <a:pt x="16891" y="455803"/>
                  </a:lnTo>
                  <a:lnTo>
                    <a:pt x="2540" y="446913"/>
                  </a:lnTo>
                  <a:cubicBezTo>
                    <a:pt x="6604" y="440563"/>
                    <a:pt x="14351" y="437515"/>
                    <a:pt x="21590" y="439674"/>
                  </a:cubicBezTo>
                  <a:cubicBezTo>
                    <a:pt x="28829" y="441833"/>
                    <a:pt x="33909" y="448437"/>
                    <a:pt x="33909" y="455930"/>
                  </a:cubicBezTo>
                  <a:cubicBezTo>
                    <a:pt x="33909" y="688975"/>
                    <a:pt x="222885" y="877951"/>
                    <a:pt x="455930" y="877951"/>
                  </a:cubicBezTo>
                  <a:cubicBezTo>
                    <a:pt x="688975" y="877951"/>
                    <a:pt x="877951" y="688975"/>
                    <a:pt x="877951" y="455930"/>
                  </a:cubicBezTo>
                  <a:lnTo>
                    <a:pt x="894842" y="455930"/>
                  </a:lnTo>
                  <a:lnTo>
                    <a:pt x="877951" y="455930"/>
                  </a:lnTo>
                  <a:cubicBezTo>
                    <a:pt x="877951" y="222885"/>
                    <a:pt x="688975" y="33909"/>
                    <a:pt x="455930" y="33909"/>
                  </a:cubicBezTo>
                  <a:lnTo>
                    <a:pt x="455930" y="16891"/>
                  </a:lnTo>
                  <a:lnTo>
                    <a:pt x="455930" y="33909"/>
                  </a:lnTo>
                  <a:cubicBezTo>
                    <a:pt x="222758" y="33909"/>
                    <a:pt x="33909" y="222758"/>
                    <a:pt x="33909" y="455803"/>
                  </a:cubicBezTo>
                  <a:close/>
                </a:path>
              </a:pathLst>
            </a:custGeom>
            <a:solidFill>
              <a:srgbClr val="5B8DB8"/>
            </a:solidFill>
          </p:spPr>
        </p:sp>
      </p:grpSp>
      <p:grpSp>
        <p:nvGrpSpPr>
          <p:cNvPr name="Group 47" id="47"/>
          <p:cNvGrpSpPr/>
          <p:nvPr/>
        </p:nvGrpSpPr>
        <p:grpSpPr>
          <a:xfrm rot="0">
            <a:off x="9875520" y="2121408"/>
            <a:ext cx="658368" cy="658368"/>
            <a:chOff x="0" y="0"/>
            <a:chExt cx="877824" cy="877824"/>
          </a:xfrm>
        </p:grpSpPr>
        <p:sp>
          <p:nvSpPr>
            <p:cNvPr name="Freeform 48" id="48"/>
            <p:cNvSpPr/>
            <p:nvPr/>
          </p:nvSpPr>
          <p:spPr>
            <a:xfrm flipH="false" flipV="false" rot="0">
              <a:off x="0" y="0"/>
              <a:ext cx="877824" cy="877824"/>
            </a:xfrm>
            <a:custGeom>
              <a:avLst/>
              <a:gdLst/>
              <a:ahLst/>
              <a:cxnLst/>
              <a:rect r="r" b="b" t="t" l="l"/>
              <a:pathLst>
                <a:path h="877824" w="877824">
                  <a:moveTo>
                    <a:pt x="0" y="0"/>
                  </a:moveTo>
                  <a:lnTo>
                    <a:pt x="877824" y="0"/>
                  </a:lnTo>
                  <a:lnTo>
                    <a:pt x="877824" y="877824"/>
                  </a:lnTo>
                  <a:lnTo>
                    <a:pt x="0" y="877824"/>
                  </a:lnTo>
                  <a:close/>
                </a:path>
              </a:pathLst>
            </a:custGeom>
            <a:blipFill>
              <a:blip r:embed="rId3">
                <a:alphaModFix amt="0"/>
              </a:blip>
              <a:stretch>
                <a:fillRect l="-78303" t="0" r="-78303" b="0"/>
              </a:stretch>
            </a:blipFill>
          </p:spPr>
        </p:sp>
        <p:sp>
          <p:nvSpPr>
            <p:cNvPr name="TextBox 49" id="49"/>
            <p:cNvSpPr txBox="true"/>
            <p:nvPr/>
          </p:nvSpPr>
          <p:spPr>
            <a:xfrm>
              <a:off x="0" y="9525"/>
              <a:ext cx="877824" cy="868299"/>
            </a:xfrm>
            <a:prstGeom prst="rect">
              <a:avLst/>
            </a:prstGeom>
          </p:spPr>
          <p:txBody>
            <a:bodyPr anchor="ctr" rtlCol="false" tIns="0" lIns="0" bIns="0" rIns="0"/>
            <a:lstStyle/>
            <a:p>
              <a:pPr algn="ctr">
                <a:lnSpc>
                  <a:spcPts val="2879"/>
                </a:lnSpc>
              </a:pPr>
              <a:r>
                <a:rPr lang="en-US" sz="2400" b="true">
                  <a:solidFill>
                    <a:srgbClr val="FFFFFF"/>
                  </a:solidFill>
                  <a:latin typeface="EB Garamond Semi-Bold"/>
                  <a:ea typeface="EB Garamond Semi-Bold"/>
                  <a:cs typeface="EB Garamond Semi-Bold"/>
                  <a:sym typeface="EB Garamond Semi-Bold"/>
                </a:rPr>
                <a:t>2</a:t>
              </a:r>
            </a:p>
          </p:txBody>
        </p:sp>
      </p:grpSp>
      <p:grpSp>
        <p:nvGrpSpPr>
          <p:cNvPr name="Group 50" id="50"/>
          <p:cNvGrpSpPr/>
          <p:nvPr/>
        </p:nvGrpSpPr>
        <p:grpSpPr>
          <a:xfrm rot="0">
            <a:off x="10753344" y="2176272"/>
            <a:ext cx="6675120" cy="658368"/>
            <a:chOff x="0" y="0"/>
            <a:chExt cx="8900160" cy="877824"/>
          </a:xfrm>
        </p:grpSpPr>
        <p:sp>
          <p:nvSpPr>
            <p:cNvPr name="Freeform 51" id="51"/>
            <p:cNvSpPr/>
            <p:nvPr/>
          </p:nvSpPr>
          <p:spPr>
            <a:xfrm flipH="false" flipV="false" rot="0">
              <a:off x="0" y="0"/>
              <a:ext cx="8900160" cy="877824"/>
            </a:xfrm>
            <a:custGeom>
              <a:avLst/>
              <a:gdLst/>
              <a:ahLst/>
              <a:cxnLst/>
              <a:rect r="r" b="b" t="t" l="l"/>
              <a:pathLst>
                <a:path h="877824" w="8900160">
                  <a:moveTo>
                    <a:pt x="0" y="0"/>
                  </a:moveTo>
                  <a:lnTo>
                    <a:pt x="8900160" y="0"/>
                  </a:lnTo>
                  <a:lnTo>
                    <a:pt x="8900160" y="877824"/>
                  </a:lnTo>
                  <a:lnTo>
                    <a:pt x="0" y="877824"/>
                  </a:lnTo>
                  <a:close/>
                </a:path>
              </a:pathLst>
            </a:custGeom>
            <a:blipFill>
              <a:blip r:embed="rId3">
                <a:alphaModFix amt="0"/>
              </a:blip>
              <a:stretch>
                <a:fillRect l="0" t="-147556" r="0" b="-147556"/>
              </a:stretch>
            </a:blipFill>
          </p:spPr>
        </p:sp>
        <p:sp>
          <p:nvSpPr>
            <p:cNvPr name="TextBox 52" id="52"/>
            <p:cNvSpPr txBox="true"/>
            <p:nvPr/>
          </p:nvSpPr>
          <p:spPr>
            <a:xfrm>
              <a:off x="0" y="0"/>
              <a:ext cx="8900160" cy="877824"/>
            </a:xfrm>
            <a:prstGeom prst="rect">
              <a:avLst/>
            </a:prstGeom>
          </p:spPr>
          <p:txBody>
            <a:bodyPr anchor="ctr" rtlCol="false" tIns="0" lIns="0" bIns="0" rIns="0"/>
            <a:lstStyle/>
            <a:p>
              <a:pPr algn="l">
                <a:lnSpc>
                  <a:spcPts val="3120"/>
                </a:lnSpc>
              </a:pPr>
              <a:r>
                <a:rPr lang="en-US" sz="2600" b="true">
                  <a:solidFill>
                    <a:srgbClr val="1C2E40"/>
                  </a:solidFill>
                  <a:latin typeface="EB Garamond Semi-Bold"/>
                  <a:ea typeface="EB Garamond Semi-Bold"/>
                  <a:cs typeface="EB Garamond Semi-Bold"/>
                  <a:sym typeface="EB Garamond Semi-Bold"/>
                </a:rPr>
                <a:t>Composition du ménage</a:t>
              </a:r>
            </a:p>
          </p:txBody>
        </p:sp>
      </p:grpSp>
      <p:grpSp>
        <p:nvGrpSpPr>
          <p:cNvPr name="Group 53" id="53"/>
          <p:cNvGrpSpPr/>
          <p:nvPr/>
        </p:nvGrpSpPr>
        <p:grpSpPr>
          <a:xfrm rot="0">
            <a:off x="9875520" y="3017520"/>
            <a:ext cx="7589520" cy="640080"/>
            <a:chOff x="0" y="0"/>
            <a:chExt cx="10119360" cy="853440"/>
          </a:xfrm>
        </p:grpSpPr>
        <p:sp>
          <p:nvSpPr>
            <p:cNvPr name="Freeform 54" id="54"/>
            <p:cNvSpPr/>
            <p:nvPr/>
          </p:nvSpPr>
          <p:spPr>
            <a:xfrm flipH="false" flipV="false" rot="0">
              <a:off x="0" y="0"/>
              <a:ext cx="10119360" cy="853440"/>
            </a:xfrm>
            <a:custGeom>
              <a:avLst/>
              <a:gdLst/>
              <a:ahLst/>
              <a:cxnLst/>
              <a:rect r="r" b="b" t="t" l="l"/>
              <a:pathLst>
                <a:path h="853440" w="10119360">
                  <a:moveTo>
                    <a:pt x="0" y="0"/>
                  </a:moveTo>
                  <a:lnTo>
                    <a:pt x="10119360" y="0"/>
                  </a:lnTo>
                  <a:lnTo>
                    <a:pt x="10119360" y="853440"/>
                  </a:lnTo>
                  <a:lnTo>
                    <a:pt x="0" y="853440"/>
                  </a:lnTo>
                  <a:close/>
                </a:path>
              </a:pathLst>
            </a:custGeom>
            <a:blipFill>
              <a:blip r:embed="rId3">
                <a:alphaModFix amt="0"/>
              </a:blip>
              <a:stretch>
                <a:fillRect l="0" t="-181036" r="0" b="-181036"/>
              </a:stretch>
            </a:blipFill>
          </p:spPr>
        </p:sp>
        <p:sp>
          <p:nvSpPr>
            <p:cNvPr name="TextBox 55" id="55"/>
            <p:cNvSpPr txBox="true"/>
            <p:nvPr/>
          </p:nvSpPr>
          <p:spPr>
            <a:xfrm>
              <a:off x="0" y="-9525"/>
              <a:ext cx="10119360" cy="862965"/>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Codebook des variables de taille</a:t>
              </a:r>
            </a:p>
          </p:txBody>
        </p:sp>
      </p:grpSp>
      <p:grpSp>
        <p:nvGrpSpPr>
          <p:cNvPr name="Group 56" id="56"/>
          <p:cNvGrpSpPr/>
          <p:nvPr/>
        </p:nvGrpSpPr>
        <p:grpSpPr>
          <a:xfrm rot="0">
            <a:off x="9875520" y="3712464"/>
            <a:ext cx="7589520" cy="640080"/>
            <a:chOff x="0" y="0"/>
            <a:chExt cx="10119360" cy="853440"/>
          </a:xfrm>
        </p:grpSpPr>
        <p:sp>
          <p:nvSpPr>
            <p:cNvPr name="Freeform 57" id="57"/>
            <p:cNvSpPr/>
            <p:nvPr/>
          </p:nvSpPr>
          <p:spPr>
            <a:xfrm flipH="false" flipV="false" rot="0">
              <a:off x="0" y="0"/>
              <a:ext cx="10119360" cy="853440"/>
            </a:xfrm>
            <a:custGeom>
              <a:avLst/>
              <a:gdLst/>
              <a:ahLst/>
              <a:cxnLst/>
              <a:rect r="r" b="b" t="t" l="l"/>
              <a:pathLst>
                <a:path h="853440" w="10119360">
                  <a:moveTo>
                    <a:pt x="0" y="0"/>
                  </a:moveTo>
                  <a:lnTo>
                    <a:pt x="10119360" y="0"/>
                  </a:lnTo>
                  <a:lnTo>
                    <a:pt x="10119360" y="853440"/>
                  </a:lnTo>
                  <a:lnTo>
                    <a:pt x="0" y="853440"/>
                  </a:lnTo>
                  <a:close/>
                </a:path>
              </a:pathLst>
            </a:custGeom>
            <a:blipFill>
              <a:blip r:embed="rId3">
                <a:alphaModFix amt="0"/>
              </a:blip>
              <a:stretch>
                <a:fillRect l="0" t="-181036" r="0" b="-181036"/>
              </a:stretch>
            </a:blipFill>
          </p:spPr>
        </p:sp>
        <p:sp>
          <p:nvSpPr>
            <p:cNvPr name="TextBox 58" id="58"/>
            <p:cNvSpPr txBox="true"/>
            <p:nvPr/>
          </p:nvSpPr>
          <p:spPr>
            <a:xfrm>
              <a:off x="0" y="-9525"/>
              <a:ext cx="10119360" cy="862965"/>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Drop Nombretotaldepersonnes (incohérente vs membres déclarés)</a:t>
              </a:r>
            </a:p>
          </p:txBody>
        </p:sp>
      </p:grpSp>
      <p:grpSp>
        <p:nvGrpSpPr>
          <p:cNvPr name="Group 59" id="59"/>
          <p:cNvGrpSpPr/>
          <p:nvPr/>
        </p:nvGrpSpPr>
        <p:grpSpPr>
          <a:xfrm rot="0">
            <a:off x="9875520" y="4407408"/>
            <a:ext cx="7589520" cy="640080"/>
            <a:chOff x="0" y="0"/>
            <a:chExt cx="10119360" cy="853440"/>
          </a:xfrm>
        </p:grpSpPr>
        <p:sp>
          <p:nvSpPr>
            <p:cNvPr name="Freeform 60" id="60"/>
            <p:cNvSpPr/>
            <p:nvPr/>
          </p:nvSpPr>
          <p:spPr>
            <a:xfrm flipH="false" flipV="false" rot="0">
              <a:off x="0" y="0"/>
              <a:ext cx="10119360" cy="853440"/>
            </a:xfrm>
            <a:custGeom>
              <a:avLst/>
              <a:gdLst/>
              <a:ahLst/>
              <a:cxnLst/>
              <a:rect r="r" b="b" t="t" l="l"/>
              <a:pathLst>
                <a:path h="853440" w="10119360">
                  <a:moveTo>
                    <a:pt x="0" y="0"/>
                  </a:moveTo>
                  <a:lnTo>
                    <a:pt x="10119360" y="0"/>
                  </a:lnTo>
                  <a:lnTo>
                    <a:pt x="10119360" y="853440"/>
                  </a:lnTo>
                  <a:lnTo>
                    <a:pt x="0" y="853440"/>
                  </a:lnTo>
                  <a:close/>
                </a:path>
              </a:pathLst>
            </a:custGeom>
            <a:blipFill>
              <a:blip r:embed="rId3">
                <a:alphaModFix amt="0"/>
              </a:blip>
              <a:stretch>
                <a:fillRect l="0" t="-181036" r="0" b="-181036"/>
              </a:stretch>
            </a:blipFill>
          </p:spPr>
        </p:sp>
        <p:sp>
          <p:nvSpPr>
            <p:cNvPr name="TextBox 61" id="61"/>
            <p:cNvSpPr txBox="true"/>
            <p:nvPr/>
          </p:nvSpPr>
          <p:spPr>
            <a:xfrm>
              <a:off x="0" y="-9525"/>
              <a:ext cx="10119360" cy="862965"/>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Recalcul HHsize = somme des membres</a:t>
              </a:r>
            </a:p>
          </p:txBody>
        </p:sp>
      </p:grpSp>
      <p:grpSp>
        <p:nvGrpSpPr>
          <p:cNvPr name="Group 62" id="62"/>
          <p:cNvGrpSpPr/>
          <p:nvPr/>
        </p:nvGrpSpPr>
        <p:grpSpPr>
          <a:xfrm rot="0">
            <a:off x="9875520" y="5102352"/>
            <a:ext cx="7589520" cy="640080"/>
            <a:chOff x="0" y="0"/>
            <a:chExt cx="10119360" cy="853440"/>
          </a:xfrm>
        </p:grpSpPr>
        <p:sp>
          <p:nvSpPr>
            <p:cNvPr name="Freeform 63" id="63"/>
            <p:cNvSpPr/>
            <p:nvPr/>
          </p:nvSpPr>
          <p:spPr>
            <a:xfrm flipH="false" flipV="false" rot="0">
              <a:off x="0" y="0"/>
              <a:ext cx="10119360" cy="853440"/>
            </a:xfrm>
            <a:custGeom>
              <a:avLst/>
              <a:gdLst/>
              <a:ahLst/>
              <a:cxnLst/>
              <a:rect r="r" b="b" t="t" l="l"/>
              <a:pathLst>
                <a:path h="853440" w="10119360">
                  <a:moveTo>
                    <a:pt x="0" y="0"/>
                  </a:moveTo>
                  <a:lnTo>
                    <a:pt x="10119360" y="0"/>
                  </a:lnTo>
                  <a:lnTo>
                    <a:pt x="10119360" y="853440"/>
                  </a:lnTo>
                  <a:lnTo>
                    <a:pt x="0" y="853440"/>
                  </a:lnTo>
                  <a:close/>
                </a:path>
              </a:pathLst>
            </a:custGeom>
            <a:blipFill>
              <a:blip r:embed="rId3">
                <a:alphaModFix amt="0"/>
              </a:blip>
              <a:stretch>
                <a:fillRect l="0" t="-181036" r="0" b="-181036"/>
              </a:stretch>
            </a:blipFill>
          </p:spPr>
        </p:sp>
        <p:sp>
          <p:nvSpPr>
            <p:cNvPr name="TextBox 64" id="64"/>
            <p:cNvSpPr txBox="true"/>
            <p:nvPr/>
          </p:nvSpPr>
          <p:spPr>
            <a:xfrm>
              <a:off x="0" y="-9525"/>
              <a:ext cx="10119360" cy="862965"/>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HHsizeEA : enfants &lt;12 ans → coeff 0,5</a:t>
              </a:r>
            </a:p>
          </p:txBody>
        </p:sp>
      </p:grpSp>
      <p:grpSp>
        <p:nvGrpSpPr>
          <p:cNvPr name="Group 65" id="65"/>
          <p:cNvGrpSpPr/>
          <p:nvPr/>
        </p:nvGrpSpPr>
        <p:grpSpPr>
          <a:xfrm rot="0">
            <a:off x="627383" y="6228721"/>
            <a:ext cx="8252450" cy="3939407"/>
            <a:chOff x="0" y="0"/>
            <a:chExt cx="11003267" cy="5252542"/>
          </a:xfrm>
        </p:grpSpPr>
        <p:grpSp>
          <p:nvGrpSpPr>
            <p:cNvPr name="Group 66" id="66"/>
            <p:cNvGrpSpPr/>
            <p:nvPr/>
          </p:nvGrpSpPr>
          <p:grpSpPr>
            <a:xfrm rot="0">
              <a:off x="3378" y="3258"/>
              <a:ext cx="10999889" cy="5246003"/>
              <a:chOff x="0" y="0"/>
              <a:chExt cx="10999889" cy="5246003"/>
            </a:xfrm>
          </p:grpSpPr>
          <p:sp>
            <p:nvSpPr>
              <p:cNvPr name="Freeform 67" id="67"/>
              <p:cNvSpPr/>
              <p:nvPr/>
            </p:nvSpPr>
            <p:spPr>
              <a:xfrm flipH="false" flipV="false" rot="0">
                <a:off x="13589" y="13104"/>
                <a:ext cx="10972800" cy="5219759"/>
              </a:xfrm>
              <a:custGeom>
                <a:avLst/>
                <a:gdLst/>
                <a:ahLst/>
                <a:cxnLst/>
                <a:rect r="r" b="b" t="t" l="l"/>
                <a:pathLst>
                  <a:path h="5219759" w="10972800">
                    <a:moveTo>
                      <a:pt x="0" y="235129"/>
                    </a:moveTo>
                    <a:cubicBezTo>
                      <a:pt x="0" y="105196"/>
                      <a:pt x="109474" y="0"/>
                      <a:pt x="244475" y="0"/>
                    </a:cubicBezTo>
                    <a:lnTo>
                      <a:pt x="10728325" y="0"/>
                    </a:lnTo>
                    <a:cubicBezTo>
                      <a:pt x="10863326" y="0"/>
                      <a:pt x="10972800" y="105318"/>
                      <a:pt x="10972800" y="235129"/>
                    </a:cubicBezTo>
                    <a:lnTo>
                      <a:pt x="10972800" y="4984629"/>
                    </a:lnTo>
                    <a:cubicBezTo>
                      <a:pt x="10972800" y="5114562"/>
                      <a:pt x="10863326" y="5219758"/>
                      <a:pt x="10728325" y="5219758"/>
                    </a:cubicBezTo>
                    <a:lnTo>
                      <a:pt x="244475" y="5219758"/>
                    </a:lnTo>
                    <a:cubicBezTo>
                      <a:pt x="109474" y="5219758"/>
                      <a:pt x="0" y="5114440"/>
                      <a:pt x="0" y="4984629"/>
                    </a:cubicBezTo>
                    <a:close/>
                  </a:path>
                </a:pathLst>
              </a:custGeom>
              <a:solidFill>
                <a:srgbClr val="FFFFFF"/>
              </a:solidFill>
            </p:spPr>
          </p:sp>
          <p:sp>
            <p:nvSpPr>
              <p:cNvPr name="Freeform 68" id="68"/>
              <p:cNvSpPr/>
              <p:nvPr/>
            </p:nvSpPr>
            <p:spPr>
              <a:xfrm flipH="false" flipV="false" rot="0">
                <a:off x="0" y="0"/>
                <a:ext cx="10999978" cy="5245966"/>
              </a:xfrm>
              <a:custGeom>
                <a:avLst/>
                <a:gdLst/>
                <a:ahLst/>
                <a:cxnLst/>
                <a:rect r="r" b="b" t="t" l="l"/>
                <a:pathLst>
                  <a:path h="5245966" w="10999978">
                    <a:moveTo>
                      <a:pt x="0" y="248233"/>
                    </a:moveTo>
                    <a:cubicBezTo>
                      <a:pt x="0" y="111074"/>
                      <a:pt x="115570" y="0"/>
                      <a:pt x="258064" y="0"/>
                    </a:cubicBezTo>
                    <a:lnTo>
                      <a:pt x="10741914" y="0"/>
                    </a:lnTo>
                    <a:lnTo>
                      <a:pt x="10741914" y="13104"/>
                    </a:lnTo>
                    <a:lnTo>
                      <a:pt x="10741914" y="0"/>
                    </a:lnTo>
                    <a:cubicBezTo>
                      <a:pt x="10884408" y="0"/>
                      <a:pt x="10999978" y="111074"/>
                      <a:pt x="10999978" y="248233"/>
                    </a:cubicBezTo>
                    <a:lnTo>
                      <a:pt x="10986389" y="248233"/>
                    </a:lnTo>
                    <a:lnTo>
                      <a:pt x="10999978" y="248233"/>
                    </a:lnTo>
                    <a:lnTo>
                      <a:pt x="10999978" y="4997733"/>
                    </a:lnTo>
                    <a:lnTo>
                      <a:pt x="10986389" y="4997733"/>
                    </a:lnTo>
                    <a:lnTo>
                      <a:pt x="10999978" y="4997733"/>
                    </a:lnTo>
                    <a:cubicBezTo>
                      <a:pt x="10999978" y="5134892"/>
                      <a:pt x="10884408" y="5245966"/>
                      <a:pt x="10741914" y="5245966"/>
                    </a:cubicBezTo>
                    <a:lnTo>
                      <a:pt x="10741914" y="5232862"/>
                    </a:lnTo>
                    <a:lnTo>
                      <a:pt x="10741914" y="5245966"/>
                    </a:lnTo>
                    <a:lnTo>
                      <a:pt x="258064" y="5245966"/>
                    </a:lnTo>
                    <a:lnTo>
                      <a:pt x="258064" y="5232862"/>
                    </a:lnTo>
                    <a:lnTo>
                      <a:pt x="258064" y="5245966"/>
                    </a:lnTo>
                    <a:cubicBezTo>
                      <a:pt x="115570" y="5245966"/>
                      <a:pt x="0" y="5134892"/>
                      <a:pt x="0" y="4997733"/>
                    </a:cubicBezTo>
                    <a:lnTo>
                      <a:pt x="0" y="248233"/>
                    </a:lnTo>
                    <a:lnTo>
                      <a:pt x="13589" y="248233"/>
                    </a:lnTo>
                    <a:lnTo>
                      <a:pt x="0" y="248233"/>
                    </a:lnTo>
                    <a:moveTo>
                      <a:pt x="27051" y="248233"/>
                    </a:moveTo>
                    <a:lnTo>
                      <a:pt x="27051" y="4997733"/>
                    </a:lnTo>
                    <a:lnTo>
                      <a:pt x="13589" y="4997733"/>
                    </a:lnTo>
                    <a:lnTo>
                      <a:pt x="27051" y="4997733"/>
                    </a:lnTo>
                    <a:cubicBezTo>
                      <a:pt x="27051" y="5120318"/>
                      <a:pt x="130429" y="5219881"/>
                      <a:pt x="257937" y="5219881"/>
                    </a:cubicBezTo>
                    <a:lnTo>
                      <a:pt x="10741787" y="5219881"/>
                    </a:lnTo>
                    <a:cubicBezTo>
                      <a:pt x="10869422" y="5219881"/>
                      <a:pt x="10972673" y="5120441"/>
                      <a:pt x="10972673" y="4997733"/>
                    </a:cubicBezTo>
                    <a:lnTo>
                      <a:pt x="10972673" y="248233"/>
                    </a:lnTo>
                    <a:cubicBezTo>
                      <a:pt x="10972673" y="125647"/>
                      <a:pt x="10869295" y="26085"/>
                      <a:pt x="10741787" y="26085"/>
                    </a:cubicBezTo>
                    <a:lnTo>
                      <a:pt x="258064" y="26085"/>
                    </a:lnTo>
                    <a:lnTo>
                      <a:pt x="258064" y="13104"/>
                    </a:lnTo>
                    <a:lnTo>
                      <a:pt x="258064" y="26085"/>
                    </a:lnTo>
                    <a:cubicBezTo>
                      <a:pt x="130429" y="26085"/>
                      <a:pt x="27178" y="125525"/>
                      <a:pt x="27178" y="248233"/>
                    </a:cubicBezTo>
                    <a:close/>
                  </a:path>
                </a:pathLst>
              </a:custGeom>
              <a:solidFill>
                <a:srgbClr val="BDC8D5"/>
              </a:solidFill>
            </p:spPr>
          </p:sp>
        </p:grpSp>
        <p:grpSp>
          <p:nvGrpSpPr>
            <p:cNvPr name="Group 69" id="69"/>
            <p:cNvGrpSpPr/>
            <p:nvPr/>
          </p:nvGrpSpPr>
          <p:grpSpPr>
            <a:xfrm rot="0">
              <a:off x="0" y="0"/>
              <a:ext cx="204559" cy="5252542"/>
              <a:chOff x="0" y="0"/>
              <a:chExt cx="204559" cy="5252542"/>
            </a:xfrm>
          </p:grpSpPr>
          <p:sp>
            <p:nvSpPr>
              <p:cNvPr name="Freeform 70" id="70"/>
              <p:cNvSpPr/>
              <p:nvPr/>
            </p:nvSpPr>
            <p:spPr>
              <a:xfrm flipH="false" flipV="false" rot="0">
                <a:off x="16891" y="16288"/>
                <a:ext cx="170688" cy="5219881"/>
              </a:xfrm>
              <a:custGeom>
                <a:avLst/>
                <a:gdLst/>
                <a:ahLst/>
                <a:cxnLst/>
                <a:rect r="r" b="b" t="t" l="l"/>
                <a:pathLst>
                  <a:path h="5219881" w="170688">
                    <a:moveTo>
                      <a:pt x="0" y="0"/>
                    </a:moveTo>
                    <a:lnTo>
                      <a:pt x="170688" y="0"/>
                    </a:lnTo>
                    <a:lnTo>
                      <a:pt x="170688" y="5219881"/>
                    </a:lnTo>
                    <a:lnTo>
                      <a:pt x="0" y="5219881"/>
                    </a:lnTo>
                    <a:close/>
                  </a:path>
                </a:pathLst>
              </a:custGeom>
              <a:solidFill>
                <a:srgbClr val="C89A3E"/>
              </a:solidFill>
            </p:spPr>
          </p:sp>
          <p:sp>
            <p:nvSpPr>
              <p:cNvPr name="Freeform 71" id="71"/>
              <p:cNvSpPr/>
              <p:nvPr/>
            </p:nvSpPr>
            <p:spPr>
              <a:xfrm flipH="false" flipV="false" rot="0">
                <a:off x="0" y="0"/>
                <a:ext cx="204470" cy="5252457"/>
              </a:xfrm>
              <a:custGeom>
                <a:avLst/>
                <a:gdLst/>
                <a:ahLst/>
                <a:cxnLst/>
                <a:rect r="r" b="b" t="t" l="l"/>
                <a:pathLst>
                  <a:path h="5252457" w="204470">
                    <a:moveTo>
                      <a:pt x="16891" y="0"/>
                    </a:moveTo>
                    <a:lnTo>
                      <a:pt x="187579" y="0"/>
                    </a:lnTo>
                    <a:cubicBezTo>
                      <a:pt x="196977" y="0"/>
                      <a:pt x="204470" y="7348"/>
                      <a:pt x="204470" y="16288"/>
                    </a:cubicBezTo>
                    <a:lnTo>
                      <a:pt x="204470" y="5236169"/>
                    </a:lnTo>
                    <a:cubicBezTo>
                      <a:pt x="204470" y="5245231"/>
                      <a:pt x="196850" y="5252457"/>
                      <a:pt x="187579" y="5252457"/>
                    </a:cubicBezTo>
                    <a:lnTo>
                      <a:pt x="16891" y="5252457"/>
                    </a:lnTo>
                    <a:cubicBezTo>
                      <a:pt x="7493" y="5252457"/>
                      <a:pt x="0" y="5245109"/>
                      <a:pt x="0" y="5236169"/>
                    </a:cubicBezTo>
                    <a:lnTo>
                      <a:pt x="0" y="16288"/>
                    </a:lnTo>
                    <a:cubicBezTo>
                      <a:pt x="0" y="7348"/>
                      <a:pt x="7620" y="0"/>
                      <a:pt x="16891" y="0"/>
                    </a:cubicBezTo>
                    <a:moveTo>
                      <a:pt x="16891" y="32698"/>
                    </a:moveTo>
                    <a:lnTo>
                      <a:pt x="16891" y="16288"/>
                    </a:lnTo>
                    <a:lnTo>
                      <a:pt x="33909" y="16288"/>
                    </a:lnTo>
                    <a:lnTo>
                      <a:pt x="33909" y="5236169"/>
                    </a:lnTo>
                    <a:lnTo>
                      <a:pt x="16891" y="5236169"/>
                    </a:lnTo>
                    <a:lnTo>
                      <a:pt x="16891" y="5219881"/>
                    </a:lnTo>
                    <a:lnTo>
                      <a:pt x="187579" y="5219881"/>
                    </a:lnTo>
                    <a:lnTo>
                      <a:pt x="187579" y="5236169"/>
                    </a:lnTo>
                    <a:lnTo>
                      <a:pt x="170688" y="5236169"/>
                    </a:lnTo>
                    <a:lnTo>
                      <a:pt x="170688" y="16288"/>
                    </a:lnTo>
                    <a:lnTo>
                      <a:pt x="187579" y="16288"/>
                    </a:lnTo>
                    <a:lnTo>
                      <a:pt x="187579" y="32698"/>
                    </a:lnTo>
                    <a:lnTo>
                      <a:pt x="16891" y="32698"/>
                    </a:lnTo>
                    <a:close/>
                  </a:path>
                </a:pathLst>
              </a:custGeom>
              <a:solidFill>
                <a:srgbClr val="C89A3E"/>
              </a:solidFill>
            </p:spPr>
          </p:sp>
        </p:grpSp>
        <p:grpSp>
          <p:nvGrpSpPr>
            <p:cNvPr name="Group 72" id="72"/>
            <p:cNvGrpSpPr/>
            <p:nvPr/>
          </p:nvGrpSpPr>
          <p:grpSpPr>
            <a:xfrm rot="0">
              <a:off x="487680" y="188104"/>
              <a:ext cx="911695" cy="879128"/>
              <a:chOff x="0" y="0"/>
              <a:chExt cx="911695" cy="879128"/>
            </a:xfrm>
          </p:grpSpPr>
          <p:sp>
            <p:nvSpPr>
              <p:cNvPr name="Freeform 73" id="73"/>
              <p:cNvSpPr/>
              <p:nvPr/>
            </p:nvSpPr>
            <p:spPr>
              <a:xfrm flipH="false" flipV="false" rot="0">
                <a:off x="16891" y="16288"/>
                <a:ext cx="877824" cy="846467"/>
              </a:xfrm>
              <a:custGeom>
                <a:avLst/>
                <a:gdLst/>
                <a:ahLst/>
                <a:cxnLst/>
                <a:rect r="r" b="b" t="t" l="l"/>
                <a:pathLst>
                  <a:path h="846467" w="877824">
                    <a:moveTo>
                      <a:pt x="0" y="423233"/>
                    </a:moveTo>
                    <a:cubicBezTo>
                      <a:pt x="0" y="189451"/>
                      <a:pt x="196469" y="0"/>
                      <a:pt x="438912" y="0"/>
                    </a:cubicBezTo>
                    <a:cubicBezTo>
                      <a:pt x="681355" y="0"/>
                      <a:pt x="877824" y="189573"/>
                      <a:pt x="877824" y="423233"/>
                    </a:cubicBezTo>
                    <a:cubicBezTo>
                      <a:pt x="877824" y="656893"/>
                      <a:pt x="681355" y="846467"/>
                      <a:pt x="438912" y="846467"/>
                    </a:cubicBezTo>
                    <a:cubicBezTo>
                      <a:pt x="196469" y="846467"/>
                      <a:pt x="0" y="657016"/>
                      <a:pt x="0" y="423233"/>
                    </a:cubicBezTo>
                    <a:close/>
                  </a:path>
                </a:pathLst>
              </a:custGeom>
              <a:solidFill>
                <a:srgbClr val="C89A3E"/>
              </a:solidFill>
            </p:spPr>
          </p:sp>
          <p:sp>
            <p:nvSpPr>
              <p:cNvPr name="Freeform 74" id="74"/>
              <p:cNvSpPr/>
              <p:nvPr/>
            </p:nvSpPr>
            <p:spPr>
              <a:xfrm flipH="false" flipV="false" rot="0">
                <a:off x="0" y="0"/>
                <a:ext cx="911733" cy="879043"/>
              </a:xfrm>
              <a:custGeom>
                <a:avLst/>
                <a:gdLst/>
                <a:ahLst/>
                <a:cxnLst/>
                <a:rect r="r" b="b" t="t" l="l"/>
                <a:pathLst>
                  <a:path h="879043" w="911733">
                    <a:moveTo>
                      <a:pt x="0" y="439521"/>
                    </a:moveTo>
                    <a:cubicBezTo>
                      <a:pt x="0" y="196799"/>
                      <a:pt x="204089" y="0"/>
                      <a:pt x="455803" y="0"/>
                    </a:cubicBezTo>
                    <a:lnTo>
                      <a:pt x="455803" y="16288"/>
                    </a:lnTo>
                    <a:lnTo>
                      <a:pt x="455803" y="0"/>
                    </a:lnTo>
                    <a:cubicBezTo>
                      <a:pt x="707644" y="0"/>
                      <a:pt x="911733" y="196799"/>
                      <a:pt x="911733" y="439521"/>
                    </a:cubicBezTo>
                    <a:cubicBezTo>
                      <a:pt x="911733" y="682244"/>
                      <a:pt x="707644" y="879042"/>
                      <a:pt x="455930" y="879042"/>
                    </a:cubicBezTo>
                    <a:lnTo>
                      <a:pt x="455930" y="862755"/>
                    </a:lnTo>
                    <a:lnTo>
                      <a:pt x="455930" y="879042"/>
                    </a:lnTo>
                    <a:cubicBezTo>
                      <a:pt x="204089" y="879166"/>
                      <a:pt x="0" y="682366"/>
                      <a:pt x="0" y="439521"/>
                    </a:cubicBezTo>
                    <a:lnTo>
                      <a:pt x="16891" y="439521"/>
                    </a:lnTo>
                    <a:lnTo>
                      <a:pt x="31242" y="448216"/>
                    </a:lnTo>
                    <a:cubicBezTo>
                      <a:pt x="27178" y="454339"/>
                      <a:pt x="19431" y="457278"/>
                      <a:pt x="12192" y="455197"/>
                    </a:cubicBezTo>
                    <a:cubicBezTo>
                      <a:pt x="4953" y="453115"/>
                      <a:pt x="0" y="446869"/>
                      <a:pt x="0" y="439521"/>
                    </a:cubicBezTo>
                    <a:moveTo>
                      <a:pt x="33909" y="439521"/>
                    </a:moveTo>
                    <a:lnTo>
                      <a:pt x="16891" y="439521"/>
                    </a:lnTo>
                    <a:lnTo>
                      <a:pt x="2540" y="430949"/>
                    </a:lnTo>
                    <a:cubicBezTo>
                      <a:pt x="6604" y="424826"/>
                      <a:pt x="14351" y="421886"/>
                      <a:pt x="21590" y="423968"/>
                    </a:cubicBezTo>
                    <a:cubicBezTo>
                      <a:pt x="28829" y="426050"/>
                      <a:pt x="33909" y="432418"/>
                      <a:pt x="33909" y="439644"/>
                    </a:cubicBezTo>
                    <a:cubicBezTo>
                      <a:pt x="33909" y="664364"/>
                      <a:pt x="222885" y="846590"/>
                      <a:pt x="455930" y="846590"/>
                    </a:cubicBezTo>
                    <a:cubicBezTo>
                      <a:pt x="688975" y="846590"/>
                      <a:pt x="877951" y="664364"/>
                      <a:pt x="877951" y="439644"/>
                    </a:cubicBezTo>
                    <a:lnTo>
                      <a:pt x="894842" y="439644"/>
                    </a:lnTo>
                    <a:lnTo>
                      <a:pt x="877951" y="439644"/>
                    </a:lnTo>
                    <a:cubicBezTo>
                      <a:pt x="877951" y="214923"/>
                      <a:pt x="688975" y="32698"/>
                      <a:pt x="455930" y="32698"/>
                    </a:cubicBezTo>
                    <a:lnTo>
                      <a:pt x="455930" y="16288"/>
                    </a:lnTo>
                    <a:lnTo>
                      <a:pt x="455930" y="32698"/>
                    </a:lnTo>
                    <a:cubicBezTo>
                      <a:pt x="222758" y="32698"/>
                      <a:pt x="33909" y="214801"/>
                      <a:pt x="33909" y="439521"/>
                    </a:cubicBezTo>
                    <a:close/>
                  </a:path>
                </a:pathLst>
              </a:custGeom>
              <a:solidFill>
                <a:srgbClr val="C89A3E"/>
              </a:solidFill>
            </p:spPr>
          </p:sp>
        </p:grpSp>
        <p:grpSp>
          <p:nvGrpSpPr>
            <p:cNvPr name="Group 75" id="75"/>
            <p:cNvGrpSpPr/>
            <p:nvPr/>
          </p:nvGrpSpPr>
          <p:grpSpPr>
            <a:xfrm rot="0">
              <a:off x="504609" y="204428"/>
              <a:ext cx="877824" cy="846467"/>
              <a:chOff x="0" y="0"/>
              <a:chExt cx="877824" cy="846467"/>
            </a:xfrm>
          </p:grpSpPr>
          <p:sp>
            <p:nvSpPr>
              <p:cNvPr name="Freeform 76" id="76"/>
              <p:cNvSpPr/>
              <p:nvPr/>
            </p:nvSpPr>
            <p:spPr>
              <a:xfrm flipH="false" flipV="false" rot="0">
                <a:off x="0" y="0"/>
                <a:ext cx="877824" cy="846467"/>
              </a:xfrm>
              <a:custGeom>
                <a:avLst/>
                <a:gdLst/>
                <a:ahLst/>
                <a:cxnLst/>
                <a:rect r="r" b="b" t="t" l="l"/>
                <a:pathLst>
                  <a:path h="846467" w="877824">
                    <a:moveTo>
                      <a:pt x="0" y="0"/>
                    </a:moveTo>
                    <a:lnTo>
                      <a:pt x="877824" y="0"/>
                    </a:lnTo>
                    <a:lnTo>
                      <a:pt x="877824" y="846467"/>
                    </a:lnTo>
                    <a:lnTo>
                      <a:pt x="0" y="846467"/>
                    </a:lnTo>
                    <a:close/>
                  </a:path>
                </a:pathLst>
              </a:custGeom>
              <a:blipFill>
                <a:blip r:embed="rId3">
                  <a:alphaModFix amt="0"/>
                </a:blip>
                <a:stretch>
                  <a:fillRect l="-78303" t="0" r="-78303" b="-3704"/>
                </a:stretch>
              </a:blipFill>
            </p:spPr>
          </p:sp>
          <p:sp>
            <p:nvSpPr>
              <p:cNvPr name="TextBox 77" id="77"/>
              <p:cNvSpPr txBox="true"/>
              <p:nvPr/>
            </p:nvSpPr>
            <p:spPr>
              <a:xfrm>
                <a:off x="0" y="9525"/>
                <a:ext cx="877824" cy="836942"/>
              </a:xfrm>
              <a:prstGeom prst="rect">
                <a:avLst/>
              </a:prstGeom>
            </p:spPr>
            <p:txBody>
              <a:bodyPr anchor="ctr" rtlCol="false" tIns="0" lIns="0" bIns="0" rIns="0"/>
              <a:lstStyle/>
              <a:p>
                <a:pPr algn="ctr">
                  <a:lnSpc>
                    <a:spcPts val="2879"/>
                  </a:lnSpc>
                </a:pPr>
                <a:r>
                  <a:rPr lang="en-US" sz="2400" b="true">
                    <a:solidFill>
                      <a:srgbClr val="FFFFFF"/>
                    </a:solidFill>
                    <a:latin typeface="EB Garamond Semi-Bold"/>
                    <a:ea typeface="EB Garamond Semi-Bold"/>
                    <a:cs typeface="EB Garamond Semi-Bold"/>
                    <a:sym typeface="EB Garamond Semi-Bold"/>
                  </a:rPr>
                  <a:t>3</a:t>
                </a:r>
              </a:p>
            </p:txBody>
          </p:sp>
        </p:grpSp>
        <p:grpSp>
          <p:nvGrpSpPr>
            <p:cNvPr name="Group 78" id="78"/>
            <p:cNvGrpSpPr/>
            <p:nvPr/>
          </p:nvGrpSpPr>
          <p:grpSpPr>
            <a:xfrm rot="0">
              <a:off x="1675041" y="274967"/>
              <a:ext cx="8900160" cy="846467"/>
              <a:chOff x="0" y="0"/>
              <a:chExt cx="8900160" cy="846467"/>
            </a:xfrm>
          </p:grpSpPr>
          <p:sp>
            <p:nvSpPr>
              <p:cNvPr name="Freeform 79" id="79"/>
              <p:cNvSpPr/>
              <p:nvPr/>
            </p:nvSpPr>
            <p:spPr>
              <a:xfrm flipH="false" flipV="false" rot="0">
                <a:off x="0" y="0"/>
                <a:ext cx="8900160" cy="846467"/>
              </a:xfrm>
              <a:custGeom>
                <a:avLst/>
                <a:gdLst/>
                <a:ahLst/>
                <a:cxnLst/>
                <a:rect r="r" b="b" t="t" l="l"/>
                <a:pathLst>
                  <a:path h="846467" w="8900160">
                    <a:moveTo>
                      <a:pt x="0" y="0"/>
                    </a:moveTo>
                    <a:lnTo>
                      <a:pt x="8900160" y="0"/>
                    </a:lnTo>
                    <a:lnTo>
                      <a:pt x="8900160" y="846467"/>
                    </a:lnTo>
                    <a:lnTo>
                      <a:pt x="0" y="846467"/>
                    </a:lnTo>
                    <a:close/>
                  </a:path>
                </a:pathLst>
              </a:custGeom>
              <a:blipFill>
                <a:blip r:embed="rId3">
                  <a:alphaModFix amt="0"/>
                </a:blip>
                <a:stretch>
                  <a:fillRect l="0" t="-153022" r="0" b="-156727"/>
                </a:stretch>
              </a:blipFill>
            </p:spPr>
          </p:sp>
          <p:sp>
            <p:nvSpPr>
              <p:cNvPr name="TextBox 80" id="80"/>
              <p:cNvSpPr txBox="true"/>
              <p:nvPr/>
            </p:nvSpPr>
            <p:spPr>
              <a:xfrm>
                <a:off x="0" y="0"/>
                <a:ext cx="8900160" cy="846467"/>
              </a:xfrm>
              <a:prstGeom prst="rect">
                <a:avLst/>
              </a:prstGeom>
            </p:spPr>
            <p:txBody>
              <a:bodyPr anchor="ctr" rtlCol="false" tIns="0" lIns="0" bIns="0" rIns="0"/>
              <a:lstStyle/>
              <a:p>
                <a:pPr algn="l">
                  <a:lnSpc>
                    <a:spcPts val="3120"/>
                  </a:lnSpc>
                </a:pPr>
                <a:r>
                  <a:rPr lang="en-US" sz="2600" b="true">
                    <a:solidFill>
                      <a:srgbClr val="1C2E40"/>
                    </a:solidFill>
                    <a:latin typeface="EB Garamond Semi-Bold"/>
                    <a:ea typeface="EB Garamond Semi-Bold"/>
                    <a:cs typeface="EB Garamond Semi-Bold"/>
                    <a:sym typeface="EB Garamond Semi-Bold"/>
                  </a:rPr>
                  <a:t>Ventes de bétail</a:t>
                </a:r>
              </a:p>
            </p:txBody>
          </p:sp>
        </p:grpSp>
        <p:grpSp>
          <p:nvGrpSpPr>
            <p:cNvPr name="Group 81" id="81"/>
            <p:cNvGrpSpPr/>
            <p:nvPr/>
          </p:nvGrpSpPr>
          <p:grpSpPr>
            <a:xfrm rot="0">
              <a:off x="504609" y="1356564"/>
              <a:ext cx="10119360" cy="822954"/>
              <a:chOff x="0" y="0"/>
              <a:chExt cx="10119360" cy="822954"/>
            </a:xfrm>
          </p:grpSpPr>
          <p:sp>
            <p:nvSpPr>
              <p:cNvPr name="Freeform 82" id="82"/>
              <p:cNvSpPr/>
              <p:nvPr/>
            </p:nvSpPr>
            <p:spPr>
              <a:xfrm flipH="false" flipV="false" rot="0">
                <a:off x="0" y="0"/>
                <a:ext cx="10119360" cy="822954"/>
              </a:xfrm>
              <a:custGeom>
                <a:avLst/>
                <a:gdLst/>
                <a:ahLst/>
                <a:cxnLst/>
                <a:rect r="r" b="b" t="t" l="l"/>
                <a:pathLst>
                  <a:path h="822954" w="10119360">
                    <a:moveTo>
                      <a:pt x="0" y="0"/>
                    </a:moveTo>
                    <a:lnTo>
                      <a:pt x="10119360" y="0"/>
                    </a:lnTo>
                    <a:lnTo>
                      <a:pt x="10119360" y="822954"/>
                    </a:lnTo>
                    <a:lnTo>
                      <a:pt x="0" y="822954"/>
                    </a:lnTo>
                    <a:close/>
                  </a:path>
                </a:pathLst>
              </a:custGeom>
              <a:blipFill>
                <a:blip r:embed="rId3">
                  <a:alphaModFix amt="0"/>
                </a:blip>
                <a:stretch>
                  <a:fillRect l="0" t="-187743" r="0" b="-191447"/>
                </a:stretch>
              </a:blipFill>
            </p:spPr>
          </p:sp>
          <p:sp>
            <p:nvSpPr>
              <p:cNvPr name="TextBox 83" id="83"/>
              <p:cNvSpPr txBox="true"/>
              <p:nvPr/>
            </p:nvSpPr>
            <p:spPr>
              <a:xfrm>
                <a:off x="0" y="-9525"/>
                <a:ext cx="10119360" cy="832479"/>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Imputation manuelle cas 'sendré' (animaux 37–50)</a:t>
                </a:r>
              </a:p>
            </p:txBody>
          </p:sp>
        </p:grpSp>
        <p:grpSp>
          <p:nvGrpSpPr>
            <p:cNvPr name="Group 84" id="84"/>
            <p:cNvGrpSpPr/>
            <p:nvPr/>
          </p:nvGrpSpPr>
          <p:grpSpPr>
            <a:xfrm rot="0">
              <a:off x="504609" y="2250057"/>
              <a:ext cx="10119360" cy="822954"/>
              <a:chOff x="0" y="0"/>
              <a:chExt cx="10119360" cy="822954"/>
            </a:xfrm>
          </p:grpSpPr>
          <p:sp>
            <p:nvSpPr>
              <p:cNvPr name="Freeform 85" id="85"/>
              <p:cNvSpPr/>
              <p:nvPr/>
            </p:nvSpPr>
            <p:spPr>
              <a:xfrm flipH="false" flipV="false" rot="0">
                <a:off x="0" y="0"/>
                <a:ext cx="10119360" cy="822954"/>
              </a:xfrm>
              <a:custGeom>
                <a:avLst/>
                <a:gdLst/>
                <a:ahLst/>
                <a:cxnLst/>
                <a:rect r="r" b="b" t="t" l="l"/>
                <a:pathLst>
                  <a:path h="822954" w="10119360">
                    <a:moveTo>
                      <a:pt x="0" y="0"/>
                    </a:moveTo>
                    <a:lnTo>
                      <a:pt x="10119360" y="0"/>
                    </a:lnTo>
                    <a:lnTo>
                      <a:pt x="10119360" y="822954"/>
                    </a:lnTo>
                    <a:lnTo>
                      <a:pt x="0" y="822954"/>
                    </a:lnTo>
                    <a:close/>
                  </a:path>
                </a:pathLst>
              </a:custGeom>
              <a:blipFill>
                <a:blip r:embed="rId3">
                  <a:alphaModFix amt="0"/>
                </a:blip>
                <a:stretch>
                  <a:fillRect l="0" t="-187743" r="0" b="-191447"/>
                </a:stretch>
              </a:blipFill>
            </p:spPr>
          </p:sp>
          <p:sp>
            <p:nvSpPr>
              <p:cNvPr name="TextBox 86" id="86"/>
              <p:cNvSpPr txBox="true"/>
              <p:nvPr/>
            </p:nvSpPr>
            <p:spPr>
              <a:xfrm>
                <a:off x="0" y="-9525"/>
                <a:ext cx="10119360" cy="832479"/>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Reshape wide→long : un animal vendu par ligne</a:t>
                </a:r>
              </a:p>
            </p:txBody>
          </p:sp>
        </p:grpSp>
        <p:grpSp>
          <p:nvGrpSpPr>
            <p:cNvPr name="Group 87" id="87"/>
            <p:cNvGrpSpPr/>
            <p:nvPr/>
          </p:nvGrpSpPr>
          <p:grpSpPr>
            <a:xfrm rot="0">
              <a:off x="504609" y="3143551"/>
              <a:ext cx="10119360" cy="822954"/>
              <a:chOff x="0" y="0"/>
              <a:chExt cx="10119360" cy="822954"/>
            </a:xfrm>
          </p:grpSpPr>
          <p:sp>
            <p:nvSpPr>
              <p:cNvPr name="Freeform 88" id="88"/>
              <p:cNvSpPr/>
              <p:nvPr/>
            </p:nvSpPr>
            <p:spPr>
              <a:xfrm flipH="false" flipV="false" rot="0">
                <a:off x="0" y="0"/>
                <a:ext cx="10119360" cy="822954"/>
              </a:xfrm>
              <a:custGeom>
                <a:avLst/>
                <a:gdLst/>
                <a:ahLst/>
                <a:cxnLst/>
                <a:rect r="r" b="b" t="t" l="l"/>
                <a:pathLst>
                  <a:path h="822954" w="10119360">
                    <a:moveTo>
                      <a:pt x="0" y="0"/>
                    </a:moveTo>
                    <a:lnTo>
                      <a:pt x="10119360" y="0"/>
                    </a:lnTo>
                    <a:lnTo>
                      <a:pt x="10119360" y="822954"/>
                    </a:lnTo>
                    <a:lnTo>
                      <a:pt x="0" y="822954"/>
                    </a:lnTo>
                    <a:close/>
                  </a:path>
                </a:pathLst>
              </a:custGeom>
              <a:blipFill>
                <a:blip r:embed="rId3">
                  <a:alphaModFix amt="0"/>
                </a:blip>
                <a:stretch>
                  <a:fillRect l="0" t="-187743" r="0" b="-191447"/>
                </a:stretch>
              </a:blipFill>
            </p:spPr>
          </p:sp>
          <p:sp>
            <p:nvSpPr>
              <p:cNvPr name="TextBox 89" id="89"/>
              <p:cNvSpPr txBox="true"/>
              <p:nvPr/>
            </p:nvSpPr>
            <p:spPr>
              <a:xfrm>
                <a:off x="0" y="-9525"/>
                <a:ext cx="10119360" cy="832479"/>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Harmonisation Sexe (M→1, F→2), Origine (Famille→1)</a:t>
                </a:r>
              </a:p>
            </p:txBody>
          </p:sp>
        </p:grpSp>
        <p:grpSp>
          <p:nvGrpSpPr>
            <p:cNvPr name="Group 90" id="90"/>
            <p:cNvGrpSpPr/>
            <p:nvPr/>
          </p:nvGrpSpPr>
          <p:grpSpPr>
            <a:xfrm rot="0">
              <a:off x="504609" y="4037044"/>
              <a:ext cx="10119360" cy="822954"/>
              <a:chOff x="0" y="0"/>
              <a:chExt cx="10119360" cy="822954"/>
            </a:xfrm>
          </p:grpSpPr>
          <p:sp>
            <p:nvSpPr>
              <p:cNvPr name="Freeform 91" id="91"/>
              <p:cNvSpPr/>
              <p:nvPr/>
            </p:nvSpPr>
            <p:spPr>
              <a:xfrm flipH="false" flipV="false" rot="0">
                <a:off x="0" y="0"/>
                <a:ext cx="10119360" cy="822954"/>
              </a:xfrm>
              <a:custGeom>
                <a:avLst/>
                <a:gdLst/>
                <a:ahLst/>
                <a:cxnLst/>
                <a:rect r="r" b="b" t="t" l="l"/>
                <a:pathLst>
                  <a:path h="822954" w="10119360">
                    <a:moveTo>
                      <a:pt x="0" y="0"/>
                    </a:moveTo>
                    <a:lnTo>
                      <a:pt x="10119360" y="0"/>
                    </a:lnTo>
                    <a:lnTo>
                      <a:pt x="10119360" y="822954"/>
                    </a:lnTo>
                    <a:lnTo>
                      <a:pt x="0" y="822954"/>
                    </a:lnTo>
                    <a:close/>
                  </a:path>
                </a:pathLst>
              </a:custGeom>
              <a:blipFill>
                <a:blip r:embed="rId3">
                  <a:alphaModFix amt="0"/>
                </a:blip>
                <a:stretch>
                  <a:fillRect l="0" t="-187743" r="0" b="-191447"/>
                </a:stretch>
              </a:blipFill>
            </p:spPr>
          </p:sp>
          <p:sp>
            <p:nvSpPr>
              <p:cNvPr name="TextBox 92" id="92"/>
              <p:cNvSpPr txBox="true"/>
              <p:nvPr/>
            </p:nvSpPr>
            <p:spPr>
              <a:xfrm>
                <a:off x="0" y="-9525"/>
                <a:ext cx="10119360" cy="832479"/>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Plage prix [20k–450k] FCFA · imputation médiane groupe</a:t>
                </a:r>
              </a:p>
            </p:txBody>
          </p:sp>
        </p:grpSp>
      </p:grpSp>
      <p:grpSp>
        <p:nvGrpSpPr>
          <p:cNvPr name="Group 93" id="93"/>
          <p:cNvGrpSpPr/>
          <p:nvPr/>
        </p:nvGrpSpPr>
        <p:grpSpPr>
          <a:xfrm rot="0">
            <a:off x="9497063" y="6228721"/>
            <a:ext cx="8252450" cy="3939407"/>
            <a:chOff x="0" y="0"/>
            <a:chExt cx="11003267" cy="5252542"/>
          </a:xfrm>
        </p:grpSpPr>
        <p:grpSp>
          <p:nvGrpSpPr>
            <p:cNvPr name="Group 94" id="94"/>
            <p:cNvGrpSpPr/>
            <p:nvPr/>
          </p:nvGrpSpPr>
          <p:grpSpPr>
            <a:xfrm rot="0">
              <a:off x="3378" y="3258"/>
              <a:ext cx="10999889" cy="5246003"/>
              <a:chOff x="0" y="0"/>
              <a:chExt cx="10999889" cy="5246003"/>
            </a:xfrm>
          </p:grpSpPr>
          <p:sp>
            <p:nvSpPr>
              <p:cNvPr name="Freeform 95" id="95"/>
              <p:cNvSpPr/>
              <p:nvPr/>
            </p:nvSpPr>
            <p:spPr>
              <a:xfrm flipH="false" flipV="false" rot="0">
                <a:off x="13589" y="13104"/>
                <a:ext cx="10972800" cy="5219759"/>
              </a:xfrm>
              <a:custGeom>
                <a:avLst/>
                <a:gdLst/>
                <a:ahLst/>
                <a:cxnLst/>
                <a:rect r="r" b="b" t="t" l="l"/>
                <a:pathLst>
                  <a:path h="5219759" w="10972800">
                    <a:moveTo>
                      <a:pt x="0" y="235129"/>
                    </a:moveTo>
                    <a:cubicBezTo>
                      <a:pt x="0" y="105196"/>
                      <a:pt x="109474" y="0"/>
                      <a:pt x="244475" y="0"/>
                    </a:cubicBezTo>
                    <a:lnTo>
                      <a:pt x="10728325" y="0"/>
                    </a:lnTo>
                    <a:cubicBezTo>
                      <a:pt x="10863326" y="0"/>
                      <a:pt x="10972800" y="105318"/>
                      <a:pt x="10972800" y="235129"/>
                    </a:cubicBezTo>
                    <a:lnTo>
                      <a:pt x="10972800" y="4984629"/>
                    </a:lnTo>
                    <a:cubicBezTo>
                      <a:pt x="10972800" y="5114562"/>
                      <a:pt x="10863326" y="5219758"/>
                      <a:pt x="10728325" y="5219758"/>
                    </a:cubicBezTo>
                    <a:lnTo>
                      <a:pt x="244475" y="5219758"/>
                    </a:lnTo>
                    <a:cubicBezTo>
                      <a:pt x="109474" y="5219758"/>
                      <a:pt x="0" y="5114440"/>
                      <a:pt x="0" y="4984629"/>
                    </a:cubicBezTo>
                    <a:close/>
                  </a:path>
                </a:pathLst>
              </a:custGeom>
              <a:solidFill>
                <a:srgbClr val="FFFFFF"/>
              </a:solidFill>
            </p:spPr>
          </p:sp>
          <p:sp>
            <p:nvSpPr>
              <p:cNvPr name="Freeform 96" id="96"/>
              <p:cNvSpPr/>
              <p:nvPr/>
            </p:nvSpPr>
            <p:spPr>
              <a:xfrm flipH="false" flipV="false" rot="0">
                <a:off x="0" y="0"/>
                <a:ext cx="10999978" cy="5245966"/>
              </a:xfrm>
              <a:custGeom>
                <a:avLst/>
                <a:gdLst/>
                <a:ahLst/>
                <a:cxnLst/>
                <a:rect r="r" b="b" t="t" l="l"/>
                <a:pathLst>
                  <a:path h="5245966" w="10999978">
                    <a:moveTo>
                      <a:pt x="0" y="248233"/>
                    </a:moveTo>
                    <a:cubicBezTo>
                      <a:pt x="0" y="111074"/>
                      <a:pt x="115570" y="0"/>
                      <a:pt x="258064" y="0"/>
                    </a:cubicBezTo>
                    <a:lnTo>
                      <a:pt x="10741914" y="0"/>
                    </a:lnTo>
                    <a:lnTo>
                      <a:pt x="10741914" y="13104"/>
                    </a:lnTo>
                    <a:lnTo>
                      <a:pt x="10741914" y="0"/>
                    </a:lnTo>
                    <a:cubicBezTo>
                      <a:pt x="10884408" y="0"/>
                      <a:pt x="10999978" y="111074"/>
                      <a:pt x="10999978" y="248233"/>
                    </a:cubicBezTo>
                    <a:lnTo>
                      <a:pt x="10986389" y="248233"/>
                    </a:lnTo>
                    <a:lnTo>
                      <a:pt x="10999978" y="248233"/>
                    </a:lnTo>
                    <a:lnTo>
                      <a:pt x="10999978" y="4997733"/>
                    </a:lnTo>
                    <a:lnTo>
                      <a:pt x="10986389" y="4997733"/>
                    </a:lnTo>
                    <a:lnTo>
                      <a:pt x="10999978" y="4997733"/>
                    </a:lnTo>
                    <a:cubicBezTo>
                      <a:pt x="10999978" y="5134892"/>
                      <a:pt x="10884408" y="5245966"/>
                      <a:pt x="10741914" y="5245966"/>
                    </a:cubicBezTo>
                    <a:lnTo>
                      <a:pt x="10741914" y="5232862"/>
                    </a:lnTo>
                    <a:lnTo>
                      <a:pt x="10741914" y="5245966"/>
                    </a:lnTo>
                    <a:lnTo>
                      <a:pt x="258064" y="5245966"/>
                    </a:lnTo>
                    <a:lnTo>
                      <a:pt x="258064" y="5232862"/>
                    </a:lnTo>
                    <a:lnTo>
                      <a:pt x="258064" y="5245966"/>
                    </a:lnTo>
                    <a:cubicBezTo>
                      <a:pt x="115570" y="5245966"/>
                      <a:pt x="0" y="5134892"/>
                      <a:pt x="0" y="4997733"/>
                    </a:cubicBezTo>
                    <a:lnTo>
                      <a:pt x="0" y="248233"/>
                    </a:lnTo>
                    <a:lnTo>
                      <a:pt x="13589" y="248233"/>
                    </a:lnTo>
                    <a:lnTo>
                      <a:pt x="0" y="248233"/>
                    </a:lnTo>
                    <a:moveTo>
                      <a:pt x="27051" y="248233"/>
                    </a:moveTo>
                    <a:lnTo>
                      <a:pt x="27051" y="4997733"/>
                    </a:lnTo>
                    <a:lnTo>
                      <a:pt x="13589" y="4997733"/>
                    </a:lnTo>
                    <a:lnTo>
                      <a:pt x="27051" y="4997733"/>
                    </a:lnTo>
                    <a:cubicBezTo>
                      <a:pt x="27051" y="5120318"/>
                      <a:pt x="130429" y="5219881"/>
                      <a:pt x="257937" y="5219881"/>
                    </a:cubicBezTo>
                    <a:lnTo>
                      <a:pt x="10741787" y="5219881"/>
                    </a:lnTo>
                    <a:cubicBezTo>
                      <a:pt x="10869422" y="5219881"/>
                      <a:pt x="10972673" y="5120441"/>
                      <a:pt x="10972673" y="4997733"/>
                    </a:cubicBezTo>
                    <a:lnTo>
                      <a:pt x="10972673" y="248233"/>
                    </a:lnTo>
                    <a:cubicBezTo>
                      <a:pt x="10972673" y="125647"/>
                      <a:pt x="10869295" y="26085"/>
                      <a:pt x="10741787" y="26085"/>
                    </a:cubicBezTo>
                    <a:lnTo>
                      <a:pt x="258064" y="26085"/>
                    </a:lnTo>
                    <a:lnTo>
                      <a:pt x="258064" y="13104"/>
                    </a:lnTo>
                    <a:lnTo>
                      <a:pt x="258064" y="26085"/>
                    </a:lnTo>
                    <a:cubicBezTo>
                      <a:pt x="130429" y="26085"/>
                      <a:pt x="27178" y="125525"/>
                      <a:pt x="27178" y="248233"/>
                    </a:cubicBezTo>
                    <a:close/>
                  </a:path>
                </a:pathLst>
              </a:custGeom>
              <a:solidFill>
                <a:srgbClr val="BDC8D5"/>
              </a:solidFill>
            </p:spPr>
          </p:sp>
        </p:grpSp>
        <p:grpSp>
          <p:nvGrpSpPr>
            <p:cNvPr name="Group 97" id="97"/>
            <p:cNvGrpSpPr/>
            <p:nvPr/>
          </p:nvGrpSpPr>
          <p:grpSpPr>
            <a:xfrm rot="0">
              <a:off x="0" y="0"/>
              <a:ext cx="204559" cy="5252542"/>
              <a:chOff x="0" y="0"/>
              <a:chExt cx="204559" cy="5252542"/>
            </a:xfrm>
          </p:grpSpPr>
          <p:sp>
            <p:nvSpPr>
              <p:cNvPr name="Freeform 98" id="98"/>
              <p:cNvSpPr/>
              <p:nvPr/>
            </p:nvSpPr>
            <p:spPr>
              <a:xfrm flipH="false" flipV="false" rot="0">
                <a:off x="16891" y="16288"/>
                <a:ext cx="170688" cy="5219881"/>
              </a:xfrm>
              <a:custGeom>
                <a:avLst/>
                <a:gdLst/>
                <a:ahLst/>
                <a:cxnLst/>
                <a:rect r="r" b="b" t="t" l="l"/>
                <a:pathLst>
                  <a:path h="5219881" w="170688">
                    <a:moveTo>
                      <a:pt x="0" y="0"/>
                    </a:moveTo>
                    <a:lnTo>
                      <a:pt x="170688" y="0"/>
                    </a:lnTo>
                    <a:lnTo>
                      <a:pt x="170688" y="5219881"/>
                    </a:lnTo>
                    <a:lnTo>
                      <a:pt x="0" y="5219881"/>
                    </a:lnTo>
                    <a:close/>
                  </a:path>
                </a:pathLst>
              </a:custGeom>
              <a:solidFill>
                <a:srgbClr val="C0614E"/>
              </a:solidFill>
            </p:spPr>
          </p:sp>
          <p:sp>
            <p:nvSpPr>
              <p:cNvPr name="Freeform 99" id="99"/>
              <p:cNvSpPr/>
              <p:nvPr/>
            </p:nvSpPr>
            <p:spPr>
              <a:xfrm flipH="false" flipV="false" rot="0">
                <a:off x="0" y="0"/>
                <a:ext cx="204470" cy="5252457"/>
              </a:xfrm>
              <a:custGeom>
                <a:avLst/>
                <a:gdLst/>
                <a:ahLst/>
                <a:cxnLst/>
                <a:rect r="r" b="b" t="t" l="l"/>
                <a:pathLst>
                  <a:path h="5252457" w="204470">
                    <a:moveTo>
                      <a:pt x="16891" y="0"/>
                    </a:moveTo>
                    <a:lnTo>
                      <a:pt x="187579" y="0"/>
                    </a:lnTo>
                    <a:cubicBezTo>
                      <a:pt x="196977" y="0"/>
                      <a:pt x="204470" y="7348"/>
                      <a:pt x="204470" y="16288"/>
                    </a:cubicBezTo>
                    <a:lnTo>
                      <a:pt x="204470" y="5236169"/>
                    </a:lnTo>
                    <a:cubicBezTo>
                      <a:pt x="204470" y="5245231"/>
                      <a:pt x="196850" y="5252457"/>
                      <a:pt x="187579" y="5252457"/>
                    </a:cubicBezTo>
                    <a:lnTo>
                      <a:pt x="16891" y="5252457"/>
                    </a:lnTo>
                    <a:cubicBezTo>
                      <a:pt x="7493" y="5252457"/>
                      <a:pt x="0" y="5245109"/>
                      <a:pt x="0" y="5236169"/>
                    </a:cubicBezTo>
                    <a:lnTo>
                      <a:pt x="0" y="16288"/>
                    </a:lnTo>
                    <a:cubicBezTo>
                      <a:pt x="0" y="7348"/>
                      <a:pt x="7620" y="0"/>
                      <a:pt x="16891" y="0"/>
                    </a:cubicBezTo>
                    <a:moveTo>
                      <a:pt x="16891" y="32698"/>
                    </a:moveTo>
                    <a:lnTo>
                      <a:pt x="16891" y="16288"/>
                    </a:lnTo>
                    <a:lnTo>
                      <a:pt x="33909" y="16288"/>
                    </a:lnTo>
                    <a:lnTo>
                      <a:pt x="33909" y="5236169"/>
                    </a:lnTo>
                    <a:lnTo>
                      <a:pt x="16891" y="5236169"/>
                    </a:lnTo>
                    <a:lnTo>
                      <a:pt x="16891" y="5219881"/>
                    </a:lnTo>
                    <a:lnTo>
                      <a:pt x="187579" y="5219881"/>
                    </a:lnTo>
                    <a:lnTo>
                      <a:pt x="187579" y="5236169"/>
                    </a:lnTo>
                    <a:lnTo>
                      <a:pt x="170688" y="5236169"/>
                    </a:lnTo>
                    <a:lnTo>
                      <a:pt x="170688" y="16288"/>
                    </a:lnTo>
                    <a:lnTo>
                      <a:pt x="187579" y="16288"/>
                    </a:lnTo>
                    <a:lnTo>
                      <a:pt x="187579" y="32698"/>
                    </a:lnTo>
                    <a:lnTo>
                      <a:pt x="16891" y="32698"/>
                    </a:lnTo>
                    <a:close/>
                  </a:path>
                </a:pathLst>
              </a:custGeom>
              <a:solidFill>
                <a:srgbClr val="C0614E"/>
              </a:solidFill>
            </p:spPr>
          </p:sp>
        </p:grpSp>
        <p:grpSp>
          <p:nvGrpSpPr>
            <p:cNvPr name="Group 100" id="100"/>
            <p:cNvGrpSpPr/>
            <p:nvPr/>
          </p:nvGrpSpPr>
          <p:grpSpPr>
            <a:xfrm rot="0">
              <a:off x="487680" y="188104"/>
              <a:ext cx="911695" cy="879128"/>
              <a:chOff x="0" y="0"/>
              <a:chExt cx="911695" cy="879128"/>
            </a:xfrm>
          </p:grpSpPr>
          <p:sp>
            <p:nvSpPr>
              <p:cNvPr name="Freeform 101" id="101"/>
              <p:cNvSpPr/>
              <p:nvPr/>
            </p:nvSpPr>
            <p:spPr>
              <a:xfrm flipH="false" flipV="false" rot="0">
                <a:off x="16891" y="16288"/>
                <a:ext cx="877824" cy="846467"/>
              </a:xfrm>
              <a:custGeom>
                <a:avLst/>
                <a:gdLst/>
                <a:ahLst/>
                <a:cxnLst/>
                <a:rect r="r" b="b" t="t" l="l"/>
                <a:pathLst>
                  <a:path h="846467" w="877824">
                    <a:moveTo>
                      <a:pt x="0" y="423233"/>
                    </a:moveTo>
                    <a:cubicBezTo>
                      <a:pt x="0" y="189451"/>
                      <a:pt x="196469" y="0"/>
                      <a:pt x="438912" y="0"/>
                    </a:cubicBezTo>
                    <a:cubicBezTo>
                      <a:pt x="681355" y="0"/>
                      <a:pt x="877824" y="189573"/>
                      <a:pt x="877824" y="423233"/>
                    </a:cubicBezTo>
                    <a:cubicBezTo>
                      <a:pt x="877824" y="656893"/>
                      <a:pt x="681355" y="846467"/>
                      <a:pt x="438912" y="846467"/>
                    </a:cubicBezTo>
                    <a:cubicBezTo>
                      <a:pt x="196469" y="846467"/>
                      <a:pt x="0" y="657016"/>
                      <a:pt x="0" y="423233"/>
                    </a:cubicBezTo>
                    <a:close/>
                  </a:path>
                </a:pathLst>
              </a:custGeom>
              <a:solidFill>
                <a:srgbClr val="C0614E"/>
              </a:solidFill>
            </p:spPr>
          </p:sp>
          <p:sp>
            <p:nvSpPr>
              <p:cNvPr name="Freeform 102" id="102"/>
              <p:cNvSpPr/>
              <p:nvPr/>
            </p:nvSpPr>
            <p:spPr>
              <a:xfrm flipH="false" flipV="false" rot="0">
                <a:off x="0" y="0"/>
                <a:ext cx="911733" cy="879043"/>
              </a:xfrm>
              <a:custGeom>
                <a:avLst/>
                <a:gdLst/>
                <a:ahLst/>
                <a:cxnLst/>
                <a:rect r="r" b="b" t="t" l="l"/>
                <a:pathLst>
                  <a:path h="879043" w="911733">
                    <a:moveTo>
                      <a:pt x="0" y="439521"/>
                    </a:moveTo>
                    <a:cubicBezTo>
                      <a:pt x="0" y="196799"/>
                      <a:pt x="204089" y="0"/>
                      <a:pt x="455803" y="0"/>
                    </a:cubicBezTo>
                    <a:lnTo>
                      <a:pt x="455803" y="16288"/>
                    </a:lnTo>
                    <a:lnTo>
                      <a:pt x="455803" y="0"/>
                    </a:lnTo>
                    <a:cubicBezTo>
                      <a:pt x="707644" y="0"/>
                      <a:pt x="911733" y="196799"/>
                      <a:pt x="911733" y="439521"/>
                    </a:cubicBezTo>
                    <a:cubicBezTo>
                      <a:pt x="911733" y="682244"/>
                      <a:pt x="707644" y="879042"/>
                      <a:pt x="455930" y="879042"/>
                    </a:cubicBezTo>
                    <a:lnTo>
                      <a:pt x="455930" y="862755"/>
                    </a:lnTo>
                    <a:lnTo>
                      <a:pt x="455930" y="879042"/>
                    </a:lnTo>
                    <a:cubicBezTo>
                      <a:pt x="204089" y="879166"/>
                      <a:pt x="0" y="682366"/>
                      <a:pt x="0" y="439521"/>
                    </a:cubicBezTo>
                    <a:lnTo>
                      <a:pt x="16891" y="439521"/>
                    </a:lnTo>
                    <a:lnTo>
                      <a:pt x="31242" y="448216"/>
                    </a:lnTo>
                    <a:cubicBezTo>
                      <a:pt x="27178" y="454339"/>
                      <a:pt x="19431" y="457278"/>
                      <a:pt x="12192" y="455197"/>
                    </a:cubicBezTo>
                    <a:cubicBezTo>
                      <a:pt x="4953" y="453115"/>
                      <a:pt x="0" y="446869"/>
                      <a:pt x="0" y="439521"/>
                    </a:cubicBezTo>
                    <a:moveTo>
                      <a:pt x="33909" y="439521"/>
                    </a:moveTo>
                    <a:lnTo>
                      <a:pt x="16891" y="439521"/>
                    </a:lnTo>
                    <a:lnTo>
                      <a:pt x="2540" y="430949"/>
                    </a:lnTo>
                    <a:cubicBezTo>
                      <a:pt x="6604" y="424826"/>
                      <a:pt x="14351" y="421886"/>
                      <a:pt x="21590" y="423968"/>
                    </a:cubicBezTo>
                    <a:cubicBezTo>
                      <a:pt x="28829" y="426050"/>
                      <a:pt x="33909" y="432418"/>
                      <a:pt x="33909" y="439644"/>
                    </a:cubicBezTo>
                    <a:cubicBezTo>
                      <a:pt x="33909" y="664364"/>
                      <a:pt x="222885" y="846590"/>
                      <a:pt x="455930" y="846590"/>
                    </a:cubicBezTo>
                    <a:cubicBezTo>
                      <a:pt x="688975" y="846590"/>
                      <a:pt x="877951" y="664364"/>
                      <a:pt x="877951" y="439644"/>
                    </a:cubicBezTo>
                    <a:lnTo>
                      <a:pt x="894842" y="439644"/>
                    </a:lnTo>
                    <a:lnTo>
                      <a:pt x="877951" y="439644"/>
                    </a:lnTo>
                    <a:cubicBezTo>
                      <a:pt x="877951" y="214923"/>
                      <a:pt x="688975" y="32698"/>
                      <a:pt x="455930" y="32698"/>
                    </a:cubicBezTo>
                    <a:lnTo>
                      <a:pt x="455930" y="16288"/>
                    </a:lnTo>
                    <a:lnTo>
                      <a:pt x="455930" y="32698"/>
                    </a:lnTo>
                    <a:cubicBezTo>
                      <a:pt x="222758" y="32698"/>
                      <a:pt x="33909" y="214801"/>
                      <a:pt x="33909" y="439521"/>
                    </a:cubicBezTo>
                    <a:close/>
                  </a:path>
                </a:pathLst>
              </a:custGeom>
              <a:solidFill>
                <a:srgbClr val="C0614E"/>
              </a:solidFill>
            </p:spPr>
          </p:sp>
        </p:grpSp>
        <p:grpSp>
          <p:nvGrpSpPr>
            <p:cNvPr name="Group 103" id="103"/>
            <p:cNvGrpSpPr/>
            <p:nvPr/>
          </p:nvGrpSpPr>
          <p:grpSpPr>
            <a:xfrm rot="0">
              <a:off x="504609" y="204428"/>
              <a:ext cx="877824" cy="846467"/>
              <a:chOff x="0" y="0"/>
              <a:chExt cx="877824" cy="846467"/>
            </a:xfrm>
          </p:grpSpPr>
          <p:sp>
            <p:nvSpPr>
              <p:cNvPr name="Freeform 104" id="104"/>
              <p:cNvSpPr/>
              <p:nvPr/>
            </p:nvSpPr>
            <p:spPr>
              <a:xfrm flipH="false" flipV="false" rot="0">
                <a:off x="0" y="0"/>
                <a:ext cx="877824" cy="846467"/>
              </a:xfrm>
              <a:custGeom>
                <a:avLst/>
                <a:gdLst/>
                <a:ahLst/>
                <a:cxnLst/>
                <a:rect r="r" b="b" t="t" l="l"/>
                <a:pathLst>
                  <a:path h="846467" w="877824">
                    <a:moveTo>
                      <a:pt x="0" y="0"/>
                    </a:moveTo>
                    <a:lnTo>
                      <a:pt x="877824" y="0"/>
                    </a:lnTo>
                    <a:lnTo>
                      <a:pt x="877824" y="846467"/>
                    </a:lnTo>
                    <a:lnTo>
                      <a:pt x="0" y="846467"/>
                    </a:lnTo>
                    <a:close/>
                  </a:path>
                </a:pathLst>
              </a:custGeom>
              <a:blipFill>
                <a:blip r:embed="rId3">
                  <a:alphaModFix amt="0"/>
                </a:blip>
                <a:stretch>
                  <a:fillRect l="-78303" t="0" r="-78303" b="-3704"/>
                </a:stretch>
              </a:blipFill>
            </p:spPr>
          </p:sp>
          <p:sp>
            <p:nvSpPr>
              <p:cNvPr name="TextBox 105" id="105"/>
              <p:cNvSpPr txBox="true"/>
              <p:nvPr/>
            </p:nvSpPr>
            <p:spPr>
              <a:xfrm>
                <a:off x="0" y="-38100"/>
                <a:ext cx="877824" cy="884567"/>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4</a:t>
                </a:r>
              </a:p>
            </p:txBody>
          </p:sp>
        </p:grpSp>
        <p:grpSp>
          <p:nvGrpSpPr>
            <p:cNvPr name="Group 106" id="106"/>
            <p:cNvGrpSpPr/>
            <p:nvPr/>
          </p:nvGrpSpPr>
          <p:grpSpPr>
            <a:xfrm rot="0">
              <a:off x="1675041" y="274967"/>
              <a:ext cx="8900160" cy="846467"/>
              <a:chOff x="0" y="0"/>
              <a:chExt cx="8900160" cy="846467"/>
            </a:xfrm>
          </p:grpSpPr>
          <p:sp>
            <p:nvSpPr>
              <p:cNvPr name="Freeform 107" id="107"/>
              <p:cNvSpPr/>
              <p:nvPr/>
            </p:nvSpPr>
            <p:spPr>
              <a:xfrm flipH="false" flipV="false" rot="0">
                <a:off x="0" y="0"/>
                <a:ext cx="8900160" cy="846467"/>
              </a:xfrm>
              <a:custGeom>
                <a:avLst/>
                <a:gdLst/>
                <a:ahLst/>
                <a:cxnLst/>
                <a:rect r="r" b="b" t="t" l="l"/>
                <a:pathLst>
                  <a:path h="846467" w="8900160">
                    <a:moveTo>
                      <a:pt x="0" y="0"/>
                    </a:moveTo>
                    <a:lnTo>
                      <a:pt x="8900160" y="0"/>
                    </a:lnTo>
                    <a:lnTo>
                      <a:pt x="8900160" y="846467"/>
                    </a:lnTo>
                    <a:lnTo>
                      <a:pt x="0" y="846467"/>
                    </a:lnTo>
                    <a:close/>
                  </a:path>
                </a:pathLst>
              </a:custGeom>
              <a:blipFill>
                <a:blip r:embed="rId3">
                  <a:alphaModFix amt="0"/>
                </a:blip>
                <a:stretch>
                  <a:fillRect l="0" t="-153022" r="0" b="-156727"/>
                </a:stretch>
              </a:blipFill>
            </p:spPr>
          </p:sp>
          <p:sp>
            <p:nvSpPr>
              <p:cNvPr name="TextBox 108" id="108"/>
              <p:cNvSpPr txBox="true"/>
              <p:nvPr/>
            </p:nvSpPr>
            <p:spPr>
              <a:xfrm>
                <a:off x="0" y="0"/>
                <a:ext cx="8900160" cy="846467"/>
              </a:xfrm>
              <a:prstGeom prst="rect">
                <a:avLst/>
              </a:prstGeom>
            </p:spPr>
            <p:txBody>
              <a:bodyPr anchor="ctr" rtlCol="false" tIns="0" lIns="0" bIns="0" rIns="0"/>
              <a:lstStyle/>
              <a:p>
                <a:pPr algn="l">
                  <a:lnSpc>
                    <a:spcPts val="3120"/>
                  </a:lnSpc>
                </a:pPr>
                <a:r>
                  <a:rPr lang="en-US" sz="2600" b="true">
                    <a:solidFill>
                      <a:srgbClr val="1C2E40"/>
                    </a:solidFill>
                    <a:latin typeface="EB Garamond Semi-Bold"/>
                    <a:ea typeface="EB Garamond Semi-Bold"/>
                    <a:cs typeface="EB Garamond Semi-Bold"/>
                    <a:sym typeface="EB Garamond Semi-Bold"/>
                  </a:rPr>
                  <a:t>Émigration</a:t>
                </a:r>
              </a:p>
            </p:txBody>
          </p:sp>
        </p:grpSp>
        <p:grpSp>
          <p:nvGrpSpPr>
            <p:cNvPr name="Group 109" id="109"/>
            <p:cNvGrpSpPr/>
            <p:nvPr/>
          </p:nvGrpSpPr>
          <p:grpSpPr>
            <a:xfrm rot="0">
              <a:off x="504609" y="1356564"/>
              <a:ext cx="10119360" cy="822954"/>
              <a:chOff x="0" y="0"/>
              <a:chExt cx="10119360" cy="822954"/>
            </a:xfrm>
          </p:grpSpPr>
          <p:sp>
            <p:nvSpPr>
              <p:cNvPr name="Freeform 110" id="110"/>
              <p:cNvSpPr/>
              <p:nvPr/>
            </p:nvSpPr>
            <p:spPr>
              <a:xfrm flipH="false" flipV="false" rot="0">
                <a:off x="0" y="0"/>
                <a:ext cx="10119360" cy="822954"/>
              </a:xfrm>
              <a:custGeom>
                <a:avLst/>
                <a:gdLst/>
                <a:ahLst/>
                <a:cxnLst/>
                <a:rect r="r" b="b" t="t" l="l"/>
                <a:pathLst>
                  <a:path h="822954" w="10119360">
                    <a:moveTo>
                      <a:pt x="0" y="0"/>
                    </a:moveTo>
                    <a:lnTo>
                      <a:pt x="10119360" y="0"/>
                    </a:lnTo>
                    <a:lnTo>
                      <a:pt x="10119360" y="822954"/>
                    </a:lnTo>
                    <a:lnTo>
                      <a:pt x="0" y="822954"/>
                    </a:lnTo>
                    <a:close/>
                  </a:path>
                </a:pathLst>
              </a:custGeom>
              <a:blipFill>
                <a:blip r:embed="rId3">
                  <a:alphaModFix amt="0"/>
                </a:blip>
                <a:stretch>
                  <a:fillRect l="0" t="-187743" r="0" b="-191447"/>
                </a:stretch>
              </a:blipFill>
            </p:spPr>
          </p:sp>
          <p:sp>
            <p:nvSpPr>
              <p:cNvPr name="TextBox 111" id="111"/>
              <p:cNvSpPr txBox="true"/>
              <p:nvPr/>
            </p:nvSpPr>
            <p:spPr>
              <a:xfrm>
                <a:off x="0" y="-9525"/>
                <a:ext cx="10119360" cy="832479"/>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Reshape wide→long : un migrant par ligne</a:t>
                </a:r>
              </a:p>
            </p:txBody>
          </p:sp>
        </p:grpSp>
        <p:grpSp>
          <p:nvGrpSpPr>
            <p:cNvPr name="Group 112" id="112"/>
            <p:cNvGrpSpPr/>
            <p:nvPr/>
          </p:nvGrpSpPr>
          <p:grpSpPr>
            <a:xfrm rot="0">
              <a:off x="504609" y="2244396"/>
              <a:ext cx="10119360" cy="822954"/>
              <a:chOff x="0" y="0"/>
              <a:chExt cx="10119360" cy="822954"/>
            </a:xfrm>
          </p:grpSpPr>
          <p:sp>
            <p:nvSpPr>
              <p:cNvPr name="Freeform 113" id="113"/>
              <p:cNvSpPr/>
              <p:nvPr/>
            </p:nvSpPr>
            <p:spPr>
              <a:xfrm flipH="false" flipV="false" rot="0">
                <a:off x="0" y="0"/>
                <a:ext cx="10119360" cy="822954"/>
              </a:xfrm>
              <a:custGeom>
                <a:avLst/>
                <a:gdLst/>
                <a:ahLst/>
                <a:cxnLst/>
                <a:rect r="r" b="b" t="t" l="l"/>
                <a:pathLst>
                  <a:path h="822954" w="10119360">
                    <a:moveTo>
                      <a:pt x="0" y="0"/>
                    </a:moveTo>
                    <a:lnTo>
                      <a:pt x="10119360" y="0"/>
                    </a:lnTo>
                    <a:lnTo>
                      <a:pt x="10119360" y="822954"/>
                    </a:lnTo>
                    <a:lnTo>
                      <a:pt x="0" y="822954"/>
                    </a:lnTo>
                    <a:close/>
                  </a:path>
                </a:pathLst>
              </a:custGeom>
              <a:blipFill>
                <a:blip r:embed="rId3">
                  <a:alphaModFix amt="0"/>
                </a:blip>
                <a:stretch>
                  <a:fillRect l="0" t="-187743" r="0" b="-191447"/>
                </a:stretch>
              </a:blipFill>
            </p:spPr>
          </p:sp>
          <p:sp>
            <p:nvSpPr>
              <p:cNvPr name="TextBox 114" id="114"/>
              <p:cNvSpPr txBox="true"/>
              <p:nvPr/>
            </p:nvSpPr>
            <p:spPr>
              <a:xfrm>
                <a:off x="0" y="-9525"/>
                <a:ext cx="10119360" cy="832479"/>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Drop si Liensdeparenté ET Années  ET Activité</a:t>
                </a:r>
              </a:p>
            </p:txBody>
          </p:sp>
        </p:grpSp>
        <p:grpSp>
          <p:nvGrpSpPr>
            <p:cNvPr name="Group 115" id="115"/>
            <p:cNvGrpSpPr/>
            <p:nvPr/>
          </p:nvGrpSpPr>
          <p:grpSpPr>
            <a:xfrm rot="0">
              <a:off x="504609" y="3143551"/>
              <a:ext cx="10119360" cy="822954"/>
              <a:chOff x="0" y="0"/>
              <a:chExt cx="10119360" cy="822954"/>
            </a:xfrm>
          </p:grpSpPr>
          <p:sp>
            <p:nvSpPr>
              <p:cNvPr name="Freeform 116" id="116"/>
              <p:cNvSpPr/>
              <p:nvPr/>
            </p:nvSpPr>
            <p:spPr>
              <a:xfrm flipH="false" flipV="false" rot="0">
                <a:off x="0" y="0"/>
                <a:ext cx="10119360" cy="822954"/>
              </a:xfrm>
              <a:custGeom>
                <a:avLst/>
                <a:gdLst/>
                <a:ahLst/>
                <a:cxnLst/>
                <a:rect r="r" b="b" t="t" l="l"/>
                <a:pathLst>
                  <a:path h="822954" w="10119360">
                    <a:moveTo>
                      <a:pt x="0" y="0"/>
                    </a:moveTo>
                    <a:lnTo>
                      <a:pt x="10119360" y="0"/>
                    </a:lnTo>
                    <a:lnTo>
                      <a:pt x="10119360" y="822954"/>
                    </a:lnTo>
                    <a:lnTo>
                      <a:pt x="0" y="822954"/>
                    </a:lnTo>
                    <a:close/>
                  </a:path>
                </a:pathLst>
              </a:custGeom>
              <a:blipFill>
                <a:blip r:embed="rId3">
                  <a:alphaModFix amt="0"/>
                </a:blip>
                <a:stretch>
                  <a:fillRect l="0" t="-187743" r="0" b="-191447"/>
                </a:stretch>
              </a:blipFill>
            </p:spPr>
          </p:sp>
          <p:sp>
            <p:nvSpPr>
              <p:cNvPr name="TextBox 117" id="117"/>
              <p:cNvSpPr txBox="true"/>
              <p:nvPr/>
            </p:nvSpPr>
            <p:spPr>
              <a:xfrm>
                <a:off x="0" y="-9525"/>
                <a:ext cx="10119360" cy="832479"/>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Appel sous-script emigration_cleaning.do</a:t>
                </a:r>
              </a:p>
            </p:txBody>
          </p:sp>
        </p:grpSp>
        <p:grpSp>
          <p:nvGrpSpPr>
            <p:cNvPr name="Group 118" id="118"/>
            <p:cNvGrpSpPr/>
            <p:nvPr/>
          </p:nvGrpSpPr>
          <p:grpSpPr>
            <a:xfrm rot="0">
              <a:off x="504609" y="4037044"/>
              <a:ext cx="10119360" cy="822954"/>
              <a:chOff x="0" y="0"/>
              <a:chExt cx="10119360" cy="822954"/>
            </a:xfrm>
          </p:grpSpPr>
          <p:sp>
            <p:nvSpPr>
              <p:cNvPr name="Freeform 119" id="119"/>
              <p:cNvSpPr/>
              <p:nvPr/>
            </p:nvSpPr>
            <p:spPr>
              <a:xfrm flipH="false" flipV="false" rot="0">
                <a:off x="0" y="0"/>
                <a:ext cx="10119360" cy="822954"/>
              </a:xfrm>
              <a:custGeom>
                <a:avLst/>
                <a:gdLst/>
                <a:ahLst/>
                <a:cxnLst/>
                <a:rect r="r" b="b" t="t" l="l"/>
                <a:pathLst>
                  <a:path h="822954" w="10119360">
                    <a:moveTo>
                      <a:pt x="0" y="0"/>
                    </a:moveTo>
                    <a:lnTo>
                      <a:pt x="10119360" y="0"/>
                    </a:lnTo>
                    <a:lnTo>
                      <a:pt x="10119360" y="822954"/>
                    </a:lnTo>
                    <a:lnTo>
                      <a:pt x="0" y="822954"/>
                    </a:lnTo>
                    <a:close/>
                  </a:path>
                </a:pathLst>
              </a:custGeom>
              <a:blipFill>
                <a:blip r:embed="rId3">
                  <a:alphaModFix amt="0"/>
                </a:blip>
                <a:stretch>
                  <a:fillRect l="0" t="-187743" r="0" b="-191447"/>
                </a:stretch>
              </a:blipFill>
            </p:spPr>
          </p:sp>
          <p:sp>
            <p:nvSpPr>
              <p:cNvPr name="TextBox 120" id="120"/>
              <p:cNvSpPr txBox="true"/>
              <p:nvPr/>
            </p:nvSpPr>
            <p:spPr>
              <a:xfrm>
                <a:off x="0" y="-9525"/>
                <a:ext cx="10119360" cy="832479"/>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Harmonisation 11 zones · encodage → variable destination</a:t>
                </a:r>
              </a:p>
            </p:txBody>
          </p:sp>
        </p:gr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5B8DB8"/>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5B8DB8"/>
            </a:solidFill>
          </p:spPr>
        </p:sp>
      </p:grpSp>
      <p:grpSp>
        <p:nvGrpSpPr>
          <p:cNvPr name="Group 5" id="5"/>
          <p:cNvGrpSpPr/>
          <p:nvPr/>
        </p:nvGrpSpPr>
        <p:grpSpPr>
          <a:xfrm rot="0">
            <a:off x="822960" y="402336"/>
            <a:ext cx="16642080" cy="1118845"/>
            <a:chOff x="0" y="0"/>
            <a:chExt cx="22189440" cy="1491793"/>
          </a:xfrm>
        </p:grpSpPr>
        <p:sp>
          <p:nvSpPr>
            <p:cNvPr name="Freeform 6" id="6"/>
            <p:cNvSpPr/>
            <p:nvPr/>
          </p:nvSpPr>
          <p:spPr>
            <a:xfrm flipH="false" flipV="false" rot="0">
              <a:off x="0" y="0"/>
              <a:ext cx="22189439" cy="1491793"/>
            </a:xfrm>
            <a:custGeom>
              <a:avLst/>
              <a:gdLst/>
              <a:ahLst/>
              <a:cxnLst/>
              <a:rect r="r" b="b" t="t" l="l"/>
              <a:pathLst>
                <a:path h="1491793" w="22189439">
                  <a:moveTo>
                    <a:pt x="0" y="0"/>
                  </a:moveTo>
                  <a:lnTo>
                    <a:pt x="22189439" y="0"/>
                  </a:lnTo>
                  <a:lnTo>
                    <a:pt x="22189439" y="1491793"/>
                  </a:lnTo>
                  <a:lnTo>
                    <a:pt x="0" y="1491793"/>
                  </a:lnTo>
                  <a:close/>
                </a:path>
              </a:pathLst>
            </a:custGeom>
            <a:blipFill>
              <a:blip r:embed="rId3">
                <a:alphaModFix amt="0"/>
              </a:blip>
              <a:stretch>
                <a:fillRect l="0" t="-244877" r="0" b="-234777"/>
              </a:stretch>
            </a:blipFill>
          </p:spPr>
        </p:sp>
        <p:sp>
          <p:nvSpPr>
            <p:cNvPr name="TextBox 7" id="7"/>
            <p:cNvSpPr txBox="true"/>
            <p:nvPr/>
          </p:nvSpPr>
          <p:spPr>
            <a:xfrm>
              <a:off x="0" y="9525"/>
              <a:ext cx="22189440" cy="1482268"/>
            </a:xfrm>
            <a:prstGeom prst="rect">
              <a:avLst/>
            </a:prstGeom>
          </p:spPr>
          <p:txBody>
            <a:bodyPr anchor="ctr" rtlCol="false" tIns="0" lIns="0" bIns="0" rIns="0"/>
            <a:lstStyle/>
            <a:p>
              <a:pPr algn="l">
                <a:lnSpc>
                  <a:spcPts val="6480"/>
                </a:lnSpc>
              </a:pPr>
              <a:r>
                <a:rPr lang="en-US" sz="5400" b="true">
                  <a:solidFill>
                    <a:srgbClr val="1C2E40"/>
                  </a:solidFill>
                  <a:latin typeface="EB Garamond Semi-Bold"/>
                  <a:ea typeface="EB Garamond Semi-Bold"/>
                  <a:cs typeface="EB Garamond Semi-Bold"/>
                  <a:sym typeface="EB Garamond Semi-Bold"/>
                </a:rPr>
                <a:t>Nettoyage : Critique des choix (Temps 2)</a:t>
              </a:r>
            </a:p>
          </p:txBody>
        </p:sp>
      </p:grpSp>
      <p:grpSp>
        <p:nvGrpSpPr>
          <p:cNvPr name="Group 8" id="8"/>
          <p:cNvGrpSpPr/>
          <p:nvPr/>
        </p:nvGrpSpPr>
        <p:grpSpPr>
          <a:xfrm rot="0">
            <a:off x="822960" y="1426464"/>
            <a:ext cx="16642080" cy="512064"/>
            <a:chOff x="0" y="0"/>
            <a:chExt cx="22189440" cy="682752"/>
          </a:xfrm>
        </p:grpSpPr>
        <p:sp>
          <p:nvSpPr>
            <p:cNvPr name="Freeform 9" id="9"/>
            <p:cNvSpPr/>
            <p:nvPr/>
          </p:nvSpPr>
          <p:spPr>
            <a:xfrm flipH="false" flipV="false" rot="0">
              <a:off x="0" y="0"/>
              <a:ext cx="22189439" cy="682752"/>
            </a:xfrm>
            <a:custGeom>
              <a:avLst/>
              <a:gdLst/>
              <a:ahLst/>
              <a:cxnLst/>
              <a:rect r="r" b="b" t="t" l="l"/>
              <a:pathLst>
                <a:path h="682752" w="22189439">
                  <a:moveTo>
                    <a:pt x="0" y="0"/>
                  </a:moveTo>
                  <a:lnTo>
                    <a:pt x="22189439" y="0"/>
                  </a:lnTo>
                  <a:lnTo>
                    <a:pt x="22189439" y="682752"/>
                  </a:lnTo>
                  <a:lnTo>
                    <a:pt x="0" y="682752"/>
                  </a:lnTo>
                  <a:close/>
                </a:path>
              </a:pathLst>
            </a:custGeom>
            <a:blipFill>
              <a:blip r:embed="rId3">
                <a:alphaModFix amt="0"/>
              </a:blip>
              <a:stretch>
                <a:fillRect l="0" t="-583263" r="0" b="-583263"/>
              </a:stretch>
            </a:blipFill>
          </p:spPr>
        </p:sp>
        <p:sp>
          <p:nvSpPr>
            <p:cNvPr name="TextBox 10" id="10"/>
            <p:cNvSpPr txBox="true"/>
            <p:nvPr/>
          </p:nvSpPr>
          <p:spPr>
            <a:xfrm>
              <a:off x="0" y="9525"/>
              <a:ext cx="22189440" cy="673227"/>
            </a:xfrm>
            <a:prstGeom prst="rect">
              <a:avLst/>
            </a:prstGeom>
          </p:spPr>
          <p:txBody>
            <a:bodyPr anchor="ctr" rtlCol="false" tIns="0" lIns="0" bIns="0" rIns="0"/>
            <a:lstStyle/>
            <a:p>
              <a:pPr algn="l">
                <a:lnSpc>
                  <a:spcPts val="2879"/>
                </a:lnSpc>
              </a:pPr>
              <a:r>
                <a:rPr lang="en-US" sz="2400" i="true">
                  <a:solidFill>
                    <a:srgbClr val="7B8FA1"/>
                  </a:solidFill>
                  <a:latin typeface="EB Garamond Italics"/>
                  <a:ea typeface="EB Garamond Italics"/>
                  <a:cs typeface="EB Garamond Italics"/>
                  <a:sym typeface="EB Garamond Italics"/>
                </a:rPr>
                <a:t>Décisions discutables identifiées avec Claude Code · Alternatives proposées</a:t>
              </a:r>
            </a:p>
          </p:txBody>
        </p:sp>
      </p:grpSp>
      <p:grpSp>
        <p:nvGrpSpPr>
          <p:cNvPr name="Group 11" id="11"/>
          <p:cNvGrpSpPr/>
          <p:nvPr/>
        </p:nvGrpSpPr>
        <p:grpSpPr>
          <a:xfrm rot="0">
            <a:off x="629917" y="1964941"/>
            <a:ext cx="8249917" cy="2653789"/>
            <a:chOff x="0" y="0"/>
            <a:chExt cx="10999889" cy="3538385"/>
          </a:xfrm>
        </p:grpSpPr>
        <p:sp>
          <p:nvSpPr>
            <p:cNvPr name="Freeform 12" id="12"/>
            <p:cNvSpPr/>
            <p:nvPr/>
          </p:nvSpPr>
          <p:spPr>
            <a:xfrm flipH="false" flipV="false" rot="0">
              <a:off x="13589" y="13589"/>
              <a:ext cx="10972800" cy="3511296"/>
            </a:xfrm>
            <a:custGeom>
              <a:avLst/>
              <a:gdLst/>
              <a:ahLst/>
              <a:cxnLst/>
              <a:rect r="r" b="b" t="t" l="l"/>
              <a:pathLst>
                <a:path h="3511296" w="10972800">
                  <a:moveTo>
                    <a:pt x="0" y="243840"/>
                  </a:moveTo>
                  <a:cubicBezTo>
                    <a:pt x="0" y="109220"/>
                    <a:pt x="109728" y="0"/>
                    <a:pt x="245110" y="0"/>
                  </a:cubicBezTo>
                  <a:lnTo>
                    <a:pt x="10727690" y="0"/>
                  </a:lnTo>
                  <a:cubicBezTo>
                    <a:pt x="10863073" y="0"/>
                    <a:pt x="10972800" y="109220"/>
                    <a:pt x="10972800" y="243840"/>
                  </a:cubicBezTo>
                  <a:lnTo>
                    <a:pt x="10972800" y="3267456"/>
                  </a:lnTo>
                  <a:cubicBezTo>
                    <a:pt x="10972800" y="3402076"/>
                    <a:pt x="10863072" y="3511296"/>
                    <a:pt x="10727690" y="3511296"/>
                  </a:cubicBezTo>
                  <a:lnTo>
                    <a:pt x="245110" y="3511296"/>
                  </a:lnTo>
                  <a:cubicBezTo>
                    <a:pt x="109728" y="3511296"/>
                    <a:pt x="0" y="3402076"/>
                    <a:pt x="0" y="3267456"/>
                  </a:cubicBezTo>
                  <a:close/>
                </a:path>
              </a:pathLst>
            </a:custGeom>
            <a:solidFill>
              <a:srgbClr val="FFFFFF"/>
            </a:solidFill>
          </p:spPr>
        </p:sp>
        <p:sp>
          <p:nvSpPr>
            <p:cNvPr name="Freeform 13" id="13"/>
            <p:cNvSpPr/>
            <p:nvPr/>
          </p:nvSpPr>
          <p:spPr>
            <a:xfrm flipH="false" flipV="false" rot="0">
              <a:off x="0" y="0"/>
              <a:ext cx="10999978" cy="3538474"/>
            </a:xfrm>
            <a:custGeom>
              <a:avLst/>
              <a:gdLst/>
              <a:ahLst/>
              <a:cxnLst/>
              <a:rect r="r" b="b" t="t" l="l"/>
              <a:pathLst>
                <a:path h="3538474" w="10999978">
                  <a:moveTo>
                    <a:pt x="0" y="257429"/>
                  </a:moveTo>
                  <a:cubicBezTo>
                    <a:pt x="0" y="115189"/>
                    <a:pt x="115824" y="0"/>
                    <a:pt x="258699" y="0"/>
                  </a:cubicBezTo>
                  <a:lnTo>
                    <a:pt x="10741279" y="0"/>
                  </a:lnTo>
                  <a:lnTo>
                    <a:pt x="10741279" y="13589"/>
                  </a:lnTo>
                  <a:lnTo>
                    <a:pt x="10741279" y="0"/>
                  </a:lnTo>
                  <a:cubicBezTo>
                    <a:pt x="10884027" y="0"/>
                    <a:pt x="10999978" y="115189"/>
                    <a:pt x="10999978" y="257429"/>
                  </a:cubicBezTo>
                  <a:lnTo>
                    <a:pt x="10986389" y="257429"/>
                  </a:lnTo>
                  <a:lnTo>
                    <a:pt x="10999978" y="257429"/>
                  </a:lnTo>
                  <a:lnTo>
                    <a:pt x="10999978" y="3281045"/>
                  </a:lnTo>
                  <a:lnTo>
                    <a:pt x="10986389" y="3281045"/>
                  </a:lnTo>
                  <a:lnTo>
                    <a:pt x="10999978" y="3281045"/>
                  </a:lnTo>
                  <a:cubicBezTo>
                    <a:pt x="10999978" y="3423285"/>
                    <a:pt x="10884154" y="3538474"/>
                    <a:pt x="10741279" y="3538474"/>
                  </a:cubicBezTo>
                  <a:lnTo>
                    <a:pt x="10741279" y="3524885"/>
                  </a:lnTo>
                  <a:lnTo>
                    <a:pt x="10741279" y="3538474"/>
                  </a:lnTo>
                  <a:lnTo>
                    <a:pt x="258699" y="3538474"/>
                  </a:lnTo>
                  <a:lnTo>
                    <a:pt x="258699" y="3524885"/>
                  </a:lnTo>
                  <a:lnTo>
                    <a:pt x="258699" y="3538474"/>
                  </a:lnTo>
                  <a:cubicBezTo>
                    <a:pt x="115824" y="3538347"/>
                    <a:pt x="0" y="3423285"/>
                    <a:pt x="0" y="3281045"/>
                  </a:cubicBezTo>
                  <a:lnTo>
                    <a:pt x="0" y="257429"/>
                  </a:lnTo>
                  <a:lnTo>
                    <a:pt x="13589" y="257429"/>
                  </a:lnTo>
                  <a:lnTo>
                    <a:pt x="0" y="257429"/>
                  </a:lnTo>
                  <a:moveTo>
                    <a:pt x="27051" y="257429"/>
                  </a:moveTo>
                  <a:lnTo>
                    <a:pt x="27051" y="3281045"/>
                  </a:lnTo>
                  <a:lnTo>
                    <a:pt x="13589" y="3281045"/>
                  </a:lnTo>
                  <a:lnTo>
                    <a:pt x="27051" y="3281045"/>
                  </a:lnTo>
                  <a:cubicBezTo>
                    <a:pt x="27051" y="3408172"/>
                    <a:pt x="130683" y="3511296"/>
                    <a:pt x="258572" y="3511296"/>
                  </a:cubicBezTo>
                  <a:lnTo>
                    <a:pt x="10741152" y="3511296"/>
                  </a:lnTo>
                  <a:cubicBezTo>
                    <a:pt x="10869041" y="3511296"/>
                    <a:pt x="10972674" y="3408172"/>
                    <a:pt x="10972674" y="3281045"/>
                  </a:cubicBezTo>
                  <a:lnTo>
                    <a:pt x="10972674" y="257429"/>
                  </a:lnTo>
                  <a:cubicBezTo>
                    <a:pt x="10972674" y="130302"/>
                    <a:pt x="10869041" y="27178"/>
                    <a:pt x="10741152" y="27178"/>
                  </a:cubicBezTo>
                  <a:lnTo>
                    <a:pt x="258699" y="27178"/>
                  </a:lnTo>
                  <a:lnTo>
                    <a:pt x="258699" y="13589"/>
                  </a:lnTo>
                  <a:lnTo>
                    <a:pt x="258699" y="27051"/>
                  </a:lnTo>
                  <a:cubicBezTo>
                    <a:pt x="130810" y="27051"/>
                    <a:pt x="27178" y="130175"/>
                    <a:pt x="27178" y="257302"/>
                  </a:cubicBezTo>
                  <a:close/>
                </a:path>
              </a:pathLst>
            </a:custGeom>
            <a:solidFill>
              <a:srgbClr val="BDC8D5"/>
            </a:solidFill>
          </p:spPr>
        </p:sp>
      </p:grpSp>
      <p:grpSp>
        <p:nvGrpSpPr>
          <p:cNvPr name="Group 14" id="14"/>
          <p:cNvGrpSpPr/>
          <p:nvPr/>
        </p:nvGrpSpPr>
        <p:grpSpPr>
          <a:xfrm rot="0">
            <a:off x="627383" y="1962407"/>
            <a:ext cx="153419" cy="2658875"/>
            <a:chOff x="0" y="0"/>
            <a:chExt cx="204559" cy="3545167"/>
          </a:xfrm>
        </p:grpSpPr>
        <p:sp>
          <p:nvSpPr>
            <p:cNvPr name="Freeform 15" id="15"/>
            <p:cNvSpPr/>
            <p:nvPr/>
          </p:nvSpPr>
          <p:spPr>
            <a:xfrm flipH="false" flipV="false" rot="0">
              <a:off x="16891" y="16891"/>
              <a:ext cx="170688" cy="3511296"/>
            </a:xfrm>
            <a:custGeom>
              <a:avLst/>
              <a:gdLst/>
              <a:ahLst/>
              <a:cxnLst/>
              <a:rect r="r" b="b" t="t" l="l"/>
              <a:pathLst>
                <a:path h="3511296" w="170688">
                  <a:moveTo>
                    <a:pt x="0" y="0"/>
                  </a:moveTo>
                  <a:lnTo>
                    <a:pt x="170688" y="0"/>
                  </a:lnTo>
                  <a:lnTo>
                    <a:pt x="170688" y="3511296"/>
                  </a:lnTo>
                  <a:lnTo>
                    <a:pt x="0" y="3511296"/>
                  </a:lnTo>
                  <a:close/>
                </a:path>
              </a:pathLst>
            </a:custGeom>
            <a:solidFill>
              <a:srgbClr val="C0614E"/>
            </a:solidFill>
          </p:spPr>
        </p:sp>
        <p:sp>
          <p:nvSpPr>
            <p:cNvPr name="Freeform 16" id="16"/>
            <p:cNvSpPr/>
            <p:nvPr/>
          </p:nvSpPr>
          <p:spPr>
            <a:xfrm flipH="false" flipV="false" rot="0">
              <a:off x="0" y="0"/>
              <a:ext cx="204470" cy="3545078"/>
            </a:xfrm>
            <a:custGeom>
              <a:avLst/>
              <a:gdLst/>
              <a:ahLst/>
              <a:cxnLst/>
              <a:rect r="r" b="b" t="t" l="l"/>
              <a:pathLst>
                <a:path h="3545078" w="204470">
                  <a:moveTo>
                    <a:pt x="16891" y="0"/>
                  </a:moveTo>
                  <a:lnTo>
                    <a:pt x="187579" y="0"/>
                  </a:lnTo>
                  <a:cubicBezTo>
                    <a:pt x="196977" y="0"/>
                    <a:pt x="204470" y="7620"/>
                    <a:pt x="204470" y="16891"/>
                  </a:cubicBezTo>
                  <a:lnTo>
                    <a:pt x="204470" y="3528187"/>
                  </a:lnTo>
                  <a:cubicBezTo>
                    <a:pt x="204470" y="3537585"/>
                    <a:pt x="196850" y="3545078"/>
                    <a:pt x="187579" y="3545078"/>
                  </a:cubicBezTo>
                  <a:lnTo>
                    <a:pt x="16891" y="3545078"/>
                  </a:lnTo>
                  <a:cubicBezTo>
                    <a:pt x="7493" y="3545078"/>
                    <a:pt x="0" y="3537458"/>
                    <a:pt x="0" y="3528187"/>
                  </a:cubicBezTo>
                  <a:lnTo>
                    <a:pt x="0" y="16891"/>
                  </a:lnTo>
                  <a:cubicBezTo>
                    <a:pt x="0" y="7620"/>
                    <a:pt x="7620" y="0"/>
                    <a:pt x="16891" y="0"/>
                  </a:cubicBezTo>
                  <a:moveTo>
                    <a:pt x="16891" y="33909"/>
                  </a:moveTo>
                  <a:lnTo>
                    <a:pt x="16891" y="16891"/>
                  </a:lnTo>
                  <a:lnTo>
                    <a:pt x="33909" y="16891"/>
                  </a:lnTo>
                  <a:lnTo>
                    <a:pt x="33909" y="3528187"/>
                  </a:lnTo>
                  <a:lnTo>
                    <a:pt x="16891" y="3528187"/>
                  </a:lnTo>
                  <a:lnTo>
                    <a:pt x="16891" y="3511296"/>
                  </a:lnTo>
                  <a:lnTo>
                    <a:pt x="187579" y="3511296"/>
                  </a:lnTo>
                  <a:lnTo>
                    <a:pt x="187579" y="3528187"/>
                  </a:lnTo>
                  <a:lnTo>
                    <a:pt x="170688" y="3528187"/>
                  </a:lnTo>
                  <a:lnTo>
                    <a:pt x="170688" y="16891"/>
                  </a:lnTo>
                  <a:lnTo>
                    <a:pt x="187579" y="16891"/>
                  </a:lnTo>
                  <a:lnTo>
                    <a:pt x="187579" y="33909"/>
                  </a:lnTo>
                  <a:lnTo>
                    <a:pt x="16891" y="33909"/>
                  </a:lnTo>
                  <a:close/>
                </a:path>
              </a:pathLst>
            </a:custGeom>
            <a:solidFill>
              <a:srgbClr val="C0614E"/>
            </a:solidFill>
          </p:spPr>
        </p:sp>
      </p:grpSp>
      <p:grpSp>
        <p:nvGrpSpPr>
          <p:cNvPr name="Group 17" id="17"/>
          <p:cNvGrpSpPr/>
          <p:nvPr/>
        </p:nvGrpSpPr>
        <p:grpSpPr>
          <a:xfrm rot="0">
            <a:off x="956567" y="2108711"/>
            <a:ext cx="4597403" cy="574043"/>
            <a:chOff x="0" y="0"/>
            <a:chExt cx="6129871" cy="765391"/>
          </a:xfrm>
        </p:grpSpPr>
        <p:sp>
          <p:nvSpPr>
            <p:cNvPr name="Freeform 18" id="18"/>
            <p:cNvSpPr/>
            <p:nvPr/>
          </p:nvSpPr>
          <p:spPr>
            <a:xfrm flipH="false" flipV="false" rot="0">
              <a:off x="16891" y="16891"/>
              <a:ext cx="6096000" cy="731520"/>
            </a:xfrm>
            <a:custGeom>
              <a:avLst/>
              <a:gdLst/>
              <a:ahLst/>
              <a:cxnLst/>
              <a:rect r="r" b="b" t="t" l="l"/>
              <a:pathLst>
                <a:path h="731520" w="6096000">
                  <a:moveTo>
                    <a:pt x="0" y="195072"/>
                  </a:moveTo>
                  <a:cubicBezTo>
                    <a:pt x="0" y="87376"/>
                    <a:pt x="90932" y="0"/>
                    <a:pt x="202946" y="0"/>
                  </a:cubicBezTo>
                  <a:lnTo>
                    <a:pt x="5893054" y="0"/>
                  </a:lnTo>
                  <a:cubicBezTo>
                    <a:pt x="6005195" y="0"/>
                    <a:pt x="6096000" y="87376"/>
                    <a:pt x="6096000" y="195072"/>
                  </a:cubicBezTo>
                  <a:lnTo>
                    <a:pt x="6096000" y="536448"/>
                  </a:lnTo>
                  <a:cubicBezTo>
                    <a:pt x="6096000" y="644144"/>
                    <a:pt x="6005068" y="731520"/>
                    <a:pt x="5893054" y="731520"/>
                  </a:cubicBezTo>
                  <a:lnTo>
                    <a:pt x="203073" y="731520"/>
                  </a:lnTo>
                  <a:cubicBezTo>
                    <a:pt x="90932" y="731520"/>
                    <a:pt x="127" y="644144"/>
                    <a:pt x="127" y="536448"/>
                  </a:cubicBezTo>
                  <a:close/>
                </a:path>
              </a:pathLst>
            </a:custGeom>
            <a:solidFill>
              <a:srgbClr val="C0614E"/>
            </a:solidFill>
          </p:spPr>
        </p:sp>
        <p:sp>
          <p:nvSpPr>
            <p:cNvPr name="Freeform 19" id="19"/>
            <p:cNvSpPr/>
            <p:nvPr/>
          </p:nvSpPr>
          <p:spPr>
            <a:xfrm flipH="false" flipV="false" rot="0">
              <a:off x="0" y="0"/>
              <a:ext cx="6129909" cy="765302"/>
            </a:xfrm>
            <a:custGeom>
              <a:avLst/>
              <a:gdLst/>
              <a:ahLst/>
              <a:cxnLst/>
              <a:rect r="r" b="b" t="t" l="l"/>
              <a:pathLst>
                <a:path h="765302" w="6129909">
                  <a:moveTo>
                    <a:pt x="0" y="211963"/>
                  </a:moveTo>
                  <a:cubicBezTo>
                    <a:pt x="0" y="94234"/>
                    <a:pt x="99060" y="0"/>
                    <a:pt x="219964" y="0"/>
                  </a:cubicBezTo>
                  <a:lnTo>
                    <a:pt x="5909945" y="0"/>
                  </a:lnTo>
                  <a:lnTo>
                    <a:pt x="5909945" y="16891"/>
                  </a:lnTo>
                  <a:lnTo>
                    <a:pt x="5909945" y="0"/>
                  </a:lnTo>
                  <a:cubicBezTo>
                    <a:pt x="6030722" y="0"/>
                    <a:pt x="6129909" y="94234"/>
                    <a:pt x="6129909" y="211963"/>
                  </a:cubicBezTo>
                  <a:lnTo>
                    <a:pt x="6113018" y="211963"/>
                  </a:lnTo>
                  <a:lnTo>
                    <a:pt x="6129909" y="211963"/>
                  </a:lnTo>
                  <a:lnTo>
                    <a:pt x="6129909" y="553339"/>
                  </a:lnTo>
                  <a:lnTo>
                    <a:pt x="6113018" y="553339"/>
                  </a:lnTo>
                  <a:lnTo>
                    <a:pt x="6129909" y="553339"/>
                  </a:lnTo>
                  <a:cubicBezTo>
                    <a:pt x="6129909" y="671068"/>
                    <a:pt x="6030849" y="765302"/>
                    <a:pt x="5909945" y="765302"/>
                  </a:cubicBezTo>
                  <a:lnTo>
                    <a:pt x="5909945" y="748411"/>
                  </a:lnTo>
                  <a:lnTo>
                    <a:pt x="5909945" y="765302"/>
                  </a:lnTo>
                  <a:lnTo>
                    <a:pt x="219964" y="765302"/>
                  </a:lnTo>
                  <a:lnTo>
                    <a:pt x="219964" y="748411"/>
                  </a:lnTo>
                  <a:lnTo>
                    <a:pt x="219964" y="765302"/>
                  </a:lnTo>
                  <a:cubicBezTo>
                    <a:pt x="99060" y="765429"/>
                    <a:pt x="0" y="671068"/>
                    <a:pt x="0" y="553339"/>
                  </a:cubicBezTo>
                  <a:lnTo>
                    <a:pt x="0" y="211963"/>
                  </a:lnTo>
                  <a:lnTo>
                    <a:pt x="16891" y="211963"/>
                  </a:lnTo>
                  <a:lnTo>
                    <a:pt x="0" y="211963"/>
                  </a:lnTo>
                  <a:moveTo>
                    <a:pt x="33909" y="211963"/>
                  </a:moveTo>
                  <a:lnTo>
                    <a:pt x="33909" y="553339"/>
                  </a:lnTo>
                  <a:lnTo>
                    <a:pt x="16891" y="553339"/>
                  </a:lnTo>
                  <a:lnTo>
                    <a:pt x="33909" y="553339"/>
                  </a:lnTo>
                  <a:cubicBezTo>
                    <a:pt x="33909" y="651129"/>
                    <a:pt x="116586" y="731520"/>
                    <a:pt x="219964" y="731520"/>
                  </a:cubicBezTo>
                  <a:lnTo>
                    <a:pt x="5909945" y="731520"/>
                  </a:lnTo>
                  <a:cubicBezTo>
                    <a:pt x="6013323" y="731520"/>
                    <a:pt x="6096000" y="651129"/>
                    <a:pt x="6096000" y="553339"/>
                  </a:cubicBezTo>
                  <a:lnTo>
                    <a:pt x="6096000" y="211963"/>
                  </a:lnTo>
                  <a:cubicBezTo>
                    <a:pt x="6096000" y="114173"/>
                    <a:pt x="6013323" y="33782"/>
                    <a:pt x="5909945" y="33782"/>
                  </a:cubicBezTo>
                  <a:lnTo>
                    <a:pt x="219964" y="33782"/>
                  </a:lnTo>
                  <a:lnTo>
                    <a:pt x="219964" y="16891"/>
                  </a:lnTo>
                  <a:lnTo>
                    <a:pt x="219964" y="33909"/>
                  </a:lnTo>
                  <a:cubicBezTo>
                    <a:pt x="116459" y="33909"/>
                    <a:pt x="33909" y="114300"/>
                    <a:pt x="33909" y="211963"/>
                  </a:cubicBezTo>
                  <a:close/>
                </a:path>
              </a:pathLst>
            </a:custGeom>
            <a:solidFill>
              <a:srgbClr val="C0614E"/>
            </a:solidFill>
          </p:spPr>
        </p:sp>
      </p:grpSp>
      <p:grpSp>
        <p:nvGrpSpPr>
          <p:cNvPr name="Group 20" id="20"/>
          <p:cNvGrpSpPr/>
          <p:nvPr/>
        </p:nvGrpSpPr>
        <p:grpSpPr>
          <a:xfrm rot="0">
            <a:off x="969264" y="2139696"/>
            <a:ext cx="4572000" cy="512064"/>
            <a:chOff x="0" y="0"/>
            <a:chExt cx="6096000" cy="682752"/>
          </a:xfrm>
        </p:grpSpPr>
        <p:sp>
          <p:nvSpPr>
            <p:cNvPr name="Freeform 21" id="21"/>
            <p:cNvSpPr/>
            <p:nvPr/>
          </p:nvSpPr>
          <p:spPr>
            <a:xfrm flipH="false" flipV="false" rot="0">
              <a:off x="0" y="0"/>
              <a:ext cx="6096000" cy="682752"/>
            </a:xfrm>
            <a:custGeom>
              <a:avLst/>
              <a:gdLst/>
              <a:ahLst/>
              <a:cxnLst/>
              <a:rect r="r" b="b" t="t" l="l"/>
              <a:pathLst>
                <a:path h="682752" w="6096000">
                  <a:moveTo>
                    <a:pt x="0" y="0"/>
                  </a:moveTo>
                  <a:lnTo>
                    <a:pt x="6096000" y="0"/>
                  </a:lnTo>
                  <a:lnTo>
                    <a:pt x="6096000" y="682752"/>
                  </a:lnTo>
                  <a:lnTo>
                    <a:pt x="0" y="682752"/>
                  </a:lnTo>
                  <a:close/>
                </a:path>
              </a:pathLst>
            </a:custGeom>
            <a:blipFill>
              <a:blip r:embed="rId3">
                <a:alphaModFix amt="0"/>
              </a:blip>
              <a:stretch>
                <a:fillRect l="0" t="-123973" r="0" b="-123973"/>
              </a:stretch>
            </a:blipFill>
          </p:spPr>
        </p:sp>
        <p:sp>
          <p:nvSpPr>
            <p:cNvPr name="TextBox 22" id="22"/>
            <p:cNvSpPr txBox="true"/>
            <p:nvPr/>
          </p:nvSpPr>
          <p:spPr>
            <a:xfrm>
              <a:off x="0" y="9525"/>
              <a:ext cx="6096000" cy="673227"/>
            </a:xfrm>
            <a:prstGeom prst="rect">
              <a:avLst/>
            </a:prstGeom>
          </p:spPr>
          <p:txBody>
            <a:bodyPr anchor="ctr" rtlCol="false" tIns="0" lIns="0" bIns="0" rIns="0"/>
            <a:lstStyle/>
            <a:p>
              <a:pPr algn="ctr">
                <a:lnSpc>
                  <a:spcPts val="2160"/>
                </a:lnSpc>
              </a:pPr>
              <a:r>
                <a:rPr lang="en-US" sz="1800" b="true">
                  <a:solidFill>
                    <a:srgbClr val="FFFFFF"/>
                  </a:solidFill>
                  <a:latin typeface="EB Garamond Semi-Bold"/>
                  <a:ea typeface="EB Garamond Semi-Bold"/>
                  <a:cs typeface="EB Garamond Semi-Bold"/>
                  <a:sym typeface="EB Garamond Semi-Bold"/>
                </a:rPr>
                <a:t>sendré — Bloc 3</a:t>
              </a:r>
            </a:p>
          </p:txBody>
        </p:sp>
      </p:grpSp>
      <p:grpSp>
        <p:nvGrpSpPr>
          <p:cNvPr name="Group 23" id="23"/>
          <p:cNvGrpSpPr/>
          <p:nvPr/>
        </p:nvGrpSpPr>
        <p:grpSpPr>
          <a:xfrm rot="0">
            <a:off x="969264" y="2779776"/>
            <a:ext cx="7589520" cy="877824"/>
            <a:chOff x="0" y="0"/>
            <a:chExt cx="10119360" cy="1170432"/>
          </a:xfrm>
        </p:grpSpPr>
        <p:sp>
          <p:nvSpPr>
            <p:cNvPr name="Freeform 24" id="24"/>
            <p:cNvSpPr/>
            <p:nvPr/>
          </p:nvSpPr>
          <p:spPr>
            <a:xfrm flipH="false" flipV="false" rot="0">
              <a:off x="0" y="0"/>
              <a:ext cx="10119360" cy="1170432"/>
            </a:xfrm>
            <a:custGeom>
              <a:avLst/>
              <a:gdLst/>
              <a:ahLst/>
              <a:cxnLst/>
              <a:rect r="r" b="b" t="t" l="l"/>
              <a:pathLst>
                <a:path h="1170432" w="10119360">
                  <a:moveTo>
                    <a:pt x="0" y="0"/>
                  </a:moveTo>
                  <a:lnTo>
                    <a:pt x="10119360" y="0"/>
                  </a:lnTo>
                  <a:lnTo>
                    <a:pt x="10119360" y="1170432"/>
                  </a:lnTo>
                  <a:lnTo>
                    <a:pt x="0" y="1170432"/>
                  </a:lnTo>
                  <a:close/>
                </a:path>
              </a:pathLst>
            </a:custGeom>
            <a:blipFill>
              <a:blip r:embed="rId3">
                <a:alphaModFix amt="0"/>
              </a:blip>
              <a:stretch>
                <a:fillRect l="0" t="-118464" r="0" b="-118464"/>
              </a:stretch>
            </a:blipFill>
          </p:spPr>
        </p:sp>
        <p:sp>
          <p:nvSpPr>
            <p:cNvPr name="TextBox 25" id="25"/>
            <p:cNvSpPr txBox="true"/>
            <p:nvPr/>
          </p:nvSpPr>
          <p:spPr>
            <a:xfrm>
              <a:off x="0" y="9525"/>
              <a:ext cx="10119360" cy="1160907"/>
            </a:xfrm>
            <a:prstGeom prst="rect">
              <a:avLst/>
            </a:prstGeom>
          </p:spPr>
          <p:txBody>
            <a:bodyPr anchor="ctr" rtlCol="false" tIns="0" lIns="0" bIns="0" rIns="0"/>
            <a:lstStyle/>
            <a:p>
              <a:pPr algn="l">
                <a:lnSpc>
                  <a:spcPts val="2280"/>
                </a:lnSpc>
              </a:pPr>
              <a:r>
                <a:rPr lang="en-US" sz="1900" i="true">
                  <a:solidFill>
                    <a:srgbClr val="364E64"/>
                  </a:solidFill>
                  <a:latin typeface="EB Garamond Italics"/>
                  <a:ea typeface="EB Garamond Italics"/>
                  <a:cs typeface="EB Garamond Italics"/>
                  <a:sym typeface="EB Garamond Italics"/>
                </a:rPr>
                <a:t>⚠  'sendré'  a été trouvé au niveau de la colonne prix alors que c'est un lieu/marché. Valeurs imputées (Sexe=1, Age=2, Prix=45 000 FCFA) intraçables.</a:t>
              </a:r>
            </a:p>
          </p:txBody>
        </p:sp>
      </p:grpSp>
      <p:grpSp>
        <p:nvGrpSpPr>
          <p:cNvPr name="Group 26" id="26"/>
          <p:cNvGrpSpPr/>
          <p:nvPr/>
        </p:nvGrpSpPr>
        <p:grpSpPr>
          <a:xfrm rot="0">
            <a:off x="969264" y="3657600"/>
            <a:ext cx="7589520" cy="731520"/>
            <a:chOff x="0" y="0"/>
            <a:chExt cx="10119360" cy="975360"/>
          </a:xfrm>
        </p:grpSpPr>
        <p:sp>
          <p:nvSpPr>
            <p:cNvPr name="Freeform 27" id="27"/>
            <p:cNvSpPr/>
            <p:nvPr/>
          </p:nvSpPr>
          <p:spPr>
            <a:xfrm flipH="false" flipV="false" rot="0">
              <a:off x="0" y="0"/>
              <a:ext cx="10119360" cy="975360"/>
            </a:xfrm>
            <a:custGeom>
              <a:avLst/>
              <a:gdLst/>
              <a:ahLst/>
              <a:cxnLst/>
              <a:rect r="r" b="b" t="t" l="l"/>
              <a:pathLst>
                <a:path h="975360" w="10119360">
                  <a:moveTo>
                    <a:pt x="0" y="0"/>
                  </a:moveTo>
                  <a:lnTo>
                    <a:pt x="10119360" y="0"/>
                  </a:lnTo>
                  <a:lnTo>
                    <a:pt x="10119360" y="975360"/>
                  </a:lnTo>
                  <a:lnTo>
                    <a:pt x="0" y="975360"/>
                  </a:lnTo>
                  <a:close/>
                </a:path>
              </a:pathLst>
            </a:custGeom>
            <a:blipFill>
              <a:blip r:embed="rId3">
                <a:alphaModFix amt="0"/>
              </a:blip>
              <a:stretch>
                <a:fillRect l="0" t="-152157" r="0" b="-152157"/>
              </a:stretch>
            </a:blipFill>
          </p:spPr>
        </p:sp>
        <p:sp>
          <p:nvSpPr>
            <p:cNvPr name="TextBox 28" id="28"/>
            <p:cNvSpPr txBox="true"/>
            <p:nvPr/>
          </p:nvSpPr>
          <p:spPr>
            <a:xfrm>
              <a:off x="0" y="9525"/>
              <a:ext cx="10119360" cy="965835"/>
            </a:xfrm>
            <a:prstGeom prst="rect">
              <a:avLst/>
            </a:prstGeom>
          </p:spPr>
          <p:txBody>
            <a:bodyPr anchor="ctr" rtlCol="false" tIns="0" lIns="0" bIns="0" rIns="0"/>
            <a:lstStyle/>
            <a:p>
              <a:pPr algn="l">
                <a:lnSpc>
                  <a:spcPts val="2280"/>
                </a:lnSpc>
              </a:pPr>
              <a:r>
                <a:rPr lang="en-US" sz="1900" b="true">
                  <a:solidFill>
                    <a:srgbClr val="2A6A3A"/>
                  </a:solidFill>
                  <a:latin typeface="EB Garamond Semi-Bold"/>
                  <a:ea typeface="EB Garamond Semi-Bold"/>
                  <a:cs typeface="EB Garamond Semi-Bold"/>
                  <a:sym typeface="EB Garamond Semi-Bold"/>
                </a:rPr>
                <a:t>→ Correction apportée : ajout d'un commentaire identifiant l'origine de l'imputation. Aucune modification apportée.</a:t>
              </a:r>
            </a:p>
          </p:txBody>
        </p:sp>
      </p:grpSp>
      <p:grpSp>
        <p:nvGrpSpPr>
          <p:cNvPr name="Group 29" id="29"/>
          <p:cNvGrpSpPr/>
          <p:nvPr/>
        </p:nvGrpSpPr>
        <p:grpSpPr>
          <a:xfrm rot="0">
            <a:off x="9499597" y="1964941"/>
            <a:ext cx="8249917" cy="2653789"/>
            <a:chOff x="0" y="0"/>
            <a:chExt cx="10999889" cy="3538385"/>
          </a:xfrm>
        </p:grpSpPr>
        <p:sp>
          <p:nvSpPr>
            <p:cNvPr name="Freeform 30" id="30"/>
            <p:cNvSpPr/>
            <p:nvPr/>
          </p:nvSpPr>
          <p:spPr>
            <a:xfrm flipH="false" flipV="false" rot="0">
              <a:off x="13589" y="13589"/>
              <a:ext cx="10972800" cy="3511296"/>
            </a:xfrm>
            <a:custGeom>
              <a:avLst/>
              <a:gdLst/>
              <a:ahLst/>
              <a:cxnLst/>
              <a:rect r="r" b="b" t="t" l="l"/>
              <a:pathLst>
                <a:path h="3511296" w="10972800">
                  <a:moveTo>
                    <a:pt x="0" y="243840"/>
                  </a:moveTo>
                  <a:cubicBezTo>
                    <a:pt x="0" y="109220"/>
                    <a:pt x="109728" y="0"/>
                    <a:pt x="245110" y="0"/>
                  </a:cubicBezTo>
                  <a:lnTo>
                    <a:pt x="10727690" y="0"/>
                  </a:lnTo>
                  <a:cubicBezTo>
                    <a:pt x="10863073" y="0"/>
                    <a:pt x="10972800" y="109220"/>
                    <a:pt x="10972800" y="243840"/>
                  </a:cubicBezTo>
                  <a:lnTo>
                    <a:pt x="10972800" y="3267456"/>
                  </a:lnTo>
                  <a:cubicBezTo>
                    <a:pt x="10972800" y="3402076"/>
                    <a:pt x="10863072" y="3511296"/>
                    <a:pt x="10727690" y="3511296"/>
                  </a:cubicBezTo>
                  <a:lnTo>
                    <a:pt x="245110" y="3511296"/>
                  </a:lnTo>
                  <a:cubicBezTo>
                    <a:pt x="109728" y="3511296"/>
                    <a:pt x="0" y="3402076"/>
                    <a:pt x="0" y="3267456"/>
                  </a:cubicBezTo>
                  <a:close/>
                </a:path>
              </a:pathLst>
            </a:custGeom>
            <a:solidFill>
              <a:srgbClr val="FFFFFF"/>
            </a:solidFill>
          </p:spPr>
        </p:sp>
        <p:sp>
          <p:nvSpPr>
            <p:cNvPr name="Freeform 31" id="31"/>
            <p:cNvSpPr/>
            <p:nvPr/>
          </p:nvSpPr>
          <p:spPr>
            <a:xfrm flipH="false" flipV="false" rot="0">
              <a:off x="0" y="0"/>
              <a:ext cx="10999978" cy="3538474"/>
            </a:xfrm>
            <a:custGeom>
              <a:avLst/>
              <a:gdLst/>
              <a:ahLst/>
              <a:cxnLst/>
              <a:rect r="r" b="b" t="t" l="l"/>
              <a:pathLst>
                <a:path h="3538474" w="10999978">
                  <a:moveTo>
                    <a:pt x="0" y="257429"/>
                  </a:moveTo>
                  <a:cubicBezTo>
                    <a:pt x="0" y="115189"/>
                    <a:pt x="115824" y="0"/>
                    <a:pt x="258699" y="0"/>
                  </a:cubicBezTo>
                  <a:lnTo>
                    <a:pt x="10741279" y="0"/>
                  </a:lnTo>
                  <a:lnTo>
                    <a:pt x="10741279" y="13589"/>
                  </a:lnTo>
                  <a:lnTo>
                    <a:pt x="10741279" y="0"/>
                  </a:lnTo>
                  <a:cubicBezTo>
                    <a:pt x="10884027" y="0"/>
                    <a:pt x="10999978" y="115189"/>
                    <a:pt x="10999978" y="257429"/>
                  </a:cubicBezTo>
                  <a:lnTo>
                    <a:pt x="10986389" y="257429"/>
                  </a:lnTo>
                  <a:lnTo>
                    <a:pt x="10999978" y="257429"/>
                  </a:lnTo>
                  <a:lnTo>
                    <a:pt x="10999978" y="3281045"/>
                  </a:lnTo>
                  <a:lnTo>
                    <a:pt x="10986389" y="3281045"/>
                  </a:lnTo>
                  <a:lnTo>
                    <a:pt x="10999978" y="3281045"/>
                  </a:lnTo>
                  <a:cubicBezTo>
                    <a:pt x="10999978" y="3423285"/>
                    <a:pt x="10884154" y="3538474"/>
                    <a:pt x="10741279" y="3538474"/>
                  </a:cubicBezTo>
                  <a:lnTo>
                    <a:pt x="10741279" y="3524885"/>
                  </a:lnTo>
                  <a:lnTo>
                    <a:pt x="10741279" y="3538474"/>
                  </a:lnTo>
                  <a:lnTo>
                    <a:pt x="258699" y="3538474"/>
                  </a:lnTo>
                  <a:lnTo>
                    <a:pt x="258699" y="3524885"/>
                  </a:lnTo>
                  <a:lnTo>
                    <a:pt x="258699" y="3538474"/>
                  </a:lnTo>
                  <a:cubicBezTo>
                    <a:pt x="115824" y="3538347"/>
                    <a:pt x="0" y="3423285"/>
                    <a:pt x="0" y="3281045"/>
                  </a:cubicBezTo>
                  <a:lnTo>
                    <a:pt x="0" y="257429"/>
                  </a:lnTo>
                  <a:lnTo>
                    <a:pt x="13589" y="257429"/>
                  </a:lnTo>
                  <a:lnTo>
                    <a:pt x="0" y="257429"/>
                  </a:lnTo>
                  <a:moveTo>
                    <a:pt x="27051" y="257429"/>
                  </a:moveTo>
                  <a:lnTo>
                    <a:pt x="27051" y="3281045"/>
                  </a:lnTo>
                  <a:lnTo>
                    <a:pt x="13589" y="3281045"/>
                  </a:lnTo>
                  <a:lnTo>
                    <a:pt x="27051" y="3281045"/>
                  </a:lnTo>
                  <a:cubicBezTo>
                    <a:pt x="27051" y="3408172"/>
                    <a:pt x="130683" y="3511296"/>
                    <a:pt x="258572" y="3511296"/>
                  </a:cubicBezTo>
                  <a:lnTo>
                    <a:pt x="10741152" y="3511296"/>
                  </a:lnTo>
                  <a:cubicBezTo>
                    <a:pt x="10869041" y="3511296"/>
                    <a:pt x="10972674" y="3408172"/>
                    <a:pt x="10972674" y="3281045"/>
                  </a:cubicBezTo>
                  <a:lnTo>
                    <a:pt x="10972674" y="257429"/>
                  </a:lnTo>
                  <a:cubicBezTo>
                    <a:pt x="10972674" y="130302"/>
                    <a:pt x="10869041" y="27178"/>
                    <a:pt x="10741152" y="27178"/>
                  </a:cubicBezTo>
                  <a:lnTo>
                    <a:pt x="258699" y="27178"/>
                  </a:lnTo>
                  <a:lnTo>
                    <a:pt x="258699" y="13589"/>
                  </a:lnTo>
                  <a:lnTo>
                    <a:pt x="258699" y="27051"/>
                  </a:lnTo>
                  <a:cubicBezTo>
                    <a:pt x="130810" y="27051"/>
                    <a:pt x="27178" y="130175"/>
                    <a:pt x="27178" y="257302"/>
                  </a:cubicBezTo>
                  <a:close/>
                </a:path>
              </a:pathLst>
            </a:custGeom>
            <a:solidFill>
              <a:srgbClr val="BDC8D5"/>
            </a:solidFill>
          </p:spPr>
        </p:sp>
      </p:grpSp>
      <p:grpSp>
        <p:nvGrpSpPr>
          <p:cNvPr name="Group 32" id="32"/>
          <p:cNvGrpSpPr/>
          <p:nvPr/>
        </p:nvGrpSpPr>
        <p:grpSpPr>
          <a:xfrm rot="0">
            <a:off x="9497063" y="1962407"/>
            <a:ext cx="153419" cy="2658875"/>
            <a:chOff x="0" y="0"/>
            <a:chExt cx="204559" cy="3545167"/>
          </a:xfrm>
        </p:grpSpPr>
        <p:sp>
          <p:nvSpPr>
            <p:cNvPr name="Freeform 33" id="33"/>
            <p:cNvSpPr/>
            <p:nvPr/>
          </p:nvSpPr>
          <p:spPr>
            <a:xfrm flipH="false" flipV="false" rot="0">
              <a:off x="16891" y="16891"/>
              <a:ext cx="170688" cy="3511296"/>
            </a:xfrm>
            <a:custGeom>
              <a:avLst/>
              <a:gdLst/>
              <a:ahLst/>
              <a:cxnLst/>
              <a:rect r="r" b="b" t="t" l="l"/>
              <a:pathLst>
                <a:path h="3511296" w="170688">
                  <a:moveTo>
                    <a:pt x="0" y="0"/>
                  </a:moveTo>
                  <a:lnTo>
                    <a:pt x="170688" y="0"/>
                  </a:lnTo>
                  <a:lnTo>
                    <a:pt x="170688" y="3511296"/>
                  </a:lnTo>
                  <a:lnTo>
                    <a:pt x="0" y="3511296"/>
                  </a:lnTo>
                  <a:close/>
                </a:path>
              </a:pathLst>
            </a:custGeom>
            <a:solidFill>
              <a:srgbClr val="5B8DB8"/>
            </a:solidFill>
          </p:spPr>
        </p:sp>
        <p:sp>
          <p:nvSpPr>
            <p:cNvPr name="Freeform 34" id="34"/>
            <p:cNvSpPr/>
            <p:nvPr/>
          </p:nvSpPr>
          <p:spPr>
            <a:xfrm flipH="false" flipV="false" rot="0">
              <a:off x="0" y="0"/>
              <a:ext cx="204470" cy="3545078"/>
            </a:xfrm>
            <a:custGeom>
              <a:avLst/>
              <a:gdLst/>
              <a:ahLst/>
              <a:cxnLst/>
              <a:rect r="r" b="b" t="t" l="l"/>
              <a:pathLst>
                <a:path h="3545078" w="204470">
                  <a:moveTo>
                    <a:pt x="16891" y="0"/>
                  </a:moveTo>
                  <a:lnTo>
                    <a:pt x="187579" y="0"/>
                  </a:lnTo>
                  <a:cubicBezTo>
                    <a:pt x="196977" y="0"/>
                    <a:pt x="204470" y="7620"/>
                    <a:pt x="204470" y="16891"/>
                  </a:cubicBezTo>
                  <a:lnTo>
                    <a:pt x="204470" y="3528187"/>
                  </a:lnTo>
                  <a:cubicBezTo>
                    <a:pt x="204470" y="3537585"/>
                    <a:pt x="196850" y="3545078"/>
                    <a:pt x="187579" y="3545078"/>
                  </a:cubicBezTo>
                  <a:lnTo>
                    <a:pt x="16891" y="3545078"/>
                  </a:lnTo>
                  <a:cubicBezTo>
                    <a:pt x="7493" y="3545078"/>
                    <a:pt x="0" y="3537458"/>
                    <a:pt x="0" y="3528187"/>
                  </a:cubicBezTo>
                  <a:lnTo>
                    <a:pt x="0" y="16891"/>
                  </a:lnTo>
                  <a:cubicBezTo>
                    <a:pt x="0" y="7620"/>
                    <a:pt x="7620" y="0"/>
                    <a:pt x="16891" y="0"/>
                  </a:cubicBezTo>
                  <a:moveTo>
                    <a:pt x="16891" y="33909"/>
                  </a:moveTo>
                  <a:lnTo>
                    <a:pt x="16891" y="16891"/>
                  </a:lnTo>
                  <a:lnTo>
                    <a:pt x="33909" y="16891"/>
                  </a:lnTo>
                  <a:lnTo>
                    <a:pt x="33909" y="3528187"/>
                  </a:lnTo>
                  <a:lnTo>
                    <a:pt x="16891" y="3528187"/>
                  </a:lnTo>
                  <a:lnTo>
                    <a:pt x="16891" y="3511296"/>
                  </a:lnTo>
                  <a:lnTo>
                    <a:pt x="187579" y="3511296"/>
                  </a:lnTo>
                  <a:lnTo>
                    <a:pt x="187579" y="3528187"/>
                  </a:lnTo>
                  <a:lnTo>
                    <a:pt x="170688" y="3528187"/>
                  </a:lnTo>
                  <a:lnTo>
                    <a:pt x="170688" y="16891"/>
                  </a:lnTo>
                  <a:lnTo>
                    <a:pt x="187579" y="16891"/>
                  </a:lnTo>
                  <a:lnTo>
                    <a:pt x="187579" y="33909"/>
                  </a:lnTo>
                  <a:lnTo>
                    <a:pt x="16891" y="33909"/>
                  </a:lnTo>
                  <a:close/>
                </a:path>
              </a:pathLst>
            </a:custGeom>
            <a:solidFill>
              <a:srgbClr val="5B8DB8"/>
            </a:solidFill>
          </p:spPr>
        </p:sp>
      </p:grpSp>
      <p:grpSp>
        <p:nvGrpSpPr>
          <p:cNvPr name="Group 35" id="35"/>
          <p:cNvGrpSpPr/>
          <p:nvPr/>
        </p:nvGrpSpPr>
        <p:grpSpPr>
          <a:xfrm rot="0">
            <a:off x="9826247" y="2108711"/>
            <a:ext cx="4597403" cy="574043"/>
            <a:chOff x="0" y="0"/>
            <a:chExt cx="6129871" cy="765391"/>
          </a:xfrm>
        </p:grpSpPr>
        <p:sp>
          <p:nvSpPr>
            <p:cNvPr name="Freeform 36" id="36"/>
            <p:cNvSpPr/>
            <p:nvPr/>
          </p:nvSpPr>
          <p:spPr>
            <a:xfrm flipH="false" flipV="false" rot="0">
              <a:off x="16891" y="16891"/>
              <a:ext cx="6096000" cy="731520"/>
            </a:xfrm>
            <a:custGeom>
              <a:avLst/>
              <a:gdLst/>
              <a:ahLst/>
              <a:cxnLst/>
              <a:rect r="r" b="b" t="t" l="l"/>
              <a:pathLst>
                <a:path h="731520" w="6096000">
                  <a:moveTo>
                    <a:pt x="0" y="195072"/>
                  </a:moveTo>
                  <a:cubicBezTo>
                    <a:pt x="0" y="87376"/>
                    <a:pt x="90932" y="0"/>
                    <a:pt x="202946" y="0"/>
                  </a:cubicBezTo>
                  <a:lnTo>
                    <a:pt x="5893054" y="0"/>
                  </a:lnTo>
                  <a:cubicBezTo>
                    <a:pt x="6005195" y="0"/>
                    <a:pt x="6096000" y="87376"/>
                    <a:pt x="6096000" y="195072"/>
                  </a:cubicBezTo>
                  <a:lnTo>
                    <a:pt x="6096000" y="536448"/>
                  </a:lnTo>
                  <a:cubicBezTo>
                    <a:pt x="6096000" y="644144"/>
                    <a:pt x="6005068" y="731520"/>
                    <a:pt x="5893054" y="731520"/>
                  </a:cubicBezTo>
                  <a:lnTo>
                    <a:pt x="203073" y="731520"/>
                  </a:lnTo>
                  <a:cubicBezTo>
                    <a:pt x="90932" y="731520"/>
                    <a:pt x="127" y="644144"/>
                    <a:pt x="127" y="536448"/>
                  </a:cubicBezTo>
                  <a:close/>
                </a:path>
              </a:pathLst>
            </a:custGeom>
            <a:solidFill>
              <a:srgbClr val="5B8DB8"/>
            </a:solidFill>
          </p:spPr>
        </p:sp>
        <p:sp>
          <p:nvSpPr>
            <p:cNvPr name="Freeform 37" id="37"/>
            <p:cNvSpPr/>
            <p:nvPr/>
          </p:nvSpPr>
          <p:spPr>
            <a:xfrm flipH="false" flipV="false" rot="0">
              <a:off x="0" y="0"/>
              <a:ext cx="6129909" cy="765302"/>
            </a:xfrm>
            <a:custGeom>
              <a:avLst/>
              <a:gdLst/>
              <a:ahLst/>
              <a:cxnLst/>
              <a:rect r="r" b="b" t="t" l="l"/>
              <a:pathLst>
                <a:path h="765302" w="6129909">
                  <a:moveTo>
                    <a:pt x="0" y="211963"/>
                  </a:moveTo>
                  <a:cubicBezTo>
                    <a:pt x="0" y="94234"/>
                    <a:pt x="99060" y="0"/>
                    <a:pt x="219964" y="0"/>
                  </a:cubicBezTo>
                  <a:lnTo>
                    <a:pt x="5909945" y="0"/>
                  </a:lnTo>
                  <a:lnTo>
                    <a:pt x="5909945" y="16891"/>
                  </a:lnTo>
                  <a:lnTo>
                    <a:pt x="5909945" y="0"/>
                  </a:lnTo>
                  <a:cubicBezTo>
                    <a:pt x="6030722" y="0"/>
                    <a:pt x="6129909" y="94234"/>
                    <a:pt x="6129909" y="211963"/>
                  </a:cubicBezTo>
                  <a:lnTo>
                    <a:pt x="6113018" y="211963"/>
                  </a:lnTo>
                  <a:lnTo>
                    <a:pt x="6129909" y="211963"/>
                  </a:lnTo>
                  <a:lnTo>
                    <a:pt x="6129909" y="553339"/>
                  </a:lnTo>
                  <a:lnTo>
                    <a:pt x="6113018" y="553339"/>
                  </a:lnTo>
                  <a:lnTo>
                    <a:pt x="6129909" y="553339"/>
                  </a:lnTo>
                  <a:cubicBezTo>
                    <a:pt x="6129909" y="671068"/>
                    <a:pt x="6030849" y="765302"/>
                    <a:pt x="5909945" y="765302"/>
                  </a:cubicBezTo>
                  <a:lnTo>
                    <a:pt x="5909945" y="748411"/>
                  </a:lnTo>
                  <a:lnTo>
                    <a:pt x="5909945" y="765302"/>
                  </a:lnTo>
                  <a:lnTo>
                    <a:pt x="219964" y="765302"/>
                  </a:lnTo>
                  <a:lnTo>
                    <a:pt x="219964" y="748411"/>
                  </a:lnTo>
                  <a:lnTo>
                    <a:pt x="219964" y="765302"/>
                  </a:lnTo>
                  <a:cubicBezTo>
                    <a:pt x="99060" y="765429"/>
                    <a:pt x="0" y="671068"/>
                    <a:pt x="0" y="553339"/>
                  </a:cubicBezTo>
                  <a:lnTo>
                    <a:pt x="0" y="211963"/>
                  </a:lnTo>
                  <a:lnTo>
                    <a:pt x="16891" y="211963"/>
                  </a:lnTo>
                  <a:lnTo>
                    <a:pt x="0" y="211963"/>
                  </a:lnTo>
                  <a:moveTo>
                    <a:pt x="33909" y="211963"/>
                  </a:moveTo>
                  <a:lnTo>
                    <a:pt x="33909" y="553339"/>
                  </a:lnTo>
                  <a:lnTo>
                    <a:pt x="16891" y="553339"/>
                  </a:lnTo>
                  <a:lnTo>
                    <a:pt x="33909" y="553339"/>
                  </a:lnTo>
                  <a:cubicBezTo>
                    <a:pt x="33909" y="651129"/>
                    <a:pt x="116586" y="731520"/>
                    <a:pt x="219964" y="731520"/>
                  </a:cubicBezTo>
                  <a:lnTo>
                    <a:pt x="5909945" y="731520"/>
                  </a:lnTo>
                  <a:cubicBezTo>
                    <a:pt x="6013323" y="731520"/>
                    <a:pt x="6096000" y="651129"/>
                    <a:pt x="6096000" y="553339"/>
                  </a:cubicBezTo>
                  <a:lnTo>
                    <a:pt x="6096000" y="211963"/>
                  </a:lnTo>
                  <a:cubicBezTo>
                    <a:pt x="6096000" y="114173"/>
                    <a:pt x="6013323" y="33782"/>
                    <a:pt x="5909945" y="33782"/>
                  </a:cubicBezTo>
                  <a:lnTo>
                    <a:pt x="219964" y="33782"/>
                  </a:lnTo>
                  <a:lnTo>
                    <a:pt x="219964" y="16891"/>
                  </a:lnTo>
                  <a:lnTo>
                    <a:pt x="219964" y="33909"/>
                  </a:lnTo>
                  <a:cubicBezTo>
                    <a:pt x="116459" y="33909"/>
                    <a:pt x="33909" y="114300"/>
                    <a:pt x="33909" y="211963"/>
                  </a:cubicBezTo>
                  <a:close/>
                </a:path>
              </a:pathLst>
            </a:custGeom>
            <a:solidFill>
              <a:srgbClr val="5B8DB8"/>
            </a:solidFill>
          </p:spPr>
        </p:sp>
      </p:grpSp>
      <p:grpSp>
        <p:nvGrpSpPr>
          <p:cNvPr name="Group 38" id="38"/>
          <p:cNvGrpSpPr/>
          <p:nvPr/>
        </p:nvGrpSpPr>
        <p:grpSpPr>
          <a:xfrm rot="0">
            <a:off x="9838944" y="2139696"/>
            <a:ext cx="4572000" cy="512064"/>
            <a:chOff x="0" y="0"/>
            <a:chExt cx="6096000" cy="682752"/>
          </a:xfrm>
        </p:grpSpPr>
        <p:sp>
          <p:nvSpPr>
            <p:cNvPr name="Freeform 39" id="39"/>
            <p:cNvSpPr/>
            <p:nvPr/>
          </p:nvSpPr>
          <p:spPr>
            <a:xfrm flipH="false" flipV="false" rot="0">
              <a:off x="0" y="0"/>
              <a:ext cx="6096000" cy="682752"/>
            </a:xfrm>
            <a:custGeom>
              <a:avLst/>
              <a:gdLst/>
              <a:ahLst/>
              <a:cxnLst/>
              <a:rect r="r" b="b" t="t" l="l"/>
              <a:pathLst>
                <a:path h="682752" w="6096000">
                  <a:moveTo>
                    <a:pt x="0" y="0"/>
                  </a:moveTo>
                  <a:lnTo>
                    <a:pt x="6096000" y="0"/>
                  </a:lnTo>
                  <a:lnTo>
                    <a:pt x="6096000" y="682752"/>
                  </a:lnTo>
                  <a:lnTo>
                    <a:pt x="0" y="682752"/>
                  </a:lnTo>
                  <a:close/>
                </a:path>
              </a:pathLst>
            </a:custGeom>
            <a:blipFill>
              <a:blip r:embed="rId3">
                <a:alphaModFix amt="0"/>
              </a:blip>
              <a:stretch>
                <a:fillRect l="0" t="-123973" r="0" b="-123973"/>
              </a:stretch>
            </a:blipFill>
          </p:spPr>
        </p:sp>
        <p:sp>
          <p:nvSpPr>
            <p:cNvPr name="TextBox 40" id="40"/>
            <p:cNvSpPr txBox="true"/>
            <p:nvPr/>
          </p:nvSpPr>
          <p:spPr>
            <a:xfrm>
              <a:off x="0" y="9525"/>
              <a:ext cx="6096000" cy="673227"/>
            </a:xfrm>
            <a:prstGeom prst="rect">
              <a:avLst/>
            </a:prstGeom>
          </p:spPr>
          <p:txBody>
            <a:bodyPr anchor="ctr" rtlCol="false" tIns="0" lIns="0" bIns="0" rIns="0"/>
            <a:lstStyle/>
            <a:p>
              <a:pPr algn="ctr">
                <a:lnSpc>
                  <a:spcPts val="2160"/>
                </a:lnSpc>
              </a:pPr>
              <a:r>
                <a:rPr lang="en-US" sz="1800" b="true">
                  <a:solidFill>
                    <a:srgbClr val="FFFFFF"/>
                  </a:solidFill>
                  <a:latin typeface="EB Garamond Semi-Bold"/>
                  <a:ea typeface="EB Garamond Semi-Bold"/>
                  <a:cs typeface="EB Garamond Semi-Bold"/>
                  <a:sym typeface="EB Garamond Semi-Bold"/>
                </a:rPr>
                <a:t>Coeff. EA 0,5 — Bloc 2</a:t>
              </a:r>
            </a:p>
          </p:txBody>
        </p:sp>
      </p:grpSp>
      <p:grpSp>
        <p:nvGrpSpPr>
          <p:cNvPr name="Group 41" id="41"/>
          <p:cNvGrpSpPr/>
          <p:nvPr/>
        </p:nvGrpSpPr>
        <p:grpSpPr>
          <a:xfrm rot="0">
            <a:off x="9838944" y="2779776"/>
            <a:ext cx="7589520" cy="877824"/>
            <a:chOff x="0" y="0"/>
            <a:chExt cx="10119360" cy="1170432"/>
          </a:xfrm>
        </p:grpSpPr>
        <p:sp>
          <p:nvSpPr>
            <p:cNvPr name="Freeform 42" id="42"/>
            <p:cNvSpPr/>
            <p:nvPr/>
          </p:nvSpPr>
          <p:spPr>
            <a:xfrm flipH="false" flipV="false" rot="0">
              <a:off x="0" y="0"/>
              <a:ext cx="10119360" cy="1170432"/>
            </a:xfrm>
            <a:custGeom>
              <a:avLst/>
              <a:gdLst/>
              <a:ahLst/>
              <a:cxnLst/>
              <a:rect r="r" b="b" t="t" l="l"/>
              <a:pathLst>
                <a:path h="1170432" w="10119360">
                  <a:moveTo>
                    <a:pt x="0" y="0"/>
                  </a:moveTo>
                  <a:lnTo>
                    <a:pt x="10119360" y="0"/>
                  </a:lnTo>
                  <a:lnTo>
                    <a:pt x="10119360" y="1170432"/>
                  </a:lnTo>
                  <a:lnTo>
                    <a:pt x="0" y="1170432"/>
                  </a:lnTo>
                  <a:close/>
                </a:path>
              </a:pathLst>
            </a:custGeom>
            <a:blipFill>
              <a:blip r:embed="rId3">
                <a:alphaModFix amt="0"/>
              </a:blip>
              <a:stretch>
                <a:fillRect l="0" t="-118464" r="0" b="-118464"/>
              </a:stretch>
            </a:blipFill>
          </p:spPr>
        </p:sp>
        <p:sp>
          <p:nvSpPr>
            <p:cNvPr name="TextBox 43" id="43"/>
            <p:cNvSpPr txBox="true"/>
            <p:nvPr/>
          </p:nvSpPr>
          <p:spPr>
            <a:xfrm>
              <a:off x="0" y="9525"/>
              <a:ext cx="10119360" cy="1160907"/>
            </a:xfrm>
            <a:prstGeom prst="rect">
              <a:avLst/>
            </a:prstGeom>
          </p:spPr>
          <p:txBody>
            <a:bodyPr anchor="ctr" rtlCol="false" tIns="0" lIns="0" bIns="0" rIns="0"/>
            <a:lstStyle/>
            <a:p>
              <a:pPr algn="l">
                <a:lnSpc>
                  <a:spcPts val="2280"/>
                </a:lnSpc>
              </a:pPr>
              <a:r>
                <a:rPr lang="en-US" sz="1900" i="true">
                  <a:solidFill>
                    <a:srgbClr val="364E64"/>
                  </a:solidFill>
                  <a:latin typeface="EB Garamond Italics"/>
                  <a:ea typeface="EB Garamond Italics"/>
                  <a:cs typeface="EB Garamond Italics"/>
                  <a:sym typeface="EB Garamond Italics"/>
                </a:rPr>
                <a:t>⚠  Le script utilise 0,75 pour les enfants &lt;12 ans. La FAO recommande 0,5 selon l'âge.</a:t>
              </a:r>
            </a:p>
          </p:txBody>
        </p:sp>
      </p:grpSp>
      <p:grpSp>
        <p:nvGrpSpPr>
          <p:cNvPr name="Group 44" id="44"/>
          <p:cNvGrpSpPr/>
          <p:nvPr/>
        </p:nvGrpSpPr>
        <p:grpSpPr>
          <a:xfrm rot="0">
            <a:off x="9838944" y="3657600"/>
            <a:ext cx="7589520" cy="731520"/>
            <a:chOff x="0" y="0"/>
            <a:chExt cx="10119360" cy="975360"/>
          </a:xfrm>
        </p:grpSpPr>
        <p:sp>
          <p:nvSpPr>
            <p:cNvPr name="Freeform 45" id="45"/>
            <p:cNvSpPr/>
            <p:nvPr/>
          </p:nvSpPr>
          <p:spPr>
            <a:xfrm flipH="false" flipV="false" rot="0">
              <a:off x="0" y="0"/>
              <a:ext cx="10119360" cy="975360"/>
            </a:xfrm>
            <a:custGeom>
              <a:avLst/>
              <a:gdLst/>
              <a:ahLst/>
              <a:cxnLst/>
              <a:rect r="r" b="b" t="t" l="l"/>
              <a:pathLst>
                <a:path h="975360" w="10119360">
                  <a:moveTo>
                    <a:pt x="0" y="0"/>
                  </a:moveTo>
                  <a:lnTo>
                    <a:pt x="10119360" y="0"/>
                  </a:lnTo>
                  <a:lnTo>
                    <a:pt x="10119360" y="975360"/>
                  </a:lnTo>
                  <a:lnTo>
                    <a:pt x="0" y="975360"/>
                  </a:lnTo>
                  <a:close/>
                </a:path>
              </a:pathLst>
            </a:custGeom>
            <a:blipFill>
              <a:blip r:embed="rId3">
                <a:alphaModFix amt="0"/>
              </a:blip>
              <a:stretch>
                <a:fillRect l="0" t="-152157" r="0" b="-152157"/>
              </a:stretch>
            </a:blipFill>
          </p:spPr>
        </p:sp>
        <p:sp>
          <p:nvSpPr>
            <p:cNvPr name="TextBox 46" id="46"/>
            <p:cNvSpPr txBox="true"/>
            <p:nvPr/>
          </p:nvSpPr>
          <p:spPr>
            <a:xfrm>
              <a:off x="0" y="9525"/>
              <a:ext cx="10119360" cy="965835"/>
            </a:xfrm>
            <a:prstGeom prst="rect">
              <a:avLst/>
            </a:prstGeom>
          </p:spPr>
          <p:txBody>
            <a:bodyPr anchor="ctr" rtlCol="false" tIns="0" lIns="0" bIns="0" rIns="0"/>
            <a:lstStyle/>
            <a:p>
              <a:pPr algn="l">
                <a:lnSpc>
                  <a:spcPts val="2280"/>
                </a:lnSpc>
              </a:pPr>
              <a:r>
                <a:rPr lang="en-US" sz="1900" b="true">
                  <a:solidFill>
                    <a:srgbClr val="2A6A3A"/>
                  </a:solidFill>
                  <a:latin typeface="EB Garamond Semi-Bold"/>
                  <a:ea typeface="EB Garamond Semi-Bold"/>
                  <a:cs typeface="EB Garamond Semi-Bold"/>
                  <a:sym typeface="EB Garamond Semi-Bold"/>
                </a:rPr>
                <a:t>→ Coefficient 0,5 adopté avec citation : Anson 1988 / Oxford Poverty Index. Alternative : différenciation par tranche d'âge.</a:t>
              </a:r>
            </a:p>
          </p:txBody>
        </p:sp>
      </p:grpSp>
      <p:grpSp>
        <p:nvGrpSpPr>
          <p:cNvPr name="Group 47" id="47"/>
          <p:cNvGrpSpPr/>
          <p:nvPr/>
        </p:nvGrpSpPr>
        <p:grpSpPr>
          <a:xfrm rot="0">
            <a:off x="627383" y="4821307"/>
            <a:ext cx="8252450" cy="2658875"/>
            <a:chOff x="0" y="0"/>
            <a:chExt cx="11003267" cy="3545167"/>
          </a:xfrm>
        </p:grpSpPr>
        <p:grpSp>
          <p:nvGrpSpPr>
            <p:cNvPr name="Group 48" id="48"/>
            <p:cNvGrpSpPr/>
            <p:nvPr/>
          </p:nvGrpSpPr>
          <p:grpSpPr>
            <a:xfrm rot="0">
              <a:off x="3378" y="3378"/>
              <a:ext cx="10999889" cy="3538385"/>
              <a:chOff x="0" y="0"/>
              <a:chExt cx="10999889" cy="3538385"/>
            </a:xfrm>
          </p:grpSpPr>
          <p:sp>
            <p:nvSpPr>
              <p:cNvPr name="Freeform 49" id="49"/>
              <p:cNvSpPr/>
              <p:nvPr/>
            </p:nvSpPr>
            <p:spPr>
              <a:xfrm flipH="false" flipV="false" rot="0">
                <a:off x="13589" y="13589"/>
                <a:ext cx="10972800" cy="3511296"/>
              </a:xfrm>
              <a:custGeom>
                <a:avLst/>
                <a:gdLst/>
                <a:ahLst/>
                <a:cxnLst/>
                <a:rect r="r" b="b" t="t" l="l"/>
                <a:pathLst>
                  <a:path h="3511296" w="10972800">
                    <a:moveTo>
                      <a:pt x="0" y="243840"/>
                    </a:moveTo>
                    <a:cubicBezTo>
                      <a:pt x="0" y="109220"/>
                      <a:pt x="109728" y="0"/>
                      <a:pt x="245110" y="0"/>
                    </a:cubicBezTo>
                    <a:lnTo>
                      <a:pt x="10727690" y="0"/>
                    </a:lnTo>
                    <a:cubicBezTo>
                      <a:pt x="10863073" y="0"/>
                      <a:pt x="10972800" y="109220"/>
                      <a:pt x="10972800" y="243840"/>
                    </a:cubicBezTo>
                    <a:lnTo>
                      <a:pt x="10972800" y="3267456"/>
                    </a:lnTo>
                    <a:cubicBezTo>
                      <a:pt x="10972800" y="3402076"/>
                      <a:pt x="10863072" y="3511296"/>
                      <a:pt x="10727690" y="3511296"/>
                    </a:cubicBezTo>
                    <a:lnTo>
                      <a:pt x="245110" y="3511296"/>
                    </a:lnTo>
                    <a:cubicBezTo>
                      <a:pt x="109728" y="3511296"/>
                      <a:pt x="0" y="3402076"/>
                      <a:pt x="0" y="3267456"/>
                    </a:cubicBezTo>
                    <a:close/>
                  </a:path>
                </a:pathLst>
              </a:custGeom>
              <a:solidFill>
                <a:srgbClr val="FFFFFF"/>
              </a:solidFill>
            </p:spPr>
          </p:sp>
          <p:sp>
            <p:nvSpPr>
              <p:cNvPr name="Freeform 50" id="50"/>
              <p:cNvSpPr/>
              <p:nvPr/>
            </p:nvSpPr>
            <p:spPr>
              <a:xfrm flipH="false" flipV="false" rot="0">
                <a:off x="0" y="0"/>
                <a:ext cx="10999978" cy="3538474"/>
              </a:xfrm>
              <a:custGeom>
                <a:avLst/>
                <a:gdLst/>
                <a:ahLst/>
                <a:cxnLst/>
                <a:rect r="r" b="b" t="t" l="l"/>
                <a:pathLst>
                  <a:path h="3538474" w="10999978">
                    <a:moveTo>
                      <a:pt x="0" y="257429"/>
                    </a:moveTo>
                    <a:cubicBezTo>
                      <a:pt x="0" y="115189"/>
                      <a:pt x="115824" y="0"/>
                      <a:pt x="258699" y="0"/>
                    </a:cubicBezTo>
                    <a:lnTo>
                      <a:pt x="10741279" y="0"/>
                    </a:lnTo>
                    <a:lnTo>
                      <a:pt x="10741279" y="13589"/>
                    </a:lnTo>
                    <a:lnTo>
                      <a:pt x="10741279" y="0"/>
                    </a:lnTo>
                    <a:cubicBezTo>
                      <a:pt x="10884027" y="0"/>
                      <a:pt x="10999978" y="115189"/>
                      <a:pt x="10999978" y="257429"/>
                    </a:cubicBezTo>
                    <a:lnTo>
                      <a:pt x="10986389" y="257429"/>
                    </a:lnTo>
                    <a:lnTo>
                      <a:pt x="10999978" y="257429"/>
                    </a:lnTo>
                    <a:lnTo>
                      <a:pt x="10999978" y="3281045"/>
                    </a:lnTo>
                    <a:lnTo>
                      <a:pt x="10986389" y="3281045"/>
                    </a:lnTo>
                    <a:lnTo>
                      <a:pt x="10999978" y="3281045"/>
                    </a:lnTo>
                    <a:cubicBezTo>
                      <a:pt x="10999978" y="3423285"/>
                      <a:pt x="10884154" y="3538474"/>
                      <a:pt x="10741279" y="3538474"/>
                    </a:cubicBezTo>
                    <a:lnTo>
                      <a:pt x="10741279" y="3524885"/>
                    </a:lnTo>
                    <a:lnTo>
                      <a:pt x="10741279" y="3538474"/>
                    </a:lnTo>
                    <a:lnTo>
                      <a:pt x="258699" y="3538474"/>
                    </a:lnTo>
                    <a:lnTo>
                      <a:pt x="258699" y="3524885"/>
                    </a:lnTo>
                    <a:lnTo>
                      <a:pt x="258699" y="3538474"/>
                    </a:lnTo>
                    <a:cubicBezTo>
                      <a:pt x="115824" y="3538347"/>
                      <a:pt x="0" y="3423285"/>
                      <a:pt x="0" y="3281045"/>
                    </a:cubicBezTo>
                    <a:lnTo>
                      <a:pt x="0" y="257429"/>
                    </a:lnTo>
                    <a:lnTo>
                      <a:pt x="13589" y="257429"/>
                    </a:lnTo>
                    <a:lnTo>
                      <a:pt x="0" y="257429"/>
                    </a:lnTo>
                    <a:moveTo>
                      <a:pt x="27051" y="257429"/>
                    </a:moveTo>
                    <a:lnTo>
                      <a:pt x="27051" y="3281045"/>
                    </a:lnTo>
                    <a:lnTo>
                      <a:pt x="13589" y="3281045"/>
                    </a:lnTo>
                    <a:lnTo>
                      <a:pt x="27051" y="3281045"/>
                    </a:lnTo>
                    <a:cubicBezTo>
                      <a:pt x="27051" y="3408172"/>
                      <a:pt x="130683" y="3511296"/>
                      <a:pt x="258572" y="3511296"/>
                    </a:cubicBezTo>
                    <a:lnTo>
                      <a:pt x="10741152" y="3511296"/>
                    </a:lnTo>
                    <a:cubicBezTo>
                      <a:pt x="10869041" y="3511296"/>
                      <a:pt x="10972674" y="3408172"/>
                      <a:pt x="10972674" y="3281045"/>
                    </a:cubicBezTo>
                    <a:lnTo>
                      <a:pt x="10972674" y="257429"/>
                    </a:lnTo>
                    <a:cubicBezTo>
                      <a:pt x="10972674" y="130302"/>
                      <a:pt x="10869041" y="27178"/>
                      <a:pt x="10741152" y="27178"/>
                    </a:cubicBezTo>
                    <a:lnTo>
                      <a:pt x="258699" y="27178"/>
                    </a:lnTo>
                    <a:lnTo>
                      <a:pt x="258699" y="13589"/>
                    </a:lnTo>
                    <a:lnTo>
                      <a:pt x="258699" y="27051"/>
                    </a:lnTo>
                    <a:cubicBezTo>
                      <a:pt x="130810" y="27051"/>
                      <a:pt x="27178" y="130175"/>
                      <a:pt x="27178" y="257302"/>
                    </a:cubicBezTo>
                    <a:close/>
                  </a:path>
                </a:pathLst>
              </a:custGeom>
              <a:blipFill>
                <a:blip r:embed="rId3"/>
                <a:stretch>
                  <a:fillRect l="0" t="-10573" r="0" b="-10570"/>
                </a:stretch>
              </a:blipFill>
            </p:spPr>
          </p:sp>
        </p:grpSp>
        <p:grpSp>
          <p:nvGrpSpPr>
            <p:cNvPr name="Group 51" id="51"/>
            <p:cNvGrpSpPr/>
            <p:nvPr/>
          </p:nvGrpSpPr>
          <p:grpSpPr>
            <a:xfrm rot="0">
              <a:off x="0" y="0"/>
              <a:ext cx="204559" cy="3545167"/>
              <a:chOff x="0" y="0"/>
              <a:chExt cx="204559" cy="3545167"/>
            </a:xfrm>
          </p:grpSpPr>
          <p:sp>
            <p:nvSpPr>
              <p:cNvPr name="Freeform 52" id="52"/>
              <p:cNvSpPr/>
              <p:nvPr/>
            </p:nvSpPr>
            <p:spPr>
              <a:xfrm flipH="false" flipV="false" rot="0">
                <a:off x="16891" y="16891"/>
                <a:ext cx="170688" cy="3511296"/>
              </a:xfrm>
              <a:custGeom>
                <a:avLst/>
                <a:gdLst/>
                <a:ahLst/>
                <a:cxnLst/>
                <a:rect r="r" b="b" t="t" l="l"/>
                <a:pathLst>
                  <a:path h="3511296" w="170688">
                    <a:moveTo>
                      <a:pt x="0" y="0"/>
                    </a:moveTo>
                    <a:lnTo>
                      <a:pt x="170688" y="0"/>
                    </a:lnTo>
                    <a:lnTo>
                      <a:pt x="170688" y="3511296"/>
                    </a:lnTo>
                    <a:lnTo>
                      <a:pt x="0" y="3511296"/>
                    </a:lnTo>
                    <a:close/>
                  </a:path>
                </a:pathLst>
              </a:custGeom>
              <a:solidFill>
                <a:srgbClr val="C89A3E"/>
              </a:solidFill>
            </p:spPr>
          </p:sp>
          <p:sp>
            <p:nvSpPr>
              <p:cNvPr name="Freeform 53" id="53"/>
              <p:cNvSpPr/>
              <p:nvPr/>
            </p:nvSpPr>
            <p:spPr>
              <a:xfrm flipH="false" flipV="false" rot="0">
                <a:off x="0" y="0"/>
                <a:ext cx="204470" cy="3545078"/>
              </a:xfrm>
              <a:custGeom>
                <a:avLst/>
                <a:gdLst/>
                <a:ahLst/>
                <a:cxnLst/>
                <a:rect r="r" b="b" t="t" l="l"/>
                <a:pathLst>
                  <a:path h="3545078" w="204470">
                    <a:moveTo>
                      <a:pt x="16891" y="0"/>
                    </a:moveTo>
                    <a:lnTo>
                      <a:pt x="187579" y="0"/>
                    </a:lnTo>
                    <a:cubicBezTo>
                      <a:pt x="196977" y="0"/>
                      <a:pt x="204470" y="7620"/>
                      <a:pt x="204470" y="16891"/>
                    </a:cubicBezTo>
                    <a:lnTo>
                      <a:pt x="204470" y="3528187"/>
                    </a:lnTo>
                    <a:cubicBezTo>
                      <a:pt x="204470" y="3537585"/>
                      <a:pt x="196850" y="3545078"/>
                      <a:pt x="187579" y="3545078"/>
                    </a:cubicBezTo>
                    <a:lnTo>
                      <a:pt x="16891" y="3545078"/>
                    </a:lnTo>
                    <a:cubicBezTo>
                      <a:pt x="7493" y="3545078"/>
                      <a:pt x="0" y="3537458"/>
                      <a:pt x="0" y="3528187"/>
                    </a:cubicBezTo>
                    <a:lnTo>
                      <a:pt x="0" y="16891"/>
                    </a:lnTo>
                    <a:cubicBezTo>
                      <a:pt x="0" y="7620"/>
                      <a:pt x="7620" y="0"/>
                      <a:pt x="16891" y="0"/>
                    </a:cubicBezTo>
                    <a:moveTo>
                      <a:pt x="16891" y="33909"/>
                    </a:moveTo>
                    <a:lnTo>
                      <a:pt x="16891" y="16891"/>
                    </a:lnTo>
                    <a:lnTo>
                      <a:pt x="33909" y="16891"/>
                    </a:lnTo>
                    <a:lnTo>
                      <a:pt x="33909" y="3528187"/>
                    </a:lnTo>
                    <a:lnTo>
                      <a:pt x="16891" y="3528187"/>
                    </a:lnTo>
                    <a:lnTo>
                      <a:pt x="16891" y="3511296"/>
                    </a:lnTo>
                    <a:lnTo>
                      <a:pt x="187579" y="3511296"/>
                    </a:lnTo>
                    <a:lnTo>
                      <a:pt x="187579" y="3528187"/>
                    </a:lnTo>
                    <a:lnTo>
                      <a:pt x="170688" y="3528187"/>
                    </a:lnTo>
                    <a:lnTo>
                      <a:pt x="170688" y="16891"/>
                    </a:lnTo>
                    <a:lnTo>
                      <a:pt x="187579" y="16891"/>
                    </a:lnTo>
                    <a:lnTo>
                      <a:pt x="187579" y="33909"/>
                    </a:lnTo>
                    <a:lnTo>
                      <a:pt x="16891" y="33909"/>
                    </a:lnTo>
                    <a:close/>
                  </a:path>
                </a:pathLst>
              </a:custGeom>
              <a:solidFill>
                <a:srgbClr val="C89A3E"/>
              </a:solidFill>
            </p:spPr>
          </p:sp>
        </p:grpSp>
        <p:grpSp>
          <p:nvGrpSpPr>
            <p:cNvPr name="Group 54" id="54"/>
            <p:cNvGrpSpPr/>
            <p:nvPr/>
          </p:nvGrpSpPr>
          <p:grpSpPr>
            <a:xfrm rot="0">
              <a:off x="438912" y="195072"/>
              <a:ext cx="6129871" cy="765391"/>
              <a:chOff x="0" y="0"/>
              <a:chExt cx="6129871" cy="765391"/>
            </a:xfrm>
          </p:grpSpPr>
          <p:sp>
            <p:nvSpPr>
              <p:cNvPr name="Freeform 55" id="55"/>
              <p:cNvSpPr/>
              <p:nvPr/>
            </p:nvSpPr>
            <p:spPr>
              <a:xfrm flipH="false" flipV="false" rot="0">
                <a:off x="16891" y="16891"/>
                <a:ext cx="6096000" cy="731520"/>
              </a:xfrm>
              <a:custGeom>
                <a:avLst/>
                <a:gdLst/>
                <a:ahLst/>
                <a:cxnLst/>
                <a:rect r="r" b="b" t="t" l="l"/>
                <a:pathLst>
                  <a:path h="731520" w="6096000">
                    <a:moveTo>
                      <a:pt x="0" y="195072"/>
                    </a:moveTo>
                    <a:cubicBezTo>
                      <a:pt x="0" y="87376"/>
                      <a:pt x="90932" y="0"/>
                      <a:pt x="202946" y="0"/>
                    </a:cubicBezTo>
                    <a:lnTo>
                      <a:pt x="5893054" y="0"/>
                    </a:lnTo>
                    <a:cubicBezTo>
                      <a:pt x="6005195" y="0"/>
                      <a:pt x="6096000" y="87376"/>
                      <a:pt x="6096000" y="195072"/>
                    </a:cubicBezTo>
                    <a:lnTo>
                      <a:pt x="6096000" y="536448"/>
                    </a:lnTo>
                    <a:cubicBezTo>
                      <a:pt x="6096000" y="644144"/>
                      <a:pt x="6005068" y="731520"/>
                      <a:pt x="5893054" y="731520"/>
                    </a:cubicBezTo>
                    <a:lnTo>
                      <a:pt x="203073" y="731520"/>
                    </a:lnTo>
                    <a:cubicBezTo>
                      <a:pt x="90932" y="731520"/>
                      <a:pt x="127" y="644144"/>
                      <a:pt x="127" y="536448"/>
                    </a:cubicBezTo>
                    <a:close/>
                  </a:path>
                </a:pathLst>
              </a:custGeom>
              <a:solidFill>
                <a:srgbClr val="C89A3E"/>
              </a:solidFill>
            </p:spPr>
          </p:sp>
          <p:sp>
            <p:nvSpPr>
              <p:cNvPr name="Freeform 56" id="56"/>
              <p:cNvSpPr/>
              <p:nvPr/>
            </p:nvSpPr>
            <p:spPr>
              <a:xfrm flipH="false" flipV="false" rot="0">
                <a:off x="0" y="0"/>
                <a:ext cx="6129909" cy="765302"/>
              </a:xfrm>
              <a:custGeom>
                <a:avLst/>
                <a:gdLst/>
                <a:ahLst/>
                <a:cxnLst/>
                <a:rect r="r" b="b" t="t" l="l"/>
                <a:pathLst>
                  <a:path h="765302" w="6129909">
                    <a:moveTo>
                      <a:pt x="0" y="211963"/>
                    </a:moveTo>
                    <a:cubicBezTo>
                      <a:pt x="0" y="94234"/>
                      <a:pt x="99060" y="0"/>
                      <a:pt x="219964" y="0"/>
                    </a:cubicBezTo>
                    <a:lnTo>
                      <a:pt x="5909945" y="0"/>
                    </a:lnTo>
                    <a:lnTo>
                      <a:pt x="5909945" y="16891"/>
                    </a:lnTo>
                    <a:lnTo>
                      <a:pt x="5909945" y="0"/>
                    </a:lnTo>
                    <a:cubicBezTo>
                      <a:pt x="6030722" y="0"/>
                      <a:pt x="6129909" y="94234"/>
                      <a:pt x="6129909" y="211963"/>
                    </a:cubicBezTo>
                    <a:lnTo>
                      <a:pt x="6113018" y="211963"/>
                    </a:lnTo>
                    <a:lnTo>
                      <a:pt x="6129909" y="211963"/>
                    </a:lnTo>
                    <a:lnTo>
                      <a:pt x="6129909" y="553339"/>
                    </a:lnTo>
                    <a:lnTo>
                      <a:pt x="6113018" y="553339"/>
                    </a:lnTo>
                    <a:lnTo>
                      <a:pt x="6129909" y="553339"/>
                    </a:lnTo>
                    <a:cubicBezTo>
                      <a:pt x="6129909" y="671068"/>
                      <a:pt x="6030849" y="765302"/>
                      <a:pt x="5909945" y="765302"/>
                    </a:cubicBezTo>
                    <a:lnTo>
                      <a:pt x="5909945" y="748411"/>
                    </a:lnTo>
                    <a:lnTo>
                      <a:pt x="5909945" y="765302"/>
                    </a:lnTo>
                    <a:lnTo>
                      <a:pt x="219964" y="765302"/>
                    </a:lnTo>
                    <a:lnTo>
                      <a:pt x="219964" y="748411"/>
                    </a:lnTo>
                    <a:lnTo>
                      <a:pt x="219964" y="765302"/>
                    </a:lnTo>
                    <a:cubicBezTo>
                      <a:pt x="99060" y="765429"/>
                      <a:pt x="0" y="671068"/>
                      <a:pt x="0" y="553339"/>
                    </a:cubicBezTo>
                    <a:lnTo>
                      <a:pt x="0" y="211963"/>
                    </a:lnTo>
                    <a:lnTo>
                      <a:pt x="16891" y="211963"/>
                    </a:lnTo>
                    <a:lnTo>
                      <a:pt x="0" y="211963"/>
                    </a:lnTo>
                    <a:moveTo>
                      <a:pt x="33909" y="211963"/>
                    </a:moveTo>
                    <a:lnTo>
                      <a:pt x="33909" y="553339"/>
                    </a:lnTo>
                    <a:lnTo>
                      <a:pt x="16891" y="553339"/>
                    </a:lnTo>
                    <a:lnTo>
                      <a:pt x="33909" y="553339"/>
                    </a:lnTo>
                    <a:cubicBezTo>
                      <a:pt x="33909" y="651129"/>
                      <a:pt x="116586" y="731520"/>
                      <a:pt x="219964" y="731520"/>
                    </a:cubicBezTo>
                    <a:lnTo>
                      <a:pt x="5909945" y="731520"/>
                    </a:lnTo>
                    <a:cubicBezTo>
                      <a:pt x="6013323" y="731520"/>
                      <a:pt x="6096000" y="651129"/>
                      <a:pt x="6096000" y="553339"/>
                    </a:cubicBezTo>
                    <a:lnTo>
                      <a:pt x="6096000" y="211963"/>
                    </a:lnTo>
                    <a:cubicBezTo>
                      <a:pt x="6096000" y="114173"/>
                      <a:pt x="6013323" y="33782"/>
                      <a:pt x="5909945" y="33782"/>
                    </a:cubicBezTo>
                    <a:lnTo>
                      <a:pt x="219964" y="33782"/>
                    </a:lnTo>
                    <a:lnTo>
                      <a:pt x="219964" y="16891"/>
                    </a:lnTo>
                    <a:lnTo>
                      <a:pt x="219964" y="33909"/>
                    </a:lnTo>
                    <a:cubicBezTo>
                      <a:pt x="116459" y="33909"/>
                      <a:pt x="33909" y="114300"/>
                      <a:pt x="33909" y="211963"/>
                    </a:cubicBezTo>
                    <a:close/>
                  </a:path>
                </a:pathLst>
              </a:custGeom>
              <a:solidFill>
                <a:srgbClr val="C89A3E"/>
              </a:solidFill>
            </p:spPr>
          </p:sp>
        </p:grpSp>
        <p:grpSp>
          <p:nvGrpSpPr>
            <p:cNvPr name="Group 57" id="57"/>
            <p:cNvGrpSpPr/>
            <p:nvPr/>
          </p:nvGrpSpPr>
          <p:grpSpPr>
            <a:xfrm rot="0">
              <a:off x="455841" y="236385"/>
              <a:ext cx="6096000" cy="682752"/>
              <a:chOff x="0" y="0"/>
              <a:chExt cx="6096000" cy="682752"/>
            </a:xfrm>
          </p:grpSpPr>
          <p:sp>
            <p:nvSpPr>
              <p:cNvPr name="Freeform 58" id="58"/>
              <p:cNvSpPr/>
              <p:nvPr/>
            </p:nvSpPr>
            <p:spPr>
              <a:xfrm flipH="false" flipV="false" rot="0">
                <a:off x="0" y="0"/>
                <a:ext cx="6096000" cy="682752"/>
              </a:xfrm>
              <a:custGeom>
                <a:avLst/>
                <a:gdLst/>
                <a:ahLst/>
                <a:cxnLst/>
                <a:rect r="r" b="b" t="t" l="l"/>
                <a:pathLst>
                  <a:path h="682752" w="6096000">
                    <a:moveTo>
                      <a:pt x="0" y="0"/>
                    </a:moveTo>
                    <a:lnTo>
                      <a:pt x="6096000" y="0"/>
                    </a:lnTo>
                    <a:lnTo>
                      <a:pt x="6096000" y="682752"/>
                    </a:lnTo>
                    <a:lnTo>
                      <a:pt x="0" y="682752"/>
                    </a:lnTo>
                    <a:close/>
                  </a:path>
                </a:pathLst>
              </a:custGeom>
              <a:blipFill>
                <a:blip r:embed="rId3">
                  <a:alphaModFix amt="0"/>
                </a:blip>
                <a:stretch>
                  <a:fillRect l="0" t="-123973" r="0" b="-123973"/>
                </a:stretch>
              </a:blipFill>
            </p:spPr>
          </p:sp>
          <p:sp>
            <p:nvSpPr>
              <p:cNvPr name="TextBox 59" id="59"/>
              <p:cNvSpPr txBox="true"/>
              <p:nvPr/>
            </p:nvSpPr>
            <p:spPr>
              <a:xfrm>
                <a:off x="0" y="9525"/>
                <a:ext cx="6096000" cy="673227"/>
              </a:xfrm>
              <a:prstGeom prst="rect">
                <a:avLst/>
              </a:prstGeom>
            </p:spPr>
            <p:txBody>
              <a:bodyPr anchor="ctr" rtlCol="false" tIns="0" lIns="0" bIns="0" rIns="0"/>
              <a:lstStyle/>
              <a:p>
                <a:pPr algn="ctr">
                  <a:lnSpc>
                    <a:spcPts val="2160"/>
                  </a:lnSpc>
                </a:pPr>
                <a:r>
                  <a:rPr lang="en-US" sz="1800" b="true">
                    <a:solidFill>
                      <a:srgbClr val="FFFFFF"/>
                    </a:solidFill>
                    <a:latin typeface="EB Garamond Semi-Bold"/>
                    <a:ea typeface="EB Garamond Semi-Bold"/>
                    <a:cs typeface="EB Garamond Semi-Bold"/>
                    <a:sym typeface="EB Garamond Semi-Bold"/>
                  </a:rPr>
                  <a:t>Doublons reshape — Bloc 3</a:t>
                </a:r>
              </a:p>
            </p:txBody>
          </p:sp>
        </p:grpSp>
        <p:grpSp>
          <p:nvGrpSpPr>
            <p:cNvPr name="Group 60" id="60"/>
            <p:cNvGrpSpPr/>
            <p:nvPr/>
          </p:nvGrpSpPr>
          <p:grpSpPr>
            <a:xfrm rot="0">
              <a:off x="455841" y="1089825"/>
              <a:ext cx="10119360" cy="1170432"/>
              <a:chOff x="0" y="0"/>
              <a:chExt cx="10119360" cy="1170432"/>
            </a:xfrm>
          </p:grpSpPr>
          <p:sp>
            <p:nvSpPr>
              <p:cNvPr name="Freeform 61" id="61"/>
              <p:cNvSpPr/>
              <p:nvPr/>
            </p:nvSpPr>
            <p:spPr>
              <a:xfrm flipH="false" flipV="false" rot="0">
                <a:off x="0" y="0"/>
                <a:ext cx="10119360" cy="1170432"/>
              </a:xfrm>
              <a:custGeom>
                <a:avLst/>
                <a:gdLst/>
                <a:ahLst/>
                <a:cxnLst/>
                <a:rect r="r" b="b" t="t" l="l"/>
                <a:pathLst>
                  <a:path h="1170432" w="10119360">
                    <a:moveTo>
                      <a:pt x="0" y="0"/>
                    </a:moveTo>
                    <a:lnTo>
                      <a:pt x="10119360" y="0"/>
                    </a:lnTo>
                    <a:lnTo>
                      <a:pt x="10119360" y="1170432"/>
                    </a:lnTo>
                    <a:lnTo>
                      <a:pt x="0" y="1170432"/>
                    </a:lnTo>
                    <a:close/>
                  </a:path>
                </a:pathLst>
              </a:custGeom>
              <a:blipFill>
                <a:blip r:embed="rId3">
                  <a:alphaModFix amt="0"/>
                </a:blip>
                <a:stretch>
                  <a:fillRect l="0" t="-118464" r="0" b="-118464"/>
                </a:stretch>
              </a:blipFill>
            </p:spPr>
          </p:sp>
          <p:sp>
            <p:nvSpPr>
              <p:cNvPr name="TextBox 62" id="62"/>
              <p:cNvSpPr txBox="true"/>
              <p:nvPr/>
            </p:nvSpPr>
            <p:spPr>
              <a:xfrm>
                <a:off x="0" y="9525"/>
                <a:ext cx="10119360" cy="1160907"/>
              </a:xfrm>
              <a:prstGeom prst="rect">
                <a:avLst/>
              </a:prstGeom>
            </p:spPr>
            <p:txBody>
              <a:bodyPr anchor="ctr" rtlCol="false" tIns="0" lIns="0" bIns="0" rIns="0"/>
              <a:lstStyle/>
              <a:p>
                <a:pPr algn="l">
                  <a:lnSpc>
                    <a:spcPts val="2280"/>
                  </a:lnSpc>
                </a:pPr>
                <a:r>
                  <a:rPr lang="en-US" sz="1900" i="true">
                    <a:solidFill>
                      <a:srgbClr val="364E64"/>
                    </a:solidFill>
                    <a:latin typeface="EB Garamond Italics"/>
                    <a:ea typeface="EB Garamond Italics"/>
                    <a:cs typeface="EB Garamond Italics"/>
                    <a:sym typeface="EB Garamond Italics"/>
                  </a:rPr>
                  <a:t>⚠  duplicates drop … force supprimait aussi de vraies ventes identiques (pas seulement les lignes vides après reshape).</a:t>
                </a:r>
              </a:p>
            </p:txBody>
          </p:sp>
        </p:grpSp>
        <p:grpSp>
          <p:nvGrpSpPr>
            <p:cNvPr name="Group 63" id="63"/>
            <p:cNvGrpSpPr/>
            <p:nvPr/>
          </p:nvGrpSpPr>
          <p:grpSpPr>
            <a:xfrm rot="0">
              <a:off x="455841" y="2260257"/>
              <a:ext cx="10119360" cy="1283597"/>
              <a:chOff x="0" y="0"/>
              <a:chExt cx="10119360" cy="1283597"/>
            </a:xfrm>
          </p:grpSpPr>
          <p:sp>
            <p:nvSpPr>
              <p:cNvPr name="Freeform 64" id="64"/>
              <p:cNvSpPr/>
              <p:nvPr/>
            </p:nvSpPr>
            <p:spPr>
              <a:xfrm flipH="false" flipV="false" rot="0">
                <a:off x="0" y="0"/>
                <a:ext cx="10119360" cy="1283598"/>
              </a:xfrm>
              <a:custGeom>
                <a:avLst/>
                <a:gdLst/>
                <a:ahLst/>
                <a:cxnLst/>
                <a:rect r="r" b="b" t="t" l="l"/>
                <a:pathLst>
                  <a:path h="1283598" w="10119360">
                    <a:moveTo>
                      <a:pt x="0" y="0"/>
                    </a:moveTo>
                    <a:lnTo>
                      <a:pt x="10119360" y="0"/>
                    </a:lnTo>
                    <a:lnTo>
                      <a:pt x="10119360" y="1283598"/>
                    </a:lnTo>
                    <a:lnTo>
                      <a:pt x="0" y="1283598"/>
                    </a:lnTo>
                    <a:close/>
                  </a:path>
                </a:pathLst>
              </a:custGeom>
              <a:blipFill>
                <a:blip r:embed="rId3">
                  <a:alphaModFix amt="0"/>
                </a:blip>
                <a:stretch>
                  <a:fillRect l="0" t="-115618" r="0" b="-91605"/>
                </a:stretch>
              </a:blipFill>
            </p:spPr>
          </p:sp>
          <p:sp>
            <p:nvSpPr>
              <p:cNvPr name="TextBox 65" id="65"/>
              <p:cNvSpPr txBox="true"/>
              <p:nvPr/>
            </p:nvSpPr>
            <p:spPr>
              <a:xfrm>
                <a:off x="0" y="9525"/>
                <a:ext cx="10119360" cy="1274072"/>
              </a:xfrm>
              <a:prstGeom prst="rect">
                <a:avLst/>
              </a:prstGeom>
            </p:spPr>
            <p:txBody>
              <a:bodyPr anchor="ctr" rtlCol="false" tIns="0" lIns="0" bIns="0" rIns="0"/>
              <a:lstStyle/>
              <a:p>
                <a:pPr algn="l">
                  <a:lnSpc>
                    <a:spcPts val="2280"/>
                  </a:lnSpc>
                </a:pPr>
                <a:r>
                  <a:rPr lang="en-US" sz="1900" b="true">
                    <a:solidFill>
                      <a:srgbClr val="2A6A3A"/>
                    </a:solidFill>
                    <a:latin typeface="EB Garamond Semi-Bold"/>
                    <a:ea typeface="EB Garamond Semi-Bold"/>
                    <a:cs typeface="EB Garamond Semi-Bold"/>
                    <a:sym typeface="EB Garamond Semi-Bold"/>
                  </a:rPr>
                  <a:t>→ Corrigé : remplacé par drop if Prix == "" ciblant uniquement les lignes vides. Vrais doublons inspectés manuellement et supprimés après vérification. Mais nous avons trouvé qu’il n’y avait pas de vente identique.</a:t>
                </a:r>
              </a:p>
            </p:txBody>
          </p:sp>
        </p:grpSp>
      </p:grpSp>
      <p:grpSp>
        <p:nvGrpSpPr>
          <p:cNvPr name="Group 66" id="66"/>
          <p:cNvGrpSpPr/>
          <p:nvPr/>
        </p:nvGrpSpPr>
        <p:grpSpPr>
          <a:xfrm rot="0">
            <a:off x="9497063" y="4821307"/>
            <a:ext cx="8252450" cy="2658875"/>
            <a:chOff x="0" y="0"/>
            <a:chExt cx="11003267" cy="3545167"/>
          </a:xfrm>
        </p:grpSpPr>
        <p:grpSp>
          <p:nvGrpSpPr>
            <p:cNvPr name="Group 67" id="67"/>
            <p:cNvGrpSpPr/>
            <p:nvPr/>
          </p:nvGrpSpPr>
          <p:grpSpPr>
            <a:xfrm rot="0">
              <a:off x="3378" y="3378"/>
              <a:ext cx="10999889" cy="3538385"/>
              <a:chOff x="0" y="0"/>
              <a:chExt cx="10999889" cy="3538385"/>
            </a:xfrm>
          </p:grpSpPr>
          <p:sp>
            <p:nvSpPr>
              <p:cNvPr name="Freeform 68" id="68"/>
              <p:cNvSpPr/>
              <p:nvPr/>
            </p:nvSpPr>
            <p:spPr>
              <a:xfrm flipH="false" flipV="false" rot="0">
                <a:off x="13589" y="13589"/>
                <a:ext cx="10972800" cy="3511296"/>
              </a:xfrm>
              <a:custGeom>
                <a:avLst/>
                <a:gdLst/>
                <a:ahLst/>
                <a:cxnLst/>
                <a:rect r="r" b="b" t="t" l="l"/>
                <a:pathLst>
                  <a:path h="3511296" w="10972800">
                    <a:moveTo>
                      <a:pt x="0" y="243840"/>
                    </a:moveTo>
                    <a:cubicBezTo>
                      <a:pt x="0" y="109220"/>
                      <a:pt x="109728" y="0"/>
                      <a:pt x="245110" y="0"/>
                    </a:cubicBezTo>
                    <a:lnTo>
                      <a:pt x="10727690" y="0"/>
                    </a:lnTo>
                    <a:cubicBezTo>
                      <a:pt x="10863073" y="0"/>
                      <a:pt x="10972800" y="109220"/>
                      <a:pt x="10972800" y="243840"/>
                    </a:cubicBezTo>
                    <a:lnTo>
                      <a:pt x="10972800" y="3267456"/>
                    </a:lnTo>
                    <a:cubicBezTo>
                      <a:pt x="10972800" y="3402076"/>
                      <a:pt x="10863072" y="3511296"/>
                      <a:pt x="10727690" y="3511296"/>
                    </a:cubicBezTo>
                    <a:lnTo>
                      <a:pt x="245110" y="3511296"/>
                    </a:lnTo>
                    <a:cubicBezTo>
                      <a:pt x="109728" y="3511296"/>
                      <a:pt x="0" y="3402076"/>
                      <a:pt x="0" y="3267456"/>
                    </a:cubicBezTo>
                    <a:close/>
                  </a:path>
                </a:pathLst>
              </a:custGeom>
              <a:solidFill>
                <a:srgbClr val="FFFFFF"/>
              </a:solidFill>
            </p:spPr>
          </p:sp>
          <p:sp>
            <p:nvSpPr>
              <p:cNvPr name="Freeform 69" id="69"/>
              <p:cNvSpPr/>
              <p:nvPr/>
            </p:nvSpPr>
            <p:spPr>
              <a:xfrm flipH="false" flipV="false" rot="0">
                <a:off x="0" y="0"/>
                <a:ext cx="10999978" cy="3538474"/>
              </a:xfrm>
              <a:custGeom>
                <a:avLst/>
                <a:gdLst/>
                <a:ahLst/>
                <a:cxnLst/>
                <a:rect r="r" b="b" t="t" l="l"/>
                <a:pathLst>
                  <a:path h="3538474" w="10999978">
                    <a:moveTo>
                      <a:pt x="0" y="257429"/>
                    </a:moveTo>
                    <a:cubicBezTo>
                      <a:pt x="0" y="115189"/>
                      <a:pt x="115824" y="0"/>
                      <a:pt x="258699" y="0"/>
                    </a:cubicBezTo>
                    <a:lnTo>
                      <a:pt x="10741279" y="0"/>
                    </a:lnTo>
                    <a:lnTo>
                      <a:pt x="10741279" y="13589"/>
                    </a:lnTo>
                    <a:lnTo>
                      <a:pt x="10741279" y="0"/>
                    </a:lnTo>
                    <a:cubicBezTo>
                      <a:pt x="10884027" y="0"/>
                      <a:pt x="10999978" y="115189"/>
                      <a:pt x="10999978" y="257429"/>
                    </a:cubicBezTo>
                    <a:lnTo>
                      <a:pt x="10986389" y="257429"/>
                    </a:lnTo>
                    <a:lnTo>
                      <a:pt x="10999978" y="257429"/>
                    </a:lnTo>
                    <a:lnTo>
                      <a:pt x="10999978" y="3281045"/>
                    </a:lnTo>
                    <a:lnTo>
                      <a:pt x="10986389" y="3281045"/>
                    </a:lnTo>
                    <a:lnTo>
                      <a:pt x="10999978" y="3281045"/>
                    </a:lnTo>
                    <a:cubicBezTo>
                      <a:pt x="10999978" y="3423285"/>
                      <a:pt x="10884154" y="3538474"/>
                      <a:pt x="10741279" y="3538474"/>
                    </a:cubicBezTo>
                    <a:lnTo>
                      <a:pt x="10741279" y="3524885"/>
                    </a:lnTo>
                    <a:lnTo>
                      <a:pt x="10741279" y="3538474"/>
                    </a:lnTo>
                    <a:lnTo>
                      <a:pt x="258699" y="3538474"/>
                    </a:lnTo>
                    <a:lnTo>
                      <a:pt x="258699" y="3524885"/>
                    </a:lnTo>
                    <a:lnTo>
                      <a:pt x="258699" y="3538474"/>
                    </a:lnTo>
                    <a:cubicBezTo>
                      <a:pt x="115824" y="3538347"/>
                      <a:pt x="0" y="3423285"/>
                      <a:pt x="0" y="3281045"/>
                    </a:cubicBezTo>
                    <a:lnTo>
                      <a:pt x="0" y="257429"/>
                    </a:lnTo>
                    <a:lnTo>
                      <a:pt x="13589" y="257429"/>
                    </a:lnTo>
                    <a:lnTo>
                      <a:pt x="0" y="257429"/>
                    </a:lnTo>
                    <a:moveTo>
                      <a:pt x="27051" y="257429"/>
                    </a:moveTo>
                    <a:lnTo>
                      <a:pt x="27051" y="3281045"/>
                    </a:lnTo>
                    <a:lnTo>
                      <a:pt x="13589" y="3281045"/>
                    </a:lnTo>
                    <a:lnTo>
                      <a:pt x="27051" y="3281045"/>
                    </a:lnTo>
                    <a:cubicBezTo>
                      <a:pt x="27051" y="3408172"/>
                      <a:pt x="130683" y="3511296"/>
                      <a:pt x="258572" y="3511296"/>
                    </a:cubicBezTo>
                    <a:lnTo>
                      <a:pt x="10741152" y="3511296"/>
                    </a:lnTo>
                    <a:cubicBezTo>
                      <a:pt x="10869041" y="3511296"/>
                      <a:pt x="10972674" y="3408172"/>
                      <a:pt x="10972674" y="3281045"/>
                    </a:cubicBezTo>
                    <a:lnTo>
                      <a:pt x="10972674" y="257429"/>
                    </a:lnTo>
                    <a:cubicBezTo>
                      <a:pt x="10972674" y="130302"/>
                      <a:pt x="10869041" y="27178"/>
                      <a:pt x="10741152" y="27178"/>
                    </a:cubicBezTo>
                    <a:lnTo>
                      <a:pt x="258699" y="27178"/>
                    </a:lnTo>
                    <a:lnTo>
                      <a:pt x="258699" y="13589"/>
                    </a:lnTo>
                    <a:lnTo>
                      <a:pt x="258699" y="27051"/>
                    </a:lnTo>
                    <a:cubicBezTo>
                      <a:pt x="130810" y="27051"/>
                      <a:pt x="27178" y="130175"/>
                      <a:pt x="27178" y="257302"/>
                    </a:cubicBezTo>
                    <a:close/>
                  </a:path>
                </a:pathLst>
              </a:custGeom>
              <a:solidFill>
                <a:srgbClr val="BDC8D5"/>
              </a:solidFill>
            </p:spPr>
          </p:sp>
        </p:grpSp>
        <p:grpSp>
          <p:nvGrpSpPr>
            <p:cNvPr name="Group 70" id="70"/>
            <p:cNvGrpSpPr/>
            <p:nvPr/>
          </p:nvGrpSpPr>
          <p:grpSpPr>
            <a:xfrm rot="0">
              <a:off x="0" y="0"/>
              <a:ext cx="204559" cy="3545167"/>
              <a:chOff x="0" y="0"/>
              <a:chExt cx="204559" cy="3545167"/>
            </a:xfrm>
          </p:grpSpPr>
          <p:sp>
            <p:nvSpPr>
              <p:cNvPr name="Freeform 71" id="71"/>
              <p:cNvSpPr/>
              <p:nvPr/>
            </p:nvSpPr>
            <p:spPr>
              <a:xfrm flipH="false" flipV="false" rot="0">
                <a:off x="16891" y="16891"/>
                <a:ext cx="170688" cy="3511296"/>
              </a:xfrm>
              <a:custGeom>
                <a:avLst/>
                <a:gdLst/>
                <a:ahLst/>
                <a:cxnLst/>
                <a:rect r="r" b="b" t="t" l="l"/>
                <a:pathLst>
                  <a:path h="3511296" w="170688">
                    <a:moveTo>
                      <a:pt x="0" y="0"/>
                    </a:moveTo>
                    <a:lnTo>
                      <a:pt x="170688" y="0"/>
                    </a:lnTo>
                    <a:lnTo>
                      <a:pt x="170688" y="3511296"/>
                    </a:lnTo>
                    <a:lnTo>
                      <a:pt x="0" y="3511296"/>
                    </a:lnTo>
                    <a:close/>
                  </a:path>
                </a:pathLst>
              </a:custGeom>
              <a:solidFill>
                <a:srgbClr val="7A6B9A"/>
              </a:solidFill>
            </p:spPr>
          </p:sp>
          <p:sp>
            <p:nvSpPr>
              <p:cNvPr name="Freeform 72" id="72"/>
              <p:cNvSpPr/>
              <p:nvPr/>
            </p:nvSpPr>
            <p:spPr>
              <a:xfrm flipH="false" flipV="false" rot="0">
                <a:off x="0" y="0"/>
                <a:ext cx="204470" cy="3545078"/>
              </a:xfrm>
              <a:custGeom>
                <a:avLst/>
                <a:gdLst/>
                <a:ahLst/>
                <a:cxnLst/>
                <a:rect r="r" b="b" t="t" l="l"/>
                <a:pathLst>
                  <a:path h="3545078" w="204470">
                    <a:moveTo>
                      <a:pt x="16891" y="0"/>
                    </a:moveTo>
                    <a:lnTo>
                      <a:pt x="187579" y="0"/>
                    </a:lnTo>
                    <a:cubicBezTo>
                      <a:pt x="196977" y="0"/>
                      <a:pt x="204470" y="7620"/>
                      <a:pt x="204470" y="16891"/>
                    </a:cubicBezTo>
                    <a:lnTo>
                      <a:pt x="204470" y="3528187"/>
                    </a:lnTo>
                    <a:cubicBezTo>
                      <a:pt x="204470" y="3537585"/>
                      <a:pt x="196850" y="3545078"/>
                      <a:pt x="187579" y="3545078"/>
                    </a:cubicBezTo>
                    <a:lnTo>
                      <a:pt x="16891" y="3545078"/>
                    </a:lnTo>
                    <a:cubicBezTo>
                      <a:pt x="7493" y="3545078"/>
                      <a:pt x="0" y="3537458"/>
                      <a:pt x="0" y="3528187"/>
                    </a:cubicBezTo>
                    <a:lnTo>
                      <a:pt x="0" y="16891"/>
                    </a:lnTo>
                    <a:cubicBezTo>
                      <a:pt x="0" y="7620"/>
                      <a:pt x="7620" y="0"/>
                      <a:pt x="16891" y="0"/>
                    </a:cubicBezTo>
                    <a:moveTo>
                      <a:pt x="16891" y="33909"/>
                    </a:moveTo>
                    <a:lnTo>
                      <a:pt x="16891" y="16891"/>
                    </a:lnTo>
                    <a:lnTo>
                      <a:pt x="33909" y="16891"/>
                    </a:lnTo>
                    <a:lnTo>
                      <a:pt x="33909" y="3528187"/>
                    </a:lnTo>
                    <a:lnTo>
                      <a:pt x="16891" y="3528187"/>
                    </a:lnTo>
                    <a:lnTo>
                      <a:pt x="16891" y="3511296"/>
                    </a:lnTo>
                    <a:lnTo>
                      <a:pt x="187579" y="3511296"/>
                    </a:lnTo>
                    <a:lnTo>
                      <a:pt x="187579" y="3528187"/>
                    </a:lnTo>
                    <a:lnTo>
                      <a:pt x="170688" y="3528187"/>
                    </a:lnTo>
                    <a:lnTo>
                      <a:pt x="170688" y="16891"/>
                    </a:lnTo>
                    <a:lnTo>
                      <a:pt x="187579" y="16891"/>
                    </a:lnTo>
                    <a:lnTo>
                      <a:pt x="187579" y="33909"/>
                    </a:lnTo>
                    <a:lnTo>
                      <a:pt x="16891" y="33909"/>
                    </a:lnTo>
                    <a:close/>
                  </a:path>
                </a:pathLst>
              </a:custGeom>
              <a:solidFill>
                <a:srgbClr val="7A6B9A"/>
              </a:solidFill>
            </p:spPr>
          </p:sp>
        </p:grpSp>
        <p:grpSp>
          <p:nvGrpSpPr>
            <p:cNvPr name="Group 73" id="73"/>
            <p:cNvGrpSpPr/>
            <p:nvPr/>
          </p:nvGrpSpPr>
          <p:grpSpPr>
            <a:xfrm rot="0">
              <a:off x="438912" y="195072"/>
              <a:ext cx="6129871" cy="765391"/>
              <a:chOff x="0" y="0"/>
              <a:chExt cx="6129871" cy="765391"/>
            </a:xfrm>
          </p:grpSpPr>
          <p:sp>
            <p:nvSpPr>
              <p:cNvPr name="Freeform 74" id="74"/>
              <p:cNvSpPr/>
              <p:nvPr/>
            </p:nvSpPr>
            <p:spPr>
              <a:xfrm flipH="false" flipV="false" rot="0">
                <a:off x="16891" y="16891"/>
                <a:ext cx="6096000" cy="731520"/>
              </a:xfrm>
              <a:custGeom>
                <a:avLst/>
                <a:gdLst/>
                <a:ahLst/>
                <a:cxnLst/>
                <a:rect r="r" b="b" t="t" l="l"/>
                <a:pathLst>
                  <a:path h="731520" w="6096000">
                    <a:moveTo>
                      <a:pt x="0" y="195072"/>
                    </a:moveTo>
                    <a:cubicBezTo>
                      <a:pt x="0" y="87376"/>
                      <a:pt x="90932" y="0"/>
                      <a:pt x="202946" y="0"/>
                    </a:cubicBezTo>
                    <a:lnTo>
                      <a:pt x="5893054" y="0"/>
                    </a:lnTo>
                    <a:cubicBezTo>
                      <a:pt x="6005195" y="0"/>
                      <a:pt x="6096000" y="87376"/>
                      <a:pt x="6096000" y="195072"/>
                    </a:cubicBezTo>
                    <a:lnTo>
                      <a:pt x="6096000" y="536448"/>
                    </a:lnTo>
                    <a:cubicBezTo>
                      <a:pt x="6096000" y="644144"/>
                      <a:pt x="6005068" y="731520"/>
                      <a:pt x="5893054" y="731520"/>
                    </a:cubicBezTo>
                    <a:lnTo>
                      <a:pt x="203073" y="731520"/>
                    </a:lnTo>
                    <a:cubicBezTo>
                      <a:pt x="90932" y="731520"/>
                      <a:pt x="127" y="644144"/>
                      <a:pt x="127" y="536448"/>
                    </a:cubicBezTo>
                    <a:close/>
                  </a:path>
                </a:pathLst>
              </a:custGeom>
              <a:solidFill>
                <a:srgbClr val="7A6B9A"/>
              </a:solidFill>
            </p:spPr>
          </p:sp>
          <p:sp>
            <p:nvSpPr>
              <p:cNvPr name="Freeform 75" id="75"/>
              <p:cNvSpPr/>
              <p:nvPr/>
            </p:nvSpPr>
            <p:spPr>
              <a:xfrm flipH="false" flipV="false" rot="0">
                <a:off x="0" y="0"/>
                <a:ext cx="6129909" cy="765302"/>
              </a:xfrm>
              <a:custGeom>
                <a:avLst/>
                <a:gdLst/>
                <a:ahLst/>
                <a:cxnLst/>
                <a:rect r="r" b="b" t="t" l="l"/>
                <a:pathLst>
                  <a:path h="765302" w="6129909">
                    <a:moveTo>
                      <a:pt x="0" y="211963"/>
                    </a:moveTo>
                    <a:cubicBezTo>
                      <a:pt x="0" y="94234"/>
                      <a:pt x="99060" y="0"/>
                      <a:pt x="219964" y="0"/>
                    </a:cubicBezTo>
                    <a:lnTo>
                      <a:pt x="5909945" y="0"/>
                    </a:lnTo>
                    <a:lnTo>
                      <a:pt x="5909945" y="16891"/>
                    </a:lnTo>
                    <a:lnTo>
                      <a:pt x="5909945" y="0"/>
                    </a:lnTo>
                    <a:cubicBezTo>
                      <a:pt x="6030722" y="0"/>
                      <a:pt x="6129909" y="94234"/>
                      <a:pt x="6129909" y="211963"/>
                    </a:cubicBezTo>
                    <a:lnTo>
                      <a:pt x="6113018" y="211963"/>
                    </a:lnTo>
                    <a:lnTo>
                      <a:pt x="6129909" y="211963"/>
                    </a:lnTo>
                    <a:lnTo>
                      <a:pt x="6129909" y="553339"/>
                    </a:lnTo>
                    <a:lnTo>
                      <a:pt x="6113018" y="553339"/>
                    </a:lnTo>
                    <a:lnTo>
                      <a:pt x="6129909" y="553339"/>
                    </a:lnTo>
                    <a:cubicBezTo>
                      <a:pt x="6129909" y="671068"/>
                      <a:pt x="6030849" y="765302"/>
                      <a:pt x="5909945" y="765302"/>
                    </a:cubicBezTo>
                    <a:lnTo>
                      <a:pt x="5909945" y="748411"/>
                    </a:lnTo>
                    <a:lnTo>
                      <a:pt x="5909945" y="765302"/>
                    </a:lnTo>
                    <a:lnTo>
                      <a:pt x="219964" y="765302"/>
                    </a:lnTo>
                    <a:lnTo>
                      <a:pt x="219964" y="748411"/>
                    </a:lnTo>
                    <a:lnTo>
                      <a:pt x="219964" y="765302"/>
                    </a:lnTo>
                    <a:cubicBezTo>
                      <a:pt x="99060" y="765429"/>
                      <a:pt x="0" y="671068"/>
                      <a:pt x="0" y="553339"/>
                    </a:cubicBezTo>
                    <a:lnTo>
                      <a:pt x="0" y="211963"/>
                    </a:lnTo>
                    <a:lnTo>
                      <a:pt x="16891" y="211963"/>
                    </a:lnTo>
                    <a:lnTo>
                      <a:pt x="0" y="211963"/>
                    </a:lnTo>
                    <a:moveTo>
                      <a:pt x="33909" y="211963"/>
                    </a:moveTo>
                    <a:lnTo>
                      <a:pt x="33909" y="553339"/>
                    </a:lnTo>
                    <a:lnTo>
                      <a:pt x="16891" y="553339"/>
                    </a:lnTo>
                    <a:lnTo>
                      <a:pt x="33909" y="553339"/>
                    </a:lnTo>
                    <a:cubicBezTo>
                      <a:pt x="33909" y="651129"/>
                      <a:pt x="116586" y="731520"/>
                      <a:pt x="219964" y="731520"/>
                    </a:cubicBezTo>
                    <a:lnTo>
                      <a:pt x="5909945" y="731520"/>
                    </a:lnTo>
                    <a:cubicBezTo>
                      <a:pt x="6013323" y="731520"/>
                      <a:pt x="6096000" y="651129"/>
                      <a:pt x="6096000" y="553339"/>
                    </a:cubicBezTo>
                    <a:lnTo>
                      <a:pt x="6096000" y="211963"/>
                    </a:lnTo>
                    <a:cubicBezTo>
                      <a:pt x="6096000" y="114173"/>
                      <a:pt x="6013323" y="33782"/>
                      <a:pt x="5909945" y="33782"/>
                    </a:cubicBezTo>
                    <a:lnTo>
                      <a:pt x="219964" y="33782"/>
                    </a:lnTo>
                    <a:lnTo>
                      <a:pt x="219964" y="16891"/>
                    </a:lnTo>
                    <a:lnTo>
                      <a:pt x="219964" y="33909"/>
                    </a:lnTo>
                    <a:cubicBezTo>
                      <a:pt x="116459" y="33909"/>
                      <a:pt x="33909" y="114300"/>
                      <a:pt x="33909" y="211963"/>
                    </a:cubicBezTo>
                    <a:close/>
                  </a:path>
                </a:pathLst>
              </a:custGeom>
              <a:solidFill>
                <a:srgbClr val="7A6B9A"/>
              </a:solidFill>
            </p:spPr>
          </p:sp>
        </p:grpSp>
        <p:grpSp>
          <p:nvGrpSpPr>
            <p:cNvPr name="Group 76" id="76"/>
            <p:cNvGrpSpPr/>
            <p:nvPr/>
          </p:nvGrpSpPr>
          <p:grpSpPr>
            <a:xfrm rot="0">
              <a:off x="455841" y="236385"/>
              <a:ext cx="6096000" cy="682752"/>
              <a:chOff x="0" y="0"/>
              <a:chExt cx="6096000" cy="682752"/>
            </a:xfrm>
          </p:grpSpPr>
          <p:sp>
            <p:nvSpPr>
              <p:cNvPr name="Freeform 77" id="77"/>
              <p:cNvSpPr/>
              <p:nvPr/>
            </p:nvSpPr>
            <p:spPr>
              <a:xfrm flipH="false" flipV="false" rot="0">
                <a:off x="0" y="0"/>
                <a:ext cx="6096000" cy="682752"/>
              </a:xfrm>
              <a:custGeom>
                <a:avLst/>
                <a:gdLst/>
                <a:ahLst/>
                <a:cxnLst/>
                <a:rect r="r" b="b" t="t" l="l"/>
                <a:pathLst>
                  <a:path h="682752" w="6096000">
                    <a:moveTo>
                      <a:pt x="0" y="0"/>
                    </a:moveTo>
                    <a:lnTo>
                      <a:pt x="6096000" y="0"/>
                    </a:lnTo>
                    <a:lnTo>
                      <a:pt x="6096000" y="682752"/>
                    </a:lnTo>
                    <a:lnTo>
                      <a:pt x="0" y="682752"/>
                    </a:lnTo>
                    <a:close/>
                  </a:path>
                </a:pathLst>
              </a:custGeom>
              <a:blipFill>
                <a:blip r:embed="rId3">
                  <a:alphaModFix amt="0"/>
                </a:blip>
                <a:stretch>
                  <a:fillRect l="0" t="-123973" r="0" b="-123973"/>
                </a:stretch>
              </a:blipFill>
            </p:spPr>
          </p:sp>
          <p:sp>
            <p:nvSpPr>
              <p:cNvPr name="TextBox 78" id="78"/>
              <p:cNvSpPr txBox="true"/>
              <p:nvPr/>
            </p:nvSpPr>
            <p:spPr>
              <a:xfrm>
                <a:off x="0" y="-38100"/>
                <a:ext cx="609600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Plage prix [20k–450k] — Bloc 3</a:t>
                </a:r>
              </a:p>
            </p:txBody>
          </p:sp>
        </p:grpSp>
        <p:grpSp>
          <p:nvGrpSpPr>
            <p:cNvPr name="Group 79" id="79"/>
            <p:cNvGrpSpPr/>
            <p:nvPr/>
          </p:nvGrpSpPr>
          <p:grpSpPr>
            <a:xfrm rot="0">
              <a:off x="455841" y="1089825"/>
              <a:ext cx="10119360" cy="1170432"/>
              <a:chOff x="0" y="0"/>
              <a:chExt cx="10119360" cy="1170432"/>
            </a:xfrm>
          </p:grpSpPr>
          <p:sp>
            <p:nvSpPr>
              <p:cNvPr name="Freeform 80" id="80"/>
              <p:cNvSpPr/>
              <p:nvPr/>
            </p:nvSpPr>
            <p:spPr>
              <a:xfrm flipH="false" flipV="false" rot="0">
                <a:off x="0" y="0"/>
                <a:ext cx="10119360" cy="1170432"/>
              </a:xfrm>
              <a:custGeom>
                <a:avLst/>
                <a:gdLst/>
                <a:ahLst/>
                <a:cxnLst/>
                <a:rect r="r" b="b" t="t" l="l"/>
                <a:pathLst>
                  <a:path h="1170432" w="10119360">
                    <a:moveTo>
                      <a:pt x="0" y="0"/>
                    </a:moveTo>
                    <a:lnTo>
                      <a:pt x="10119360" y="0"/>
                    </a:lnTo>
                    <a:lnTo>
                      <a:pt x="10119360" y="1170432"/>
                    </a:lnTo>
                    <a:lnTo>
                      <a:pt x="0" y="1170432"/>
                    </a:lnTo>
                    <a:close/>
                  </a:path>
                </a:pathLst>
              </a:custGeom>
              <a:blipFill>
                <a:blip r:embed="rId3">
                  <a:alphaModFix amt="0"/>
                </a:blip>
                <a:stretch>
                  <a:fillRect l="0" t="-118464" r="0" b="-118464"/>
                </a:stretch>
              </a:blipFill>
            </p:spPr>
          </p:sp>
          <p:sp>
            <p:nvSpPr>
              <p:cNvPr name="TextBox 81" id="81"/>
              <p:cNvSpPr txBox="true"/>
              <p:nvPr/>
            </p:nvSpPr>
            <p:spPr>
              <a:xfrm>
                <a:off x="0" y="-38100"/>
                <a:ext cx="10119360" cy="1208532"/>
              </a:xfrm>
              <a:prstGeom prst="rect">
                <a:avLst/>
              </a:prstGeom>
            </p:spPr>
            <p:txBody>
              <a:bodyPr anchor="ctr" rtlCol="false" tIns="0" lIns="0" bIns="0" rIns="0"/>
              <a:lstStyle/>
              <a:p>
                <a:pPr algn="l">
                  <a:lnSpc>
                    <a:spcPts val="2280"/>
                  </a:lnSpc>
                </a:pPr>
                <a:r>
                  <a:rPr lang="en-US" sz="1900" i="true">
                    <a:solidFill>
                      <a:srgbClr val="364E64"/>
                    </a:solidFill>
                    <a:latin typeface="Calibri (MS) Italics"/>
                    <a:ea typeface="Calibri (MS) Italics"/>
                    <a:cs typeface="Calibri (MS) Italics"/>
                    <a:sym typeface="Calibri (MS) Italics"/>
                  </a:rPr>
                  <a:t>⚠  Bornes arbitraires, non documentées, sans distinction par espèce (chèvre ≠ chameau). Imputation muette : impossible de tracer les imputations a posteriori.</a:t>
                </a:r>
              </a:p>
            </p:txBody>
          </p:sp>
        </p:grpSp>
        <p:grpSp>
          <p:nvGrpSpPr>
            <p:cNvPr name="Group 82" id="82"/>
            <p:cNvGrpSpPr/>
            <p:nvPr/>
          </p:nvGrpSpPr>
          <p:grpSpPr>
            <a:xfrm rot="0">
              <a:off x="455841" y="2260257"/>
              <a:ext cx="10119360" cy="975360"/>
              <a:chOff x="0" y="0"/>
              <a:chExt cx="10119360" cy="975360"/>
            </a:xfrm>
          </p:grpSpPr>
          <p:sp>
            <p:nvSpPr>
              <p:cNvPr name="Freeform 83" id="83"/>
              <p:cNvSpPr/>
              <p:nvPr/>
            </p:nvSpPr>
            <p:spPr>
              <a:xfrm flipH="false" flipV="false" rot="0">
                <a:off x="0" y="0"/>
                <a:ext cx="10119360" cy="975360"/>
              </a:xfrm>
              <a:custGeom>
                <a:avLst/>
                <a:gdLst/>
                <a:ahLst/>
                <a:cxnLst/>
                <a:rect r="r" b="b" t="t" l="l"/>
                <a:pathLst>
                  <a:path h="975360" w="10119360">
                    <a:moveTo>
                      <a:pt x="0" y="0"/>
                    </a:moveTo>
                    <a:lnTo>
                      <a:pt x="10119360" y="0"/>
                    </a:lnTo>
                    <a:lnTo>
                      <a:pt x="10119360" y="975360"/>
                    </a:lnTo>
                    <a:lnTo>
                      <a:pt x="0" y="975360"/>
                    </a:lnTo>
                    <a:close/>
                  </a:path>
                </a:pathLst>
              </a:custGeom>
              <a:blipFill>
                <a:blip r:embed="rId3">
                  <a:alphaModFix amt="0"/>
                </a:blip>
                <a:stretch>
                  <a:fillRect l="0" t="-152157" r="0" b="-152157"/>
                </a:stretch>
              </a:blipFill>
            </p:spPr>
          </p:sp>
          <p:sp>
            <p:nvSpPr>
              <p:cNvPr name="TextBox 84" id="84"/>
              <p:cNvSpPr txBox="true"/>
              <p:nvPr/>
            </p:nvSpPr>
            <p:spPr>
              <a:xfrm>
                <a:off x="0" y="9525"/>
                <a:ext cx="10119360" cy="965835"/>
              </a:xfrm>
              <a:prstGeom prst="rect">
                <a:avLst/>
              </a:prstGeom>
            </p:spPr>
            <p:txBody>
              <a:bodyPr anchor="ctr" rtlCol="false" tIns="0" lIns="0" bIns="0" rIns="0"/>
              <a:lstStyle/>
              <a:p>
                <a:pPr algn="l">
                  <a:lnSpc>
                    <a:spcPts val="2280"/>
                  </a:lnSpc>
                </a:pPr>
                <a:r>
                  <a:rPr lang="en-US" sz="1900" b="true">
                    <a:solidFill>
                      <a:srgbClr val="2A6A3A"/>
                    </a:solidFill>
                    <a:latin typeface="EB Garamond Semi-Bold"/>
                    <a:ea typeface="EB Garamond Semi-Bold"/>
                    <a:cs typeface="EB Garamond Semi-Bold"/>
                    <a:sym typeface="EB Garamond Semi-Bold"/>
                  </a:rPr>
                  <a:t>→ Alternative : médiane conditionnelle adoptée à la place de la moyenne (plus robuste). </a:t>
                </a:r>
              </a:p>
            </p:txBody>
          </p:sp>
        </p:grpSp>
      </p:grpSp>
      <p:grpSp>
        <p:nvGrpSpPr>
          <p:cNvPr name="Group 85" id="85"/>
          <p:cNvGrpSpPr/>
          <p:nvPr/>
        </p:nvGrpSpPr>
        <p:grpSpPr>
          <a:xfrm rot="0">
            <a:off x="627383" y="7680712"/>
            <a:ext cx="8252450" cy="2416556"/>
            <a:chOff x="0" y="0"/>
            <a:chExt cx="11003267" cy="3222074"/>
          </a:xfrm>
        </p:grpSpPr>
        <p:grpSp>
          <p:nvGrpSpPr>
            <p:cNvPr name="Group 86" id="86"/>
            <p:cNvGrpSpPr/>
            <p:nvPr/>
          </p:nvGrpSpPr>
          <p:grpSpPr>
            <a:xfrm rot="0">
              <a:off x="3378" y="3070"/>
              <a:ext cx="10999889" cy="3215911"/>
              <a:chOff x="0" y="0"/>
              <a:chExt cx="10999889" cy="3215911"/>
            </a:xfrm>
          </p:grpSpPr>
          <p:sp>
            <p:nvSpPr>
              <p:cNvPr name="Freeform 87" id="87"/>
              <p:cNvSpPr/>
              <p:nvPr/>
            </p:nvSpPr>
            <p:spPr>
              <a:xfrm flipH="false" flipV="false" rot="0">
                <a:off x="13589" y="12351"/>
                <a:ext cx="10972800" cy="3191291"/>
              </a:xfrm>
              <a:custGeom>
                <a:avLst/>
                <a:gdLst/>
                <a:ahLst/>
                <a:cxnLst/>
                <a:rect r="r" b="b" t="t" l="l"/>
                <a:pathLst>
                  <a:path h="3191291" w="10972800">
                    <a:moveTo>
                      <a:pt x="0" y="221617"/>
                    </a:moveTo>
                    <a:cubicBezTo>
                      <a:pt x="0" y="99266"/>
                      <a:pt x="109728" y="0"/>
                      <a:pt x="245110" y="0"/>
                    </a:cubicBezTo>
                    <a:lnTo>
                      <a:pt x="10727690" y="0"/>
                    </a:lnTo>
                    <a:cubicBezTo>
                      <a:pt x="10863073" y="0"/>
                      <a:pt x="10972800" y="99266"/>
                      <a:pt x="10972800" y="221617"/>
                    </a:cubicBezTo>
                    <a:lnTo>
                      <a:pt x="10972800" y="2969673"/>
                    </a:lnTo>
                    <a:cubicBezTo>
                      <a:pt x="10972800" y="3092024"/>
                      <a:pt x="10863072" y="3191290"/>
                      <a:pt x="10727690" y="3191290"/>
                    </a:cubicBezTo>
                    <a:lnTo>
                      <a:pt x="245110" y="3191290"/>
                    </a:lnTo>
                    <a:cubicBezTo>
                      <a:pt x="109728" y="3191290"/>
                      <a:pt x="0" y="3092024"/>
                      <a:pt x="0" y="2969673"/>
                    </a:cubicBezTo>
                    <a:close/>
                  </a:path>
                </a:pathLst>
              </a:custGeom>
              <a:solidFill>
                <a:srgbClr val="FFFFFF"/>
              </a:solidFill>
            </p:spPr>
          </p:sp>
          <p:sp>
            <p:nvSpPr>
              <p:cNvPr name="Freeform 88" id="88"/>
              <p:cNvSpPr/>
              <p:nvPr/>
            </p:nvSpPr>
            <p:spPr>
              <a:xfrm flipH="false" flipV="false" rot="0">
                <a:off x="0" y="0"/>
                <a:ext cx="10999978" cy="3215999"/>
              </a:xfrm>
              <a:custGeom>
                <a:avLst/>
                <a:gdLst/>
                <a:ahLst/>
                <a:cxnLst/>
                <a:rect r="r" b="b" t="t" l="l"/>
                <a:pathLst>
                  <a:path h="3215999" w="10999978">
                    <a:moveTo>
                      <a:pt x="0" y="233968"/>
                    </a:moveTo>
                    <a:cubicBezTo>
                      <a:pt x="0" y="104691"/>
                      <a:pt x="115824" y="0"/>
                      <a:pt x="258699" y="0"/>
                    </a:cubicBezTo>
                    <a:lnTo>
                      <a:pt x="10741279" y="0"/>
                    </a:lnTo>
                    <a:lnTo>
                      <a:pt x="10741279" y="12351"/>
                    </a:lnTo>
                    <a:lnTo>
                      <a:pt x="10741279" y="0"/>
                    </a:lnTo>
                    <a:cubicBezTo>
                      <a:pt x="10884027" y="0"/>
                      <a:pt x="10999978" y="104691"/>
                      <a:pt x="10999978" y="233968"/>
                    </a:cubicBezTo>
                    <a:lnTo>
                      <a:pt x="10986389" y="233968"/>
                    </a:lnTo>
                    <a:lnTo>
                      <a:pt x="10999978" y="233968"/>
                    </a:lnTo>
                    <a:lnTo>
                      <a:pt x="10999978" y="2982024"/>
                    </a:lnTo>
                    <a:lnTo>
                      <a:pt x="10986389" y="2982024"/>
                    </a:lnTo>
                    <a:lnTo>
                      <a:pt x="10999978" y="2982024"/>
                    </a:lnTo>
                    <a:cubicBezTo>
                      <a:pt x="10999978" y="3111301"/>
                      <a:pt x="10884154" y="3215999"/>
                      <a:pt x="10741279" y="3215999"/>
                    </a:cubicBezTo>
                    <a:lnTo>
                      <a:pt x="10741279" y="3203641"/>
                    </a:lnTo>
                    <a:lnTo>
                      <a:pt x="10741279" y="3215999"/>
                    </a:lnTo>
                    <a:lnTo>
                      <a:pt x="258699" y="3215999"/>
                    </a:lnTo>
                    <a:lnTo>
                      <a:pt x="258699" y="3203641"/>
                    </a:lnTo>
                    <a:lnTo>
                      <a:pt x="258699" y="3215999"/>
                    </a:lnTo>
                    <a:cubicBezTo>
                      <a:pt x="115824" y="3215876"/>
                      <a:pt x="0" y="3111300"/>
                      <a:pt x="0" y="2982024"/>
                    </a:cubicBezTo>
                    <a:lnTo>
                      <a:pt x="0" y="233968"/>
                    </a:lnTo>
                    <a:lnTo>
                      <a:pt x="13589" y="233968"/>
                    </a:lnTo>
                    <a:lnTo>
                      <a:pt x="0" y="233968"/>
                    </a:lnTo>
                    <a:moveTo>
                      <a:pt x="27051" y="233968"/>
                    </a:moveTo>
                    <a:lnTo>
                      <a:pt x="27051" y="2982024"/>
                    </a:lnTo>
                    <a:lnTo>
                      <a:pt x="13589" y="2982024"/>
                    </a:lnTo>
                    <a:lnTo>
                      <a:pt x="27051" y="2982024"/>
                    </a:lnTo>
                    <a:cubicBezTo>
                      <a:pt x="27051" y="3097565"/>
                      <a:pt x="130683" y="3191290"/>
                      <a:pt x="258572" y="3191290"/>
                    </a:cubicBezTo>
                    <a:lnTo>
                      <a:pt x="10741152" y="3191290"/>
                    </a:lnTo>
                    <a:cubicBezTo>
                      <a:pt x="10869041" y="3191290"/>
                      <a:pt x="10972674" y="3097565"/>
                      <a:pt x="10972674" y="2982024"/>
                    </a:cubicBezTo>
                    <a:lnTo>
                      <a:pt x="10972674" y="233968"/>
                    </a:lnTo>
                    <a:cubicBezTo>
                      <a:pt x="10972674" y="118427"/>
                      <a:pt x="10869041" y="24701"/>
                      <a:pt x="10741152" y="24701"/>
                    </a:cubicBezTo>
                    <a:lnTo>
                      <a:pt x="258699" y="24701"/>
                    </a:lnTo>
                    <a:lnTo>
                      <a:pt x="258699" y="12351"/>
                    </a:lnTo>
                    <a:lnTo>
                      <a:pt x="258699" y="24586"/>
                    </a:lnTo>
                    <a:cubicBezTo>
                      <a:pt x="130810" y="24586"/>
                      <a:pt x="27178" y="118311"/>
                      <a:pt x="27178" y="233853"/>
                    </a:cubicBezTo>
                    <a:close/>
                  </a:path>
                </a:pathLst>
              </a:custGeom>
              <a:solidFill>
                <a:srgbClr val="BDC8D5"/>
              </a:solidFill>
            </p:spPr>
          </p:sp>
        </p:grpSp>
        <p:grpSp>
          <p:nvGrpSpPr>
            <p:cNvPr name="Group 89" id="89"/>
            <p:cNvGrpSpPr/>
            <p:nvPr/>
          </p:nvGrpSpPr>
          <p:grpSpPr>
            <a:xfrm rot="0">
              <a:off x="0" y="0"/>
              <a:ext cx="204559" cy="3222074"/>
              <a:chOff x="0" y="0"/>
              <a:chExt cx="204559" cy="3222074"/>
            </a:xfrm>
          </p:grpSpPr>
          <p:sp>
            <p:nvSpPr>
              <p:cNvPr name="Freeform 90" id="90"/>
              <p:cNvSpPr/>
              <p:nvPr/>
            </p:nvSpPr>
            <p:spPr>
              <a:xfrm flipH="false" flipV="false" rot="0">
                <a:off x="16891" y="15352"/>
                <a:ext cx="170688" cy="3191290"/>
              </a:xfrm>
              <a:custGeom>
                <a:avLst/>
                <a:gdLst/>
                <a:ahLst/>
                <a:cxnLst/>
                <a:rect r="r" b="b" t="t" l="l"/>
                <a:pathLst>
                  <a:path h="3191290" w="170688">
                    <a:moveTo>
                      <a:pt x="0" y="0"/>
                    </a:moveTo>
                    <a:lnTo>
                      <a:pt x="170688" y="0"/>
                    </a:lnTo>
                    <a:lnTo>
                      <a:pt x="170688" y="3191290"/>
                    </a:lnTo>
                    <a:lnTo>
                      <a:pt x="0" y="3191290"/>
                    </a:lnTo>
                    <a:close/>
                  </a:path>
                </a:pathLst>
              </a:custGeom>
              <a:solidFill>
                <a:srgbClr val="3A7D5C"/>
              </a:solidFill>
            </p:spPr>
          </p:sp>
          <p:sp>
            <p:nvSpPr>
              <p:cNvPr name="Freeform 91" id="91"/>
              <p:cNvSpPr/>
              <p:nvPr/>
            </p:nvSpPr>
            <p:spPr>
              <a:xfrm flipH="false" flipV="false" rot="0">
                <a:off x="0" y="0"/>
                <a:ext cx="204470" cy="3221993"/>
              </a:xfrm>
              <a:custGeom>
                <a:avLst/>
                <a:gdLst/>
                <a:ahLst/>
                <a:cxnLst/>
                <a:rect r="r" b="b" t="t" l="l"/>
                <a:pathLst>
                  <a:path h="3221993" w="204470">
                    <a:moveTo>
                      <a:pt x="16891" y="0"/>
                    </a:moveTo>
                    <a:lnTo>
                      <a:pt x="187579" y="0"/>
                    </a:lnTo>
                    <a:cubicBezTo>
                      <a:pt x="196977" y="0"/>
                      <a:pt x="204470" y="6926"/>
                      <a:pt x="204470" y="15352"/>
                    </a:cubicBezTo>
                    <a:lnTo>
                      <a:pt x="204470" y="3206642"/>
                    </a:lnTo>
                    <a:cubicBezTo>
                      <a:pt x="204470" y="3215183"/>
                      <a:pt x="196850" y="3221993"/>
                      <a:pt x="187579" y="3221993"/>
                    </a:cubicBezTo>
                    <a:lnTo>
                      <a:pt x="16891" y="3221993"/>
                    </a:lnTo>
                    <a:cubicBezTo>
                      <a:pt x="7493" y="3221993"/>
                      <a:pt x="0" y="3215068"/>
                      <a:pt x="0" y="3206642"/>
                    </a:cubicBezTo>
                    <a:lnTo>
                      <a:pt x="0" y="15352"/>
                    </a:lnTo>
                    <a:cubicBezTo>
                      <a:pt x="0" y="6926"/>
                      <a:pt x="7620" y="0"/>
                      <a:pt x="16891" y="0"/>
                    </a:cubicBezTo>
                    <a:moveTo>
                      <a:pt x="16891" y="30819"/>
                    </a:moveTo>
                    <a:lnTo>
                      <a:pt x="16891" y="15352"/>
                    </a:lnTo>
                    <a:lnTo>
                      <a:pt x="33909" y="15352"/>
                    </a:lnTo>
                    <a:lnTo>
                      <a:pt x="33909" y="3206642"/>
                    </a:lnTo>
                    <a:lnTo>
                      <a:pt x="16891" y="3206642"/>
                    </a:lnTo>
                    <a:lnTo>
                      <a:pt x="16891" y="3191290"/>
                    </a:lnTo>
                    <a:lnTo>
                      <a:pt x="187579" y="3191290"/>
                    </a:lnTo>
                    <a:lnTo>
                      <a:pt x="187579" y="3206642"/>
                    </a:lnTo>
                    <a:lnTo>
                      <a:pt x="170688" y="3206642"/>
                    </a:lnTo>
                    <a:lnTo>
                      <a:pt x="170688" y="15352"/>
                    </a:lnTo>
                    <a:lnTo>
                      <a:pt x="187579" y="15352"/>
                    </a:lnTo>
                    <a:lnTo>
                      <a:pt x="187579" y="30819"/>
                    </a:lnTo>
                    <a:lnTo>
                      <a:pt x="16891" y="30819"/>
                    </a:lnTo>
                    <a:close/>
                  </a:path>
                </a:pathLst>
              </a:custGeom>
              <a:solidFill>
                <a:srgbClr val="3A7D5C"/>
              </a:solidFill>
            </p:spPr>
          </p:sp>
        </p:grpSp>
        <p:grpSp>
          <p:nvGrpSpPr>
            <p:cNvPr name="Group 92" id="92"/>
            <p:cNvGrpSpPr/>
            <p:nvPr/>
          </p:nvGrpSpPr>
          <p:grpSpPr>
            <a:xfrm rot="0">
              <a:off x="438912" y="177294"/>
              <a:ext cx="6129871" cy="695636"/>
              <a:chOff x="0" y="0"/>
              <a:chExt cx="6129871" cy="695636"/>
            </a:xfrm>
          </p:grpSpPr>
          <p:sp>
            <p:nvSpPr>
              <p:cNvPr name="Freeform 93" id="93"/>
              <p:cNvSpPr/>
              <p:nvPr/>
            </p:nvSpPr>
            <p:spPr>
              <a:xfrm flipH="false" flipV="false" rot="0">
                <a:off x="16891" y="15352"/>
                <a:ext cx="6096000" cy="664852"/>
              </a:xfrm>
              <a:custGeom>
                <a:avLst/>
                <a:gdLst/>
                <a:ahLst/>
                <a:cxnLst/>
                <a:rect r="r" b="b" t="t" l="l"/>
                <a:pathLst>
                  <a:path h="664852" w="6096000">
                    <a:moveTo>
                      <a:pt x="0" y="177294"/>
                    </a:moveTo>
                    <a:cubicBezTo>
                      <a:pt x="0" y="79413"/>
                      <a:pt x="90932" y="0"/>
                      <a:pt x="202946" y="0"/>
                    </a:cubicBezTo>
                    <a:lnTo>
                      <a:pt x="5893054" y="0"/>
                    </a:lnTo>
                    <a:cubicBezTo>
                      <a:pt x="6005195" y="0"/>
                      <a:pt x="6096000" y="79413"/>
                      <a:pt x="6096000" y="177294"/>
                    </a:cubicBezTo>
                    <a:lnTo>
                      <a:pt x="6096000" y="487558"/>
                    </a:lnTo>
                    <a:cubicBezTo>
                      <a:pt x="6096000" y="585439"/>
                      <a:pt x="6005068" y="664852"/>
                      <a:pt x="5893054" y="664852"/>
                    </a:cubicBezTo>
                    <a:lnTo>
                      <a:pt x="203073" y="664852"/>
                    </a:lnTo>
                    <a:cubicBezTo>
                      <a:pt x="90932" y="664852"/>
                      <a:pt x="127" y="585439"/>
                      <a:pt x="127" y="487558"/>
                    </a:cubicBezTo>
                    <a:close/>
                  </a:path>
                </a:pathLst>
              </a:custGeom>
              <a:solidFill>
                <a:srgbClr val="3A7D5C"/>
              </a:solidFill>
            </p:spPr>
          </p:sp>
          <p:sp>
            <p:nvSpPr>
              <p:cNvPr name="Freeform 94" id="94"/>
              <p:cNvSpPr/>
              <p:nvPr/>
            </p:nvSpPr>
            <p:spPr>
              <a:xfrm flipH="false" flipV="false" rot="0">
                <a:off x="0" y="0"/>
                <a:ext cx="6129909" cy="695556"/>
              </a:xfrm>
              <a:custGeom>
                <a:avLst/>
                <a:gdLst/>
                <a:ahLst/>
                <a:cxnLst/>
                <a:rect r="r" b="b" t="t" l="l"/>
                <a:pathLst>
                  <a:path h="695556" w="6129909">
                    <a:moveTo>
                      <a:pt x="0" y="192646"/>
                    </a:moveTo>
                    <a:cubicBezTo>
                      <a:pt x="0" y="85646"/>
                      <a:pt x="99060" y="0"/>
                      <a:pt x="219964" y="0"/>
                    </a:cubicBezTo>
                    <a:lnTo>
                      <a:pt x="5909945" y="0"/>
                    </a:lnTo>
                    <a:lnTo>
                      <a:pt x="5909945" y="15352"/>
                    </a:lnTo>
                    <a:lnTo>
                      <a:pt x="5909945" y="0"/>
                    </a:lnTo>
                    <a:cubicBezTo>
                      <a:pt x="6030722" y="0"/>
                      <a:pt x="6129909" y="85646"/>
                      <a:pt x="6129909" y="192646"/>
                    </a:cubicBezTo>
                    <a:lnTo>
                      <a:pt x="6113018" y="192646"/>
                    </a:lnTo>
                    <a:lnTo>
                      <a:pt x="6129909" y="192646"/>
                    </a:lnTo>
                    <a:lnTo>
                      <a:pt x="6129909" y="502910"/>
                    </a:lnTo>
                    <a:lnTo>
                      <a:pt x="6113018" y="502910"/>
                    </a:lnTo>
                    <a:lnTo>
                      <a:pt x="6129909" y="502910"/>
                    </a:lnTo>
                    <a:cubicBezTo>
                      <a:pt x="6129909" y="609910"/>
                      <a:pt x="6030849" y="695555"/>
                      <a:pt x="5909945" y="695555"/>
                    </a:cubicBezTo>
                    <a:lnTo>
                      <a:pt x="5909945" y="680204"/>
                    </a:lnTo>
                    <a:lnTo>
                      <a:pt x="5909945" y="695555"/>
                    </a:lnTo>
                    <a:lnTo>
                      <a:pt x="219964" y="695555"/>
                    </a:lnTo>
                    <a:lnTo>
                      <a:pt x="219964" y="680204"/>
                    </a:lnTo>
                    <a:lnTo>
                      <a:pt x="219964" y="695555"/>
                    </a:lnTo>
                    <a:cubicBezTo>
                      <a:pt x="99060" y="695674"/>
                      <a:pt x="0" y="609910"/>
                      <a:pt x="0" y="502910"/>
                    </a:cubicBezTo>
                    <a:lnTo>
                      <a:pt x="0" y="192646"/>
                    </a:lnTo>
                    <a:lnTo>
                      <a:pt x="16891" y="192646"/>
                    </a:lnTo>
                    <a:lnTo>
                      <a:pt x="0" y="192646"/>
                    </a:lnTo>
                    <a:moveTo>
                      <a:pt x="33909" y="192646"/>
                    </a:moveTo>
                    <a:lnTo>
                      <a:pt x="33909" y="502910"/>
                    </a:lnTo>
                    <a:lnTo>
                      <a:pt x="16891" y="502910"/>
                    </a:lnTo>
                    <a:lnTo>
                      <a:pt x="33909" y="502910"/>
                    </a:lnTo>
                    <a:cubicBezTo>
                      <a:pt x="33909" y="591788"/>
                      <a:pt x="116586" y="664852"/>
                      <a:pt x="219964" y="664852"/>
                    </a:cubicBezTo>
                    <a:lnTo>
                      <a:pt x="5909945" y="664852"/>
                    </a:lnTo>
                    <a:cubicBezTo>
                      <a:pt x="6013323" y="664852"/>
                      <a:pt x="6096000" y="591788"/>
                      <a:pt x="6096000" y="502910"/>
                    </a:cubicBezTo>
                    <a:lnTo>
                      <a:pt x="6096000" y="192646"/>
                    </a:lnTo>
                    <a:cubicBezTo>
                      <a:pt x="6096000" y="103768"/>
                      <a:pt x="6013323" y="30703"/>
                      <a:pt x="5909945" y="30703"/>
                    </a:cubicBezTo>
                    <a:lnTo>
                      <a:pt x="219964" y="30703"/>
                    </a:lnTo>
                    <a:lnTo>
                      <a:pt x="219964" y="15352"/>
                    </a:lnTo>
                    <a:lnTo>
                      <a:pt x="219964" y="30819"/>
                    </a:lnTo>
                    <a:cubicBezTo>
                      <a:pt x="116459" y="30819"/>
                      <a:pt x="33909" y="103883"/>
                      <a:pt x="33909" y="192646"/>
                    </a:cubicBezTo>
                    <a:close/>
                  </a:path>
                </a:pathLst>
              </a:custGeom>
              <a:solidFill>
                <a:srgbClr val="3A7D5C"/>
              </a:solidFill>
            </p:spPr>
          </p:sp>
        </p:grpSp>
        <p:grpSp>
          <p:nvGrpSpPr>
            <p:cNvPr name="Group 95" id="95"/>
            <p:cNvGrpSpPr/>
            <p:nvPr/>
          </p:nvGrpSpPr>
          <p:grpSpPr>
            <a:xfrm rot="0">
              <a:off x="455841" y="214842"/>
              <a:ext cx="6096000" cy="620529"/>
              <a:chOff x="0" y="0"/>
              <a:chExt cx="6096000" cy="620529"/>
            </a:xfrm>
          </p:grpSpPr>
          <p:sp>
            <p:nvSpPr>
              <p:cNvPr name="Freeform 96" id="96"/>
              <p:cNvSpPr/>
              <p:nvPr/>
            </p:nvSpPr>
            <p:spPr>
              <a:xfrm flipH="false" flipV="false" rot="0">
                <a:off x="0" y="0"/>
                <a:ext cx="6096000" cy="620529"/>
              </a:xfrm>
              <a:custGeom>
                <a:avLst/>
                <a:gdLst/>
                <a:ahLst/>
                <a:cxnLst/>
                <a:rect r="r" b="b" t="t" l="l"/>
                <a:pathLst>
                  <a:path h="620529" w="6096000">
                    <a:moveTo>
                      <a:pt x="0" y="0"/>
                    </a:moveTo>
                    <a:lnTo>
                      <a:pt x="6096000" y="0"/>
                    </a:lnTo>
                    <a:lnTo>
                      <a:pt x="6096000" y="620529"/>
                    </a:lnTo>
                    <a:lnTo>
                      <a:pt x="0" y="620529"/>
                    </a:lnTo>
                    <a:close/>
                  </a:path>
                </a:pathLst>
              </a:custGeom>
              <a:blipFill>
                <a:blip r:embed="rId3">
                  <a:alphaModFix amt="0"/>
                </a:blip>
                <a:stretch>
                  <a:fillRect l="0" t="-136404" r="0" b="-146432"/>
                </a:stretch>
              </a:blipFill>
            </p:spPr>
          </p:sp>
          <p:sp>
            <p:nvSpPr>
              <p:cNvPr name="TextBox 97" id="97"/>
              <p:cNvSpPr txBox="true"/>
              <p:nvPr/>
            </p:nvSpPr>
            <p:spPr>
              <a:xfrm>
                <a:off x="0" y="9525"/>
                <a:ext cx="6096000" cy="611004"/>
              </a:xfrm>
              <a:prstGeom prst="rect">
                <a:avLst/>
              </a:prstGeom>
            </p:spPr>
            <p:txBody>
              <a:bodyPr anchor="ctr" rtlCol="false" tIns="0" lIns="0" bIns="0" rIns="0"/>
              <a:lstStyle/>
              <a:p>
                <a:pPr algn="ctr">
                  <a:lnSpc>
                    <a:spcPts val="2160"/>
                  </a:lnSpc>
                </a:pPr>
                <a:r>
                  <a:rPr lang="en-US" sz="1800" b="true">
                    <a:solidFill>
                      <a:srgbClr val="FFFFFF"/>
                    </a:solidFill>
                    <a:latin typeface="EB Garamond Semi-Bold"/>
                    <a:ea typeface="EB Garamond Semi-Bold"/>
                    <a:cs typeface="EB Garamond Semi-Bold"/>
                    <a:sym typeface="EB Garamond Semi-Bold"/>
                  </a:rPr>
                  <a:t>Variable soudure — Bloc 3</a:t>
                </a:r>
              </a:p>
            </p:txBody>
          </p:sp>
        </p:grpSp>
        <p:grpSp>
          <p:nvGrpSpPr>
            <p:cNvPr name="Group 98" id="98"/>
            <p:cNvGrpSpPr/>
            <p:nvPr/>
          </p:nvGrpSpPr>
          <p:grpSpPr>
            <a:xfrm rot="0">
              <a:off x="455841" y="990503"/>
              <a:ext cx="10119360" cy="1063763"/>
              <a:chOff x="0" y="0"/>
              <a:chExt cx="10119360" cy="1063763"/>
            </a:xfrm>
          </p:grpSpPr>
          <p:sp>
            <p:nvSpPr>
              <p:cNvPr name="Freeform 99" id="99"/>
              <p:cNvSpPr/>
              <p:nvPr/>
            </p:nvSpPr>
            <p:spPr>
              <a:xfrm flipH="false" flipV="false" rot="0">
                <a:off x="0" y="0"/>
                <a:ext cx="10119360" cy="1063763"/>
              </a:xfrm>
              <a:custGeom>
                <a:avLst/>
                <a:gdLst/>
                <a:ahLst/>
                <a:cxnLst/>
                <a:rect r="r" b="b" t="t" l="l"/>
                <a:pathLst>
                  <a:path h="1063763" w="10119360">
                    <a:moveTo>
                      <a:pt x="0" y="0"/>
                    </a:moveTo>
                    <a:lnTo>
                      <a:pt x="10119360" y="0"/>
                    </a:lnTo>
                    <a:lnTo>
                      <a:pt x="10119360" y="1063763"/>
                    </a:lnTo>
                    <a:lnTo>
                      <a:pt x="0" y="1063763"/>
                    </a:lnTo>
                    <a:close/>
                  </a:path>
                </a:pathLst>
              </a:custGeom>
              <a:blipFill>
                <a:blip r:embed="rId3">
                  <a:alphaModFix amt="0"/>
                </a:blip>
                <a:stretch>
                  <a:fillRect l="0" t="-130343" r="0" b="-140370"/>
                </a:stretch>
              </a:blipFill>
            </p:spPr>
          </p:sp>
          <p:sp>
            <p:nvSpPr>
              <p:cNvPr name="TextBox 100" id="100"/>
              <p:cNvSpPr txBox="true"/>
              <p:nvPr/>
            </p:nvSpPr>
            <p:spPr>
              <a:xfrm>
                <a:off x="0" y="-38100"/>
                <a:ext cx="10119360" cy="1101863"/>
              </a:xfrm>
              <a:prstGeom prst="rect">
                <a:avLst/>
              </a:prstGeom>
            </p:spPr>
            <p:txBody>
              <a:bodyPr anchor="ctr" rtlCol="false" tIns="0" lIns="0" bIns="0" rIns="0"/>
              <a:lstStyle/>
              <a:p>
                <a:pPr algn="l">
                  <a:lnSpc>
                    <a:spcPts val="2280"/>
                  </a:lnSpc>
                </a:pPr>
                <a:r>
                  <a:rPr lang="en-US" sz="1900" i="true">
                    <a:solidFill>
                      <a:srgbClr val="364E64"/>
                    </a:solidFill>
                    <a:latin typeface="Calibri (MS) Italics"/>
                    <a:ea typeface="Calibri (MS) Italics"/>
                    <a:cs typeface="Calibri (MS) Italics"/>
                    <a:sym typeface="Calibri (MS) Italics"/>
                  </a:rPr>
                  <a:t>⚠  Mois 5–8 appliqués uniformément sur 5 pays. La soudure varie selon le pays : Niger (juin–sept), Mauritanie (juil–oct), Sénégal (juil–sept).</a:t>
                </a:r>
              </a:p>
            </p:txBody>
          </p:sp>
        </p:grpSp>
        <p:grpSp>
          <p:nvGrpSpPr>
            <p:cNvPr name="Group 101" id="101"/>
            <p:cNvGrpSpPr/>
            <p:nvPr/>
          </p:nvGrpSpPr>
          <p:grpSpPr>
            <a:xfrm rot="0">
              <a:off x="455841" y="2053844"/>
              <a:ext cx="10119360" cy="902597"/>
              <a:chOff x="0" y="0"/>
              <a:chExt cx="10119360" cy="902597"/>
            </a:xfrm>
          </p:grpSpPr>
          <p:sp>
            <p:nvSpPr>
              <p:cNvPr name="Freeform 102" id="102"/>
              <p:cNvSpPr/>
              <p:nvPr/>
            </p:nvSpPr>
            <p:spPr>
              <a:xfrm flipH="false" flipV="false" rot="0">
                <a:off x="0" y="0"/>
                <a:ext cx="10119360" cy="902598"/>
              </a:xfrm>
              <a:custGeom>
                <a:avLst/>
                <a:gdLst/>
                <a:ahLst/>
                <a:cxnLst/>
                <a:rect r="r" b="b" t="t" l="l"/>
                <a:pathLst>
                  <a:path h="902598" w="10119360">
                    <a:moveTo>
                      <a:pt x="0" y="0"/>
                    </a:moveTo>
                    <a:lnTo>
                      <a:pt x="10119360" y="0"/>
                    </a:lnTo>
                    <a:lnTo>
                      <a:pt x="10119360" y="902598"/>
                    </a:lnTo>
                    <a:lnTo>
                      <a:pt x="0" y="902598"/>
                    </a:lnTo>
                    <a:close/>
                  </a:path>
                </a:pathLst>
              </a:custGeom>
              <a:blipFill>
                <a:blip r:embed="rId3">
                  <a:alphaModFix amt="0"/>
                </a:blip>
                <a:stretch>
                  <a:fillRect l="0" t="-164423" r="0" b="-172484"/>
                </a:stretch>
              </a:blipFill>
            </p:spPr>
          </p:sp>
          <p:sp>
            <p:nvSpPr>
              <p:cNvPr name="TextBox 103" id="103"/>
              <p:cNvSpPr txBox="true"/>
              <p:nvPr/>
            </p:nvSpPr>
            <p:spPr>
              <a:xfrm>
                <a:off x="0" y="9525"/>
                <a:ext cx="10119360" cy="893072"/>
              </a:xfrm>
              <a:prstGeom prst="rect">
                <a:avLst/>
              </a:prstGeom>
            </p:spPr>
            <p:txBody>
              <a:bodyPr anchor="ctr" rtlCol="false" tIns="0" lIns="0" bIns="0" rIns="0"/>
              <a:lstStyle/>
              <a:p>
                <a:pPr algn="l">
                  <a:lnSpc>
                    <a:spcPts val="2280"/>
                  </a:lnSpc>
                </a:pPr>
                <a:r>
                  <a:rPr lang="en-US" sz="1900" b="true">
                    <a:solidFill>
                      <a:srgbClr val="2A6A3A"/>
                    </a:solidFill>
                    <a:latin typeface="EB Garamond Semi-Bold"/>
                    <a:ea typeface="EB Garamond Semi-Bold"/>
                    <a:cs typeface="EB Garamond Semi-Bold"/>
                    <a:sym typeface="EB Garamond Semi-Bold"/>
                  </a:rPr>
                  <a:t>→ Variable conservée avec mention de la limite dans l'interprétation. Alternative : indicateur country-spécifique ou interactions pays×mois.</a:t>
                </a:r>
              </a:p>
            </p:txBody>
          </p:sp>
        </p:grpSp>
      </p:grpSp>
      <p:grpSp>
        <p:nvGrpSpPr>
          <p:cNvPr name="Group 104" id="104"/>
          <p:cNvGrpSpPr/>
          <p:nvPr/>
        </p:nvGrpSpPr>
        <p:grpSpPr>
          <a:xfrm rot="0">
            <a:off x="9838944" y="7838446"/>
            <a:ext cx="4572000" cy="512064"/>
            <a:chOff x="0" y="0"/>
            <a:chExt cx="6096000" cy="682752"/>
          </a:xfrm>
        </p:grpSpPr>
        <p:sp>
          <p:nvSpPr>
            <p:cNvPr name="Freeform 105" id="105"/>
            <p:cNvSpPr/>
            <p:nvPr/>
          </p:nvSpPr>
          <p:spPr>
            <a:xfrm flipH="false" flipV="false" rot="0">
              <a:off x="0" y="0"/>
              <a:ext cx="6096000" cy="682752"/>
            </a:xfrm>
            <a:custGeom>
              <a:avLst/>
              <a:gdLst/>
              <a:ahLst/>
              <a:cxnLst/>
              <a:rect r="r" b="b" t="t" l="l"/>
              <a:pathLst>
                <a:path h="682752" w="6096000">
                  <a:moveTo>
                    <a:pt x="0" y="0"/>
                  </a:moveTo>
                  <a:lnTo>
                    <a:pt x="6096000" y="0"/>
                  </a:lnTo>
                  <a:lnTo>
                    <a:pt x="6096000" y="682752"/>
                  </a:lnTo>
                  <a:lnTo>
                    <a:pt x="0" y="682752"/>
                  </a:lnTo>
                  <a:close/>
                </a:path>
              </a:pathLst>
            </a:custGeom>
            <a:blipFill>
              <a:blip r:embed="rId3">
                <a:alphaModFix amt="0"/>
              </a:blip>
              <a:stretch>
                <a:fillRect l="0" t="-123973" r="0" b="-123973"/>
              </a:stretch>
            </a:blipFill>
          </p:spPr>
        </p:sp>
        <p:sp>
          <p:nvSpPr>
            <p:cNvPr name="TextBox 106" id="106"/>
            <p:cNvSpPr txBox="true"/>
            <p:nvPr/>
          </p:nvSpPr>
          <p:spPr>
            <a:xfrm>
              <a:off x="0" y="9525"/>
              <a:ext cx="6096000" cy="673227"/>
            </a:xfrm>
            <a:prstGeom prst="rect">
              <a:avLst/>
            </a:prstGeom>
          </p:spPr>
          <p:txBody>
            <a:bodyPr anchor="ctr" rtlCol="false" tIns="0" lIns="0" bIns="0" rIns="0"/>
            <a:lstStyle/>
            <a:p>
              <a:pPr algn="ctr">
                <a:lnSpc>
                  <a:spcPts val="2160"/>
                </a:lnSpc>
              </a:pPr>
              <a:r>
                <a:rPr lang="en-US" sz="1800" b="true">
                  <a:solidFill>
                    <a:srgbClr val="FFFFFF"/>
                  </a:solidFill>
                  <a:latin typeface="EB Garamond Semi-Bold"/>
                  <a:ea typeface="EB Garamond Semi-Bold"/>
                  <a:cs typeface="EB Garamond Semi-Bold"/>
                  <a:sym typeface="EB Garamond Semi-Bold"/>
                </a:rPr>
                <a:t>Condition ET — Bloc 4</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3A7D5C"/>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3A7D5C"/>
            </a:solidFill>
          </p:spPr>
        </p:sp>
      </p:grpSp>
      <p:grpSp>
        <p:nvGrpSpPr>
          <p:cNvPr name="Group 5" id="5"/>
          <p:cNvGrpSpPr/>
          <p:nvPr/>
        </p:nvGrpSpPr>
        <p:grpSpPr>
          <a:xfrm rot="0">
            <a:off x="822960" y="402336"/>
            <a:ext cx="16642080" cy="1118845"/>
            <a:chOff x="0" y="0"/>
            <a:chExt cx="22189440" cy="1491793"/>
          </a:xfrm>
        </p:grpSpPr>
        <p:sp>
          <p:nvSpPr>
            <p:cNvPr name="Freeform 6" id="6"/>
            <p:cNvSpPr/>
            <p:nvPr/>
          </p:nvSpPr>
          <p:spPr>
            <a:xfrm flipH="false" flipV="false" rot="0">
              <a:off x="0" y="0"/>
              <a:ext cx="22189439" cy="1491793"/>
            </a:xfrm>
            <a:custGeom>
              <a:avLst/>
              <a:gdLst/>
              <a:ahLst/>
              <a:cxnLst/>
              <a:rect r="r" b="b" t="t" l="l"/>
              <a:pathLst>
                <a:path h="1491793" w="22189439">
                  <a:moveTo>
                    <a:pt x="0" y="0"/>
                  </a:moveTo>
                  <a:lnTo>
                    <a:pt x="22189439" y="0"/>
                  </a:lnTo>
                  <a:lnTo>
                    <a:pt x="22189439" y="1491793"/>
                  </a:lnTo>
                  <a:lnTo>
                    <a:pt x="0" y="1491793"/>
                  </a:lnTo>
                  <a:close/>
                </a:path>
              </a:pathLst>
            </a:custGeom>
            <a:blipFill>
              <a:blip r:embed="rId3">
                <a:alphaModFix amt="0"/>
              </a:blip>
              <a:stretch>
                <a:fillRect l="0" t="-244877" r="0" b="-234777"/>
              </a:stretch>
            </a:blipFill>
          </p:spPr>
        </p:sp>
        <p:sp>
          <p:nvSpPr>
            <p:cNvPr name="TextBox 7" id="7"/>
            <p:cNvSpPr txBox="true"/>
            <p:nvPr/>
          </p:nvSpPr>
          <p:spPr>
            <a:xfrm>
              <a:off x="0" y="9525"/>
              <a:ext cx="22189440" cy="1482268"/>
            </a:xfrm>
            <a:prstGeom prst="rect">
              <a:avLst/>
            </a:prstGeom>
          </p:spPr>
          <p:txBody>
            <a:bodyPr anchor="ctr" rtlCol="false" tIns="0" lIns="0" bIns="0" rIns="0"/>
            <a:lstStyle/>
            <a:p>
              <a:pPr algn="l">
                <a:lnSpc>
                  <a:spcPts val="6480"/>
                </a:lnSpc>
              </a:pPr>
              <a:r>
                <a:rPr lang="en-US" sz="5400" b="true">
                  <a:solidFill>
                    <a:srgbClr val="1C2E40"/>
                  </a:solidFill>
                  <a:latin typeface="EB Garamond Semi-Bold"/>
                  <a:ea typeface="EB Garamond Semi-Bold"/>
                  <a:cs typeface="EB Garamond Semi-Bold"/>
                  <a:sym typeface="EB Garamond Semi-Bold"/>
                </a:rPr>
                <a:t>Subsistance du ménage : Agriculture et cultures</a:t>
              </a:r>
            </a:p>
          </p:txBody>
        </p:sp>
      </p:grpSp>
      <p:grpSp>
        <p:nvGrpSpPr>
          <p:cNvPr name="Group 8" id="8"/>
          <p:cNvGrpSpPr/>
          <p:nvPr/>
        </p:nvGrpSpPr>
        <p:grpSpPr>
          <a:xfrm rot="0">
            <a:off x="822960" y="1426464"/>
            <a:ext cx="16642080" cy="512064"/>
            <a:chOff x="0" y="0"/>
            <a:chExt cx="22189440" cy="682752"/>
          </a:xfrm>
        </p:grpSpPr>
        <p:sp>
          <p:nvSpPr>
            <p:cNvPr name="Freeform 9" id="9"/>
            <p:cNvSpPr/>
            <p:nvPr/>
          </p:nvSpPr>
          <p:spPr>
            <a:xfrm flipH="false" flipV="false" rot="0">
              <a:off x="0" y="0"/>
              <a:ext cx="22189439" cy="682752"/>
            </a:xfrm>
            <a:custGeom>
              <a:avLst/>
              <a:gdLst/>
              <a:ahLst/>
              <a:cxnLst/>
              <a:rect r="r" b="b" t="t" l="l"/>
              <a:pathLst>
                <a:path h="682752" w="22189439">
                  <a:moveTo>
                    <a:pt x="0" y="0"/>
                  </a:moveTo>
                  <a:lnTo>
                    <a:pt x="22189439" y="0"/>
                  </a:lnTo>
                  <a:lnTo>
                    <a:pt x="22189439" y="682752"/>
                  </a:lnTo>
                  <a:lnTo>
                    <a:pt x="0" y="682752"/>
                  </a:lnTo>
                  <a:close/>
                </a:path>
              </a:pathLst>
            </a:custGeom>
            <a:blipFill>
              <a:blip r:embed="rId3">
                <a:alphaModFix amt="0"/>
              </a:blip>
              <a:stretch>
                <a:fillRect l="0" t="-583263" r="0" b="-583263"/>
              </a:stretch>
            </a:blipFill>
          </p:spPr>
        </p:sp>
        <p:sp>
          <p:nvSpPr>
            <p:cNvPr name="TextBox 10" id="10"/>
            <p:cNvSpPr txBox="true"/>
            <p:nvPr/>
          </p:nvSpPr>
          <p:spPr>
            <a:xfrm>
              <a:off x="0" y="9525"/>
              <a:ext cx="22189440" cy="673227"/>
            </a:xfrm>
            <a:prstGeom prst="rect">
              <a:avLst/>
            </a:prstGeom>
          </p:spPr>
          <p:txBody>
            <a:bodyPr anchor="ctr" rtlCol="false" tIns="0" lIns="0" bIns="0" rIns="0"/>
            <a:lstStyle/>
            <a:p>
              <a:pPr algn="l">
                <a:lnSpc>
                  <a:spcPts val="2879"/>
                </a:lnSpc>
              </a:pPr>
              <a:r>
                <a:rPr lang="en-US" sz="2400" i="true">
                  <a:solidFill>
                    <a:srgbClr val="7B8FA1"/>
                  </a:solidFill>
                  <a:latin typeface="EB Garamond Italics"/>
                  <a:ea typeface="EB Garamond Italics"/>
                  <a:cs typeface="EB Garamond Italics"/>
                  <a:sym typeface="EB Garamond Italics"/>
                </a:rPr>
                <a:t>Pratique agricole en complément de l'élevage · proportion par culture · par pays</a:t>
              </a:r>
            </a:p>
          </p:txBody>
        </p:sp>
      </p:grpSp>
      <p:grpSp>
        <p:nvGrpSpPr>
          <p:cNvPr name="Group 11" id="11"/>
          <p:cNvGrpSpPr/>
          <p:nvPr/>
        </p:nvGrpSpPr>
        <p:grpSpPr>
          <a:xfrm rot="0">
            <a:off x="629917" y="1964941"/>
            <a:ext cx="8432797" cy="7518397"/>
            <a:chOff x="0" y="0"/>
            <a:chExt cx="11243729" cy="10024529"/>
          </a:xfrm>
        </p:grpSpPr>
        <p:sp>
          <p:nvSpPr>
            <p:cNvPr name="Freeform 12" id="12"/>
            <p:cNvSpPr/>
            <p:nvPr/>
          </p:nvSpPr>
          <p:spPr>
            <a:xfrm flipH="false" flipV="false" rot="0">
              <a:off x="13462" y="13589"/>
              <a:ext cx="11216767" cy="9997440"/>
            </a:xfrm>
            <a:custGeom>
              <a:avLst/>
              <a:gdLst/>
              <a:ahLst/>
              <a:cxnLst/>
              <a:rect r="r" b="b" t="t" l="l"/>
              <a:pathLst>
                <a:path h="9997440" w="11216767">
                  <a:moveTo>
                    <a:pt x="127" y="243840"/>
                  </a:moveTo>
                  <a:cubicBezTo>
                    <a:pt x="127" y="109220"/>
                    <a:pt x="109347" y="0"/>
                    <a:pt x="244094" y="0"/>
                  </a:cubicBezTo>
                  <a:lnTo>
                    <a:pt x="10972800" y="0"/>
                  </a:lnTo>
                  <a:cubicBezTo>
                    <a:pt x="11107547" y="0"/>
                    <a:pt x="11216767" y="109220"/>
                    <a:pt x="11216767" y="243840"/>
                  </a:cubicBezTo>
                  <a:lnTo>
                    <a:pt x="11216767" y="9753600"/>
                  </a:lnTo>
                  <a:cubicBezTo>
                    <a:pt x="11216767" y="9888220"/>
                    <a:pt x="11107547" y="9997440"/>
                    <a:pt x="10972800" y="9997440"/>
                  </a:cubicBezTo>
                  <a:lnTo>
                    <a:pt x="243967" y="9997440"/>
                  </a:lnTo>
                  <a:cubicBezTo>
                    <a:pt x="109220" y="9997440"/>
                    <a:pt x="0" y="9888220"/>
                    <a:pt x="0" y="9753600"/>
                  </a:cubicBezTo>
                  <a:close/>
                </a:path>
              </a:pathLst>
            </a:custGeom>
            <a:solidFill>
              <a:srgbClr val="FFFFFF"/>
            </a:solidFill>
          </p:spPr>
        </p:sp>
        <p:sp>
          <p:nvSpPr>
            <p:cNvPr name="Freeform 13" id="13"/>
            <p:cNvSpPr/>
            <p:nvPr/>
          </p:nvSpPr>
          <p:spPr>
            <a:xfrm flipH="false" flipV="false" rot="0">
              <a:off x="0" y="0"/>
              <a:ext cx="11243691" cy="10024618"/>
            </a:xfrm>
            <a:custGeom>
              <a:avLst/>
              <a:gdLst/>
              <a:ahLst/>
              <a:cxnLst/>
              <a:rect r="r" b="b" t="t" l="l"/>
              <a:pathLst>
                <a:path h="10024618" w="11243691">
                  <a:moveTo>
                    <a:pt x="0" y="257429"/>
                  </a:moveTo>
                  <a:cubicBezTo>
                    <a:pt x="0" y="115189"/>
                    <a:pt x="115316" y="0"/>
                    <a:pt x="257429" y="0"/>
                  </a:cubicBezTo>
                  <a:lnTo>
                    <a:pt x="10986262" y="0"/>
                  </a:lnTo>
                  <a:lnTo>
                    <a:pt x="10986262" y="13589"/>
                  </a:lnTo>
                  <a:lnTo>
                    <a:pt x="10986262" y="0"/>
                  </a:lnTo>
                  <a:cubicBezTo>
                    <a:pt x="11128502" y="0"/>
                    <a:pt x="11243691" y="115189"/>
                    <a:pt x="11243691" y="257429"/>
                  </a:cubicBezTo>
                  <a:lnTo>
                    <a:pt x="11230102" y="257429"/>
                  </a:lnTo>
                  <a:lnTo>
                    <a:pt x="11243691" y="257429"/>
                  </a:lnTo>
                  <a:lnTo>
                    <a:pt x="11243691" y="9767189"/>
                  </a:lnTo>
                  <a:lnTo>
                    <a:pt x="11230102" y="9767189"/>
                  </a:lnTo>
                  <a:lnTo>
                    <a:pt x="11243691" y="9767189"/>
                  </a:lnTo>
                  <a:cubicBezTo>
                    <a:pt x="11243691" y="9909302"/>
                    <a:pt x="11128375" y="10024618"/>
                    <a:pt x="10986262" y="10024618"/>
                  </a:cubicBezTo>
                  <a:lnTo>
                    <a:pt x="10986262" y="10011028"/>
                  </a:lnTo>
                  <a:lnTo>
                    <a:pt x="10986262" y="10024618"/>
                  </a:lnTo>
                  <a:lnTo>
                    <a:pt x="257429" y="10024618"/>
                  </a:lnTo>
                  <a:lnTo>
                    <a:pt x="257429" y="10011028"/>
                  </a:lnTo>
                  <a:lnTo>
                    <a:pt x="257429" y="10024618"/>
                  </a:lnTo>
                  <a:cubicBezTo>
                    <a:pt x="115316" y="10024491"/>
                    <a:pt x="0" y="9909302"/>
                    <a:pt x="0" y="9767189"/>
                  </a:cubicBezTo>
                  <a:lnTo>
                    <a:pt x="0" y="257429"/>
                  </a:lnTo>
                  <a:lnTo>
                    <a:pt x="13589" y="257429"/>
                  </a:lnTo>
                  <a:lnTo>
                    <a:pt x="0" y="257429"/>
                  </a:lnTo>
                  <a:moveTo>
                    <a:pt x="27051" y="257429"/>
                  </a:moveTo>
                  <a:lnTo>
                    <a:pt x="27051" y="9767189"/>
                  </a:lnTo>
                  <a:lnTo>
                    <a:pt x="13589" y="9767189"/>
                  </a:lnTo>
                  <a:lnTo>
                    <a:pt x="27051" y="9767189"/>
                  </a:lnTo>
                  <a:cubicBezTo>
                    <a:pt x="27051" y="9894316"/>
                    <a:pt x="130175" y="9997440"/>
                    <a:pt x="257429" y="9997440"/>
                  </a:cubicBezTo>
                  <a:lnTo>
                    <a:pt x="10986262" y="9997440"/>
                  </a:lnTo>
                  <a:cubicBezTo>
                    <a:pt x="11113516" y="9997440"/>
                    <a:pt x="11216640" y="9894316"/>
                    <a:pt x="11216640" y="9767189"/>
                  </a:cubicBezTo>
                  <a:lnTo>
                    <a:pt x="11216640" y="257429"/>
                  </a:lnTo>
                  <a:cubicBezTo>
                    <a:pt x="11216640" y="130302"/>
                    <a:pt x="11113516" y="27178"/>
                    <a:pt x="10986262" y="27178"/>
                  </a:cubicBezTo>
                  <a:lnTo>
                    <a:pt x="257429" y="27178"/>
                  </a:lnTo>
                  <a:lnTo>
                    <a:pt x="257429" y="13589"/>
                  </a:lnTo>
                  <a:lnTo>
                    <a:pt x="257429" y="27051"/>
                  </a:lnTo>
                  <a:cubicBezTo>
                    <a:pt x="130175" y="27051"/>
                    <a:pt x="27051" y="130175"/>
                    <a:pt x="27051" y="257302"/>
                  </a:cubicBezTo>
                  <a:close/>
                </a:path>
              </a:pathLst>
            </a:custGeom>
            <a:solidFill>
              <a:srgbClr val="BDC8D5"/>
            </a:solidFill>
          </p:spPr>
        </p:sp>
      </p:grpSp>
      <p:grpSp>
        <p:nvGrpSpPr>
          <p:cNvPr name="Group 14" id="14"/>
          <p:cNvGrpSpPr/>
          <p:nvPr/>
        </p:nvGrpSpPr>
        <p:grpSpPr>
          <a:xfrm rot="0">
            <a:off x="950976" y="2139696"/>
            <a:ext cx="7863840" cy="548640"/>
            <a:chOff x="0" y="0"/>
            <a:chExt cx="10485120" cy="731520"/>
          </a:xfrm>
        </p:grpSpPr>
        <p:sp>
          <p:nvSpPr>
            <p:cNvPr name="Freeform 15" id="15"/>
            <p:cNvSpPr/>
            <p:nvPr/>
          </p:nvSpPr>
          <p:spPr>
            <a:xfrm flipH="false" flipV="false" rot="0">
              <a:off x="0" y="0"/>
              <a:ext cx="10485120" cy="731520"/>
            </a:xfrm>
            <a:custGeom>
              <a:avLst/>
              <a:gdLst/>
              <a:ahLst/>
              <a:cxnLst/>
              <a:rect r="r" b="b" t="t" l="l"/>
              <a:pathLst>
                <a:path h="731520" w="10485120">
                  <a:moveTo>
                    <a:pt x="0" y="0"/>
                  </a:moveTo>
                  <a:lnTo>
                    <a:pt x="10485120" y="0"/>
                  </a:lnTo>
                  <a:lnTo>
                    <a:pt x="10485120" y="731520"/>
                  </a:lnTo>
                  <a:lnTo>
                    <a:pt x="0" y="731520"/>
                  </a:lnTo>
                  <a:close/>
                </a:path>
              </a:pathLst>
            </a:custGeom>
            <a:blipFill>
              <a:blip r:embed="rId3">
                <a:alphaModFix amt="0"/>
              </a:blip>
              <a:stretch>
                <a:fillRect l="0" t="-229285" r="0" b="-229285"/>
              </a:stretch>
            </a:blipFill>
          </p:spPr>
        </p:sp>
        <p:sp>
          <p:nvSpPr>
            <p:cNvPr name="TextBox 16" id="16"/>
            <p:cNvSpPr txBox="true"/>
            <p:nvPr/>
          </p:nvSpPr>
          <p:spPr>
            <a:xfrm>
              <a:off x="0" y="9525"/>
              <a:ext cx="10485120" cy="721995"/>
            </a:xfrm>
            <a:prstGeom prst="rect">
              <a:avLst/>
            </a:prstGeom>
          </p:spPr>
          <p:txBody>
            <a:bodyPr anchor="ctr" rtlCol="false" tIns="0" lIns="0" bIns="0" rIns="0"/>
            <a:lstStyle/>
            <a:p>
              <a:pPr algn="l">
                <a:lnSpc>
                  <a:spcPts val="2879"/>
                </a:lnSpc>
              </a:pPr>
              <a:r>
                <a:rPr lang="en-US" sz="2400" b="true">
                  <a:solidFill>
                    <a:srgbClr val="1C2E40"/>
                  </a:solidFill>
                  <a:latin typeface="EB Garamond Semi-Bold"/>
                  <a:ea typeface="EB Garamond Semi-Bold"/>
                  <a:cs typeface="EB Garamond Semi-Bold"/>
                  <a:sym typeface="EB Garamond Semi-Bold"/>
                </a:rPr>
                <a:t>% ménages pratiquant l'agriculture</a:t>
              </a:r>
            </a:p>
          </p:txBody>
        </p:sp>
      </p:grpSp>
      <p:pic>
        <p:nvPicPr>
          <p:cNvPr name="Picture 17" id="17"/>
          <p:cNvPicPr>
            <a:picLocks noChangeAspect="true"/>
          </p:cNvPicPr>
          <p:nvPr/>
        </p:nvPicPr>
        <p:blipFill>
          <a:blip r:embed="rId4"/>
          <a:stretch>
            <a:fillRect/>
          </a:stretch>
        </p:blipFill>
        <p:spPr>
          <a:xfrm rot="0">
            <a:off x="23774" y="1921154"/>
            <a:ext cx="9590227" cy="8136331"/>
          </a:xfrm>
          <a:prstGeom prst="rect">
            <a:avLst/>
          </a:prstGeom>
        </p:spPr>
      </p:pic>
      <p:grpSp>
        <p:nvGrpSpPr>
          <p:cNvPr name="Group 18" id="18"/>
          <p:cNvGrpSpPr/>
          <p:nvPr/>
        </p:nvGrpSpPr>
        <p:grpSpPr>
          <a:xfrm rot="0">
            <a:off x="9591037" y="1964941"/>
            <a:ext cx="8067037" cy="7518397"/>
            <a:chOff x="0" y="0"/>
            <a:chExt cx="10756049" cy="10024529"/>
          </a:xfrm>
        </p:grpSpPr>
        <p:sp>
          <p:nvSpPr>
            <p:cNvPr name="Freeform 19" id="19"/>
            <p:cNvSpPr/>
            <p:nvPr/>
          </p:nvSpPr>
          <p:spPr>
            <a:xfrm flipH="false" flipV="false" rot="0">
              <a:off x="13589" y="13589"/>
              <a:ext cx="10728833" cy="9997440"/>
            </a:xfrm>
            <a:custGeom>
              <a:avLst/>
              <a:gdLst/>
              <a:ahLst/>
              <a:cxnLst/>
              <a:rect r="r" b="b" t="t" l="l"/>
              <a:pathLst>
                <a:path h="9997440" w="10728833">
                  <a:moveTo>
                    <a:pt x="0" y="243840"/>
                  </a:moveTo>
                  <a:cubicBezTo>
                    <a:pt x="0" y="109220"/>
                    <a:pt x="109220" y="0"/>
                    <a:pt x="243840" y="0"/>
                  </a:cubicBezTo>
                  <a:lnTo>
                    <a:pt x="10484993" y="0"/>
                  </a:lnTo>
                  <a:cubicBezTo>
                    <a:pt x="10619739" y="0"/>
                    <a:pt x="10728833" y="109220"/>
                    <a:pt x="10728833" y="243840"/>
                  </a:cubicBezTo>
                  <a:lnTo>
                    <a:pt x="10728833" y="9753600"/>
                  </a:lnTo>
                  <a:cubicBezTo>
                    <a:pt x="10728833" y="9888220"/>
                    <a:pt x="10619612" y="9997440"/>
                    <a:pt x="10484993" y="9997440"/>
                  </a:cubicBezTo>
                  <a:lnTo>
                    <a:pt x="243840" y="9997440"/>
                  </a:lnTo>
                  <a:cubicBezTo>
                    <a:pt x="109093" y="9997440"/>
                    <a:pt x="0" y="9888220"/>
                    <a:pt x="0" y="9753600"/>
                  </a:cubicBezTo>
                  <a:close/>
                </a:path>
              </a:pathLst>
            </a:custGeom>
            <a:solidFill>
              <a:srgbClr val="FFFFFF"/>
            </a:solidFill>
          </p:spPr>
        </p:sp>
        <p:sp>
          <p:nvSpPr>
            <p:cNvPr name="Freeform 20" id="20"/>
            <p:cNvSpPr/>
            <p:nvPr/>
          </p:nvSpPr>
          <p:spPr>
            <a:xfrm flipH="false" flipV="false" rot="0">
              <a:off x="0" y="0"/>
              <a:ext cx="10756011" cy="10024618"/>
            </a:xfrm>
            <a:custGeom>
              <a:avLst/>
              <a:gdLst/>
              <a:ahLst/>
              <a:cxnLst/>
              <a:rect r="r" b="b" t="t" l="l"/>
              <a:pathLst>
                <a:path h="10024618" w="10756011">
                  <a:moveTo>
                    <a:pt x="0" y="257429"/>
                  </a:moveTo>
                  <a:cubicBezTo>
                    <a:pt x="0" y="115189"/>
                    <a:pt x="115316" y="0"/>
                    <a:pt x="257429" y="0"/>
                  </a:cubicBezTo>
                  <a:lnTo>
                    <a:pt x="10498582" y="0"/>
                  </a:lnTo>
                  <a:lnTo>
                    <a:pt x="10498582" y="13589"/>
                  </a:lnTo>
                  <a:lnTo>
                    <a:pt x="10498582" y="0"/>
                  </a:lnTo>
                  <a:cubicBezTo>
                    <a:pt x="10640695" y="0"/>
                    <a:pt x="10756011" y="115189"/>
                    <a:pt x="10756011" y="257429"/>
                  </a:cubicBezTo>
                  <a:lnTo>
                    <a:pt x="10742422" y="257429"/>
                  </a:lnTo>
                  <a:lnTo>
                    <a:pt x="10756011" y="257429"/>
                  </a:lnTo>
                  <a:lnTo>
                    <a:pt x="10756011" y="9767189"/>
                  </a:lnTo>
                  <a:lnTo>
                    <a:pt x="10742422" y="9767189"/>
                  </a:lnTo>
                  <a:lnTo>
                    <a:pt x="10756011" y="9767189"/>
                  </a:lnTo>
                  <a:cubicBezTo>
                    <a:pt x="10756011" y="9909302"/>
                    <a:pt x="10640695" y="10024618"/>
                    <a:pt x="10498582" y="10024618"/>
                  </a:cubicBezTo>
                  <a:lnTo>
                    <a:pt x="10498582" y="10011028"/>
                  </a:lnTo>
                  <a:lnTo>
                    <a:pt x="10498582" y="10024618"/>
                  </a:lnTo>
                  <a:lnTo>
                    <a:pt x="257429" y="10024618"/>
                  </a:lnTo>
                  <a:lnTo>
                    <a:pt x="257429" y="10011028"/>
                  </a:lnTo>
                  <a:lnTo>
                    <a:pt x="257429" y="10024618"/>
                  </a:lnTo>
                  <a:cubicBezTo>
                    <a:pt x="115316" y="10024491"/>
                    <a:pt x="0" y="9909302"/>
                    <a:pt x="0" y="9767189"/>
                  </a:cubicBezTo>
                  <a:lnTo>
                    <a:pt x="0" y="257429"/>
                  </a:lnTo>
                  <a:lnTo>
                    <a:pt x="13589" y="257429"/>
                  </a:lnTo>
                  <a:lnTo>
                    <a:pt x="0" y="257429"/>
                  </a:lnTo>
                  <a:moveTo>
                    <a:pt x="27051" y="257429"/>
                  </a:moveTo>
                  <a:lnTo>
                    <a:pt x="27051" y="9767189"/>
                  </a:lnTo>
                  <a:lnTo>
                    <a:pt x="13589" y="9767189"/>
                  </a:lnTo>
                  <a:lnTo>
                    <a:pt x="27051" y="9767189"/>
                  </a:lnTo>
                  <a:cubicBezTo>
                    <a:pt x="27051" y="9894316"/>
                    <a:pt x="130175" y="9997440"/>
                    <a:pt x="257429" y="9997440"/>
                  </a:cubicBezTo>
                  <a:lnTo>
                    <a:pt x="10498582" y="9997440"/>
                  </a:lnTo>
                  <a:cubicBezTo>
                    <a:pt x="10625836" y="9997440"/>
                    <a:pt x="10728960" y="9894316"/>
                    <a:pt x="10728960" y="9767189"/>
                  </a:cubicBezTo>
                  <a:lnTo>
                    <a:pt x="10728960" y="257429"/>
                  </a:lnTo>
                  <a:cubicBezTo>
                    <a:pt x="10728960" y="130302"/>
                    <a:pt x="10625836" y="27178"/>
                    <a:pt x="10498582" y="27178"/>
                  </a:cubicBezTo>
                  <a:lnTo>
                    <a:pt x="257429" y="27178"/>
                  </a:lnTo>
                  <a:lnTo>
                    <a:pt x="257429" y="13589"/>
                  </a:lnTo>
                  <a:lnTo>
                    <a:pt x="257429" y="27051"/>
                  </a:lnTo>
                  <a:cubicBezTo>
                    <a:pt x="130175" y="27051"/>
                    <a:pt x="27051" y="130175"/>
                    <a:pt x="27051" y="257302"/>
                  </a:cubicBezTo>
                  <a:close/>
                </a:path>
              </a:pathLst>
            </a:custGeom>
            <a:solidFill>
              <a:srgbClr val="BDC8D5"/>
            </a:solidFill>
          </p:spPr>
        </p:sp>
      </p:grpSp>
      <p:grpSp>
        <p:nvGrpSpPr>
          <p:cNvPr name="Group 21" id="21"/>
          <p:cNvGrpSpPr/>
          <p:nvPr/>
        </p:nvGrpSpPr>
        <p:grpSpPr>
          <a:xfrm rot="0">
            <a:off x="9761220" y="2139696"/>
            <a:ext cx="7498080" cy="548640"/>
            <a:chOff x="0" y="0"/>
            <a:chExt cx="9997440" cy="731520"/>
          </a:xfrm>
        </p:grpSpPr>
        <p:sp>
          <p:nvSpPr>
            <p:cNvPr name="Freeform 22" id="22"/>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sp>
        <p:sp>
          <p:nvSpPr>
            <p:cNvPr name="TextBox 23" id="23"/>
            <p:cNvSpPr txBox="true"/>
            <p:nvPr/>
          </p:nvSpPr>
          <p:spPr>
            <a:xfrm>
              <a:off x="0" y="9525"/>
              <a:ext cx="9997440" cy="721995"/>
            </a:xfrm>
            <a:prstGeom prst="rect">
              <a:avLst/>
            </a:prstGeom>
          </p:spPr>
          <p:txBody>
            <a:bodyPr anchor="ctr" rtlCol="false" tIns="0" lIns="0" bIns="0" rIns="0"/>
            <a:lstStyle/>
            <a:p>
              <a:pPr algn="l">
                <a:lnSpc>
                  <a:spcPts val="2879"/>
                </a:lnSpc>
              </a:pPr>
              <a:r>
                <a:rPr lang="en-US" sz="2400" b="true">
                  <a:solidFill>
                    <a:srgbClr val="1C2E40"/>
                  </a:solidFill>
                  <a:latin typeface="EB Garamond Semi-Bold"/>
                  <a:ea typeface="EB Garamond Semi-Bold"/>
                  <a:cs typeface="EB Garamond Semi-Bold"/>
                  <a:sym typeface="EB Garamond Semi-Bold"/>
                </a:rPr>
                <a:t>Cultures pratiquées (% ménages)</a:t>
              </a:r>
            </a:p>
          </p:txBody>
        </p:sp>
      </p:grpSp>
      <p:pic>
        <p:nvPicPr>
          <p:cNvPr name="Picture 24" id="24"/>
          <p:cNvPicPr>
            <a:picLocks noChangeAspect="true"/>
          </p:cNvPicPr>
          <p:nvPr/>
        </p:nvPicPr>
        <p:blipFill>
          <a:blip r:embed="rId5"/>
          <a:stretch>
            <a:fillRect/>
          </a:stretch>
        </p:blipFill>
        <p:spPr>
          <a:xfrm rot="0">
            <a:off x="8990838" y="2000374"/>
            <a:ext cx="9244584" cy="8028308"/>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3A7D5C"/>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3A7D5C"/>
            </a:solidFill>
          </p:spPr>
        </p:sp>
      </p:grpSp>
      <p:grpSp>
        <p:nvGrpSpPr>
          <p:cNvPr name="Group 5" id="5"/>
          <p:cNvGrpSpPr/>
          <p:nvPr/>
        </p:nvGrpSpPr>
        <p:grpSpPr>
          <a:xfrm rot="0">
            <a:off x="822960" y="402336"/>
            <a:ext cx="16642080" cy="1118845"/>
            <a:chOff x="0" y="0"/>
            <a:chExt cx="22189440" cy="1491793"/>
          </a:xfrm>
        </p:grpSpPr>
        <p:sp>
          <p:nvSpPr>
            <p:cNvPr name="Freeform 6" id="6"/>
            <p:cNvSpPr/>
            <p:nvPr/>
          </p:nvSpPr>
          <p:spPr>
            <a:xfrm flipH="false" flipV="false" rot="0">
              <a:off x="0" y="0"/>
              <a:ext cx="22189439" cy="1491793"/>
            </a:xfrm>
            <a:custGeom>
              <a:avLst/>
              <a:gdLst/>
              <a:ahLst/>
              <a:cxnLst/>
              <a:rect r="r" b="b" t="t" l="l"/>
              <a:pathLst>
                <a:path h="1491793" w="22189439">
                  <a:moveTo>
                    <a:pt x="0" y="0"/>
                  </a:moveTo>
                  <a:lnTo>
                    <a:pt x="22189439" y="0"/>
                  </a:lnTo>
                  <a:lnTo>
                    <a:pt x="22189439" y="1491793"/>
                  </a:lnTo>
                  <a:lnTo>
                    <a:pt x="0" y="1491793"/>
                  </a:lnTo>
                  <a:close/>
                </a:path>
              </a:pathLst>
            </a:custGeom>
            <a:blipFill>
              <a:blip r:embed="rId3">
                <a:alphaModFix amt="0"/>
              </a:blip>
              <a:stretch>
                <a:fillRect l="0" t="-244877" r="0" b="-234777"/>
              </a:stretch>
            </a:blipFill>
          </p:spPr>
        </p:sp>
        <p:sp>
          <p:nvSpPr>
            <p:cNvPr name="TextBox 7" id="7"/>
            <p:cNvSpPr txBox="true"/>
            <p:nvPr/>
          </p:nvSpPr>
          <p:spPr>
            <a:xfrm>
              <a:off x="0" y="9525"/>
              <a:ext cx="22189440" cy="1482268"/>
            </a:xfrm>
            <a:prstGeom prst="rect">
              <a:avLst/>
            </a:prstGeom>
          </p:spPr>
          <p:txBody>
            <a:bodyPr anchor="ctr" rtlCol="false" tIns="0" lIns="0" bIns="0" rIns="0"/>
            <a:lstStyle/>
            <a:p>
              <a:pPr algn="l">
                <a:lnSpc>
                  <a:spcPts val="6480"/>
                </a:lnSpc>
              </a:pPr>
              <a:r>
                <a:rPr lang="en-US" sz="5400" b="true">
                  <a:solidFill>
                    <a:srgbClr val="1C2E40"/>
                  </a:solidFill>
                  <a:latin typeface="EB Garamond Semi-Bold"/>
                  <a:ea typeface="EB Garamond Semi-Bold"/>
                  <a:cs typeface="EB Garamond Semi-Bold"/>
                  <a:sym typeface="EB Garamond Semi-Bold"/>
                </a:rPr>
                <a:t>Subsistance du ménage : Cheptel et viabilité</a:t>
              </a:r>
            </a:p>
          </p:txBody>
        </p:sp>
      </p:grpSp>
      <p:grpSp>
        <p:nvGrpSpPr>
          <p:cNvPr name="Group 8" id="8"/>
          <p:cNvGrpSpPr/>
          <p:nvPr/>
        </p:nvGrpSpPr>
        <p:grpSpPr>
          <a:xfrm rot="0">
            <a:off x="822960" y="1426464"/>
            <a:ext cx="16642080" cy="512064"/>
            <a:chOff x="0" y="0"/>
            <a:chExt cx="22189440" cy="682752"/>
          </a:xfrm>
        </p:grpSpPr>
        <p:sp>
          <p:nvSpPr>
            <p:cNvPr name="Freeform 9" id="9"/>
            <p:cNvSpPr/>
            <p:nvPr/>
          </p:nvSpPr>
          <p:spPr>
            <a:xfrm flipH="false" flipV="false" rot="0">
              <a:off x="0" y="0"/>
              <a:ext cx="22189439" cy="682752"/>
            </a:xfrm>
            <a:custGeom>
              <a:avLst/>
              <a:gdLst/>
              <a:ahLst/>
              <a:cxnLst/>
              <a:rect r="r" b="b" t="t" l="l"/>
              <a:pathLst>
                <a:path h="682752" w="22189439">
                  <a:moveTo>
                    <a:pt x="0" y="0"/>
                  </a:moveTo>
                  <a:lnTo>
                    <a:pt x="22189439" y="0"/>
                  </a:lnTo>
                  <a:lnTo>
                    <a:pt x="22189439" y="682752"/>
                  </a:lnTo>
                  <a:lnTo>
                    <a:pt x="0" y="682752"/>
                  </a:lnTo>
                  <a:close/>
                </a:path>
              </a:pathLst>
            </a:custGeom>
            <a:blipFill>
              <a:blip r:embed="rId3">
                <a:alphaModFix amt="0"/>
              </a:blip>
              <a:stretch>
                <a:fillRect l="0" t="-583263" r="0" b="-583263"/>
              </a:stretch>
            </a:blipFill>
          </p:spPr>
        </p:sp>
        <p:sp>
          <p:nvSpPr>
            <p:cNvPr name="TextBox 10" id="10"/>
            <p:cNvSpPr txBox="true"/>
            <p:nvPr/>
          </p:nvSpPr>
          <p:spPr>
            <a:xfrm>
              <a:off x="0" y="9525"/>
              <a:ext cx="22189440" cy="673227"/>
            </a:xfrm>
            <a:prstGeom prst="rect">
              <a:avLst/>
            </a:prstGeom>
          </p:spPr>
          <p:txBody>
            <a:bodyPr anchor="ctr" rtlCol="false" tIns="0" lIns="0" bIns="0" rIns="0"/>
            <a:lstStyle/>
            <a:p>
              <a:pPr algn="l">
                <a:lnSpc>
                  <a:spcPts val="2879"/>
                </a:lnSpc>
              </a:pPr>
              <a:r>
                <a:rPr lang="en-US" sz="2400" i="true">
                  <a:solidFill>
                    <a:srgbClr val="7B8FA1"/>
                  </a:solidFill>
                  <a:latin typeface="EB Garamond Italics"/>
                  <a:ea typeface="EB Garamond Italics"/>
                  <a:cs typeface="EB Garamond Italics"/>
                  <a:sym typeface="EB Garamond Italics"/>
                </a:rPr>
                <a:t>Équivalents Adultes · Autosuffisance · UBT · Indicateur de viabilité UBT/EA</a:t>
              </a:r>
            </a:p>
          </p:txBody>
        </p:sp>
      </p:grpSp>
      <p:grpSp>
        <p:nvGrpSpPr>
          <p:cNvPr name="Group 11" id="11"/>
          <p:cNvGrpSpPr/>
          <p:nvPr/>
        </p:nvGrpSpPr>
        <p:grpSpPr>
          <a:xfrm rot="0">
            <a:off x="629917" y="1910077"/>
            <a:ext cx="4116829" cy="2251453"/>
            <a:chOff x="0" y="0"/>
            <a:chExt cx="5489105" cy="3001937"/>
          </a:xfrm>
        </p:grpSpPr>
        <p:sp>
          <p:nvSpPr>
            <p:cNvPr name="Freeform 12" id="12"/>
            <p:cNvSpPr/>
            <p:nvPr/>
          </p:nvSpPr>
          <p:spPr>
            <a:xfrm flipH="false" flipV="false" rot="0">
              <a:off x="13589" y="13589"/>
              <a:ext cx="5462016" cy="2974848"/>
            </a:xfrm>
            <a:custGeom>
              <a:avLst/>
              <a:gdLst/>
              <a:ahLst/>
              <a:cxnLst/>
              <a:rect r="r" b="b" t="t" l="l"/>
              <a:pathLst>
                <a:path h="2974848" w="5462016">
                  <a:moveTo>
                    <a:pt x="0" y="243840"/>
                  </a:moveTo>
                  <a:cubicBezTo>
                    <a:pt x="0" y="109220"/>
                    <a:pt x="109601" y="0"/>
                    <a:pt x="244856" y="0"/>
                  </a:cubicBezTo>
                  <a:lnTo>
                    <a:pt x="5217160" y="0"/>
                  </a:lnTo>
                  <a:cubicBezTo>
                    <a:pt x="5352415" y="0"/>
                    <a:pt x="5462016" y="109220"/>
                    <a:pt x="5462016" y="243840"/>
                  </a:cubicBezTo>
                  <a:lnTo>
                    <a:pt x="5462016" y="2731008"/>
                  </a:lnTo>
                  <a:cubicBezTo>
                    <a:pt x="5462016" y="2865628"/>
                    <a:pt x="5352415" y="2974848"/>
                    <a:pt x="5217160" y="2974848"/>
                  </a:cubicBezTo>
                  <a:lnTo>
                    <a:pt x="244856" y="2974848"/>
                  </a:lnTo>
                  <a:cubicBezTo>
                    <a:pt x="109601" y="2974848"/>
                    <a:pt x="0" y="2865628"/>
                    <a:pt x="0" y="2731008"/>
                  </a:cubicBezTo>
                  <a:close/>
                </a:path>
              </a:pathLst>
            </a:custGeom>
            <a:solidFill>
              <a:srgbClr val="FFFFFF"/>
            </a:solidFill>
          </p:spPr>
        </p:sp>
        <p:sp>
          <p:nvSpPr>
            <p:cNvPr name="Freeform 13" id="13"/>
            <p:cNvSpPr/>
            <p:nvPr/>
          </p:nvSpPr>
          <p:spPr>
            <a:xfrm flipH="false" flipV="false" rot="0">
              <a:off x="0" y="0"/>
              <a:ext cx="5489194" cy="3002026"/>
            </a:xfrm>
            <a:custGeom>
              <a:avLst/>
              <a:gdLst/>
              <a:ahLst/>
              <a:cxnLst/>
              <a:rect r="r" b="b" t="t" l="l"/>
              <a:pathLst>
                <a:path h="3002026" w="5489194">
                  <a:moveTo>
                    <a:pt x="0" y="257429"/>
                  </a:moveTo>
                  <a:cubicBezTo>
                    <a:pt x="0" y="115189"/>
                    <a:pt x="115697" y="0"/>
                    <a:pt x="258445" y="0"/>
                  </a:cubicBezTo>
                  <a:lnTo>
                    <a:pt x="5230749" y="0"/>
                  </a:lnTo>
                  <a:lnTo>
                    <a:pt x="5230749" y="13589"/>
                  </a:lnTo>
                  <a:lnTo>
                    <a:pt x="5230749" y="0"/>
                  </a:lnTo>
                  <a:cubicBezTo>
                    <a:pt x="5373370" y="0"/>
                    <a:pt x="5489194" y="115189"/>
                    <a:pt x="5489194" y="257429"/>
                  </a:cubicBezTo>
                  <a:lnTo>
                    <a:pt x="5475605" y="257429"/>
                  </a:lnTo>
                  <a:lnTo>
                    <a:pt x="5489194" y="257429"/>
                  </a:lnTo>
                  <a:lnTo>
                    <a:pt x="5489194" y="2744597"/>
                  </a:lnTo>
                  <a:lnTo>
                    <a:pt x="5475605" y="2744597"/>
                  </a:lnTo>
                  <a:lnTo>
                    <a:pt x="5489194" y="2744597"/>
                  </a:lnTo>
                  <a:cubicBezTo>
                    <a:pt x="5489194" y="2886837"/>
                    <a:pt x="5373497" y="3002026"/>
                    <a:pt x="5230749" y="3002026"/>
                  </a:cubicBezTo>
                  <a:lnTo>
                    <a:pt x="5230749" y="2988437"/>
                  </a:lnTo>
                  <a:lnTo>
                    <a:pt x="5230749" y="3002026"/>
                  </a:lnTo>
                  <a:lnTo>
                    <a:pt x="258445" y="3002026"/>
                  </a:lnTo>
                  <a:lnTo>
                    <a:pt x="258445" y="2988437"/>
                  </a:lnTo>
                  <a:lnTo>
                    <a:pt x="258445" y="3002026"/>
                  </a:lnTo>
                  <a:cubicBezTo>
                    <a:pt x="115697" y="3001899"/>
                    <a:pt x="0" y="2886710"/>
                    <a:pt x="0" y="2744597"/>
                  </a:cubicBezTo>
                  <a:lnTo>
                    <a:pt x="0" y="257429"/>
                  </a:lnTo>
                  <a:lnTo>
                    <a:pt x="13589" y="257429"/>
                  </a:lnTo>
                  <a:lnTo>
                    <a:pt x="0" y="257429"/>
                  </a:lnTo>
                  <a:moveTo>
                    <a:pt x="27051" y="257429"/>
                  </a:moveTo>
                  <a:lnTo>
                    <a:pt x="27051" y="2744597"/>
                  </a:lnTo>
                  <a:lnTo>
                    <a:pt x="13589" y="2744597"/>
                  </a:lnTo>
                  <a:lnTo>
                    <a:pt x="27051" y="2744597"/>
                  </a:lnTo>
                  <a:cubicBezTo>
                    <a:pt x="27051" y="2871724"/>
                    <a:pt x="130556" y="2974848"/>
                    <a:pt x="258318" y="2974848"/>
                  </a:cubicBezTo>
                  <a:lnTo>
                    <a:pt x="5230749" y="2974848"/>
                  </a:lnTo>
                  <a:cubicBezTo>
                    <a:pt x="5358511" y="2974848"/>
                    <a:pt x="5462016" y="2871724"/>
                    <a:pt x="5462016" y="2744597"/>
                  </a:cubicBezTo>
                  <a:lnTo>
                    <a:pt x="5462016" y="257429"/>
                  </a:lnTo>
                  <a:cubicBezTo>
                    <a:pt x="5462016" y="130302"/>
                    <a:pt x="5358511" y="27178"/>
                    <a:pt x="5230749" y="27178"/>
                  </a:cubicBezTo>
                  <a:lnTo>
                    <a:pt x="258445" y="27178"/>
                  </a:lnTo>
                  <a:lnTo>
                    <a:pt x="258445" y="13589"/>
                  </a:lnTo>
                  <a:lnTo>
                    <a:pt x="258445" y="27051"/>
                  </a:lnTo>
                  <a:cubicBezTo>
                    <a:pt x="130683" y="27051"/>
                    <a:pt x="27178" y="130175"/>
                    <a:pt x="27178" y="257302"/>
                  </a:cubicBezTo>
                  <a:close/>
                </a:path>
              </a:pathLst>
            </a:custGeom>
            <a:solidFill>
              <a:srgbClr val="BDC8D5"/>
            </a:solidFill>
          </p:spPr>
        </p:sp>
      </p:grpSp>
      <p:grpSp>
        <p:nvGrpSpPr>
          <p:cNvPr name="Group 14" id="14"/>
          <p:cNvGrpSpPr/>
          <p:nvPr/>
        </p:nvGrpSpPr>
        <p:grpSpPr>
          <a:xfrm rot="0">
            <a:off x="627383" y="1907543"/>
            <a:ext cx="4121915" cy="135131"/>
            <a:chOff x="0" y="0"/>
            <a:chExt cx="5495887" cy="180175"/>
          </a:xfrm>
        </p:grpSpPr>
        <p:sp>
          <p:nvSpPr>
            <p:cNvPr name="Freeform 15" id="15"/>
            <p:cNvSpPr/>
            <p:nvPr/>
          </p:nvSpPr>
          <p:spPr>
            <a:xfrm flipH="false" flipV="false" rot="0">
              <a:off x="16891" y="16891"/>
              <a:ext cx="5462016" cy="146304"/>
            </a:xfrm>
            <a:custGeom>
              <a:avLst/>
              <a:gdLst/>
              <a:ahLst/>
              <a:cxnLst/>
              <a:rect r="r" b="b" t="t" l="l"/>
              <a:pathLst>
                <a:path h="146304" w="5462016">
                  <a:moveTo>
                    <a:pt x="0" y="0"/>
                  </a:moveTo>
                  <a:lnTo>
                    <a:pt x="5462016" y="0"/>
                  </a:lnTo>
                  <a:lnTo>
                    <a:pt x="5462016" y="146304"/>
                  </a:lnTo>
                  <a:lnTo>
                    <a:pt x="0" y="146304"/>
                  </a:lnTo>
                  <a:close/>
                </a:path>
              </a:pathLst>
            </a:custGeom>
            <a:solidFill>
              <a:srgbClr val="2C4A6E"/>
            </a:solidFill>
          </p:spPr>
        </p:sp>
        <p:sp>
          <p:nvSpPr>
            <p:cNvPr name="Freeform 16" id="16"/>
            <p:cNvSpPr/>
            <p:nvPr/>
          </p:nvSpPr>
          <p:spPr>
            <a:xfrm flipH="false" flipV="false" rot="0">
              <a:off x="0" y="0"/>
              <a:ext cx="5495798" cy="180088"/>
            </a:xfrm>
            <a:custGeom>
              <a:avLst/>
              <a:gdLst/>
              <a:ahLst/>
              <a:cxnLst/>
              <a:rect r="r" b="b" t="t" l="l"/>
              <a:pathLst>
                <a:path h="180088" w="5495798">
                  <a:moveTo>
                    <a:pt x="16891" y="0"/>
                  </a:moveTo>
                  <a:lnTo>
                    <a:pt x="5478907" y="0"/>
                  </a:lnTo>
                  <a:cubicBezTo>
                    <a:pt x="5488305" y="0"/>
                    <a:pt x="5495798" y="7620"/>
                    <a:pt x="5495798" y="16891"/>
                  </a:cubicBezTo>
                  <a:lnTo>
                    <a:pt x="5495798" y="163195"/>
                  </a:lnTo>
                  <a:cubicBezTo>
                    <a:pt x="5495798" y="172593"/>
                    <a:pt x="5488178" y="180086"/>
                    <a:pt x="5478907"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5478907" y="146304"/>
                  </a:lnTo>
                  <a:lnTo>
                    <a:pt x="5478907" y="163195"/>
                  </a:lnTo>
                  <a:lnTo>
                    <a:pt x="5462016" y="163195"/>
                  </a:lnTo>
                  <a:lnTo>
                    <a:pt x="5462016" y="16891"/>
                  </a:lnTo>
                  <a:lnTo>
                    <a:pt x="5478907" y="16891"/>
                  </a:lnTo>
                  <a:lnTo>
                    <a:pt x="5478907" y="33909"/>
                  </a:lnTo>
                  <a:lnTo>
                    <a:pt x="16891" y="33909"/>
                  </a:lnTo>
                  <a:close/>
                </a:path>
              </a:pathLst>
            </a:custGeom>
            <a:solidFill>
              <a:srgbClr val="2C4A6E"/>
            </a:solidFill>
          </p:spPr>
        </p:sp>
      </p:grpSp>
      <p:grpSp>
        <p:nvGrpSpPr>
          <p:cNvPr name="Group 17" id="17"/>
          <p:cNvGrpSpPr/>
          <p:nvPr/>
        </p:nvGrpSpPr>
        <p:grpSpPr>
          <a:xfrm rot="0">
            <a:off x="640080" y="2103120"/>
            <a:ext cx="4096512" cy="1079170"/>
            <a:chOff x="0" y="0"/>
            <a:chExt cx="5462016" cy="1438893"/>
          </a:xfrm>
        </p:grpSpPr>
        <p:sp>
          <p:nvSpPr>
            <p:cNvPr name="Freeform 18" id="18"/>
            <p:cNvSpPr/>
            <p:nvPr/>
          </p:nvSpPr>
          <p:spPr>
            <a:xfrm flipH="false" flipV="false" rot="0">
              <a:off x="0" y="0"/>
              <a:ext cx="5462016" cy="1438893"/>
            </a:xfrm>
            <a:custGeom>
              <a:avLst/>
              <a:gdLst/>
              <a:ahLst/>
              <a:cxnLst/>
              <a:rect r="r" b="b" t="t" l="l"/>
              <a:pathLst>
                <a:path h="1438893" w="5462016">
                  <a:moveTo>
                    <a:pt x="0" y="0"/>
                  </a:moveTo>
                  <a:lnTo>
                    <a:pt x="5462016" y="0"/>
                  </a:lnTo>
                  <a:lnTo>
                    <a:pt x="5462016" y="1438893"/>
                  </a:lnTo>
                  <a:lnTo>
                    <a:pt x="0" y="1438893"/>
                  </a:lnTo>
                  <a:close/>
                </a:path>
              </a:pathLst>
            </a:custGeom>
            <a:blipFill>
              <a:blip r:embed="rId3">
                <a:alphaModFix amt="0"/>
              </a:blip>
              <a:stretch>
                <a:fillRect l="0" t="-28209" r="0" b="-19720"/>
              </a:stretch>
            </a:blipFill>
          </p:spPr>
        </p:sp>
        <p:sp>
          <p:nvSpPr>
            <p:cNvPr name="TextBox 19" id="19"/>
            <p:cNvSpPr txBox="true"/>
            <p:nvPr/>
          </p:nvSpPr>
          <p:spPr>
            <a:xfrm>
              <a:off x="0" y="0"/>
              <a:ext cx="5462016" cy="1438893"/>
            </a:xfrm>
            <a:prstGeom prst="rect">
              <a:avLst/>
            </a:prstGeom>
          </p:spPr>
          <p:txBody>
            <a:bodyPr anchor="ctr" rtlCol="false" tIns="0" lIns="0" bIns="0" rIns="0"/>
            <a:lstStyle/>
            <a:p>
              <a:pPr algn="ctr">
                <a:lnSpc>
                  <a:spcPts val="6240"/>
                </a:lnSpc>
              </a:pPr>
              <a:r>
                <a:rPr lang="en-US" sz="5200" b="true">
                  <a:solidFill>
                    <a:srgbClr val="2C4A6E"/>
                  </a:solidFill>
                  <a:latin typeface="EB Garamond Semi-Bold"/>
                  <a:ea typeface="EB Garamond Semi-Bold"/>
                  <a:cs typeface="EB Garamond Semi-Bold"/>
                  <a:sym typeface="EB Garamond Semi-Bold"/>
                </a:rPr>
                <a:t>22,4</a:t>
              </a:r>
            </a:p>
          </p:txBody>
        </p:sp>
      </p:grpSp>
      <p:grpSp>
        <p:nvGrpSpPr>
          <p:cNvPr name="Group 20" id="20"/>
          <p:cNvGrpSpPr/>
          <p:nvPr/>
        </p:nvGrpSpPr>
        <p:grpSpPr>
          <a:xfrm rot="0">
            <a:off x="640080" y="3072384"/>
            <a:ext cx="4096512" cy="493776"/>
            <a:chOff x="0" y="0"/>
            <a:chExt cx="5462016" cy="658368"/>
          </a:xfrm>
        </p:grpSpPr>
        <p:sp>
          <p:nvSpPr>
            <p:cNvPr name="Freeform 21" id="21"/>
            <p:cNvSpPr/>
            <p:nvPr/>
          </p:nvSpPr>
          <p:spPr>
            <a:xfrm flipH="false" flipV="false" rot="0">
              <a:off x="0" y="0"/>
              <a:ext cx="5462016" cy="658368"/>
            </a:xfrm>
            <a:custGeom>
              <a:avLst/>
              <a:gdLst/>
              <a:ahLst/>
              <a:cxnLst/>
              <a:rect r="r" b="b" t="t" l="l"/>
              <a:pathLst>
                <a:path h="658368" w="5462016">
                  <a:moveTo>
                    <a:pt x="0" y="0"/>
                  </a:moveTo>
                  <a:lnTo>
                    <a:pt x="5462016" y="0"/>
                  </a:lnTo>
                  <a:lnTo>
                    <a:pt x="5462016" y="658368"/>
                  </a:lnTo>
                  <a:lnTo>
                    <a:pt x="0" y="658368"/>
                  </a:lnTo>
                  <a:close/>
                </a:path>
              </a:pathLst>
            </a:custGeom>
            <a:blipFill>
              <a:blip r:embed="rId3">
                <a:alphaModFix amt="0"/>
              </a:blip>
              <a:stretch>
                <a:fillRect l="0" t="-111653" r="0" b="-111653"/>
              </a:stretch>
            </a:blipFill>
          </p:spPr>
        </p:sp>
        <p:sp>
          <p:nvSpPr>
            <p:cNvPr name="TextBox 22" id="22"/>
            <p:cNvSpPr txBox="true"/>
            <p:nvPr/>
          </p:nvSpPr>
          <p:spPr>
            <a:xfrm>
              <a:off x="0" y="9525"/>
              <a:ext cx="5462016" cy="648843"/>
            </a:xfrm>
            <a:prstGeom prst="rect">
              <a:avLst/>
            </a:prstGeom>
          </p:spPr>
          <p:txBody>
            <a:bodyPr anchor="ctr" rtlCol="false" tIns="0" lIns="0" bIns="0" rIns="0"/>
            <a:lstStyle/>
            <a:p>
              <a:pPr algn="ctr">
                <a:lnSpc>
                  <a:spcPts val="2160"/>
                </a:lnSpc>
              </a:pPr>
              <a:r>
                <a:rPr lang="en-US" sz="1800" i="true">
                  <a:solidFill>
                    <a:srgbClr val="7B8FA1"/>
                  </a:solidFill>
                  <a:latin typeface="EB Garamond Italics"/>
                  <a:ea typeface="EB Garamond Italics"/>
                  <a:cs typeface="EB Garamond Italics"/>
                  <a:sym typeface="EB Garamond Italics"/>
                </a:rPr>
                <a:t>Ménage EA max</a:t>
              </a:r>
            </a:p>
          </p:txBody>
        </p:sp>
      </p:grpSp>
      <p:grpSp>
        <p:nvGrpSpPr>
          <p:cNvPr name="Group 23" id="23"/>
          <p:cNvGrpSpPr/>
          <p:nvPr/>
        </p:nvGrpSpPr>
        <p:grpSpPr>
          <a:xfrm rot="0">
            <a:off x="640080" y="3474720"/>
            <a:ext cx="4096512" cy="475488"/>
            <a:chOff x="0" y="0"/>
            <a:chExt cx="5462016" cy="633984"/>
          </a:xfrm>
        </p:grpSpPr>
        <p:sp>
          <p:nvSpPr>
            <p:cNvPr name="Freeform 24" id="24"/>
            <p:cNvSpPr/>
            <p:nvPr/>
          </p:nvSpPr>
          <p:spPr>
            <a:xfrm flipH="false" flipV="false" rot="0">
              <a:off x="0" y="0"/>
              <a:ext cx="5462016" cy="633984"/>
            </a:xfrm>
            <a:custGeom>
              <a:avLst/>
              <a:gdLst/>
              <a:ahLst/>
              <a:cxnLst/>
              <a:rect r="r" b="b" t="t" l="l"/>
              <a:pathLst>
                <a:path h="633984" w="5462016">
                  <a:moveTo>
                    <a:pt x="0" y="0"/>
                  </a:moveTo>
                  <a:lnTo>
                    <a:pt x="5462016" y="0"/>
                  </a:lnTo>
                  <a:lnTo>
                    <a:pt x="5462016" y="633984"/>
                  </a:lnTo>
                  <a:lnTo>
                    <a:pt x="0" y="633984"/>
                  </a:lnTo>
                  <a:close/>
                </a:path>
              </a:pathLst>
            </a:custGeom>
            <a:blipFill>
              <a:blip r:embed="rId3">
                <a:alphaModFix amt="0"/>
              </a:blip>
              <a:stretch>
                <a:fillRect l="0" t="-117871" r="0" b="-117871"/>
              </a:stretch>
            </a:blipFill>
          </p:spPr>
        </p:sp>
        <p:sp>
          <p:nvSpPr>
            <p:cNvPr name="TextBox 25" id="25"/>
            <p:cNvSpPr txBox="true"/>
            <p:nvPr/>
          </p:nvSpPr>
          <p:spPr>
            <a:xfrm>
              <a:off x="0" y="9525"/>
              <a:ext cx="5462016" cy="624459"/>
            </a:xfrm>
            <a:prstGeom prst="rect">
              <a:avLst/>
            </a:prstGeom>
          </p:spPr>
          <p:txBody>
            <a:bodyPr anchor="ctr" rtlCol="false" tIns="0" lIns="0" bIns="0" rIns="0"/>
            <a:lstStyle/>
            <a:p>
              <a:pPr algn="ctr">
                <a:lnSpc>
                  <a:spcPts val="2160"/>
                </a:lnSpc>
              </a:pPr>
              <a:r>
                <a:rPr lang="en-US" sz="1800" b="true">
                  <a:solidFill>
                    <a:srgbClr val="2C4A6E"/>
                  </a:solidFill>
                  <a:latin typeface="EB Garamond Semi-Bold"/>
                  <a:ea typeface="EB Garamond Semi-Bold"/>
                  <a:cs typeface="EB Garamond Semi-Bold"/>
                  <a:sym typeface="EB Garamond Semi-Bold"/>
                </a:rPr>
                <a:t>↑ Sénégal</a:t>
              </a:r>
            </a:p>
          </p:txBody>
        </p:sp>
      </p:grpSp>
      <p:grpSp>
        <p:nvGrpSpPr>
          <p:cNvPr name="Group 26" id="26"/>
          <p:cNvGrpSpPr/>
          <p:nvPr/>
        </p:nvGrpSpPr>
        <p:grpSpPr>
          <a:xfrm rot="0">
            <a:off x="4909309" y="1910077"/>
            <a:ext cx="4116829" cy="2251453"/>
            <a:chOff x="0" y="0"/>
            <a:chExt cx="5489105" cy="3001937"/>
          </a:xfrm>
        </p:grpSpPr>
        <p:sp>
          <p:nvSpPr>
            <p:cNvPr name="Freeform 27" id="27"/>
            <p:cNvSpPr/>
            <p:nvPr/>
          </p:nvSpPr>
          <p:spPr>
            <a:xfrm flipH="false" flipV="false" rot="0">
              <a:off x="13589" y="13589"/>
              <a:ext cx="5462016" cy="2974848"/>
            </a:xfrm>
            <a:custGeom>
              <a:avLst/>
              <a:gdLst/>
              <a:ahLst/>
              <a:cxnLst/>
              <a:rect r="r" b="b" t="t" l="l"/>
              <a:pathLst>
                <a:path h="2974848" w="5462016">
                  <a:moveTo>
                    <a:pt x="0" y="243840"/>
                  </a:moveTo>
                  <a:cubicBezTo>
                    <a:pt x="0" y="109220"/>
                    <a:pt x="109601" y="0"/>
                    <a:pt x="244856" y="0"/>
                  </a:cubicBezTo>
                  <a:lnTo>
                    <a:pt x="5217160" y="0"/>
                  </a:lnTo>
                  <a:cubicBezTo>
                    <a:pt x="5352415" y="0"/>
                    <a:pt x="5462016" y="109220"/>
                    <a:pt x="5462016" y="243840"/>
                  </a:cubicBezTo>
                  <a:lnTo>
                    <a:pt x="5462016" y="2731008"/>
                  </a:lnTo>
                  <a:cubicBezTo>
                    <a:pt x="5462016" y="2865628"/>
                    <a:pt x="5352415" y="2974848"/>
                    <a:pt x="5217160" y="2974848"/>
                  </a:cubicBezTo>
                  <a:lnTo>
                    <a:pt x="244856" y="2974848"/>
                  </a:lnTo>
                  <a:cubicBezTo>
                    <a:pt x="109601" y="2974848"/>
                    <a:pt x="0" y="2865628"/>
                    <a:pt x="0" y="2731008"/>
                  </a:cubicBezTo>
                  <a:close/>
                </a:path>
              </a:pathLst>
            </a:custGeom>
            <a:solidFill>
              <a:srgbClr val="FFFFFF"/>
            </a:solidFill>
          </p:spPr>
        </p:sp>
        <p:sp>
          <p:nvSpPr>
            <p:cNvPr name="Freeform 28" id="28"/>
            <p:cNvSpPr/>
            <p:nvPr/>
          </p:nvSpPr>
          <p:spPr>
            <a:xfrm flipH="false" flipV="false" rot="0">
              <a:off x="0" y="0"/>
              <a:ext cx="5489194" cy="3002026"/>
            </a:xfrm>
            <a:custGeom>
              <a:avLst/>
              <a:gdLst/>
              <a:ahLst/>
              <a:cxnLst/>
              <a:rect r="r" b="b" t="t" l="l"/>
              <a:pathLst>
                <a:path h="3002026" w="5489194">
                  <a:moveTo>
                    <a:pt x="0" y="257429"/>
                  </a:moveTo>
                  <a:cubicBezTo>
                    <a:pt x="0" y="115189"/>
                    <a:pt x="115697" y="0"/>
                    <a:pt x="258445" y="0"/>
                  </a:cubicBezTo>
                  <a:lnTo>
                    <a:pt x="5230749" y="0"/>
                  </a:lnTo>
                  <a:lnTo>
                    <a:pt x="5230749" y="13589"/>
                  </a:lnTo>
                  <a:lnTo>
                    <a:pt x="5230749" y="0"/>
                  </a:lnTo>
                  <a:cubicBezTo>
                    <a:pt x="5373370" y="0"/>
                    <a:pt x="5489194" y="115189"/>
                    <a:pt x="5489194" y="257429"/>
                  </a:cubicBezTo>
                  <a:lnTo>
                    <a:pt x="5475605" y="257429"/>
                  </a:lnTo>
                  <a:lnTo>
                    <a:pt x="5489194" y="257429"/>
                  </a:lnTo>
                  <a:lnTo>
                    <a:pt x="5489194" y="2744597"/>
                  </a:lnTo>
                  <a:lnTo>
                    <a:pt x="5475605" y="2744597"/>
                  </a:lnTo>
                  <a:lnTo>
                    <a:pt x="5489194" y="2744597"/>
                  </a:lnTo>
                  <a:cubicBezTo>
                    <a:pt x="5489194" y="2886837"/>
                    <a:pt x="5373497" y="3002026"/>
                    <a:pt x="5230749" y="3002026"/>
                  </a:cubicBezTo>
                  <a:lnTo>
                    <a:pt x="5230749" y="2988437"/>
                  </a:lnTo>
                  <a:lnTo>
                    <a:pt x="5230749" y="3002026"/>
                  </a:lnTo>
                  <a:lnTo>
                    <a:pt x="258445" y="3002026"/>
                  </a:lnTo>
                  <a:lnTo>
                    <a:pt x="258445" y="2988437"/>
                  </a:lnTo>
                  <a:lnTo>
                    <a:pt x="258445" y="3002026"/>
                  </a:lnTo>
                  <a:cubicBezTo>
                    <a:pt x="115697" y="3001899"/>
                    <a:pt x="0" y="2886710"/>
                    <a:pt x="0" y="2744597"/>
                  </a:cubicBezTo>
                  <a:lnTo>
                    <a:pt x="0" y="257429"/>
                  </a:lnTo>
                  <a:lnTo>
                    <a:pt x="13589" y="257429"/>
                  </a:lnTo>
                  <a:lnTo>
                    <a:pt x="0" y="257429"/>
                  </a:lnTo>
                  <a:moveTo>
                    <a:pt x="27051" y="257429"/>
                  </a:moveTo>
                  <a:lnTo>
                    <a:pt x="27051" y="2744597"/>
                  </a:lnTo>
                  <a:lnTo>
                    <a:pt x="13589" y="2744597"/>
                  </a:lnTo>
                  <a:lnTo>
                    <a:pt x="27051" y="2744597"/>
                  </a:lnTo>
                  <a:cubicBezTo>
                    <a:pt x="27051" y="2871724"/>
                    <a:pt x="130556" y="2974848"/>
                    <a:pt x="258318" y="2974848"/>
                  </a:cubicBezTo>
                  <a:lnTo>
                    <a:pt x="5230749" y="2974848"/>
                  </a:lnTo>
                  <a:cubicBezTo>
                    <a:pt x="5358511" y="2974848"/>
                    <a:pt x="5462016" y="2871724"/>
                    <a:pt x="5462016" y="2744597"/>
                  </a:cubicBezTo>
                  <a:lnTo>
                    <a:pt x="5462016" y="257429"/>
                  </a:lnTo>
                  <a:cubicBezTo>
                    <a:pt x="5462016" y="130302"/>
                    <a:pt x="5358511" y="27178"/>
                    <a:pt x="5230749" y="27178"/>
                  </a:cubicBezTo>
                  <a:lnTo>
                    <a:pt x="258445" y="27178"/>
                  </a:lnTo>
                  <a:lnTo>
                    <a:pt x="258445" y="13589"/>
                  </a:lnTo>
                  <a:lnTo>
                    <a:pt x="258445" y="27051"/>
                  </a:lnTo>
                  <a:cubicBezTo>
                    <a:pt x="130683" y="27051"/>
                    <a:pt x="27178" y="130175"/>
                    <a:pt x="27178" y="257302"/>
                  </a:cubicBezTo>
                  <a:close/>
                </a:path>
              </a:pathLst>
            </a:custGeom>
            <a:solidFill>
              <a:srgbClr val="BDC8D5"/>
            </a:solidFill>
          </p:spPr>
        </p:sp>
      </p:grpSp>
      <p:grpSp>
        <p:nvGrpSpPr>
          <p:cNvPr name="Group 29" id="29"/>
          <p:cNvGrpSpPr/>
          <p:nvPr/>
        </p:nvGrpSpPr>
        <p:grpSpPr>
          <a:xfrm rot="0">
            <a:off x="4906775" y="1907543"/>
            <a:ext cx="4121915" cy="135131"/>
            <a:chOff x="0" y="0"/>
            <a:chExt cx="5495887" cy="180175"/>
          </a:xfrm>
        </p:grpSpPr>
        <p:sp>
          <p:nvSpPr>
            <p:cNvPr name="Freeform 30" id="30"/>
            <p:cNvSpPr/>
            <p:nvPr/>
          </p:nvSpPr>
          <p:spPr>
            <a:xfrm flipH="false" flipV="false" rot="0">
              <a:off x="16891" y="16891"/>
              <a:ext cx="5462016" cy="146304"/>
            </a:xfrm>
            <a:custGeom>
              <a:avLst/>
              <a:gdLst/>
              <a:ahLst/>
              <a:cxnLst/>
              <a:rect r="r" b="b" t="t" l="l"/>
              <a:pathLst>
                <a:path h="146304" w="5462016">
                  <a:moveTo>
                    <a:pt x="0" y="0"/>
                  </a:moveTo>
                  <a:lnTo>
                    <a:pt x="5462016" y="0"/>
                  </a:lnTo>
                  <a:lnTo>
                    <a:pt x="5462016" y="146304"/>
                  </a:lnTo>
                  <a:lnTo>
                    <a:pt x="0" y="146304"/>
                  </a:lnTo>
                  <a:close/>
                </a:path>
              </a:pathLst>
            </a:custGeom>
            <a:solidFill>
              <a:srgbClr val="3A7D5C"/>
            </a:solidFill>
          </p:spPr>
        </p:sp>
        <p:sp>
          <p:nvSpPr>
            <p:cNvPr name="Freeform 31" id="31"/>
            <p:cNvSpPr/>
            <p:nvPr/>
          </p:nvSpPr>
          <p:spPr>
            <a:xfrm flipH="false" flipV="false" rot="0">
              <a:off x="0" y="0"/>
              <a:ext cx="5495798" cy="180088"/>
            </a:xfrm>
            <a:custGeom>
              <a:avLst/>
              <a:gdLst/>
              <a:ahLst/>
              <a:cxnLst/>
              <a:rect r="r" b="b" t="t" l="l"/>
              <a:pathLst>
                <a:path h="180088" w="5495798">
                  <a:moveTo>
                    <a:pt x="16891" y="0"/>
                  </a:moveTo>
                  <a:lnTo>
                    <a:pt x="5478907" y="0"/>
                  </a:lnTo>
                  <a:cubicBezTo>
                    <a:pt x="5488305" y="0"/>
                    <a:pt x="5495798" y="7620"/>
                    <a:pt x="5495798" y="16891"/>
                  </a:cubicBezTo>
                  <a:lnTo>
                    <a:pt x="5495798" y="163195"/>
                  </a:lnTo>
                  <a:cubicBezTo>
                    <a:pt x="5495798" y="172593"/>
                    <a:pt x="5488178" y="180086"/>
                    <a:pt x="5478907"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5478907" y="146304"/>
                  </a:lnTo>
                  <a:lnTo>
                    <a:pt x="5478907" y="163195"/>
                  </a:lnTo>
                  <a:lnTo>
                    <a:pt x="5462016" y="163195"/>
                  </a:lnTo>
                  <a:lnTo>
                    <a:pt x="5462016" y="16891"/>
                  </a:lnTo>
                  <a:lnTo>
                    <a:pt x="5478907" y="16891"/>
                  </a:lnTo>
                  <a:lnTo>
                    <a:pt x="5478907" y="33909"/>
                  </a:lnTo>
                  <a:lnTo>
                    <a:pt x="16891" y="33909"/>
                  </a:lnTo>
                  <a:close/>
                </a:path>
              </a:pathLst>
            </a:custGeom>
            <a:solidFill>
              <a:srgbClr val="3A7D5C"/>
            </a:solidFill>
          </p:spPr>
        </p:sp>
      </p:grpSp>
      <p:grpSp>
        <p:nvGrpSpPr>
          <p:cNvPr name="Group 32" id="32"/>
          <p:cNvGrpSpPr/>
          <p:nvPr/>
        </p:nvGrpSpPr>
        <p:grpSpPr>
          <a:xfrm rot="0">
            <a:off x="4919472" y="2103120"/>
            <a:ext cx="4096512" cy="1079170"/>
            <a:chOff x="0" y="0"/>
            <a:chExt cx="5462016" cy="1438893"/>
          </a:xfrm>
        </p:grpSpPr>
        <p:sp>
          <p:nvSpPr>
            <p:cNvPr name="Freeform 33" id="33"/>
            <p:cNvSpPr/>
            <p:nvPr/>
          </p:nvSpPr>
          <p:spPr>
            <a:xfrm flipH="false" flipV="false" rot="0">
              <a:off x="0" y="0"/>
              <a:ext cx="5462016" cy="1438893"/>
            </a:xfrm>
            <a:custGeom>
              <a:avLst/>
              <a:gdLst/>
              <a:ahLst/>
              <a:cxnLst/>
              <a:rect r="r" b="b" t="t" l="l"/>
              <a:pathLst>
                <a:path h="1438893" w="5462016">
                  <a:moveTo>
                    <a:pt x="0" y="0"/>
                  </a:moveTo>
                  <a:lnTo>
                    <a:pt x="5462016" y="0"/>
                  </a:lnTo>
                  <a:lnTo>
                    <a:pt x="5462016" y="1438893"/>
                  </a:lnTo>
                  <a:lnTo>
                    <a:pt x="0" y="1438893"/>
                  </a:lnTo>
                  <a:close/>
                </a:path>
              </a:pathLst>
            </a:custGeom>
            <a:blipFill>
              <a:blip r:embed="rId3">
                <a:alphaModFix amt="0"/>
              </a:blip>
              <a:stretch>
                <a:fillRect l="0" t="-28209" r="0" b="-19720"/>
              </a:stretch>
            </a:blipFill>
          </p:spPr>
        </p:sp>
        <p:sp>
          <p:nvSpPr>
            <p:cNvPr name="TextBox 34" id="34"/>
            <p:cNvSpPr txBox="true"/>
            <p:nvPr/>
          </p:nvSpPr>
          <p:spPr>
            <a:xfrm>
              <a:off x="0" y="0"/>
              <a:ext cx="5462016" cy="1438893"/>
            </a:xfrm>
            <a:prstGeom prst="rect">
              <a:avLst/>
            </a:prstGeom>
          </p:spPr>
          <p:txBody>
            <a:bodyPr anchor="ctr" rtlCol="false" tIns="0" lIns="0" bIns="0" rIns="0"/>
            <a:lstStyle/>
            <a:p>
              <a:pPr algn="ctr">
                <a:lnSpc>
                  <a:spcPts val="6240"/>
                </a:lnSpc>
              </a:pPr>
              <a:r>
                <a:rPr lang="en-US" sz="5200" b="true">
                  <a:solidFill>
                    <a:srgbClr val="3A7D5C"/>
                  </a:solidFill>
                  <a:latin typeface="EB Garamond Semi-Bold"/>
                  <a:ea typeface="EB Garamond Semi-Bold"/>
                  <a:cs typeface="EB Garamond Semi-Bold"/>
                  <a:sym typeface="EB Garamond Semi-Bold"/>
                </a:rPr>
                <a:t>7,6 mois</a:t>
              </a:r>
            </a:p>
          </p:txBody>
        </p:sp>
      </p:grpSp>
      <p:grpSp>
        <p:nvGrpSpPr>
          <p:cNvPr name="Group 35" id="35"/>
          <p:cNvGrpSpPr/>
          <p:nvPr/>
        </p:nvGrpSpPr>
        <p:grpSpPr>
          <a:xfrm rot="0">
            <a:off x="4919472" y="3072384"/>
            <a:ext cx="4096512" cy="493776"/>
            <a:chOff x="0" y="0"/>
            <a:chExt cx="5462016" cy="658368"/>
          </a:xfrm>
        </p:grpSpPr>
        <p:sp>
          <p:nvSpPr>
            <p:cNvPr name="Freeform 36" id="36"/>
            <p:cNvSpPr/>
            <p:nvPr/>
          </p:nvSpPr>
          <p:spPr>
            <a:xfrm flipH="false" flipV="false" rot="0">
              <a:off x="0" y="0"/>
              <a:ext cx="5462016" cy="658368"/>
            </a:xfrm>
            <a:custGeom>
              <a:avLst/>
              <a:gdLst/>
              <a:ahLst/>
              <a:cxnLst/>
              <a:rect r="r" b="b" t="t" l="l"/>
              <a:pathLst>
                <a:path h="658368" w="5462016">
                  <a:moveTo>
                    <a:pt x="0" y="0"/>
                  </a:moveTo>
                  <a:lnTo>
                    <a:pt x="5462016" y="0"/>
                  </a:lnTo>
                  <a:lnTo>
                    <a:pt x="5462016" y="658368"/>
                  </a:lnTo>
                  <a:lnTo>
                    <a:pt x="0" y="658368"/>
                  </a:lnTo>
                  <a:close/>
                </a:path>
              </a:pathLst>
            </a:custGeom>
            <a:blipFill>
              <a:blip r:embed="rId3">
                <a:alphaModFix amt="0"/>
              </a:blip>
              <a:stretch>
                <a:fillRect l="0" t="-111653" r="0" b="-111653"/>
              </a:stretch>
            </a:blipFill>
          </p:spPr>
        </p:sp>
        <p:sp>
          <p:nvSpPr>
            <p:cNvPr name="TextBox 37" id="37"/>
            <p:cNvSpPr txBox="true"/>
            <p:nvPr/>
          </p:nvSpPr>
          <p:spPr>
            <a:xfrm>
              <a:off x="0" y="9525"/>
              <a:ext cx="5462016" cy="648843"/>
            </a:xfrm>
            <a:prstGeom prst="rect">
              <a:avLst/>
            </a:prstGeom>
          </p:spPr>
          <p:txBody>
            <a:bodyPr anchor="ctr" rtlCol="false" tIns="0" lIns="0" bIns="0" rIns="0"/>
            <a:lstStyle/>
            <a:p>
              <a:pPr algn="ctr">
                <a:lnSpc>
                  <a:spcPts val="2160"/>
                </a:lnSpc>
              </a:pPr>
              <a:r>
                <a:rPr lang="en-US" sz="1800" i="true">
                  <a:solidFill>
                    <a:srgbClr val="7B8FA1"/>
                  </a:solidFill>
                  <a:latin typeface="EB Garamond Italics"/>
                  <a:ea typeface="EB Garamond Italics"/>
                  <a:cs typeface="EB Garamond Italics"/>
                  <a:sym typeface="EB Garamond Italics"/>
                </a:rPr>
                <a:t>Autosuffisance max</a:t>
              </a:r>
            </a:p>
          </p:txBody>
        </p:sp>
      </p:grpSp>
      <p:grpSp>
        <p:nvGrpSpPr>
          <p:cNvPr name="Group 38" id="38"/>
          <p:cNvGrpSpPr/>
          <p:nvPr/>
        </p:nvGrpSpPr>
        <p:grpSpPr>
          <a:xfrm rot="0">
            <a:off x="4919472" y="3474720"/>
            <a:ext cx="4096512" cy="475488"/>
            <a:chOff x="0" y="0"/>
            <a:chExt cx="5462016" cy="633984"/>
          </a:xfrm>
        </p:grpSpPr>
        <p:sp>
          <p:nvSpPr>
            <p:cNvPr name="Freeform 39" id="39"/>
            <p:cNvSpPr/>
            <p:nvPr/>
          </p:nvSpPr>
          <p:spPr>
            <a:xfrm flipH="false" flipV="false" rot="0">
              <a:off x="0" y="0"/>
              <a:ext cx="5462016" cy="633984"/>
            </a:xfrm>
            <a:custGeom>
              <a:avLst/>
              <a:gdLst/>
              <a:ahLst/>
              <a:cxnLst/>
              <a:rect r="r" b="b" t="t" l="l"/>
              <a:pathLst>
                <a:path h="633984" w="5462016">
                  <a:moveTo>
                    <a:pt x="0" y="0"/>
                  </a:moveTo>
                  <a:lnTo>
                    <a:pt x="5462016" y="0"/>
                  </a:lnTo>
                  <a:lnTo>
                    <a:pt x="5462016" y="633984"/>
                  </a:lnTo>
                  <a:lnTo>
                    <a:pt x="0" y="633984"/>
                  </a:lnTo>
                  <a:close/>
                </a:path>
              </a:pathLst>
            </a:custGeom>
            <a:blipFill>
              <a:blip r:embed="rId3">
                <a:alphaModFix amt="0"/>
              </a:blip>
              <a:stretch>
                <a:fillRect l="0" t="-117871" r="0" b="-117871"/>
              </a:stretch>
            </a:blipFill>
          </p:spPr>
        </p:sp>
        <p:sp>
          <p:nvSpPr>
            <p:cNvPr name="TextBox 40" id="40"/>
            <p:cNvSpPr txBox="true"/>
            <p:nvPr/>
          </p:nvSpPr>
          <p:spPr>
            <a:xfrm>
              <a:off x="0" y="9525"/>
              <a:ext cx="5462016" cy="624459"/>
            </a:xfrm>
            <a:prstGeom prst="rect">
              <a:avLst/>
            </a:prstGeom>
          </p:spPr>
          <p:txBody>
            <a:bodyPr anchor="ctr" rtlCol="false" tIns="0" lIns="0" bIns="0" rIns="0"/>
            <a:lstStyle/>
            <a:p>
              <a:pPr algn="ctr">
                <a:lnSpc>
                  <a:spcPts val="2160"/>
                </a:lnSpc>
              </a:pPr>
              <a:r>
                <a:rPr lang="en-US" sz="1800" b="true">
                  <a:solidFill>
                    <a:srgbClr val="3A7D5C"/>
                  </a:solidFill>
                  <a:latin typeface="EB Garamond Semi-Bold"/>
                  <a:ea typeface="EB Garamond Semi-Bold"/>
                  <a:cs typeface="EB Garamond Semi-Bold"/>
                  <a:sym typeface="EB Garamond Semi-Bold"/>
                </a:rPr>
                <a:t>↑ Niger</a:t>
              </a:r>
            </a:p>
          </p:txBody>
        </p:sp>
      </p:grpSp>
      <p:grpSp>
        <p:nvGrpSpPr>
          <p:cNvPr name="Group 41" id="41"/>
          <p:cNvGrpSpPr/>
          <p:nvPr/>
        </p:nvGrpSpPr>
        <p:grpSpPr>
          <a:xfrm rot="0">
            <a:off x="9188701" y="1910077"/>
            <a:ext cx="4116829" cy="2251453"/>
            <a:chOff x="0" y="0"/>
            <a:chExt cx="5489105" cy="3001937"/>
          </a:xfrm>
        </p:grpSpPr>
        <p:sp>
          <p:nvSpPr>
            <p:cNvPr name="Freeform 42" id="42"/>
            <p:cNvSpPr/>
            <p:nvPr/>
          </p:nvSpPr>
          <p:spPr>
            <a:xfrm flipH="false" flipV="false" rot="0">
              <a:off x="13589" y="13589"/>
              <a:ext cx="5462016" cy="2974848"/>
            </a:xfrm>
            <a:custGeom>
              <a:avLst/>
              <a:gdLst/>
              <a:ahLst/>
              <a:cxnLst/>
              <a:rect r="r" b="b" t="t" l="l"/>
              <a:pathLst>
                <a:path h="2974848" w="5462016">
                  <a:moveTo>
                    <a:pt x="0" y="243840"/>
                  </a:moveTo>
                  <a:cubicBezTo>
                    <a:pt x="0" y="109220"/>
                    <a:pt x="109601" y="0"/>
                    <a:pt x="244856" y="0"/>
                  </a:cubicBezTo>
                  <a:lnTo>
                    <a:pt x="5217160" y="0"/>
                  </a:lnTo>
                  <a:cubicBezTo>
                    <a:pt x="5352415" y="0"/>
                    <a:pt x="5462016" y="109220"/>
                    <a:pt x="5462016" y="243840"/>
                  </a:cubicBezTo>
                  <a:lnTo>
                    <a:pt x="5462016" y="2731008"/>
                  </a:lnTo>
                  <a:cubicBezTo>
                    <a:pt x="5462016" y="2865628"/>
                    <a:pt x="5352415" y="2974848"/>
                    <a:pt x="5217160" y="2974848"/>
                  </a:cubicBezTo>
                  <a:lnTo>
                    <a:pt x="244856" y="2974848"/>
                  </a:lnTo>
                  <a:cubicBezTo>
                    <a:pt x="109601" y="2974848"/>
                    <a:pt x="0" y="2865628"/>
                    <a:pt x="0" y="2731008"/>
                  </a:cubicBezTo>
                  <a:close/>
                </a:path>
              </a:pathLst>
            </a:custGeom>
            <a:solidFill>
              <a:srgbClr val="FFFFFF"/>
            </a:solidFill>
          </p:spPr>
        </p:sp>
        <p:sp>
          <p:nvSpPr>
            <p:cNvPr name="Freeform 43" id="43"/>
            <p:cNvSpPr/>
            <p:nvPr/>
          </p:nvSpPr>
          <p:spPr>
            <a:xfrm flipH="false" flipV="false" rot="0">
              <a:off x="0" y="0"/>
              <a:ext cx="5489194" cy="3002026"/>
            </a:xfrm>
            <a:custGeom>
              <a:avLst/>
              <a:gdLst/>
              <a:ahLst/>
              <a:cxnLst/>
              <a:rect r="r" b="b" t="t" l="l"/>
              <a:pathLst>
                <a:path h="3002026" w="5489194">
                  <a:moveTo>
                    <a:pt x="0" y="257429"/>
                  </a:moveTo>
                  <a:cubicBezTo>
                    <a:pt x="0" y="115189"/>
                    <a:pt x="115697" y="0"/>
                    <a:pt x="258445" y="0"/>
                  </a:cubicBezTo>
                  <a:lnTo>
                    <a:pt x="5230749" y="0"/>
                  </a:lnTo>
                  <a:lnTo>
                    <a:pt x="5230749" y="13589"/>
                  </a:lnTo>
                  <a:lnTo>
                    <a:pt x="5230749" y="0"/>
                  </a:lnTo>
                  <a:cubicBezTo>
                    <a:pt x="5373370" y="0"/>
                    <a:pt x="5489194" y="115189"/>
                    <a:pt x="5489194" y="257429"/>
                  </a:cubicBezTo>
                  <a:lnTo>
                    <a:pt x="5475605" y="257429"/>
                  </a:lnTo>
                  <a:lnTo>
                    <a:pt x="5489194" y="257429"/>
                  </a:lnTo>
                  <a:lnTo>
                    <a:pt x="5489194" y="2744597"/>
                  </a:lnTo>
                  <a:lnTo>
                    <a:pt x="5475605" y="2744597"/>
                  </a:lnTo>
                  <a:lnTo>
                    <a:pt x="5489194" y="2744597"/>
                  </a:lnTo>
                  <a:cubicBezTo>
                    <a:pt x="5489194" y="2886837"/>
                    <a:pt x="5373497" y="3002026"/>
                    <a:pt x="5230749" y="3002026"/>
                  </a:cubicBezTo>
                  <a:lnTo>
                    <a:pt x="5230749" y="2988437"/>
                  </a:lnTo>
                  <a:lnTo>
                    <a:pt x="5230749" y="3002026"/>
                  </a:lnTo>
                  <a:lnTo>
                    <a:pt x="258445" y="3002026"/>
                  </a:lnTo>
                  <a:lnTo>
                    <a:pt x="258445" y="2988437"/>
                  </a:lnTo>
                  <a:lnTo>
                    <a:pt x="258445" y="3002026"/>
                  </a:lnTo>
                  <a:cubicBezTo>
                    <a:pt x="115697" y="3001899"/>
                    <a:pt x="0" y="2886710"/>
                    <a:pt x="0" y="2744597"/>
                  </a:cubicBezTo>
                  <a:lnTo>
                    <a:pt x="0" y="257429"/>
                  </a:lnTo>
                  <a:lnTo>
                    <a:pt x="13589" y="257429"/>
                  </a:lnTo>
                  <a:lnTo>
                    <a:pt x="0" y="257429"/>
                  </a:lnTo>
                  <a:moveTo>
                    <a:pt x="27051" y="257429"/>
                  </a:moveTo>
                  <a:lnTo>
                    <a:pt x="27051" y="2744597"/>
                  </a:lnTo>
                  <a:lnTo>
                    <a:pt x="13589" y="2744597"/>
                  </a:lnTo>
                  <a:lnTo>
                    <a:pt x="27051" y="2744597"/>
                  </a:lnTo>
                  <a:cubicBezTo>
                    <a:pt x="27051" y="2871724"/>
                    <a:pt x="130556" y="2974848"/>
                    <a:pt x="258318" y="2974848"/>
                  </a:cubicBezTo>
                  <a:lnTo>
                    <a:pt x="5230749" y="2974848"/>
                  </a:lnTo>
                  <a:cubicBezTo>
                    <a:pt x="5358511" y="2974848"/>
                    <a:pt x="5462016" y="2871724"/>
                    <a:pt x="5462016" y="2744597"/>
                  </a:cubicBezTo>
                  <a:lnTo>
                    <a:pt x="5462016" y="257429"/>
                  </a:lnTo>
                  <a:cubicBezTo>
                    <a:pt x="5462016" y="130302"/>
                    <a:pt x="5358511" y="27178"/>
                    <a:pt x="5230749" y="27178"/>
                  </a:cubicBezTo>
                  <a:lnTo>
                    <a:pt x="258445" y="27178"/>
                  </a:lnTo>
                  <a:lnTo>
                    <a:pt x="258445" y="13589"/>
                  </a:lnTo>
                  <a:lnTo>
                    <a:pt x="258445" y="27051"/>
                  </a:lnTo>
                  <a:cubicBezTo>
                    <a:pt x="130683" y="27051"/>
                    <a:pt x="27178" y="130175"/>
                    <a:pt x="27178" y="257302"/>
                  </a:cubicBezTo>
                  <a:close/>
                </a:path>
              </a:pathLst>
            </a:custGeom>
            <a:solidFill>
              <a:srgbClr val="BDC8D5"/>
            </a:solidFill>
          </p:spPr>
        </p:sp>
      </p:grpSp>
      <p:grpSp>
        <p:nvGrpSpPr>
          <p:cNvPr name="Group 44" id="44"/>
          <p:cNvGrpSpPr/>
          <p:nvPr/>
        </p:nvGrpSpPr>
        <p:grpSpPr>
          <a:xfrm rot="0">
            <a:off x="9186167" y="1907543"/>
            <a:ext cx="4121915" cy="135131"/>
            <a:chOff x="0" y="0"/>
            <a:chExt cx="5495887" cy="180175"/>
          </a:xfrm>
        </p:grpSpPr>
        <p:sp>
          <p:nvSpPr>
            <p:cNvPr name="Freeform 45" id="45"/>
            <p:cNvSpPr/>
            <p:nvPr/>
          </p:nvSpPr>
          <p:spPr>
            <a:xfrm flipH="false" flipV="false" rot="0">
              <a:off x="16891" y="16891"/>
              <a:ext cx="5462016" cy="146304"/>
            </a:xfrm>
            <a:custGeom>
              <a:avLst/>
              <a:gdLst/>
              <a:ahLst/>
              <a:cxnLst/>
              <a:rect r="r" b="b" t="t" l="l"/>
              <a:pathLst>
                <a:path h="146304" w="5462016">
                  <a:moveTo>
                    <a:pt x="0" y="0"/>
                  </a:moveTo>
                  <a:lnTo>
                    <a:pt x="5462016" y="0"/>
                  </a:lnTo>
                  <a:lnTo>
                    <a:pt x="5462016" y="146304"/>
                  </a:lnTo>
                  <a:lnTo>
                    <a:pt x="0" y="146304"/>
                  </a:lnTo>
                  <a:close/>
                </a:path>
              </a:pathLst>
            </a:custGeom>
            <a:solidFill>
              <a:srgbClr val="C89A3E"/>
            </a:solidFill>
          </p:spPr>
        </p:sp>
        <p:sp>
          <p:nvSpPr>
            <p:cNvPr name="Freeform 46" id="46"/>
            <p:cNvSpPr/>
            <p:nvPr/>
          </p:nvSpPr>
          <p:spPr>
            <a:xfrm flipH="false" flipV="false" rot="0">
              <a:off x="0" y="0"/>
              <a:ext cx="5495798" cy="180088"/>
            </a:xfrm>
            <a:custGeom>
              <a:avLst/>
              <a:gdLst/>
              <a:ahLst/>
              <a:cxnLst/>
              <a:rect r="r" b="b" t="t" l="l"/>
              <a:pathLst>
                <a:path h="180088" w="5495798">
                  <a:moveTo>
                    <a:pt x="16891" y="0"/>
                  </a:moveTo>
                  <a:lnTo>
                    <a:pt x="5478907" y="0"/>
                  </a:lnTo>
                  <a:cubicBezTo>
                    <a:pt x="5488305" y="0"/>
                    <a:pt x="5495798" y="7620"/>
                    <a:pt x="5495798" y="16891"/>
                  </a:cubicBezTo>
                  <a:lnTo>
                    <a:pt x="5495798" y="163195"/>
                  </a:lnTo>
                  <a:cubicBezTo>
                    <a:pt x="5495798" y="172593"/>
                    <a:pt x="5488178" y="180086"/>
                    <a:pt x="5478907"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5478907" y="146304"/>
                  </a:lnTo>
                  <a:lnTo>
                    <a:pt x="5478907" y="163195"/>
                  </a:lnTo>
                  <a:lnTo>
                    <a:pt x="5462016" y="163195"/>
                  </a:lnTo>
                  <a:lnTo>
                    <a:pt x="5462016" y="16891"/>
                  </a:lnTo>
                  <a:lnTo>
                    <a:pt x="5478907" y="16891"/>
                  </a:lnTo>
                  <a:lnTo>
                    <a:pt x="5478907" y="33909"/>
                  </a:lnTo>
                  <a:lnTo>
                    <a:pt x="16891" y="33909"/>
                  </a:lnTo>
                  <a:close/>
                </a:path>
              </a:pathLst>
            </a:custGeom>
            <a:solidFill>
              <a:srgbClr val="C89A3E"/>
            </a:solidFill>
          </p:spPr>
        </p:sp>
      </p:grpSp>
      <p:grpSp>
        <p:nvGrpSpPr>
          <p:cNvPr name="Group 47" id="47"/>
          <p:cNvGrpSpPr/>
          <p:nvPr/>
        </p:nvGrpSpPr>
        <p:grpSpPr>
          <a:xfrm rot="0">
            <a:off x="9198864" y="2103120"/>
            <a:ext cx="4096512" cy="1079170"/>
            <a:chOff x="0" y="0"/>
            <a:chExt cx="5462016" cy="1438893"/>
          </a:xfrm>
        </p:grpSpPr>
        <p:sp>
          <p:nvSpPr>
            <p:cNvPr name="Freeform 48" id="48"/>
            <p:cNvSpPr/>
            <p:nvPr/>
          </p:nvSpPr>
          <p:spPr>
            <a:xfrm flipH="false" flipV="false" rot="0">
              <a:off x="0" y="0"/>
              <a:ext cx="5462016" cy="1438893"/>
            </a:xfrm>
            <a:custGeom>
              <a:avLst/>
              <a:gdLst/>
              <a:ahLst/>
              <a:cxnLst/>
              <a:rect r="r" b="b" t="t" l="l"/>
              <a:pathLst>
                <a:path h="1438893" w="5462016">
                  <a:moveTo>
                    <a:pt x="0" y="0"/>
                  </a:moveTo>
                  <a:lnTo>
                    <a:pt x="5462016" y="0"/>
                  </a:lnTo>
                  <a:lnTo>
                    <a:pt x="5462016" y="1438893"/>
                  </a:lnTo>
                  <a:lnTo>
                    <a:pt x="0" y="1438893"/>
                  </a:lnTo>
                  <a:close/>
                </a:path>
              </a:pathLst>
            </a:custGeom>
            <a:blipFill>
              <a:blip r:embed="rId3">
                <a:alphaModFix amt="0"/>
              </a:blip>
              <a:stretch>
                <a:fillRect l="0" t="-28209" r="0" b="-19720"/>
              </a:stretch>
            </a:blipFill>
          </p:spPr>
        </p:sp>
        <p:sp>
          <p:nvSpPr>
            <p:cNvPr name="TextBox 49" id="49"/>
            <p:cNvSpPr txBox="true"/>
            <p:nvPr/>
          </p:nvSpPr>
          <p:spPr>
            <a:xfrm>
              <a:off x="0" y="0"/>
              <a:ext cx="5462016" cy="1438893"/>
            </a:xfrm>
            <a:prstGeom prst="rect">
              <a:avLst/>
            </a:prstGeom>
          </p:spPr>
          <p:txBody>
            <a:bodyPr anchor="ctr" rtlCol="false" tIns="0" lIns="0" bIns="0" rIns="0"/>
            <a:lstStyle/>
            <a:p>
              <a:pPr algn="ctr">
                <a:lnSpc>
                  <a:spcPts val="6240"/>
                </a:lnSpc>
              </a:pPr>
              <a:r>
                <a:rPr lang="en-US" sz="5200" b="true">
                  <a:solidFill>
                    <a:srgbClr val="C89A3E"/>
                  </a:solidFill>
                  <a:latin typeface="EB Garamond Semi-Bold"/>
                  <a:ea typeface="EB Garamond Semi-Bold"/>
                  <a:cs typeface="EB Garamond Semi-Bold"/>
                  <a:sym typeface="EB Garamond Semi-Bold"/>
                </a:rPr>
                <a:t>122</a:t>
              </a:r>
            </a:p>
          </p:txBody>
        </p:sp>
      </p:grpSp>
      <p:grpSp>
        <p:nvGrpSpPr>
          <p:cNvPr name="Group 50" id="50"/>
          <p:cNvGrpSpPr/>
          <p:nvPr/>
        </p:nvGrpSpPr>
        <p:grpSpPr>
          <a:xfrm rot="0">
            <a:off x="9198864" y="3072384"/>
            <a:ext cx="4096512" cy="493776"/>
            <a:chOff x="0" y="0"/>
            <a:chExt cx="5462016" cy="658368"/>
          </a:xfrm>
        </p:grpSpPr>
        <p:sp>
          <p:nvSpPr>
            <p:cNvPr name="Freeform 51" id="51"/>
            <p:cNvSpPr/>
            <p:nvPr/>
          </p:nvSpPr>
          <p:spPr>
            <a:xfrm flipH="false" flipV="false" rot="0">
              <a:off x="0" y="0"/>
              <a:ext cx="5462016" cy="658368"/>
            </a:xfrm>
            <a:custGeom>
              <a:avLst/>
              <a:gdLst/>
              <a:ahLst/>
              <a:cxnLst/>
              <a:rect r="r" b="b" t="t" l="l"/>
              <a:pathLst>
                <a:path h="658368" w="5462016">
                  <a:moveTo>
                    <a:pt x="0" y="0"/>
                  </a:moveTo>
                  <a:lnTo>
                    <a:pt x="5462016" y="0"/>
                  </a:lnTo>
                  <a:lnTo>
                    <a:pt x="5462016" y="658368"/>
                  </a:lnTo>
                  <a:lnTo>
                    <a:pt x="0" y="658368"/>
                  </a:lnTo>
                  <a:close/>
                </a:path>
              </a:pathLst>
            </a:custGeom>
            <a:blipFill>
              <a:blip r:embed="rId3">
                <a:alphaModFix amt="0"/>
              </a:blip>
              <a:stretch>
                <a:fillRect l="0" t="-111653" r="0" b="-111653"/>
              </a:stretch>
            </a:blipFill>
          </p:spPr>
        </p:sp>
        <p:sp>
          <p:nvSpPr>
            <p:cNvPr name="TextBox 52" id="52"/>
            <p:cNvSpPr txBox="true"/>
            <p:nvPr/>
          </p:nvSpPr>
          <p:spPr>
            <a:xfrm>
              <a:off x="0" y="9525"/>
              <a:ext cx="5462016" cy="648843"/>
            </a:xfrm>
            <a:prstGeom prst="rect">
              <a:avLst/>
            </a:prstGeom>
          </p:spPr>
          <p:txBody>
            <a:bodyPr anchor="ctr" rtlCol="false" tIns="0" lIns="0" bIns="0" rIns="0"/>
            <a:lstStyle/>
            <a:p>
              <a:pPr algn="ctr">
                <a:lnSpc>
                  <a:spcPts val="2160"/>
                </a:lnSpc>
              </a:pPr>
              <a:r>
                <a:rPr lang="en-US" sz="1800" i="true">
                  <a:solidFill>
                    <a:srgbClr val="7B8FA1"/>
                  </a:solidFill>
                  <a:latin typeface="EB Garamond Italics"/>
                  <a:ea typeface="EB Garamond Italics"/>
                  <a:cs typeface="EB Garamond Italics"/>
                  <a:sym typeface="EB Garamond Italics"/>
                </a:rPr>
                <a:t>Cheptel max (UBT)</a:t>
              </a:r>
            </a:p>
          </p:txBody>
        </p:sp>
      </p:grpSp>
      <p:grpSp>
        <p:nvGrpSpPr>
          <p:cNvPr name="Group 53" id="53"/>
          <p:cNvGrpSpPr/>
          <p:nvPr/>
        </p:nvGrpSpPr>
        <p:grpSpPr>
          <a:xfrm rot="0">
            <a:off x="9198864" y="3474720"/>
            <a:ext cx="4096512" cy="475488"/>
            <a:chOff x="0" y="0"/>
            <a:chExt cx="5462016" cy="633984"/>
          </a:xfrm>
        </p:grpSpPr>
        <p:sp>
          <p:nvSpPr>
            <p:cNvPr name="Freeform 54" id="54"/>
            <p:cNvSpPr/>
            <p:nvPr/>
          </p:nvSpPr>
          <p:spPr>
            <a:xfrm flipH="false" flipV="false" rot="0">
              <a:off x="0" y="0"/>
              <a:ext cx="5462016" cy="633984"/>
            </a:xfrm>
            <a:custGeom>
              <a:avLst/>
              <a:gdLst/>
              <a:ahLst/>
              <a:cxnLst/>
              <a:rect r="r" b="b" t="t" l="l"/>
              <a:pathLst>
                <a:path h="633984" w="5462016">
                  <a:moveTo>
                    <a:pt x="0" y="0"/>
                  </a:moveTo>
                  <a:lnTo>
                    <a:pt x="5462016" y="0"/>
                  </a:lnTo>
                  <a:lnTo>
                    <a:pt x="5462016" y="633984"/>
                  </a:lnTo>
                  <a:lnTo>
                    <a:pt x="0" y="633984"/>
                  </a:lnTo>
                  <a:close/>
                </a:path>
              </a:pathLst>
            </a:custGeom>
            <a:blipFill>
              <a:blip r:embed="rId3">
                <a:alphaModFix amt="0"/>
              </a:blip>
              <a:stretch>
                <a:fillRect l="0" t="-117871" r="0" b="-117871"/>
              </a:stretch>
            </a:blipFill>
          </p:spPr>
        </p:sp>
        <p:sp>
          <p:nvSpPr>
            <p:cNvPr name="TextBox 55" id="55"/>
            <p:cNvSpPr txBox="true"/>
            <p:nvPr/>
          </p:nvSpPr>
          <p:spPr>
            <a:xfrm>
              <a:off x="0" y="9525"/>
              <a:ext cx="5462016" cy="624459"/>
            </a:xfrm>
            <a:prstGeom prst="rect">
              <a:avLst/>
            </a:prstGeom>
          </p:spPr>
          <p:txBody>
            <a:bodyPr anchor="ctr" rtlCol="false" tIns="0" lIns="0" bIns="0" rIns="0"/>
            <a:lstStyle/>
            <a:p>
              <a:pPr algn="ctr">
                <a:lnSpc>
                  <a:spcPts val="2160"/>
                </a:lnSpc>
              </a:pPr>
              <a:r>
                <a:rPr lang="en-US" sz="1800" b="true">
                  <a:solidFill>
                    <a:srgbClr val="C89A3E"/>
                  </a:solidFill>
                  <a:latin typeface="EB Garamond Semi-Bold"/>
                  <a:ea typeface="EB Garamond Semi-Bold"/>
                  <a:cs typeface="EB Garamond Semi-Bold"/>
                  <a:sym typeface="EB Garamond Semi-Bold"/>
                </a:rPr>
                <a:t>↑ Mauritanie</a:t>
              </a:r>
            </a:p>
          </p:txBody>
        </p:sp>
      </p:grpSp>
      <p:grpSp>
        <p:nvGrpSpPr>
          <p:cNvPr name="Group 56" id="56"/>
          <p:cNvGrpSpPr/>
          <p:nvPr/>
        </p:nvGrpSpPr>
        <p:grpSpPr>
          <a:xfrm rot="0">
            <a:off x="13468093" y="1910077"/>
            <a:ext cx="4116829" cy="2251453"/>
            <a:chOff x="0" y="0"/>
            <a:chExt cx="5489105" cy="3001937"/>
          </a:xfrm>
        </p:grpSpPr>
        <p:sp>
          <p:nvSpPr>
            <p:cNvPr name="Freeform 57" id="57"/>
            <p:cNvSpPr/>
            <p:nvPr/>
          </p:nvSpPr>
          <p:spPr>
            <a:xfrm flipH="false" flipV="false" rot="0">
              <a:off x="13589" y="13589"/>
              <a:ext cx="5462016" cy="2974848"/>
            </a:xfrm>
            <a:custGeom>
              <a:avLst/>
              <a:gdLst/>
              <a:ahLst/>
              <a:cxnLst/>
              <a:rect r="r" b="b" t="t" l="l"/>
              <a:pathLst>
                <a:path h="2974848" w="5462016">
                  <a:moveTo>
                    <a:pt x="0" y="243840"/>
                  </a:moveTo>
                  <a:cubicBezTo>
                    <a:pt x="0" y="109220"/>
                    <a:pt x="109601" y="0"/>
                    <a:pt x="244856" y="0"/>
                  </a:cubicBezTo>
                  <a:lnTo>
                    <a:pt x="5217160" y="0"/>
                  </a:lnTo>
                  <a:cubicBezTo>
                    <a:pt x="5352415" y="0"/>
                    <a:pt x="5462016" y="109220"/>
                    <a:pt x="5462016" y="243840"/>
                  </a:cubicBezTo>
                  <a:lnTo>
                    <a:pt x="5462016" y="2731008"/>
                  </a:lnTo>
                  <a:cubicBezTo>
                    <a:pt x="5462016" y="2865628"/>
                    <a:pt x="5352415" y="2974848"/>
                    <a:pt x="5217160" y="2974848"/>
                  </a:cubicBezTo>
                  <a:lnTo>
                    <a:pt x="244856" y="2974848"/>
                  </a:lnTo>
                  <a:cubicBezTo>
                    <a:pt x="109601" y="2974848"/>
                    <a:pt x="0" y="2865628"/>
                    <a:pt x="0" y="2731008"/>
                  </a:cubicBezTo>
                  <a:close/>
                </a:path>
              </a:pathLst>
            </a:custGeom>
            <a:solidFill>
              <a:srgbClr val="FFFFFF"/>
            </a:solidFill>
          </p:spPr>
        </p:sp>
        <p:sp>
          <p:nvSpPr>
            <p:cNvPr name="Freeform 58" id="58"/>
            <p:cNvSpPr/>
            <p:nvPr/>
          </p:nvSpPr>
          <p:spPr>
            <a:xfrm flipH="false" flipV="false" rot="0">
              <a:off x="0" y="0"/>
              <a:ext cx="5489194" cy="3002026"/>
            </a:xfrm>
            <a:custGeom>
              <a:avLst/>
              <a:gdLst/>
              <a:ahLst/>
              <a:cxnLst/>
              <a:rect r="r" b="b" t="t" l="l"/>
              <a:pathLst>
                <a:path h="3002026" w="5489194">
                  <a:moveTo>
                    <a:pt x="0" y="257429"/>
                  </a:moveTo>
                  <a:cubicBezTo>
                    <a:pt x="0" y="115189"/>
                    <a:pt x="115697" y="0"/>
                    <a:pt x="258445" y="0"/>
                  </a:cubicBezTo>
                  <a:lnTo>
                    <a:pt x="5230749" y="0"/>
                  </a:lnTo>
                  <a:lnTo>
                    <a:pt x="5230749" y="13589"/>
                  </a:lnTo>
                  <a:lnTo>
                    <a:pt x="5230749" y="0"/>
                  </a:lnTo>
                  <a:cubicBezTo>
                    <a:pt x="5373370" y="0"/>
                    <a:pt x="5489194" y="115189"/>
                    <a:pt x="5489194" y="257429"/>
                  </a:cubicBezTo>
                  <a:lnTo>
                    <a:pt x="5475605" y="257429"/>
                  </a:lnTo>
                  <a:lnTo>
                    <a:pt x="5489194" y="257429"/>
                  </a:lnTo>
                  <a:lnTo>
                    <a:pt x="5489194" y="2744597"/>
                  </a:lnTo>
                  <a:lnTo>
                    <a:pt x="5475605" y="2744597"/>
                  </a:lnTo>
                  <a:lnTo>
                    <a:pt x="5489194" y="2744597"/>
                  </a:lnTo>
                  <a:cubicBezTo>
                    <a:pt x="5489194" y="2886837"/>
                    <a:pt x="5373497" y="3002026"/>
                    <a:pt x="5230749" y="3002026"/>
                  </a:cubicBezTo>
                  <a:lnTo>
                    <a:pt x="5230749" y="2988437"/>
                  </a:lnTo>
                  <a:lnTo>
                    <a:pt x="5230749" y="3002026"/>
                  </a:lnTo>
                  <a:lnTo>
                    <a:pt x="258445" y="3002026"/>
                  </a:lnTo>
                  <a:lnTo>
                    <a:pt x="258445" y="2988437"/>
                  </a:lnTo>
                  <a:lnTo>
                    <a:pt x="258445" y="3002026"/>
                  </a:lnTo>
                  <a:cubicBezTo>
                    <a:pt x="115697" y="3001899"/>
                    <a:pt x="0" y="2886710"/>
                    <a:pt x="0" y="2744597"/>
                  </a:cubicBezTo>
                  <a:lnTo>
                    <a:pt x="0" y="257429"/>
                  </a:lnTo>
                  <a:lnTo>
                    <a:pt x="13589" y="257429"/>
                  </a:lnTo>
                  <a:lnTo>
                    <a:pt x="0" y="257429"/>
                  </a:lnTo>
                  <a:moveTo>
                    <a:pt x="27051" y="257429"/>
                  </a:moveTo>
                  <a:lnTo>
                    <a:pt x="27051" y="2744597"/>
                  </a:lnTo>
                  <a:lnTo>
                    <a:pt x="13589" y="2744597"/>
                  </a:lnTo>
                  <a:lnTo>
                    <a:pt x="27051" y="2744597"/>
                  </a:lnTo>
                  <a:cubicBezTo>
                    <a:pt x="27051" y="2871724"/>
                    <a:pt x="130556" y="2974848"/>
                    <a:pt x="258318" y="2974848"/>
                  </a:cubicBezTo>
                  <a:lnTo>
                    <a:pt x="5230749" y="2974848"/>
                  </a:lnTo>
                  <a:cubicBezTo>
                    <a:pt x="5358511" y="2974848"/>
                    <a:pt x="5462016" y="2871724"/>
                    <a:pt x="5462016" y="2744597"/>
                  </a:cubicBezTo>
                  <a:lnTo>
                    <a:pt x="5462016" y="257429"/>
                  </a:lnTo>
                  <a:cubicBezTo>
                    <a:pt x="5462016" y="130302"/>
                    <a:pt x="5358511" y="27178"/>
                    <a:pt x="5230749" y="27178"/>
                  </a:cubicBezTo>
                  <a:lnTo>
                    <a:pt x="258445" y="27178"/>
                  </a:lnTo>
                  <a:lnTo>
                    <a:pt x="258445" y="13589"/>
                  </a:lnTo>
                  <a:lnTo>
                    <a:pt x="258445" y="27051"/>
                  </a:lnTo>
                  <a:cubicBezTo>
                    <a:pt x="130683" y="27051"/>
                    <a:pt x="27178" y="130175"/>
                    <a:pt x="27178" y="257302"/>
                  </a:cubicBezTo>
                  <a:close/>
                </a:path>
              </a:pathLst>
            </a:custGeom>
            <a:solidFill>
              <a:srgbClr val="BDC8D5"/>
            </a:solidFill>
          </p:spPr>
        </p:sp>
      </p:grpSp>
      <p:grpSp>
        <p:nvGrpSpPr>
          <p:cNvPr name="Group 59" id="59"/>
          <p:cNvGrpSpPr/>
          <p:nvPr/>
        </p:nvGrpSpPr>
        <p:grpSpPr>
          <a:xfrm rot="0">
            <a:off x="13465559" y="1907543"/>
            <a:ext cx="4121915" cy="135131"/>
            <a:chOff x="0" y="0"/>
            <a:chExt cx="5495887" cy="180175"/>
          </a:xfrm>
        </p:grpSpPr>
        <p:sp>
          <p:nvSpPr>
            <p:cNvPr name="Freeform 60" id="60"/>
            <p:cNvSpPr/>
            <p:nvPr/>
          </p:nvSpPr>
          <p:spPr>
            <a:xfrm flipH="false" flipV="false" rot="0">
              <a:off x="16891" y="16891"/>
              <a:ext cx="5462016" cy="146304"/>
            </a:xfrm>
            <a:custGeom>
              <a:avLst/>
              <a:gdLst/>
              <a:ahLst/>
              <a:cxnLst/>
              <a:rect r="r" b="b" t="t" l="l"/>
              <a:pathLst>
                <a:path h="146304" w="5462016">
                  <a:moveTo>
                    <a:pt x="0" y="0"/>
                  </a:moveTo>
                  <a:lnTo>
                    <a:pt x="5462016" y="0"/>
                  </a:lnTo>
                  <a:lnTo>
                    <a:pt x="5462016" y="146304"/>
                  </a:lnTo>
                  <a:lnTo>
                    <a:pt x="0" y="146304"/>
                  </a:lnTo>
                  <a:close/>
                </a:path>
              </a:pathLst>
            </a:custGeom>
            <a:solidFill>
              <a:srgbClr val="C0614E"/>
            </a:solidFill>
          </p:spPr>
        </p:sp>
        <p:sp>
          <p:nvSpPr>
            <p:cNvPr name="Freeform 61" id="61"/>
            <p:cNvSpPr/>
            <p:nvPr/>
          </p:nvSpPr>
          <p:spPr>
            <a:xfrm flipH="false" flipV="false" rot="0">
              <a:off x="0" y="0"/>
              <a:ext cx="5495798" cy="180088"/>
            </a:xfrm>
            <a:custGeom>
              <a:avLst/>
              <a:gdLst/>
              <a:ahLst/>
              <a:cxnLst/>
              <a:rect r="r" b="b" t="t" l="l"/>
              <a:pathLst>
                <a:path h="180088" w="5495798">
                  <a:moveTo>
                    <a:pt x="16891" y="0"/>
                  </a:moveTo>
                  <a:lnTo>
                    <a:pt x="5478907" y="0"/>
                  </a:lnTo>
                  <a:cubicBezTo>
                    <a:pt x="5488305" y="0"/>
                    <a:pt x="5495798" y="7620"/>
                    <a:pt x="5495798" y="16891"/>
                  </a:cubicBezTo>
                  <a:lnTo>
                    <a:pt x="5495798" y="163195"/>
                  </a:lnTo>
                  <a:cubicBezTo>
                    <a:pt x="5495798" y="172593"/>
                    <a:pt x="5488178" y="180086"/>
                    <a:pt x="5478907"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5478907" y="146304"/>
                  </a:lnTo>
                  <a:lnTo>
                    <a:pt x="5478907" y="163195"/>
                  </a:lnTo>
                  <a:lnTo>
                    <a:pt x="5462016" y="163195"/>
                  </a:lnTo>
                  <a:lnTo>
                    <a:pt x="5462016" y="16891"/>
                  </a:lnTo>
                  <a:lnTo>
                    <a:pt x="5478907" y="16891"/>
                  </a:lnTo>
                  <a:lnTo>
                    <a:pt x="5478907" y="33909"/>
                  </a:lnTo>
                  <a:lnTo>
                    <a:pt x="16891" y="33909"/>
                  </a:lnTo>
                  <a:close/>
                </a:path>
              </a:pathLst>
            </a:custGeom>
            <a:solidFill>
              <a:srgbClr val="C0614E"/>
            </a:solidFill>
          </p:spPr>
        </p:sp>
      </p:grpSp>
      <p:grpSp>
        <p:nvGrpSpPr>
          <p:cNvPr name="Group 62" id="62"/>
          <p:cNvGrpSpPr/>
          <p:nvPr/>
        </p:nvGrpSpPr>
        <p:grpSpPr>
          <a:xfrm rot="0">
            <a:off x="13478256" y="2103120"/>
            <a:ext cx="4096512" cy="1079170"/>
            <a:chOff x="0" y="0"/>
            <a:chExt cx="5462016" cy="1438893"/>
          </a:xfrm>
        </p:grpSpPr>
        <p:sp>
          <p:nvSpPr>
            <p:cNvPr name="Freeform 63" id="63"/>
            <p:cNvSpPr/>
            <p:nvPr/>
          </p:nvSpPr>
          <p:spPr>
            <a:xfrm flipH="false" flipV="false" rot="0">
              <a:off x="0" y="0"/>
              <a:ext cx="5462016" cy="1438893"/>
            </a:xfrm>
            <a:custGeom>
              <a:avLst/>
              <a:gdLst/>
              <a:ahLst/>
              <a:cxnLst/>
              <a:rect r="r" b="b" t="t" l="l"/>
              <a:pathLst>
                <a:path h="1438893" w="5462016">
                  <a:moveTo>
                    <a:pt x="0" y="0"/>
                  </a:moveTo>
                  <a:lnTo>
                    <a:pt x="5462016" y="0"/>
                  </a:lnTo>
                  <a:lnTo>
                    <a:pt x="5462016" y="1438893"/>
                  </a:lnTo>
                  <a:lnTo>
                    <a:pt x="0" y="1438893"/>
                  </a:lnTo>
                  <a:close/>
                </a:path>
              </a:pathLst>
            </a:custGeom>
            <a:blipFill>
              <a:blip r:embed="rId3">
                <a:alphaModFix amt="0"/>
              </a:blip>
              <a:stretch>
                <a:fillRect l="0" t="-28209" r="0" b="-19720"/>
              </a:stretch>
            </a:blipFill>
          </p:spPr>
        </p:sp>
        <p:sp>
          <p:nvSpPr>
            <p:cNvPr name="TextBox 64" id="64"/>
            <p:cNvSpPr txBox="true"/>
            <p:nvPr/>
          </p:nvSpPr>
          <p:spPr>
            <a:xfrm>
              <a:off x="0" y="0"/>
              <a:ext cx="5462016" cy="1438893"/>
            </a:xfrm>
            <a:prstGeom prst="rect">
              <a:avLst/>
            </a:prstGeom>
          </p:spPr>
          <p:txBody>
            <a:bodyPr anchor="ctr" rtlCol="false" tIns="0" lIns="0" bIns="0" rIns="0"/>
            <a:lstStyle/>
            <a:p>
              <a:pPr algn="ctr">
                <a:lnSpc>
                  <a:spcPts val="6240"/>
                </a:lnSpc>
              </a:pPr>
              <a:r>
                <a:rPr lang="en-US" sz="5200" b="true">
                  <a:solidFill>
                    <a:srgbClr val="C0614E"/>
                  </a:solidFill>
                  <a:latin typeface="EB Garamond Semi-Bold"/>
                  <a:ea typeface="EB Garamond Semi-Bold"/>
                  <a:cs typeface="EB Garamond Semi-Bold"/>
                  <a:sym typeface="EB Garamond Semi-Bold"/>
                </a:rPr>
                <a:t>9,0</a:t>
              </a:r>
            </a:p>
          </p:txBody>
        </p:sp>
      </p:grpSp>
      <p:grpSp>
        <p:nvGrpSpPr>
          <p:cNvPr name="Group 65" id="65"/>
          <p:cNvGrpSpPr/>
          <p:nvPr/>
        </p:nvGrpSpPr>
        <p:grpSpPr>
          <a:xfrm rot="0">
            <a:off x="13478256" y="3072384"/>
            <a:ext cx="4096512" cy="493776"/>
            <a:chOff x="0" y="0"/>
            <a:chExt cx="5462016" cy="658368"/>
          </a:xfrm>
        </p:grpSpPr>
        <p:sp>
          <p:nvSpPr>
            <p:cNvPr name="Freeform 66" id="66"/>
            <p:cNvSpPr/>
            <p:nvPr/>
          </p:nvSpPr>
          <p:spPr>
            <a:xfrm flipH="false" flipV="false" rot="0">
              <a:off x="0" y="0"/>
              <a:ext cx="5462016" cy="658368"/>
            </a:xfrm>
            <a:custGeom>
              <a:avLst/>
              <a:gdLst/>
              <a:ahLst/>
              <a:cxnLst/>
              <a:rect r="r" b="b" t="t" l="l"/>
              <a:pathLst>
                <a:path h="658368" w="5462016">
                  <a:moveTo>
                    <a:pt x="0" y="0"/>
                  </a:moveTo>
                  <a:lnTo>
                    <a:pt x="5462016" y="0"/>
                  </a:lnTo>
                  <a:lnTo>
                    <a:pt x="5462016" y="658368"/>
                  </a:lnTo>
                  <a:lnTo>
                    <a:pt x="0" y="658368"/>
                  </a:lnTo>
                  <a:close/>
                </a:path>
              </a:pathLst>
            </a:custGeom>
            <a:blipFill>
              <a:blip r:embed="rId3">
                <a:alphaModFix amt="0"/>
              </a:blip>
              <a:stretch>
                <a:fillRect l="0" t="-111653" r="0" b="-111653"/>
              </a:stretch>
            </a:blipFill>
          </p:spPr>
        </p:sp>
        <p:sp>
          <p:nvSpPr>
            <p:cNvPr name="TextBox 67" id="67"/>
            <p:cNvSpPr txBox="true"/>
            <p:nvPr/>
          </p:nvSpPr>
          <p:spPr>
            <a:xfrm>
              <a:off x="0" y="9525"/>
              <a:ext cx="5462016" cy="648843"/>
            </a:xfrm>
            <a:prstGeom prst="rect">
              <a:avLst/>
            </a:prstGeom>
          </p:spPr>
          <p:txBody>
            <a:bodyPr anchor="ctr" rtlCol="false" tIns="0" lIns="0" bIns="0" rIns="0"/>
            <a:lstStyle/>
            <a:p>
              <a:pPr algn="ctr">
                <a:lnSpc>
                  <a:spcPts val="2160"/>
                </a:lnSpc>
              </a:pPr>
              <a:r>
                <a:rPr lang="en-US" sz="1800" i="true">
                  <a:solidFill>
                    <a:srgbClr val="7B8FA1"/>
                  </a:solidFill>
                  <a:latin typeface="EB Garamond Italics"/>
                  <a:ea typeface="EB Garamond Italics"/>
                  <a:cs typeface="EB Garamond Italics"/>
                  <a:sym typeface="EB Garamond Italics"/>
                </a:rPr>
                <a:t>Viabilité max</a:t>
              </a:r>
            </a:p>
          </p:txBody>
        </p:sp>
      </p:grpSp>
      <p:grpSp>
        <p:nvGrpSpPr>
          <p:cNvPr name="Group 68" id="68"/>
          <p:cNvGrpSpPr/>
          <p:nvPr/>
        </p:nvGrpSpPr>
        <p:grpSpPr>
          <a:xfrm rot="0">
            <a:off x="13478256" y="3474720"/>
            <a:ext cx="4096512" cy="475488"/>
            <a:chOff x="0" y="0"/>
            <a:chExt cx="5462016" cy="633984"/>
          </a:xfrm>
        </p:grpSpPr>
        <p:sp>
          <p:nvSpPr>
            <p:cNvPr name="Freeform 69" id="69"/>
            <p:cNvSpPr/>
            <p:nvPr/>
          </p:nvSpPr>
          <p:spPr>
            <a:xfrm flipH="false" flipV="false" rot="0">
              <a:off x="0" y="0"/>
              <a:ext cx="5462016" cy="633984"/>
            </a:xfrm>
            <a:custGeom>
              <a:avLst/>
              <a:gdLst/>
              <a:ahLst/>
              <a:cxnLst/>
              <a:rect r="r" b="b" t="t" l="l"/>
              <a:pathLst>
                <a:path h="633984" w="5462016">
                  <a:moveTo>
                    <a:pt x="0" y="0"/>
                  </a:moveTo>
                  <a:lnTo>
                    <a:pt x="5462016" y="0"/>
                  </a:lnTo>
                  <a:lnTo>
                    <a:pt x="5462016" y="633984"/>
                  </a:lnTo>
                  <a:lnTo>
                    <a:pt x="0" y="633984"/>
                  </a:lnTo>
                  <a:close/>
                </a:path>
              </a:pathLst>
            </a:custGeom>
            <a:blipFill>
              <a:blip r:embed="rId3">
                <a:alphaModFix amt="0"/>
              </a:blip>
              <a:stretch>
                <a:fillRect l="0" t="-117871" r="0" b="-117871"/>
              </a:stretch>
            </a:blipFill>
          </p:spPr>
        </p:sp>
        <p:sp>
          <p:nvSpPr>
            <p:cNvPr name="TextBox 70" id="70"/>
            <p:cNvSpPr txBox="true"/>
            <p:nvPr/>
          </p:nvSpPr>
          <p:spPr>
            <a:xfrm>
              <a:off x="0" y="9525"/>
              <a:ext cx="5462016" cy="624459"/>
            </a:xfrm>
            <a:prstGeom prst="rect">
              <a:avLst/>
            </a:prstGeom>
          </p:spPr>
          <p:txBody>
            <a:bodyPr anchor="ctr" rtlCol="false" tIns="0" lIns="0" bIns="0" rIns="0"/>
            <a:lstStyle/>
            <a:p>
              <a:pPr algn="ctr">
                <a:lnSpc>
                  <a:spcPts val="2160"/>
                </a:lnSpc>
              </a:pPr>
              <a:r>
                <a:rPr lang="en-US" sz="1800" b="true">
                  <a:solidFill>
                    <a:srgbClr val="C0614E"/>
                  </a:solidFill>
                  <a:latin typeface="EB Garamond Semi-Bold"/>
                  <a:ea typeface="EB Garamond Semi-Bold"/>
                  <a:cs typeface="EB Garamond Semi-Bold"/>
                  <a:sym typeface="EB Garamond Semi-Bold"/>
                </a:rPr>
                <a:t>↑ Mauritanie</a:t>
              </a:r>
            </a:p>
          </p:txBody>
        </p:sp>
      </p:grpSp>
      <p:grpSp>
        <p:nvGrpSpPr>
          <p:cNvPr name="Group 71" id="71"/>
          <p:cNvGrpSpPr/>
          <p:nvPr/>
        </p:nvGrpSpPr>
        <p:grpSpPr>
          <a:xfrm rot="0">
            <a:off x="629917" y="4415533"/>
            <a:ext cx="8432797" cy="5433565"/>
            <a:chOff x="0" y="0"/>
            <a:chExt cx="11243729" cy="7244753"/>
          </a:xfrm>
        </p:grpSpPr>
        <p:sp>
          <p:nvSpPr>
            <p:cNvPr name="Freeform 72" id="72"/>
            <p:cNvSpPr/>
            <p:nvPr/>
          </p:nvSpPr>
          <p:spPr>
            <a:xfrm flipH="false" flipV="false" rot="0">
              <a:off x="13589" y="13462"/>
              <a:ext cx="11216512" cy="7217791"/>
            </a:xfrm>
            <a:custGeom>
              <a:avLst/>
              <a:gdLst/>
              <a:ahLst/>
              <a:cxnLst/>
              <a:rect r="r" b="b" t="t" l="l"/>
              <a:pathLst>
                <a:path h="7217791" w="11216512">
                  <a:moveTo>
                    <a:pt x="0" y="243840"/>
                  </a:moveTo>
                  <a:cubicBezTo>
                    <a:pt x="0" y="109220"/>
                    <a:pt x="109347" y="0"/>
                    <a:pt x="244094" y="0"/>
                  </a:cubicBezTo>
                  <a:lnTo>
                    <a:pt x="10972419" y="0"/>
                  </a:lnTo>
                  <a:cubicBezTo>
                    <a:pt x="11107293" y="0"/>
                    <a:pt x="11216512" y="109220"/>
                    <a:pt x="11216512" y="243840"/>
                  </a:cubicBezTo>
                  <a:lnTo>
                    <a:pt x="11216512" y="6973951"/>
                  </a:lnTo>
                  <a:cubicBezTo>
                    <a:pt x="11216512" y="7108571"/>
                    <a:pt x="11107166" y="7217791"/>
                    <a:pt x="10972419" y="7217791"/>
                  </a:cubicBezTo>
                  <a:lnTo>
                    <a:pt x="244094" y="7217791"/>
                  </a:lnTo>
                  <a:cubicBezTo>
                    <a:pt x="109220" y="7217791"/>
                    <a:pt x="0" y="7108571"/>
                    <a:pt x="0" y="6973951"/>
                  </a:cubicBezTo>
                  <a:close/>
                </a:path>
              </a:pathLst>
            </a:custGeom>
            <a:solidFill>
              <a:srgbClr val="FFFFFF"/>
            </a:solidFill>
          </p:spPr>
        </p:sp>
        <p:sp>
          <p:nvSpPr>
            <p:cNvPr name="Freeform 73" id="73"/>
            <p:cNvSpPr/>
            <p:nvPr/>
          </p:nvSpPr>
          <p:spPr>
            <a:xfrm flipH="false" flipV="false" rot="0">
              <a:off x="0" y="0"/>
              <a:ext cx="11243690" cy="7244715"/>
            </a:xfrm>
            <a:custGeom>
              <a:avLst/>
              <a:gdLst/>
              <a:ahLst/>
              <a:cxnLst/>
              <a:rect r="r" b="b" t="t" l="l"/>
              <a:pathLst>
                <a:path h="7244715" w="11243690">
                  <a:moveTo>
                    <a:pt x="0" y="257302"/>
                  </a:moveTo>
                  <a:cubicBezTo>
                    <a:pt x="0" y="115189"/>
                    <a:pt x="115443" y="0"/>
                    <a:pt x="257683" y="0"/>
                  </a:cubicBezTo>
                  <a:lnTo>
                    <a:pt x="10986008" y="0"/>
                  </a:lnTo>
                  <a:lnTo>
                    <a:pt x="10986008" y="13589"/>
                  </a:lnTo>
                  <a:lnTo>
                    <a:pt x="10986008" y="0"/>
                  </a:lnTo>
                  <a:cubicBezTo>
                    <a:pt x="11128248" y="0"/>
                    <a:pt x="11243690" y="115189"/>
                    <a:pt x="11243690" y="257302"/>
                  </a:cubicBezTo>
                  <a:lnTo>
                    <a:pt x="11230101" y="257302"/>
                  </a:lnTo>
                  <a:lnTo>
                    <a:pt x="11243690" y="257302"/>
                  </a:lnTo>
                  <a:lnTo>
                    <a:pt x="11243690" y="6987413"/>
                  </a:lnTo>
                  <a:lnTo>
                    <a:pt x="11230101" y="6987413"/>
                  </a:lnTo>
                  <a:lnTo>
                    <a:pt x="11243690" y="6987413"/>
                  </a:lnTo>
                  <a:cubicBezTo>
                    <a:pt x="11243690" y="7129526"/>
                    <a:pt x="11128248" y="7244715"/>
                    <a:pt x="10986008" y="7244715"/>
                  </a:cubicBezTo>
                  <a:lnTo>
                    <a:pt x="10986008" y="7231126"/>
                  </a:lnTo>
                  <a:lnTo>
                    <a:pt x="10986008" y="7244715"/>
                  </a:lnTo>
                  <a:lnTo>
                    <a:pt x="257683" y="7244715"/>
                  </a:lnTo>
                  <a:lnTo>
                    <a:pt x="257683" y="7231126"/>
                  </a:lnTo>
                  <a:lnTo>
                    <a:pt x="257683" y="7244715"/>
                  </a:lnTo>
                  <a:cubicBezTo>
                    <a:pt x="115443" y="7244715"/>
                    <a:pt x="0" y="7129526"/>
                    <a:pt x="0" y="6987413"/>
                  </a:cubicBezTo>
                  <a:lnTo>
                    <a:pt x="0" y="257302"/>
                  </a:lnTo>
                  <a:lnTo>
                    <a:pt x="13589" y="257302"/>
                  </a:lnTo>
                  <a:lnTo>
                    <a:pt x="0" y="257302"/>
                  </a:lnTo>
                  <a:moveTo>
                    <a:pt x="27051" y="257302"/>
                  </a:moveTo>
                  <a:lnTo>
                    <a:pt x="27051" y="6987413"/>
                  </a:lnTo>
                  <a:lnTo>
                    <a:pt x="13589" y="6987413"/>
                  </a:lnTo>
                  <a:lnTo>
                    <a:pt x="27051" y="6987413"/>
                  </a:lnTo>
                  <a:cubicBezTo>
                    <a:pt x="27051" y="7114540"/>
                    <a:pt x="130302" y="7217664"/>
                    <a:pt x="257683" y="7217664"/>
                  </a:cubicBezTo>
                  <a:lnTo>
                    <a:pt x="10986008" y="7217664"/>
                  </a:lnTo>
                  <a:cubicBezTo>
                    <a:pt x="11113389" y="7217664"/>
                    <a:pt x="11216639" y="7114540"/>
                    <a:pt x="11216639" y="6987413"/>
                  </a:cubicBezTo>
                  <a:lnTo>
                    <a:pt x="11216639" y="257302"/>
                  </a:lnTo>
                  <a:cubicBezTo>
                    <a:pt x="11216639" y="130175"/>
                    <a:pt x="11113389" y="27051"/>
                    <a:pt x="10986008" y="27051"/>
                  </a:cubicBezTo>
                  <a:lnTo>
                    <a:pt x="257683" y="27051"/>
                  </a:lnTo>
                  <a:lnTo>
                    <a:pt x="257683" y="13589"/>
                  </a:lnTo>
                  <a:lnTo>
                    <a:pt x="257683" y="27051"/>
                  </a:lnTo>
                  <a:cubicBezTo>
                    <a:pt x="130302" y="27051"/>
                    <a:pt x="27051" y="130175"/>
                    <a:pt x="27051" y="257302"/>
                  </a:cubicBezTo>
                  <a:close/>
                </a:path>
              </a:pathLst>
            </a:custGeom>
            <a:solidFill>
              <a:srgbClr val="BDC8D5"/>
            </a:solidFill>
          </p:spPr>
        </p:sp>
      </p:grpSp>
      <p:grpSp>
        <p:nvGrpSpPr>
          <p:cNvPr name="Group 74" id="74"/>
          <p:cNvGrpSpPr/>
          <p:nvPr/>
        </p:nvGrpSpPr>
        <p:grpSpPr>
          <a:xfrm rot="0">
            <a:off x="950976" y="4608576"/>
            <a:ext cx="7863840" cy="548640"/>
            <a:chOff x="0" y="0"/>
            <a:chExt cx="10485120" cy="731520"/>
          </a:xfrm>
        </p:grpSpPr>
        <p:sp>
          <p:nvSpPr>
            <p:cNvPr name="Freeform 75" id="75"/>
            <p:cNvSpPr/>
            <p:nvPr/>
          </p:nvSpPr>
          <p:spPr>
            <a:xfrm flipH="false" flipV="false" rot="0">
              <a:off x="0" y="0"/>
              <a:ext cx="10485120" cy="731520"/>
            </a:xfrm>
            <a:custGeom>
              <a:avLst/>
              <a:gdLst/>
              <a:ahLst/>
              <a:cxnLst/>
              <a:rect r="r" b="b" t="t" l="l"/>
              <a:pathLst>
                <a:path h="731520" w="10485120">
                  <a:moveTo>
                    <a:pt x="0" y="0"/>
                  </a:moveTo>
                  <a:lnTo>
                    <a:pt x="10485120" y="0"/>
                  </a:lnTo>
                  <a:lnTo>
                    <a:pt x="10485120" y="731520"/>
                  </a:lnTo>
                  <a:lnTo>
                    <a:pt x="0" y="731520"/>
                  </a:lnTo>
                  <a:close/>
                </a:path>
              </a:pathLst>
            </a:custGeom>
            <a:blipFill>
              <a:blip r:embed="rId3">
                <a:alphaModFix amt="0"/>
              </a:blip>
              <a:stretch>
                <a:fillRect l="0" t="-229285" r="0" b="-229285"/>
              </a:stretch>
            </a:blipFill>
          </p:spPr>
        </p:sp>
        <p:sp>
          <p:nvSpPr>
            <p:cNvPr name="TextBox 76" id="76"/>
            <p:cNvSpPr txBox="true"/>
            <p:nvPr/>
          </p:nvSpPr>
          <p:spPr>
            <a:xfrm>
              <a:off x="0" y="0"/>
              <a:ext cx="10485120" cy="731520"/>
            </a:xfrm>
            <a:prstGeom prst="rect">
              <a:avLst/>
            </a:prstGeom>
          </p:spPr>
          <p:txBody>
            <a:bodyPr anchor="ctr" rtlCol="false" tIns="0" lIns="0" bIns="0" rIns="0"/>
            <a:lstStyle/>
            <a:p>
              <a:pPr algn="l">
                <a:lnSpc>
                  <a:spcPts val="2760"/>
                </a:lnSpc>
              </a:pPr>
              <a:r>
                <a:rPr lang="en-US" sz="2300" b="true">
                  <a:solidFill>
                    <a:srgbClr val="1C2E40"/>
                  </a:solidFill>
                  <a:latin typeface="EB Garamond Semi-Bold"/>
                  <a:ea typeface="EB Garamond Semi-Bold"/>
                  <a:cs typeface="EB Garamond Semi-Bold"/>
                  <a:sym typeface="EB Garamond Semi-Bold"/>
                </a:rPr>
                <a:t>Taille du cheptel en UBT (moyenne par pays)</a:t>
              </a:r>
            </a:p>
          </p:txBody>
        </p:sp>
      </p:grpSp>
      <p:pic>
        <p:nvPicPr>
          <p:cNvPr name="Picture 77" id="77"/>
          <p:cNvPicPr>
            <a:picLocks noChangeAspect="true"/>
          </p:cNvPicPr>
          <p:nvPr/>
        </p:nvPicPr>
        <p:blipFill>
          <a:blip r:embed="rId4"/>
          <a:stretch>
            <a:fillRect/>
          </a:stretch>
        </p:blipFill>
        <p:spPr>
          <a:xfrm rot="0">
            <a:off x="23774" y="4353458"/>
            <a:ext cx="9590227" cy="6294825"/>
          </a:xfrm>
          <a:prstGeom prst="rect">
            <a:avLst/>
          </a:prstGeom>
        </p:spPr>
      </p:pic>
      <p:grpSp>
        <p:nvGrpSpPr>
          <p:cNvPr name="Group 78" id="78"/>
          <p:cNvGrpSpPr/>
          <p:nvPr/>
        </p:nvGrpSpPr>
        <p:grpSpPr>
          <a:xfrm rot="0">
            <a:off x="9591037" y="4415533"/>
            <a:ext cx="8067037" cy="5433565"/>
            <a:chOff x="0" y="0"/>
            <a:chExt cx="10756049" cy="7244753"/>
          </a:xfrm>
        </p:grpSpPr>
        <p:sp>
          <p:nvSpPr>
            <p:cNvPr name="Freeform 79" id="79"/>
            <p:cNvSpPr/>
            <p:nvPr/>
          </p:nvSpPr>
          <p:spPr>
            <a:xfrm flipH="false" flipV="false" rot="0">
              <a:off x="13589" y="13462"/>
              <a:ext cx="10728960" cy="7217791"/>
            </a:xfrm>
            <a:custGeom>
              <a:avLst/>
              <a:gdLst/>
              <a:ahLst/>
              <a:cxnLst/>
              <a:rect r="r" b="b" t="t" l="l"/>
              <a:pathLst>
                <a:path h="7217791" w="10728960">
                  <a:moveTo>
                    <a:pt x="0" y="243840"/>
                  </a:moveTo>
                  <a:cubicBezTo>
                    <a:pt x="0" y="109220"/>
                    <a:pt x="109347" y="0"/>
                    <a:pt x="244094" y="0"/>
                  </a:cubicBezTo>
                  <a:lnTo>
                    <a:pt x="10484866" y="0"/>
                  </a:lnTo>
                  <a:cubicBezTo>
                    <a:pt x="10619740" y="0"/>
                    <a:pt x="10728960" y="109220"/>
                    <a:pt x="10728960" y="243840"/>
                  </a:cubicBezTo>
                  <a:lnTo>
                    <a:pt x="10728960" y="6973951"/>
                  </a:lnTo>
                  <a:cubicBezTo>
                    <a:pt x="10728960" y="7108571"/>
                    <a:pt x="10619613" y="7217791"/>
                    <a:pt x="10484866" y="7217791"/>
                  </a:cubicBezTo>
                  <a:lnTo>
                    <a:pt x="244094" y="7217791"/>
                  </a:lnTo>
                  <a:cubicBezTo>
                    <a:pt x="109220" y="7217791"/>
                    <a:pt x="0" y="7108571"/>
                    <a:pt x="0" y="6973951"/>
                  </a:cubicBezTo>
                  <a:close/>
                </a:path>
              </a:pathLst>
            </a:custGeom>
            <a:solidFill>
              <a:srgbClr val="FFFFFF"/>
            </a:solidFill>
          </p:spPr>
        </p:sp>
        <p:sp>
          <p:nvSpPr>
            <p:cNvPr name="Freeform 80" id="80"/>
            <p:cNvSpPr/>
            <p:nvPr/>
          </p:nvSpPr>
          <p:spPr>
            <a:xfrm flipH="false" flipV="false" rot="0">
              <a:off x="0" y="0"/>
              <a:ext cx="10756138" cy="7244715"/>
            </a:xfrm>
            <a:custGeom>
              <a:avLst/>
              <a:gdLst/>
              <a:ahLst/>
              <a:cxnLst/>
              <a:rect r="r" b="b" t="t" l="l"/>
              <a:pathLst>
                <a:path h="7244715" w="10756138">
                  <a:moveTo>
                    <a:pt x="0" y="257302"/>
                  </a:moveTo>
                  <a:cubicBezTo>
                    <a:pt x="0" y="115189"/>
                    <a:pt x="115316" y="0"/>
                    <a:pt x="257683" y="0"/>
                  </a:cubicBezTo>
                  <a:lnTo>
                    <a:pt x="10498455" y="0"/>
                  </a:lnTo>
                  <a:lnTo>
                    <a:pt x="10498455" y="13589"/>
                  </a:lnTo>
                  <a:lnTo>
                    <a:pt x="10498455" y="0"/>
                  </a:lnTo>
                  <a:cubicBezTo>
                    <a:pt x="10640695" y="0"/>
                    <a:pt x="10756138" y="115189"/>
                    <a:pt x="10756138" y="257302"/>
                  </a:cubicBezTo>
                  <a:lnTo>
                    <a:pt x="10742550" y="257302"/>
                  </a:lnTo>
                  <a:lnTo>
                    <a:pt x="10756138" y="257302"/>
                  </a:lnTo>
                  <a:lnTo>
                    <a:pt x="10756138" y="6987413"/>
                  </a:lnTo>
                  <a:lnTo>
                    <a:pt x="10742550" y="6987413"/>
                  </a:lnTo>
                  <a:lnTo>
                    <a:pt x="10756138" y="6987413"/>
                  </a:lnTo>
                  <a:cubicBezTo>
                    <a:pt x="10756138" y="7129526"/>
                    <a:pt x="10640823" y="7244715"/>
                    <a:pt x="10498455" y="7244715"/>
                  </a:cubicBezTo>
                  <a:lnTo>
                    <a:pt x="10498455" y="7231126"/>
                  </a:lnTo>
                  <a:lnTo>
                    <a:pt x="10498455" y="7244715"/>
                  </a:lnTo>
                  <a:lnTo>
                    <a:pt x="257683" y="7244715"/>
                  </a:lnTo>
                  <a:lnTo>
                    <a:pt x="257683" y="7231126"/>
                  </a:lnTo>
                  <a:lnTo>
                    <a:pt x="257683" y="7244715"/>
                  </a:lnTo>
                  <a:cubicBezTo>
                    <a:pt x="115316" y="7244715"/>
                    <a:pt x="0" y="7129526"/>
                    <a:pt x="0" y="6987413"/>
                  </a:cubicBezTo>
                  <a:lnTo>
                    <a:pt x="0" y="257302"/>
                  </a:lnTo>
                  <a:lnTo>
                    <a:pt x="13589" y="257302"/>
                  </a:lnTo>
                  <a:lnTo>
                    <a:pt x="0" y="257302"/>
                  </a:lnTo>
                  <a:moveTo>
                    <a:pt x="27051" y="257302"/>
                  </a:moveTo>
                  <a:lnTo>
                    <a:pt x="27051" y="6987413"/>
                  </a:lnTo>
                  <a:lnTo>
                    <a:pt x="13589" y="6987413"/>
                  </a:lnTo>
                  <a:lnTo>
                    <a:pt x="27051" y="6987413"/>
                  </a:lnTo>
                  <a:cubicBezTo>
                    <a:pt x="27051" y="7114540"/>
                    <a:pt x="130302" y="7217664"/>
                    <a:pt x="257556" y="7217664"/>
                  </a:cubicBezTo>
                  <a:lnTo>
                    <a:pt x="10498455" y="7217664"/>
                  </a:lnTo>
                  <a:cubicBezTo>
                    <a:pt x="10625837" y="7217664"/>
                    <a:pt x="10728961" y="7114540"/>
                    <a:pt x="10728961" y="6987413"/>
                  </a:cubicBezTo>
                  <a:lnTo>
                    <a:pt x="10728961" y="257302"/>
                  </a:lnTo>
                  <a:cubicBezTo>
                    <a:pt x="10728961" y="130175"/>
                    <a:pt x="10625710" y="27051"/>
                    <a:pt x="10498455" y="27051"/>
                  </a:cubicBezTo>
                  <a:lnTo>
                    <a:pt x="257683" y="27051"/>
                  </a:lnTo>
                  <a:lnTo>
                    <a:pt x="257683" y="13589"/>
                  </a:lnTo>
                  <a:lnTo>
                    <a:pt x="257683" y="27051"/>
                  </a:lnTo>
                  <a:cubicBezTo>
                    <a:pt x="130302" y="27051"/>
                    <a:pt x="27178" y="130175"/>
                    <a:pt x="27178" y="257302"/>
                  </a:cubicBezTo>
                  <a:close/>
                </a:path>
              </a:pathLst>
            </a:custGeom>
            <a:solidFill>
              <a:srgbClr val="BDC8D5"/>
            </a:solidFill>
          </p:spPr>
        </p:sp>
      </p:grpSp>
      <p:grpSp>
        <p:nvGrpSpPr>
          <p:cNvPr name="Group 81" id="81"/>
          <p:cNvGrpSpPr/>
          <p:nvPr/>
        </p:nvGrpSpPr>
        <p:grpSpPr>
          <a:xfrm rot="0">
            <a:off x="9912096" y="4608576"/>
            <a:ext cx="7498080" cy="548640"/>
            <a:chOff x="0" y="0"/>
            <a:chExt cx="9997440" cy="731520"/>
          </a:xfrm>
        </p:grpSpPr>
        <p:sp>
          <p:nvSpPr>
            <p:cNvPr name="Freeform 82" id="82"/>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sp>
        <p:sp>
          <p:nvSpPr>
            <p:cNvPr name="TextBox 83" id="83"/>
            <p:cNvSpPr txBox="true"/>
            <p:nvPr/>
          </p:nvSpPr>
          <p:spPr>
            <a:xfrm>
              <a:off x="0" y="0"/>
              <a:ext cx="9997440" cy="731520"/>
            </a:xfrm>
            <a:prstGeom prst="rect">
              <a:avLst/>
            </a:prstGeom>
          </p:spPr>
          <p:txBody>
            <a:bodyPr anchor="ctr" rtlCol="false" tIns="0" lIns="0" bIns="0" rIns="0"/>
            <a:lstStyle/>
            <a:p>
              <a:pPr algn="l">
                <a:lnSpc>
                  <a:spcPts val="2760"/>
                </a:lnSpc>
              </a:pPr>
              <a:r>
                <a:rPr lang="en-US" sz="2300" b="true">
                  <a:solidFill>
                    <a:srgbClr val="1C2E40"/>
                  </a:solidFill>
                  <a:latin typeface="EB Garamond Semi-Bold"/>
                  <a:ea typeface="EB Garamond Semi-Bold"/>
                  <a:cs typeface="EB Garamond Semi-Bold"/>
                  <a:sym typeface="EB Garamond Semi-Bold"/>
                </a:rPr>
                <a:t>Viabilité de l'élevage (UBT / EA)</a:t>
              </a:r>
            </a:p>
          </p:txBody>
        </p:sp>
      </p:grpSp>
      <p:pic>
        <p:nvPicPr>
          <p:cNvPr name="Picture 84" id="84"/>
          <p:cNvPicPr>
            <a:picLocks noChangeAspect="true"/>
          </p:cNvPicPr>
          <p:nvPr/>
        </p:nvPicPr>
        <p:blipFill>
          <a:blip r:embed="rId5"/>
          <a:stretch>
            <a:fillRect/>
          </a:stretch>
        </p:blipFill>
        <p:spPr>
          <a:xfrm rot="0">
            <a:off x="9162288" y="4407408"/>
            <a:ext cx="8997696" cy="5966629"/>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C89A3E"/>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C89A3E"/>
            </a:solidFill>
          </p:spPr>
        </p:sp>
      </p:grpSp>
      <p:grpSp>
        <p:nvGrpSpPr>
          <p:cNvPr name="Group 5" id="5"/>
          <p:cNvGrpSpPr/>
          <p:nvPr/>
        </p:nvGrpSpPr>
        <p:grpSpPr>
          <a:xfrm rot="0">
            <a:off x="822960" y="402336"/>
            <a:ext cx="16642080" cy="1118845"/>
            <a:chOff x="0" y="0"/>
            <a:chExt cx="22189440" cy="1491793"/>
          </a:xfrm>
        </p:grpSpPr>
        <p:sp>
          <p:nvSpPr>
            <p:cNvPr name="Freeform 6" id="6"/>
            <p:cNvSpPr/>
            <p:nvPr/>
          </p:nvSpPr>
          <p:spPr>
            <a:xfrm flipH="false" flipV="false" rot="0">
              <a:off x="0" y="0"/>
              <a:ext cx="22189439" cy="1491793"/>
            </a:xfrm>
            <a:custGeom>
              <a:avLst/>
              <a:gdLst/>
              <a:ahLst/>
              <a:cxnLst/>
              <a:rect r="r" b="b" t="t" l="l"/>
              <a:pathLst>
                <a:path h="1491793" w="22189439">
                  <a:moveTo>
                    <a:pt x="0" y="0"/>
                  </a:moveTo>
                  <a:lnTo>
                    <a:pt x="22189439" y="0"/>
                  </a:lnTo>
                  <a:lnTo>
                    <a:pt x="22189439" y="1491793"/>
                  </a:lnTo>
                  <a:lnTo>
                    <a:pt x="0" y="1491793"/>
                  </a:lnTo>
                  <a:close/>
                </a:path>
              </a:pathLst>
            </a:custGeom>
            <a:blipFill>
              <a:blip r:embed="rId3">
                <a:alphaModFix amt="0"/>
              </a:blip>
              <a:stretch>
                <a:fillRect l="0" t="-244877" r="0" b="-234777"/>
              </a:stretch>
            </a:blipFill>
          </p:spPr>
        </p:sp>
        <p:sp>
          <p:nvSpPr>
            <p:cNvPr name="TextBox 7" id="7"/>
            <p:cNvSpPr txBox="true"/>
            <p:nvPr/>
          </p:nvSpPr>
          <p:spPr>
            <a:xfrm>
              <a:off x="0" y="9525"/>
              <a:ext cx="22189440" cy="1482268"/>
            </a:xfrm>
            <a:prstGeom prst="rect">
              <a:avLst/>
            </a:prstGeom>
          </p:spPr>
          <p:txBody>
            <a:bodyPr anchor="ctr" rtlCol="false" tIns="0" lIns="0" bIns="0" rIns="0"/>
            <a:lstStyle/>
            <a:p>
              <a:pPr algn="l">
                <a:lnSpc>
                  <a:spcPts val="6480"/>
                </a:lnSpc>
              </a:pPr>
              <a:r>
                <a:rPr lang="en-US" sz="5400" b="true">
                  <a:solidFill>
                    <a:srgbClr val="1C2E40"/>
                  </a:solidFill>
                  <a:latin typeface="EB Garamond Semi-Bold"/>
                  <a:ea typeface="EB Garamond Semi-Bold"/>
                  <a:cs typeface="EB Garamond Semi-Bold"/>
                  <a:sym typeface="EB Garamond Semi-Bold"/>
                </a:rPr>
                <a:t>Ventes de bétail : Statistiques descriptives</a:t>
              </a:r>
            </a:p>
          </p:txBody>
        </p:sp>
      </p:grpSp>
      <p:grpSp>
        <p:nvGrpSpPr>
          <p:cNvPr name="Group 8" id="8"/>
          <p:cNvGrpSpPr/>
          <p:nvPr/>
        </p:nvGrpSpPr>
        <p:grpSpPr>
          <a:xfrm rot="0">
            <a:off x="822960" y="1426464"/>
            <a:ext cx="16642080" cy="512064"/>
            <a:chOff x="0" y="0"/>
            <a:chExt cx="22189440" cy="682752"/>
          </a:xfrm>
        </p:grpSpPr>
        <p:sp>
          <p:nvSpPr>
            <p:cNvPr name="Freeform 9" id="9"/>
            <p:cNvSpPr/>
            <p:nvPr/>
          </p:nvSpPr>
          <p:spPr>
            <a:xfrm flipH="false" flipV="false" rot="0">
              <a:off x="0" y="0"/>
              <a:ext cx="22189439" cy="682752"/>
            </a:xfrm>
            <a:custGeom>
              <a:avLst/>
              <a:gdLst/>
              <a:ahLst/>
              <a:cxnLst/>
              <a:rect r="r" b="b" t="t" l="l"/>
              <a:pathLst>
                <a:path h="682752" w="22189439">
                  <a:moveTo>
                    <a:pt x="0" y="0"/>
                  </a:moveTo>
                  <a:lnTo>
                    <a:pt x="22189439" y="0"/>
                  </a:lnTo>
                  <a:lnTo>
                    <a:pt x="22189439" y="682752"/>
                  </a:lnTo>
                  <a:lnTo>
                    <a:pt x="0" y="682752"/>
                  </a:lnTo>
                  <a:close/>
                </a:path>
              </a:pathLst>
            </a:custGeom>
            <a:blipFill>
              <a:blip r:embed="rId3">
                <a:alphaModFix amt="0"/>
              </a:blip>
              <a:stretch>
                <a:fillRect l="0" t="-583263" r="0" b="-583263"/>
              </a:stretch>
            </a:blipFill>
          </p:spPr>
        </p:sp>
        <p:sp>
          <p:nvSpPr>
            <p:cNvPr name="TextBox 10" id="10"/>
            <p:cNvSpPr txBox="true"/>
            <p:nvPr/>
          </p:nvSpPr>
          <p:spPr>
            <a:xfrm>
              <a:off x="0" y="9525"/>
              <a:ext cx="22189440" cy="673227"/>
            </a:xfrm>
            <a:prstGeom prst="rect">
              <a:avLst/>
            </a:prstGeom>
          </p:spPr>
          <p:txBody>
            <a:bodyPr anchor="ctr" rtlCol="false" tIns="0" lIns="0" bIns="0" rIns="0"/>
            <a:lstStyle/>
            <a:p>
              <a:pPr algn="l">
                <a:lnSpc>
                  <a:spcPts val="2879"/>
                </a:lnSpc>
              </a:pPr>
              <a:r>
                <a:rPr lang="en-US" sz="2400" i="true">
                  <a:solidFill>
                    <a:srgbClr val="7B8FA1"/>
                  </a:solidFill>
                  <a:latin typeface="EB Garamond Italics"/>
                  <a:ea typeface="EB Garamond Italics"/>
                  <a:cs typeface="EB Garamond Italics"/>
                  <a:sym typeface="EB Garamond Italics"/>
                </a:rPr>
                <a:t>Prix de vente en FCFA · 1 978 transactions · tabstat Prix, by(country)</a:t>
              </a:r>
            </a:p>
          </p:txBody>
        </p:sp>
      </p:grpSp>
      <p:graphicFrame>
        <p:nvGraphicFramePr>
          <p:cNvPr name="Table 11" id="11"/>
          <p:cNvGraphicFramePr>
            <a:graphicFrameLocks noGrp="true"/>
          </p:cNvGraphicFramePr>
          <p:nvPr/>
        </p:nvGraphicFramePr>
        <p:xfrm>
          <a:off x="640080" y="2011680"/>
          <a:ext cx="16941800" cy="5486400"/>
        </p:xfrm>
        <a:graphic>
          <a:graphicData uri="http://schemas.openxmlformats.org/drawingml/2006/table">
            <a:tbl>
              <a:tblPr/>
              <a:tblGrid>
                <a:gridCol w="3088505"/>
                <a:gridCol w="1289376"/>
                <a:gridCol w="2908592"/>
                <a:gridCol w="2908592"/>
                <a:gridCol w="2548766"/>
                <a:gridCol w="2188941"/>
                <a:gridCol w="2009028"/>
              </a:tblGrid>
              <a:tr h="914400">
                <a:tc>
                  <a:txBody>
                    <a:bodyPr anchor="t" rtlCol="false"/>
                    <a:lstStyle/>
                    <a:p>
                      <a:pPr algn="ctr">
                        <a:lnSpc>
                          <a:spcPts val="2879"/>
                        </a:lnSpc>
                        <a:defRPr/>
                      </a:pPr>
                      <a:r>
                        <a:rPr lang="en-US" sz="2400" b="true">
                          <a:solidFill>
                            <a:srgbClr val="FFFFFF"/>
                          </a:solidFill>
                          <a:latin typeface="EB Garamond Semi-Bold"/>
                          <a:ea typeface="EB Garamond Semi-Bold"/>
                          <a:cs typeface="EB Garamond Semi-Bold"/>
                          <a:sym typeface="EB Garamond Semi-Bold"/>
                        </a:rPr>
                        <a:t>Pays</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2C4A6E"/>
                    </a:solidFill>
                  </a:tcPr>
                </a:tc>
                <a:tc>
                  <a:txBody>
                    <a:bodyPr anchor="t" rtlCol="false"/>
                    <a:lstStyle/>
                    <a:p>
                      <a:pPr algn="ctr">
                        <a:lnSpc>
                          <a:spcPts val="2879"/>
                        </a:lnSpc>
                        <a:defRPr/>
                      </a:pPr>
                      <a:r>
                        <a:rPr lang="en-US" sz="2400" b="true">
                          <a:solidFill>
                            <a:srgbClr val="FFFFFF"/>
                          </a:solidFill>
                          <a:latin typeface="EB Garamond Semi-Bold"/>
                          <a:ea typeface="EB Garamond Semi-Bold"/>
                          <a:cs typeface="EB Garamond Semi-Bold"/>
                          <a:sym typeface="EB Garamond Semi-Bold"/>
                        </a:rPr>
                        <a:t>N</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2C4A6E"/>
                    </a:solidFill>
                  </a:tcPr>
                </a:tc>
                <a:tc>
                  <a:txBody>
                    <a:bodyPr anchor="t" rtlCol="false"/>
                    <a:lstStyle/>
                    <a:p>
                      <a:pPr algn="ctr">
                        <a:lnSpc>
                          <a:spcPts val="2879"/>
                        </a:lnSpc>
                        <a:defRPr/>
                      </a:pPr>
                      <a:r>
                        <a:rPr lang="en-US" sz="2400" b="true">
                          <a:solidFill>
                            <a:srgbClr val="FFFFFF"/>
                          </a:solidFill>
                          <a:latin typeface="EB Garamond Semi-Bold"/>
                          <a:ea typeface="EB Garamond Semi-Bold"/>
                          <a:cs typeface="EB Garamond Semi-Bold"/>
                          <a:sym typeface="EB Garamond Semi-Bold"/>
                        </a:rPr>
                        <a:t>Moyenne (FCFA)</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2C4A6E"/>
                    </a:solidFill>
                  </a:tcPr>
                </a:tc>
                <a:tc>
                  <a:txBody>
                    <a:bodyPr anchor="t" rtlCol="false"/>
                    <a:lstStyle/>
                    <a:p>
                      <a:pPr algn="ctr">
                        <a:lnSpc>
                          <a:spcPts val="2879"/>
                        </a:lnSpc>
                        <a:defRPr/>
                      </a:pPr>
                      <a:r>
                        <a:rPr lang="en-US" sz="2400" b="true">
                          <a:solidFill>
                            <a:srgbClr val="FFFFFF"/>
                          </a:solidFill>
                          <a:latin typeface="EB Garamond Semi-Bold"/>
                          <a:ea typeface="EB Garamond Semi-Bold"/>
                          <a:cs typeface="EB Garamond Semi-Bold"/>
                          <a:sym typeface="EB Garamond Semi-Bold"/>
                        </a:rPr>
                        <a:t>Médiane (FCFA)</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2C4A6E"/>
                    </a:solidFill>
                  </a:tcPr>
                </a:tc>
                <a:tc>
                  <a:txBody>
                    <a:bodyPr anchor="t" rtlCol="false"/>
                    <a:lstStyle/>
                    <a:p>
                      <a:pPr algn="ctr">
                        <a:lnSpc>
                          <a:spcPts val="2879"/>
                        </a:lnSpc>
                        <a:defRPr/>
                      </a:pPr>
                      <a:r>
                        <a:rPr lang="en-US" sz="2400" b="true">
                          <a:solidFill>
                            <a:srgbClr val="FFFFFF"/>
                          </a:solidFill>
                          <a:latin typeface="EB Garamond Semi-Bold"/>
                          <a:ea typeface="EB Garamond Semi-Bold"/>
                          <a:cs typeface="EB Garamond Semi-Bold"/>
                          <a:sym typeface="EB Garamond Semi-Bold"/>
                        </a:rPr>
                        <a:t>Écart-type</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2C4A6E"/>
                    </a:solidFill>
                  </a:tcPr>
                </a:tc>
                <a:tc>
                  <a:txBody>
                    <a:bodyPr anchor="t" rtlCol="false"/>
                    <a:lstStyle/>
                    <a:p>
                      <a:pPr algn="ctr">
                        <a:lnSpc>
                          <a:spcPts val="2879"/>
                        </a:lnSpc>
                        <a:defRPr/>
                      </a:pPr>
                      <a:r>
                        <a:rPr lang="en-US" sz="2400" b="true">
                          <a:solidFill>
                            <a:srgbClr val="FFFFFF"/>
                          </a:solidFill>
                          <a:latin typeface="EB Garamond Semi-Bold"/>
                          <a:ea typeface="EB Garamond Semi-Bold"/>
                          <a:cs typeface="EB Garamond Semi-Bold"/>
                          <a:sym typeface="EB Garamond Semi-Bold"/>
                        </a:rPr>
                        <a:t>Min</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2C4A6E"/>
                    </a:solidFill>
                  </a:tcPr>
                </a:tc>
                <a:tc>
                  <a:txBody>
                    <a:bodyPr anchor="t" rtlCol="false"/>
                    <a:lstStyle/>
                    <a:p>
                      <a:pPr algn="ctr">
                        <a:lnSpc>
                          <a:spcPts val="2879"/>
                        </a:lnSpc>
                        <a:defRPr/>
                      </a:pPr>
                      <a:r>
                        <a:rPr lang="en-US" sz="2400" b="true">
                          <a:solidFill>
                            <a:srgbClr val="FFFFFF"/>
                          </a:solidFill>
                          <a:latin typeface="EB Garamond Semi-Bold"/>
                          <a:ea typeface="EB Garamond Semi-Bold"/>
                          <a:cs typeface="EB Garamond Semi-Bold"/>
                          <a:sym typeface="EB Garamond Semi-Bold"/>
                        </a:rPr>
                        <a:t>Max</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2C4A6E"/>
                    </a:solidFill>
                  </a:tcPr>
                </a:tc>
              </a:tr>
              <a:tr h="914400">
                <a:tc>
                  <a:txBody>
                    <a:bodyPr anchor="t" rtlCol="false"/>
                    <a:lstStyle/>
                    <a:p>
                      <a:pPr algn="l">
                        <a:lnSpc>
                          <a:spcPts val="2760"/>
                        </a:lnSpc>
                        <a:defRPr/>
                      </a:pPr>
                      <a:r>
                        <a:rPr lang="en-US" sz="2300" b="true">
                          <a:solidFill>
                            <a:srgbClr val="2C4A6E"/>
                          </a:solidFill>
                          <a:latin typeface="EB Garamond Semi-Bold"/>
                          <a:ea typeface="EB Garamond Semi-Bold"/>
                          <a:cs typeface="EB Garamond Semi-Bold"/>
                          <a:sym typeface="EB Garamond Semi-Bold"/>
                        </a:rPr>
                        <a:t>Sénégal</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460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147 103</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125 000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79 440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35 000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450 000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r>
              <a:tr h="914400">
                <a:tc>
                  <a:txBody>
                    <a:bodyPr anchor="t" rtlCol="false"/>
                    <a:lstStyle/>
                    <a:p>
                      <a:pPr algn="l">
                        <a:lnSpc>
                          <a:spcPts val="2760"/>
                        </a:lnSpc>
                        <a:defRPr/>
                      </a:pPr>
                      <a:r>
                        <a:rPr lang="en-US" sz="2300" b="true">
                          <a:solidFill>
                            <a:srgbClr val="2C4A6E"/>
                          </a:solidFill>
                          <a:latin typeface="EB Garamond Semi-Bold"/>
                          <a:ea typeface="EB Garamond Semi-Bold"/>
                          <a:cs typeface="EB Garamond Semi-Bold"/>
                          <a:sym typeface="EB Garamond Semi-Bold"/>
                        </a:rPr>
                        <a:t>Mali</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EEF3F9"/>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544</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EEF3F9"/>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149 917</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EEF3F9"/>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140 000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EEF3F9"/>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63 968</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EEF3F9"/>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24 000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EEF3F9"/>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400 000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EEF3F9"/>
                    </a:solidFill>
                  </a:tcPr>
                </a:tc>
              </a:tr>
              <a:tr h="914400">
                <a:tc>
                  <a:txBody>
                    <a:bodyPr anchor="t" rtlCol="false"/>
                    <a:lstStyle/>
                    <a:p>
                      <a:pPr algn="l">
                        <a:lnSpc>
                          <a:spcPts val="2760"/>
                        </a:lnSpc>
                        <a:defRPr/>
                      </a:pPr>
                      <a:r>
                        <a:rPr lang="en-US" sz="2300" b="true">
                          <a:solidFill>
                            <a:srgbClr val="2C4A6E"/>
                          </a:solidFill>
                          <a:latin typeface="EB Garamond Semi-Bold"/>
                          <a:ea typeface="EB Garamond Semi-Bold"/>
                          <a:cs typeface="EB Garamond Semi-Bold"/>
                          <a:sym typeface="EB Garamond Semi-Bold"/>
                        </a:rPr>
                        <a:t>Mauritanie</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461</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130 513</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116 200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69 307</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20 000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410 000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r>
              <a:tr h="914400">
                <a:tc>
                  <a:txBody>
                    <a:bodyPr anchor="t" rtlCol="false"/>
                    <a:lstStyle/>
                    <a:p>
                      <a:pPr algn="l">
                        <a:lnSpc>
                          <a:spcPts val="2760"/>
                        </a:lnSpc>
                        <a:defRPr/>
                      </a:pPr>
                      <a:r>
                        <a:rPr lang="en-US" sz="2300" b="true">
                          <a:solidFill>
                            <a:srgbClr val="2C4A6E"/>
                          </a:solidFill>
                          <a:latin typeface="EB Garamond Semi-Bold"/>
                          <a:ea typeface="EB Garamond Semi-Bold"/>
                          <a:cs typeface="EB Garamond Semi-Bold"/>
                          <a:sym typeface="EB Garamond Semi-Bold"/>
                        </a:rPr>
                        <a:t>Burkina Faso</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EEF3F9"/>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324</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EEF3F9"/>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135 681</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EEF3F9"/>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130 000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EEF3F9"/>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57 775</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EEF3F9"/>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30 000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EEF3F9"/>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378 000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EEF3F9"/>
                    </a:solidFill>
                  </a:tcPr>
                </a:tc>
              </a:tr>
              <a:tr h="914400">
                <a:tc>
                  <a:txBody>
                    <a:bodyPr anchor="t" rtlCol="false"/>
                    <a:lstStyle/>
                    <a:p>
                      <a:pPr algn="l">
                        <a:lnSpc>
                          <a:spcPts val="2760"/>
                        </a:lnSpc>
                        <a:defRPr/>
                      </a:pPr>
                      <a:r>
                        <a:rPr lang="en-US" sz="2300" b="true">
                          <a:solidFill>
                            <a:srgbClr val="2C4A6E"/>
                          </a:solidFill>
                          <a:latin typeface="EB Garamond Semi-Bold"/>
                          <a:ea typeface="EB Garamond Semi-Bold"/>
                          <a:cs typeface="EB Garamond Semi-Bold"/>
                          <a:sym typeface="EB Garamond Semi-Bold"/>
                        </a:rPr>
                        <a:t>Niger</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187</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124 048</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110 000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51 074</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25 000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c>
                  <a:txBody>
                    <a:bodyPr anchor="t" rtlCol="false"/>
                    <a:lstStyle/>
                    <a:p>
                      <a:pPr algn="ctr">
                        <a:lnSpc>
                          <a:spcPts val="2760"/>
                        </a:lnSpc>
                        <a:defRPr/>
                      </a:pPr>
                      <a:r>
                        <a:rPr lang="en-US" sz="2300">
                          <a:solidFill>
                            <a:srgbClr val="1C2E40"/>
                          </a:solidFill>
                          <a:latin typeface="EB Garamond"/>
                          <a:ea typeface="EB Garamond"/>
                          <a:cs typeface="EB Garamond"/>
                          <a:sym typeface="EB Garamond"/>
                        </a:rPr>
                        <a:t>350 000</a:t>
                      </a:r>
                      <a:endParaRPr lang="en-US" sz="1100"/>
                    </a:p>
                  </a:txBody>
                  <a:tcPr marL="91440" marR="91440" marT="91440" marB="91440" anchor="ctr">
                    <a:lnL cmpd="sng" algn="ctr" cap="flat" w="7620">
                      <a:solidFill>
                        <a:srgbClr val="BDC8D5"/>
                      </a:solidFill>
                      <a:prstDash val="solid"/>
                      <a:round/>
                      <a:headEnd type="none" w="med" len="med"/>
                      <a:tailEnd type="none" w="med" len="med"/>
                    </a:lnL>
                    <a:lnR cmpd="sng" algn="ctr" cap="flat" w="7620">
                      <a:solidFill>
                        <a:srgbClr val="BDC8D5"/>
                      </a:solidFill>
                      <a:prstDash val="solid"/>
                      <a:round/>
                      <a:headEnd type="none" w="med" len="med"/>
                      <a:tailEnd type="none" w="med" len="med"/>
                    </a:lnR>
                    <a:lnT cmpd="sng" algn="ctr" cap="flat" w="7620">
                      <a:solidFill>
                        <a:srgbClr val="BDC8D5"/>
                      </a:solidFill>
                      <a:prstDash val="solid"/>
                      <a:round/>
                      <a:headEnd type="none" w="med" len="med"/>
                      <a:tailEnd type="none" w="med" len="med"/>
                    </a:lnT>
                    <a:lnB cmpd="sng" algn="ctr" cap="flat" w="7620">
                      <a:solidFill>
                        <a:srgbClr val="BDC8D5"/>
                      </a:solidFill>
                      <a:prstDash val="solid"/>
                      <a:round/>
                      <a:headEnd type="none" w="med" len="med"/>
                      <a:tailEnd type="none" w="med" len="med"/>
                    </a:lnB>
                    <a:solidFill>
                      <a:srgbClr val="FFFFFF"/>
                    </a:solidFill>
                  </a:tcPr>
                </a:tc>
              </a:tr>
            </a:tbl>
          </a:graphicData>
        </a:graphic>
      </p:graphicFrame>
      <p:grpSp>
        <p:nvGrpSpPr>
          <p:cNvPr name="Group 12" id="12"/>
          <p:cNvGrpSpPr/>
          <p:nvPr/>
        </p:nvGrpSpPr>
        <p:grpSpPr>
          <a:xfrm rot="0">
            <a:off x="629917" y="7798813"/>
            <a:ext cx="8249917" cy="1044445"/>
            <a:chOff x="0" y="0"/>
            <a:chExt cx="10999889" cy="1392593"/>
          </a:xfrm>
        </p:grpSpPr>
        <p:sp>
          <p:nvSpPr>
            <p:cNvPr name="Freeform 13" id="13"/>
            <p:cNvSpPr/>
            <p:nvPr/>
          </p:nvSpPr>
          <p:spPr>
            <a:xfrm flipH="false" flipV="false" rot="0">
              <a:off x="13589" y="13589"/>
              <a:ext cx="10972674" cy="1365504"/>
            </a:xfrm>
            <a:custGeom>
              <a:avLst/>
              <a:gdLst/>
              <a:ahLst/>
              <a:cxnLst/>
              <a:rect r="r" b="b" t="t" l="l"/>
              <a:pathLst>
                <a:path h="1365504" w="10972674">
                  <a:moveTo>
                    <a:pt x="0" y="243840"/>
                  </a:moveTo>
                  <a:cubicBezTo>
                    <a:pt x="0" y="109220"/>
                    <a:pt x="111125" y="0"/>
                    <a:pt x="248031" y="0"/>
                  </a:cubicBezTo>
                  <a:lnTo>
                    <a:pt x="10724642" y="0"/>
                  </a:lnTo>
                  <a:cubicBezTo>
                    <a:pt x="10861675" y="0"/>
                    <a:pt x="10972674" y="109220"/>
                    <a:pt x="10972674" y="243840"/>
                  </a:cubicBezTo>
                  <a:lnTo>
                    <a:pt x="10972674" y="1121664"/>
                  </a:lnTo>
                  <a:cubicBezTo>
                    <a:pt x="10972674" y="1256284"/>
                    <a:pt x="10861549" y="1365504"/>
                    <a:pt x="10724642" y="1365504"/>
                  </a:cubicBezTo>
                  <a:lnTo>
                    <a:pt x="248031" y="1365504"/>
                  </a:lnTo>
                  <a:cubicBezTo>
                    <a:pt x="110998" y="1365504"/>
                    <a:pt x="0" y="1256284"/>
                    <a:pt x="0" y="1121664"/>
                  </a:cubicBezTo>
                  <a:close/>
                </a:path>
              </a:pathLst>
            </a:custGeom>
            <a:solidFill>
              <a:srgbClr val="FFFFFF"/>
            </a:solidFill>
          </p:spPr>
        </p:sp>
        <p:sp>
          <p:nvSpPr>
            <p:cNvPr name="Freeform 14" id="14"/>
            <p:cNvSpPr/>
            <p:nvPr/>
          </p:nvSpPr>
          <p:spPr>
            <a:xfrm flipH="false" flipV="false" rot="0">
              <a:off x="0" y="0"/>
              <a:ext cx="10999851" cy="1392682"/>
            </a:xfrm>
            <a:custGeom>
              <a:avLst/>
              <a:gdLst/>
              <a:ahLst/>
              <a:cxnLst/>
              <a:rect r="r" b="b" t="t" l="l"/>
              <a:pathLst>
                <a:path h="1392682" w="10999851">
                  <a:moveTo>
                    <a:pt x="0" y="257429"/>
                  </a:moveTo>
                  <a:cubicBezTo>
                    <a:pt x="0" y="115062"/>
                    <a:pt x="117348" y="0"/>
                    <a:pt x="261620" y="0"/>
                  </a:cubicBezTo>
                  <a:lnTo>
                    <a:pt x="10738231" y="0"/>
                  </a:lnTo>
                  <a:lnTo>
                    <a:pt x="10738231" y="13589"/>
                  </a:lnTo>
                  <a:lnTo>
                    <a:pt x="10738231" y="0"/>
                  </a:lnTo>
                  <a:cubicBezTo>
                    <a:pt x="10882503" y="0"/>
                    <a:pt x="10999851" y="115062"/>
                    <a:pt x="10999851" y="257429"/>
                  </a:cubicBezTo>
                  <a:lnTo>
                    <a:pt x="10986263" y="257429"/>
                  </a:lnTo>
                  <a:lnTo>
                    <a:pt x="10999851" y="257429"/>
                  </a:lnTo>
                  <a:lnTo>
                    <a:pt x="10999851" y="1135253"/>
                  </a:lnTo>
                  <a:lnTo>
                    <a:pt x="10986263" y="1135253"/>
                  </a:lnTo>
                  <a:lnTo>
                    <a:pt x="10999851" y="1135253"/>
                  </a:lnTo>
                  <a:cubicBezTo>
                    <a:pt x="10999851" y="1277620"/>
                    <a:pt x="10882503" y="1392682"/>
                    <a:pt x="10738231" y="1392682"/>
                  </a:cubicBezTo>
                  <a:lnTo>
                    <a:pt x="10738231" y="1379093"/>
                  </a:lnTo>
                  <a:lnTo>
                    <a:pt x="10738231" y="1392682"/>
                  </a:lnTo>
                  <a:lnTo>
                    <a:pt x="261620" y="1392682"/>
                  </a:lnTo>
                  <a:lnTo>
                    <a:pt x="261620" y="1379093"/>
                  </a:lnTo>
                  <a:lnTo>
                    <a:pt x="261620" y="1392682"/>
                  </a:lnTo>
                  <a:cubicBezTo>
                    <a:pt x="117348" y="1392555"/>
                    <a:pt x="0" y="1277620"/>
                    <a:pt x="0" y="1135253"/>
                  </a:cubicBezTo>
                  <a:lnTo>
                    <a:pt x="0" y="257429"/>
                  </a:lnTo>
                  <a:lnTo>
                    <a:pt x="13589" y="257429"/>
                  </a:lnTo>
                  <a:lnTo>
                    <a:pt x="0" y="257429"/>
                  </a:lnTo>
                  <a:moveTo>
                    <a:pt x="27051" y="257429"/>
                  </a:moveTo>
                  <a:lnTo>
                    <a:pt x="27051" y="1135253"/>
                  </a:lnTo>
                  <a:lnTo>
                    <a:pt x="13589" y="1135253"/>
                  </a:lnTo>
                  <a:lnTo>
                    <a:pt x="27051" y="1135253"/>
                  </a:lnTo>
                  <a:cubicBezTo>
                    <a:pt x="27051" y="1262253"/>
                    <a:pt x="131826" y="1365504"/>
                    <a:pt x="261620" y="1365504"/>
                  </a:cubicBezTo>
                  <a:lnTo>
                    <a:pt x="10738231" y="1365504"/>
                  </a:lnTo>
                  <a:cubicBezTo>
                    <a:pt x="10868025" y="1365504"/>
                    <a:pt x="10972800" y="1262126"/>
                    <a:pt x="10972800" y="1135253"/>
                  </a:cubicBezTo>
                  <a:lnTo>
                    <a:pt x="10972800" y="257429"/>
                  </a:lnTo>
                  <a:cubicBezTo>
                    <a:pt x="10972800" y="130429"/>
                    <a:pt x="10868025" y="27178"/>
                    <a:pt x="10738231" y="27178"/>
                  </a:cubicBezTo>
                  <a:lnTo>
                    <a:pt x="261620" y="27178"/>
                  </a:lnTo>
                  <a:lnTo>
                    <a:pt x="261620" y="13589"/>
                  </a:lnTo>
                  <a:lnTo>
                    <a:pt x="261620" y="27051"/>
                  </a:lnTo>
                  <a:cubicBezTo>
                    <a:pt x="131826" y="27051"/>
                    <a:pt x="27051" y="130429"/>
                    <a:pt x="27051" y="257302"/>
                  </a:cubicBezTo>
                  <a:close/>
                </a:path>
              </a:pathLst>
            </a:custGeom>
            <a:solidFill>
              <a:srgbClr val="2C4A6E"/>
            </a:solidFill>
          </p:spPr>
        </p:sp>
      </p:grpSp>
      <p:grpSp>
        <p:nvGrpSpPr>
          <p:cNvPr name="Group 15" id="15"/>
          <p:cNvGrpSpPr/>
          <p:nvPr/>
        </p:nvGrpSpPr>
        <p:grpSpPr>
          <a:xfrm rot="0">
            <a:off x="969264" y="7973568"/>
            <a:ext cx="7644384" cy="731520"/>
            <a:chOff x="0" y="0"/>
            <a:chExt cx="10192512" cy="975360"/>
          </a:xfrm>
        </p:grpSpPr>
        <p:sp>
          <p:nvSpPr>
            <p:cNvPr name="Freeform 16" id="16"/>
            <p:cNvSpPr/>
            <p:nvPr/>
          </p:nvSpPr>
          <p:spPr>
            <a:xfrm flipH="false" flipV="false" rot="0">
              <a:off x="0" y="0"/>
              <a:ext cx="10192512" cy="975360"/>
            </a:xfrm>
            <a:custGeom>
              <a:avLst/>
              <a:gdLst/>
              <a:ahLst/>
              <a:cxnLst/>
              <a:rect r="r" b="b" t="t" l="l"/>
              <a:pathLst>
                <a:path h="975360" w="10192512">
                  <a:moveTo>
                    <a:pt x="0" y="0"/>
                  </a:moveTo>
                  <a:lnTo>
                    <a:pt x="10192512" y="0"/>
                  </a:lnTo>
                  <a:lnTo>
                    <a:pt x="10192512" y="975360"/>
                  </a:lnTo>
                  <a:lnTo>
                    <a:pt x="0" y="975360"/>
                  </a:lnTo>
                  <a:close/>
                </a:path>
              </a:pathLst>
            </a:custGeom>
            <a:blipFill>
              <a:blip r:embed="rId3">
                <a:alphaModFix amt="0"/>
              </a:blip>
              <a:stretch>
                <a:fillRect l="0" t="-153618" r="0" b="-153618"/>
              </a:stretch>
            </a:blipFill>
          </p:spPr>
        </p:sp>
        <p:sp>
          <p:nvSpPr>
            <p:cNvPr name="TextBox 17" id="17"/>
            <p:cNvSpPr txBox="true"/>
            <p:nvPr/>
          </p:nvSpPr>
          <p:spPr>
            <a:xfrm>
              <a:off x="0" y="-9525"/>
              <a:ext cx="10192512" cy="984885"/>
            </a:xfrm>
            <a:prstGeom prst="rect">
              <a:avLst/>
            </a:prstGeom>
          </p:spPr>
          <p:txBody>
            <a:bodyPr anchor="ctr" rtlCol="false" tIns="0" lIns="0" bIns="0" rIns="0"/>
            <a:lstStyle/>
            <a:p>
              <a:pPr algn="l">
                <a:lnSpc>
                  <a:spcPts val="2400"/>
                </a:lnSpc>
              </a:pPr>
              <a:r>
                <a:rPr lang="en-US" sz="2000">
                  <a:solidFill>
                    <a:srgbClr val="1C2E40"/>
                  </a:solidFill>
                  <a:latin typeface="EB Garamond"/>
                  <a:ea typeface="EB Garamond"/>
                  <a:cs typeface="EB Garamond"/>
                  <a:sym typeface="EB Garamond"/>
                </a:rPr>
                <a:t>📈  Mali : plus grand marché (544 transact.) — prix moyen le plus haut (149 917 FCFA)</a:t>
              </a:r>
            </a:p>
          </p:txBody>
        </p:sp>
      </p:grpSp>
      <p:grpSp>
        <p:nvGrpSpPr>
          <p:cNvPr name="Group 18" id="18"/>
          <p:cNvGrpSpPr/>
          <p:nvPr/>
        </p:nvGrpSpPr>
        <p:grpSpPr>
          <a:xfrm rot="0">
            <a:off x="629917" y="8969245"/>
            <a:ext cx="8249917" cy="1044445"/>
            <a:chOff x="0" y="0"/>
            <a:chExt cx="10999889" cy="1392593"/>
          </a:xfrm>
        </p:grpSpPr>
        <p:sp>
          <p:nvSpPr>
            <p:cNvPr name="Freeform 19" id="19"/>
            <p:cNvSpPr/>
            <p:nvPr/>
          </p:nvSpPr>
          <p:spPr>
            <a:xfrm flipH="false" flipV="false" rot="0">
              <a:off x="13589" y="13589"/>
              <a:ext cx="10972674" cy="1365504"/>
            </a:xfrm>
            <a:custGeom>
              <a:avLst/>
              <a:gdLst/>
              <a:ahLst/>
              <a:cxnLst/>
              <a:rect r="r" b="b" t="t" l="l"/>
              <a:pathLst>
                <a:path h="1365504" w="10972674">
                  <a:moveTo>
                    <a:pt x="0" y="243840"/>
                  </a:moveTo>
                  <a:cubicBezTo>
                    <a:pt x="0" y="109220"/>
                    <a:pt x="111125" y="0"/>
                    <a:pt x="248031" y="0"/>
                  </a:cubicBezTo>
                  <a:lnTo>
                    <a:pt x="10724642" y="0"/>
                  </a:lnTo>
                  <a:cubicBezTo>
                    <a:pt x="10861675" y="0"/>
                    <a:pt x="10972674" y="109220"/>
                    <a:pt x="10972674" y="243840"/>
                  </a:cubicBezTo>
                  <a:lnTo>
                    <a:pt x="10972674" y="1121664"/>
                  </a:lnTo>
                  <a:cubicBezTo>
                    <a:pt x="10972674" y="1256284"/>
                    <a:pt x="10861549" y="1365504"/>
                    <a:pt x="10724642" y="1365504"/>
                  </a:cubicBezTo>
                  <a:lnTo>
                    <a:pt x="248031" y="1365504"/>
                  </a:lnTo>
                  <a:cubicBezTo>
                    <a:pt x="110998" y="1365504"/>
                    <a:pt x="0" y="1256284"/>
                    <a:pt x="0" y="1121664"/>
                  </a:cubicBezTo>
                  <a:close/>
                </a:path>
              </a:pathLst>
            </a:custGeom>
            <a:solidFill>
              <a:srgbClr val="FFFFFF"/>
            </a:solidFill>
          </p:spPr>
        </p:sp>
        <p:sp>
          <p:nvSpPr>
            <p:cNvPr name="Freeform 20" id="20"/>
            <p:cNvSpPr/>
            <p:nvPr/>
          </p:nvSpPr>
          <p:spPr>
            <a:xfrm flipH="false" flipV="false" rot="0">
              <a:off x="0" y="0"/>
              <a:ext cx="10999851" cy="1392682"/>
            </a:xfrm>
            <a:custGeom>
              <a:avLst/>
              <a:gdLst/>
              <a:ahLst/>
              <a:cxnLst/>
              <a:rect r="r" b="b" t="t" l="l"/>
              <a:pathLst>
                <a:path h="1392682" w="10999851">
                  <a:moveTo>
                    <a:pt x="0" y="257429"/>
                  </a:moveTo>
                  <a:cubicBezTo>
                    <a:pt x="0" y="115062"/>
                    <a:pt x="117348" y="0"/>
                    <a:pt x="261620" y="0"/>
                  </a:cubicBezTo>
                  <a:lnTo>
                    <a:pt x="10738231" y="0"/>
                  </a:lnTo>
                  <a:lnTo>
                    <a:pt x="10738231" y="13589"/>
                  </a:lnTo>
                  <a:lnTo>
                    <a:pt x="10738231" y="0"/>
                  </a:lnTo>
                  <a:cubicBezTo>
                    <a:pt x="10882503" y="0"/>
                    <a:pt x="10999851" y="115062"/>
                    <a:pt x="10999851" y="257429"/>
                  </a:cubicBezTo>
                  <a:lnTo>
                    <a:pt x="10986263" y="257429"/>
                  </a:lnTo>
                  <a:lnTo>
                    <a:pt x="10999851" y="257429"/>
                  </a:lnTo>
                  <a:lnTo>
                    <a:pt x="10999851" y="1135253"/>
                  </a:lnTo>
                  <a:lnTo>
                    <a:pt x="10986263" y="1135253"/>
                  </a:lnTo>
                  <a:lnTo>
                    <a:pt x="10999851" y="1135253"/>
                  </a:lnTo>
                  <a:cubicBezTo>
                    <a:pt x="10999851" y="1277620"/>
                    <a:pt x="10882503" y="1392682"/>
                    <a:pt x="10738231" y="1392682"/>
                  </a:cubicBezTo>
                  <a:lnTo>
                    <a:pt x="10738231" y="1379093"/>
                  </a:lnTo>
                  <a:lnTo>
                    <a:pt x="10738231" y="1392682"/>
                  </a:lnTo>
                  <a:lnTo>
                    <a:pt x="261620" y="1392682"/>
                  </a:lnTo>
                  <a:lnTo>
                    <a:pt x="261620" y="1379093"/>
                  </a:lnTo>
                  <a:lnTo>
                    <a:pt x="261620" y="1392682"/>
                  </a:lnTo>
                  <a:cubicBezTo>
                    <a:pt x="117348" y="1392555"/>
                    <a:pt x="0" y="1277620"/>
                    <a:pt x="0" y="1135253"/>
                  </a:cubicBezTo>
                  <a:lnTo>
                    <a:pt x="0" y="257429"/>
                  </a:lnTo>
                  <a:lnTo>
                    <a:pt x="13589" y="257429"/>
                  </a:lnTo>
                  <a:lnTo>
                    <a:pt x="0" y="257429"/>
                  </a:lnTo>
                  <a:moveTo>
                    <a:pt x="27051" y="257429"/>
                  </a:moveTo>
                  <a:lnTo>
                    <a:pt x="27051" y="1135253"/>
                  </a:lnTo>
                  <a:lnTo>
                    <a:pt x="13589" y="1135253"/>
                  </a:lnTo>
                  <a:lnTo>
                    <a:pt x="27051" y="1135253"/>
                  </a:lnTo>
                  <a:cubicBezTo>
                    <a:pt x="27051" y="1262253"/>
                    <a:pt x="131826" y="1365504"/>
                    <a:pt x="261620" y="1365504"/>
                  </a:cubicBezTo>
                  <a:lnTo>
                    <a:pt x="10738231" y="1365504"/>
                  </a:lnTo>
                  <a:cubicBezTo>
                    <a:pt x="10868025" y="1365504"/>
                    <a:pt x="10972800" y="1262126"/>
                    <a:pt x="10972800" y="1135253"/>
                  </a:cubicBezTo>
                  <a:lnTo>
                    <a:pt x="10972800" y="257429"/>
                  </a:lnTo>
                  <a:cubicBezTo>
                    <a:pt x="10972800" y="130429"/>
                    <a:pt x="10868025" y="27178"/>
                    <a:pt x="10738231" y="27178"/>
                  </a:cubicBezTo>
                  <a:lnTo>
                    <a:pt x="261620" y="27178"/>
                  </a:lnTo>
                  <a:lnTo>
                    <a:pt x="261620" y="13589"/>
                  </a:lnTo>
                  <a:lnTo>
                    <a:pt x="261620" y="27051"/>
                  </a:lnTo>
                  <a:cubicBezTo>
                    <a:pt x="131826" y="27051"/>
                    <a:pt x="27051" y="130429"/>
                    <a:pt x="27051" y="257302"/>
                  </a:cubicBezTo>
                  <a:close/>
                </a:path>
              </a:pathLst>
            </a:custGeom>
            <a:solidFill>
              <a:srgbClr val="2C4A6E"/>
            </a:solidFill>
          </p:spPr>
        </p:sp>
      </p:grpSp>
      <p:grpSp>
        <p:nvGrpSpPr>
          <p:cNvPr name="Group 21" id="21"/>
          <p:cNvGrpSpPr/>
          <p:nvPr/>
        </p:nvGrpSpPr>
        <p:grpSpPr>
          <a:xfrm rot="0">
            <a:off x="969264" y="9144000"/>
            <a:ext cx="7644384" cy="731520"/>
            <a:chOff x="0" y="0"/>
            <a:chExt cx="10192512" cy="975360"/>
          </a:xfrm>
        </p:grpSpPr>
        <p:sp>
          <p:nvSpPr>
            <p:cNvPr name="Freeform 22" id="22"/>
            <p:cNvSpPr/>
            <p:nvPr/>
          </p:nvSpPr>
          <p:spPr>
            <a:xfrm flipH="false" flipV="false" rot="0">
              <a:off x="0" y="0"/>
              <a:ext cx="10192512" cy="975360"/>
            </a:xfrm>
            <a:custGeom>
              <a:avLst/>
              <a:gdLst/>
              <a:ahLst/>
              <a:cxnLst/>
              <a:rect r="r" b="b" t="t" l="l"/>
              <a:pathLst>
                <a:path h="975360" w="10192512">
                  <a:moveTo>
                    <a:pt x="0" y="0"/>
                  </a:moveTo>
                  <a:lnTo>
                    <a:pt x="10192512" y="0"/>
                  </a:lnTo>
                  <a:lnTo>
                    <a:pt x="10192512" y="975360"/>
                  </a:lnTo>
                  <a:lnTo>
                    <a:pt x="0" y="975360"/>
                  </a:lnTo>
                  <a:close/>
                </a:path>
              </a:pathLst>
            </a:custGeom>
            <a:blipFill>
              <a:blip r:embed="rId3">
                <a:alphaModFix amt="0"/>
              </a:blip>
              <a:stretch>
                <a:fillRect l="0" t="-153618" r="0" b="-153618"/>
              </a:stretch>
            </a:blipFill>
          </p:spPr>
        </p:sp>
        <p:sp>
          <p:nvSpPr>
            <p:cNvPr name="TextBox 23" id="23"/>
            <p:cNvSpPr txBox="true"/>
            <p:nvPr/>
          </p:nvSpPr>
          <p:spPr>
            <a:xfrm>
              <a:off x="0" y="-9525"/>
              <a:ext cx="10192512" cy="984885"/>
            </a:xfrm>
            <a:prstGeom prst="rect">
              <a:avLst/>
            </a:prstGeom>
          </p:spPr>
          <p:txBody>
            <a:bodyPr anchor="ctr" rtlCol="false" tIns="0" lIns="0" bIns="0" rIns="0"/>
            <a:lstStyle/>
            <a:p>
              <a:pPr algn="l">
                <a:lnSpc>
                  <a:spcPts val="2400"/>
                </a:lnSpc>
              </a:pPr>
              <a:r>
                <a:rPr lang="en-US" sz="2000">
                  <a:solidFill>
                    <a:srgbClr val="1C2E40"/>
                  </a:solidFill>
                  <a:latin typeface="EB Garamond"/>
                  <a:ea typeface="EB Garamond"/>
                  <a:cs typeface="EB Garamond"/>
                  <a:sym typeface="EB Garamond"/>
                </a:rPr>
                <a:t>📉  Niger : prix médian le plus bas (110 000) et échantillon le plus réduit (187 obs.)</a:t>
              </a:r>
            </a:p>
          </p:txBody>
        </p:sp>
      </p:grpSp>
      <p:grpSp>
        <p:nvGrpSpPr>
          <p:cNvPr name="Group 24" id="24"/>
          <p:cNvGrpSpPr/>
          <p:nvPr/>
        </p:nvGrpSpPr>
        <p:grpSpPr>
          <a:xfrm rot="0">
            <a:off x="9499597" y="7798813"/>
            <a:ext cx="8249917" cy="1044445"/>
            <a:chOff x="0" y="0"/>
            <a:chExt cx="10999889" cy="1392593"/>
          </a:xfrm>
        </p:grpSpPr>
        <p:sp>
          <p:nvSpPr>
            <p:cNvPr name="Freeform 25" id="25"/>
            <p:cNvSpPr/>
            <p:nvPr/>
          </p:nvSpPr>
          <p:spPr>
            <a:xfrm flipH="false" flipV="false" rot="0">
              <a:off x="13589" y="13589"/>
              <a:ext cx="10972674" cy="1365504"/>
            </a:xfrm>
            <a:custGeom>
              <a:avLst/>
              <a:gdLst/>
              <a:ahLst/>
              <a:cxnLst/>
              <a:rect r="r" b="b" t="t" l="l"/>
              <a:pathLst>
                <a:path h="1365504" w="10972674">
                  <a:moveTo>
                    <a:pt x="0" y="243840"/>
                  </a:moveTo>
                  <a:cubicBezTo>
                    <a:pt x="0" y="109220"/>
                    <a:pt x="111125" y="0"/>
                    <a:pt x="248031" y="0"/>
                  </a:cubicBezTo>
                  <a:lnTo>
                    <a:pt x="10724642" y="0"/>
                  </a:lnTo>
                  <a:cubicBezTo>
                    <a:pt x="10861675" y="0"/>
                    <a:pt x="10972674" y="109220"/>
                    <a:pt x="10972674" y="243840"/>
                  </a:cubicBezTo>
                  <a:lnTo>
                    <a:pt x="10972674" y="1121664"/>
                  </a:lnTo>
                  <a:cubicBezTo>
                    <a:pt x="10972674" y="1256284"/>
                    <a:pt x="10861549" y="1365504"/>
                    <a:pt x="10724642" y="1365504"/>
                  </a:cubicBezTo>
                  <a:lnTo>
                    <a:pt x="248031" y="1365504"/>
                  </a:lnTo>
                  <a:cubicBezTo>
                    <a:pt x="110998" y="1365504"/>
                    <a:pt x="0" y="1256284"/>
                    <a:pt x="0" y="1121664"/>
                  </a:cubicBezTo>
                  <a:close/>
                </a:path>
              </a:pathLst>
            </a:custGeom>
            <a:solidFill>
              <a:srgbClr val="FFFFFF"/>
            </a:solidFill>
          </p:spPr>
        </p:sp>
        <p:sp>
          <p:nvSpPr>
            <p:cNvPr name="Freeform 26" id="26"/>
            <p:cNvSpPr/>
            <p:nvPr/>
          </p:nvSpPr>
          <p:spPr>
            <a:xfrm flipH="false" flipV="false" rot="0">
              <a:off x="0" y="0"/>
              <a:ext cx="10999851" cy="1392682"/>
            </a:xfrm>
            <a:custGeom>
              <a:avLst/>
              <a:gdLst/>
              <a:ahLst/>
              <a:cxnLst/>
              <a:rect r="r" b="b" t="t" l="l"/>
              <a:pathLst>
                <a:path h="1392682" w="10999851">
                  <a:moveTo>
                    <a:pt x="0" y="257429"/>
                  </a:moveTo>
                  <a:cubicBezTo>
                    <a:pt x="0" y="115062"/>
                    <a:pt x="117348" y="0"/>
                    <a:pt x="261620" y="0"/>
                  </a:cubicBezTo>
                  <a:lnTo>
                    <a:pt x="10738231" y="0"/>
                  </a:lnTo>
                  <a:lnTo>
                    <a:pt x="10738231" y="13589"/>
                  </a:lnTo>
                  <a:lnTo>
                    <a:pt x="10738231" y="0"/>
                  </a:lnTo>
                  <a:cubicBezTo>
                    <a:pt x="10882503" y="0"/>
                    <a:pt x="10999851" y="115062"/>
                    <a:pt x="10999851" y="257429"/>
                  </a:cubicBezTo>
                  <a:lnTo>
                    <a:pt x="10986263" y="257429"/>
                  </a:lnTo>
                  <a:lnTo>
                    <a:pt x="10999851" y="257429"/>
                  </a:lnTo>
                  <a:lnTo>
                    <a:pt x="10999851" y="1135253"/>
                  </a:lnTo>
                  <a:lnTo>
                    <a:pt x="10986263" y="1135253"/>
                  </a:lnTo>
                  <a:lnTo>
                    <a:pt x="10999851" y="1135253"/>
                  </a:lnTo>
                  <a:cubicBezTo>
                    <a:pt x="10999851" y="1277620"/>
                    <a:pt x="10882503" y="1392682"/>
                    <a:pt x="10738231" y="1392682"/>
                  </a:cubicBezTo>
                  <a:lnTo>
                    <a:pt x="10738231" y="1379093"/>
                  </a:lnTo>
                  <a:lnTo>
                    <a:pt x="10738231" y="1392682"/>
                  </a:lnTo>
                  <a:lnTo>
                    <a:pt x="261620" y="1392682"/>
                  </a:lnTo>
                  <a:lnTo>
                    <a:pt x="261620" y="1379093"/>
                  </a:lnTo>
                  <a:lnTo>
                    <a:pt x="261620" y="1392682"/>
                  </a:lnTo>
                  <a:cubicBezTo>
                    <a:pt x="117348" y="1392555"/>
                    <a:pt x="0" y="1277620"/>
                    <a:pt x="0" y="1135253"/>
                  </a:cubicBezTo>
                  <a:lnTo>
                    <a:pt x="0" y="257429"/>
                  </a:lnTo>
                  <a:lnTo>
                    <a:pt x="13589" y="257429"/>
                  </a:lnTo>
                  <a:lnTo>
                    <a:pt x="0" y="257429"/>
                  </a:lnTo>
                  <a:moveTo>
                    <a:pt x="27051" y="257429"/>
                  </a:moveTo>
                  <a:lnTo>
                    <a:pt x="27051" y="1135253"/>
                  </a:lnTo>
                  <a:lnTo>
                    <a:pt x="13589" y="1135253"/>
                  </a:lnTo>
                  <a:lnTo>
                    <a:pt x="27051" y="1135253"/>
                  </a:lnTo>
                  <a:cubicBezTo>
                    <a:pt x="27051" y="1262253"/>
                    <a:pt x="131826" y="1365504"/>
                    <a:pt x="261620" y="1365504"/>
                  </a:cubicBezTo>
                  <a:lnTo>
                    <a:pt x="10738231" y="1365504"/>
                  </a:lnTo>
                  <a:cubicBezTo>
                    <a:pt x="10868025" y="1365504"/>
                    <a:pt x="10972800" y="1262126"/>
                    <a:pt x="10972800" y="1135253"/>
                  </a:cubicBezTo>
                  <a:lnTo>
                    <a:pt x="10972800" y="257429"/>
                  </a:lnTo>
                  <a:cubicBezTo>
                    <a:pt x="10972800" y="130429"/>
                    <a:pt x="10868025" y="27178"/>
                    <a:pt x="10738231" y="27178"/>
                  </a:cubicBezTo>
                  <a:lnTo>
                    <a:pt x="261620" y="27178"/>
                  </a:lnTo>
                  <a:lnTo>
                    <a:pt x="261620" y="13589"/>
                  </a:lnTo>
                  <a:lnTo>
                    <a:pt x="261620" y="27051"/>
                  </a:lnTo>
                  <a:cubicBezTo>
                    <a:pt x="131826" y="27051"/>
                    <a:pt x="27051" y="130429"/>
                    <a:pt x="27051" y="257302"/>
                  </a:cubicBezTo>
                  <a:close/>
                </a:path>
              </a:pathLst>
            </a:custGeom>
            <a:solidFill>
              <a:srgbClr val="C89A3E"/>
            </a:solidFill>
          </p:spPr>
        </p:sp>
      </p:grpSp>
      <p:grpSp>
        <p:nvGrpSpPr>
          <p:cNvPr name="Group 27" id="27"/>
          <p:cNvGrpSpPr/>
          <p:nvPr/>
        </p:nvGrpSpPr>
        <p:grpSpPr>
          <a:xfrm rot="0">
            <a:off x="9838944" y="7973568"/>
            <a:ext cx="7644384" cy="731520"/>
            <a:chOff x="0" y="0"/>
            <a:chExt cx="10192512" cy="975360"/>
          </a:xfrm>
        </p:grpSpPr>
        <p:sp>
          <p:nvSpPr>
            <p:cNvPr name="Freeform 28" id="28"/>
            <p:cNvSpPr/>
            <p:nvPr/>
          </p:nvSpPr>
          <p:spPr>
            <a:xfrm flipH="false" flipV="false" rot="0">
              <a:off x="0" y="0"/>
              <a:ext cx="10192512" cy="975360"/>
            </a:xfrm>
            <a:custGeom>
              <a:avLst/>
              <a:gdLst/>
              <a:ahLst/>
              <a:cxnLst/>
              <a:rect r="r" b="b" t="t" l="l"/>
              <a:pathLst>
                <a:path h="975360" w="10192512">
                  <a:moveTo>
                    <a:pt x="0" y="0"/>
                  </a:moveTo>
                  <a:lnTo>
                    <a:pt x="10192512" y="0"/>
                  </a:lnTo>
                  <a:lnTo>
                    <a:pt x="10192512" y="975360"/>
                  </a:lnTo>
                  <a:lnTo>
                    <a:pt x="0" y="975360"/>
                  </a:lnTo>
                  <a:close/>
                </a:path>
              </a:pathLst>
            </a:custGeom>
            <a:blipFill>
              <a:blip r:embed="rId3">
                <a:alphaModFix amt="0"/>
              </a:blip>
              <a:stretch>
                <a:fillRect l="0" t="-153618" r="0" b="-153618"/>
              </a:stretch>
            </a:blipFill>
          </p:spPr>
        </p:sp>
        <p:sp>
          <p:nvSpPr>
            <p:cNvPr name="TextBox 29" id="29"/>
            <p:cNvSpPr txBox="true"/>
            <p:nvPr/>
          </p:nvSpPr>
          <p:spPr>
            <a:xfrm>
              <a:off x="0" y="-9525"/>
              <a:ext cx="10192512" cy="984885"/>
            </a:xfrm>
            <a:prstGeom prst="rect">
              <a:avLst/>
            </a:prstGeom>
          </p:spPr>
          <p:txBody>
            <a:bodyPr anchor="ctr" rtlCol="false" tIns="0" lIns="0" bIns="0" rIns="0"/>
            <a:lstStyle/>
            <a:p>
              <a:pPr algn="l">
                <a:lnSpc>
                  <a:spcPts val="2400"/>
                </a:lnSpc>
              </a:pPr>
              <a:r>
                <a:rPr lang="en-US" sz="2000">
                  <a:solidFill>
                    <a:srgbClr val="1C2E40"/>
                  </a:solidFill>
                  <a:latin typeface="EB Garamond"/>
                  <a:ea typeface="EB Garamond"/>
                  <a:cs typeface="EB Garamond"/>
                  <a:sym typeface="EB Garamond"/>
                </a:rPr>
                <a:t>📊  Sénégal : écart-type maximal (79 440 FCFA) → forte dispersion des prix de vente</a:t>
              </a:r>
            </a:p>
          </p:txBody>
        </p:sp>
      </p:grpSp>
      <p:grpSp>
        <p:nvGrpSpPr>
          <p:cNvPr name="Group 30" id="30"/>
          <p:cNvGrpSpPr/>
          <p:nvPr/>
        </p:nvGrpSpPr>
        <p:grpSpPr>
          <a:xfrm rot="0">
            <a:off x="9499597" y="8969245"/>
            <a:ext cx="8249917" cy="1044445"/>
            <a:chOff x="0" y="0"/>
            <a:chExt cx="10999889" cy="1392593"/>
          </a:xfrm>
        </p:grpSpPr>
        <p:sp>
          <p:nvSpPr>
            <p:cNvPr name="Freeform 31" id="31"/>
            <p:cNvSpPr/>
            <p:nvPr/>
          </p:nvSpPr>
          <p:spPr>
            <a:xfrm flipH="false" flipV="false" rot="0">
              <a:off x="13589" y="13589"/>
              <a:ext cx="10972674" cy="1365504"/>
            </a:xfrm>
            <a:custGeom>
              <a:avLst/>
              <a:gdLst/>
              <a:ahLst/>
              <a:cxnLst/>
              <a:rect r="r" b="b" t="t" l="l"/>
              <a:pathLst>
                <a:path h="1365504" w="10972674">
                  <a:moveTo>
                    <a:pt x="0" y="243840"/>
                  </a:moveTo>
                  <a:cubicBezTo>
                    <a:pt x="0" y="109220"/>
                    <a:pt x="111125" y="0"/>
                    <a:pt x="248031" y="0"/>
                  </a:cubicBezTo>
                  <a:lnTo>
                    <a:pt x="10724642" y="0"/>
                  </a:lnTo>
                  <a:cubicBezTo>
                    <a:pt x="10861675" y="0"/>
                    <a:pt x="10972674" y="109220"/>
                    <a:pt x="10972674" y="243840"/>
                  </a:cubicBezTo>
                  <a:lnTo>
                    <a:pt x="10972674" y="1121664"/>
                  </a:lnTo>
                  <a:cubicBezTo>
                    <a:pt x="10972674" y="1256284"/>
                    <a:pt x="10861549" y="1365504"/>
                    <a:pt x="10724642" y="1365504"/>
                  </a:cubicBezTo>
                  <a:lnTo>
                    <a:pt x="248031" y="1365504"/>
                  </a:lnTo>
                  <a:cubicBezTo>
                    <a:pt x="110998" y="1365504"/>
                    <a:pt x="0" y="1256284"/>
                    <a:pt x="0" y="1121664"/>
                  </a:cubicBezTo>
                  <a:close/>
                </a:path>
              </a:pathLst>
            </a:custGeom>
            <a:solidFill>
              <a:srgbClr val="FFFFFF"/>
            </a:solidFill>
          </p:spPr>
        </p:sp>
        <p:sp>
          <p:nvSpPr>
            <p:cNvPr name="Freeform 32" id="32"/>
            <p:cNvSpPr/>
            <p:nvPr/>
          </p:nvSpPr>
          <p:spPr>
            <a:xfrm flipH="false" flipV="false" rot="0">
              <a:off x="0" y="0"/>
              <a:ext cx="10999851" cy="1392682"/>
            </a:xfrm>
            <a:custGeom>
              <a:avLst/>
              <a:gdLst/>
              <a:ahLst/>
              <a:cxnLst/>
              <a:rect r="r" b="b" t="t" l="l"/>
              <a:pathLst>
                <a:path h="1392682" w="10999851">
                  <a:moveTo>
                    <a:pt x="0" y="257429"/>
                  </a:moveTo>
                  <a:cubicBezTo>
                    <a:pt x="0" y="115062"/>
                    <a:pt x="117348" y="0"/>
                    <a:pt x="261620" y="0"/>
                  </a:cubicBezTo>
                  <a:lnTo>
                    <a:pt x="10738231" y="0"/>
                  </a:lnTo>
                  <a:lnTo>
                    <a:pt x="10738231" y="13589"/>
                  </a:lnTo>
                  <a:lnTo>
                    <a:pt x="10738231" y="0"/>
                  </a:lnTo>
                  <a:cubicBezTo>
                    <a:pt x="10882503" y="0"/>
                    <a:pt x="10999851" y="115062"/>
                    <a:pt x="10999851" y="257429"/>
                  </a:cubicBezTo>
                  <a:lnTo>
                    <a:pt x="10986263" y="257429"/>
                  </a:lnTo>
                  <a:lnTo>
                    <a:pt x="10999851" y="257429"/>
                  </a:lnTo>
                  <a:lnTo>
                    <a:pt x="10999851" y="1135253"/>
                  </a:lnTo>
                  <a:lnTo>
                    <a:pt x="10986263" y="1135253"/>
                  </a:lnTo>
                  <a:lnTo>
                    <a:pt x="10999851" y="1135253"/>
                  </a:lnTo>
                  <a:cubicBezTo>
                    <a:pt x="10999851" y="1277620"/>
                    <a:pt x="10882503" y="1392682"/>
                    <a:pt x="10738231" y="1392682"/>
                  </a:cubicBezTo>
                  <a:lnTo>
                    <a:pt x="10738231" y="1379093"/>
                  </a:lnTo>
                  <a:lnTo>
                    <a:pt x="10738231" y="1392682"/>
                  </a:lnTo>
                  <a:lnTo>
                    <a:pt x="261620" y="1392682"/>
                  </a:lnTo>
                  <a:lnTo>
                    <a:pt x="261620" y="1379093"/>
                  </a:lnTo>
                  <a:lnTo>
                    <a:pt x="261620" y="1392682"/>
                  </a:lnTo>
                  <a:cubicBezTo>
                    <a:pt x="117348" y="1392555"/>
                    <a:pt x="0" y="1277620"/>
                    <a:pt x="0" y="1135253"/>
                  </a:cubicBezTo>
                  <a:lnTo>
                    <a:pt x="0" y="257429"/>
                  </a:lnTo>
                  <a:lnTo>
                    <a:pt x="13589" y="257429"/>
                  </a:lnTo>
                  <a:lnTo>
                    <a:pt x="0" y="257429"/>
                  </a:lnTo>
                  <a:moveTo>
                    <a:pt x="27051" y="257429"/>
                  </a:moveTo>
                  <a:lnTo>
                    <a:pt x="27051" y="1135253"/>
                  </a:lnTo>
                  <a:lnTo>
                    <a:pt x="13589" y="1135253"/>
                  </a:lnTo>
                  <a:lnTo>
                    <a:pt x="27051" y="1135253"/>
                  </a:lnTo>
                  <a:cubicBezTo>
                    <a:pt x="27051" y="1262253"/>
                    <a:pt x="131826" y="1365504"/>
                    <a:pt x="261620" y="1365504"/>
                  </a:cubicBezTo>
                  <a:lnTo>
                    <a:pt x="10738231" y="1365504"/>
                  </a:lnTo>
                  <a:cubicBezTo>
                    <a:pt x="10868025" y="1365504"/>
                    <a:pt x="10972800" y="1262126"/>
                    <a:pt x="10972800" y="1135253"/>
                  </a:cubicBezTo>
                  <a:lnTo>
                    <a:pt x="10972800" y="257429"/>
                  </a:lnTo>
                  <a:cubicBezTo>
                    <a:pt x="10972800" y="130429"/>
                    <a:pt x="10868025" y="27178"/>
                    <a:pt x="10738231" y="27178"/>
                  </a:cubicBezTo>
                  <a:lnTo>
                    <a:pt x="261620" y="27178"/>
                  </a:lnTo>
                  <a:lnTo>
                    <a:pt x="261620" y="13589"/>
                  </a:lnTo>
                  <a:lnTo>
                    <a:pt x="261620" y="27051"/>
                  </a:lnTo>
                  <a:cubicBezTo>
                    <a:pt x="131826" y="27051"/>
                    <a:pt x="27051" y="130429"/>
                    <a:pt x="27051" y="257302"/>
                  </a:cubicBezTo>
                  <a:close/>
                </a:path>
              </a:pathLst>
            </a:custGeom>
            <a:solidFill>
              <a:srgbClr val="C89A3E"/>
            </a:solidFill>
          </p:spPr>
        </p:sp>
      </p:grpSp>
      <p:grpSp>
        <p:nvGrpSpPr>
          <p:cNvPr name="Group 33" id="33"/>
          <p:cNvGrpSpPr/>
          <p:nvPr/>
        </p:nvGrpSpPr>
        <p:grpSpPr>
          <a:xfrm rot="0">
            <a:off x="9838944" y="9144000"/>
            <a:ext cx="7644384" cy="731520"/>
            <a:chOff x="0" y="0"/>
            <a:chExt cx="10192512" cy="975360"/>
          </a:xfrm>
        </p:grpSpPr>
        <p:sp>
          <p:nvSpPr>
            <p:cNvPr name="Freeform 34" id="34"/>
            <p:cNvSpPr/>
            <p:nvPr/>
          </p:nvSpPr>
          <p:spPr>
            <a:xfrm flipH="false" flipV="false" rot="0">
              <a:off x="0" y="0"/>
              <a:ext cx="10192512" cy="975360"/>
            </a:xfrm>
            <a:custGeom>
              <a:avLst/>
              <a:gdLst/>
              <a:ahLst/>
              <a:cxnLst/>
              <a:rect r="r" b="b" t="t" l="l"/>
              <a:pathLst>
                <a:path h="975360" w="10192512">
                  <a:moveTo>
                    <a:pt x="0" y="0"/>
                  </a:moveTo>
                  <a:lnTo>
                    <a:pt x="10192512" y="0"/>
                  </a:lnTo>
                  <a:lnTo>
                    <a:pt x="10192512" y="975360"/>
                  </a:lnTo>
                  <a:lnTo>
                    <a:pt x="0" y="975360"/>
                  </a:lnTo>
                  <a:close/>
                </a:path>
              </a:pathLst>
            </a:custGeom>
            <a:blipFill>
              <a:blip r:embed="rId3">
                <a:alphaModFix amt="0"/>
              </a:blip>
              <a:stretch>
                <a:fillRect l="0" t="-153618" r="0" b="-153618"/>
              </a:stretch>
            </a:blipFill>
          </p:spPr>
        </p:sp>
        <p:sp>
          <p:nvSpPr>
            <p:cNvPr name="TextBox 35" id="35"/>
            <p:cNvSpPr txBox="true"/>
            <p:nvPr/>
          </p:nvSpPr>
          <p:spPr>
            <a:xfrm>
              <a:off x="0" y="-9525"/>
              <a:ext cx="10192512" cy="984885"/>
            </a:xfrm>
            <a:prstGeom prst="rect">
              <a:avLst/>
            </a:prstGeom>
          </p:spPr>
          <p:txBody>
            <a:bodyPr anchor="ctr" rtlCol="false" tIns="0" lIns="0" bIns="0" rIns="0"/>
            <a:lstStyle/>
            <a:p>
              <a:pPr algn="l">
                <a:lnSpc>
                  <a:spcPts val="2400"/>
                </a:lnSpc>
              </a:pPr>
              <a:r>
                <a:rPr lang="en-US" sz="2000">
                  <a:solidFill>
                    <a:srgbClr val="1C2E40"/>
                  </a:solidFill>
                  <a:latin typeface="EB Garamond"/>
                  <a:ea typeface="EB Garamond"/>
                  <a:cs typeface="EB Garamond"/>
                  <a:sym typeface="EB Garamond"/>
                </a:rPr>
                <a:t>💡  Médianes toujours &lt; moyennes dans tous les pays → distributions asymétriques à droite</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C89A3E"/>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C89A3E"/>
            </a:solidFill>
          </p:spPr>
        </p:sp>
      </p:grpSp>
      <p:grpSp>
        <p:nvGrpSpPr>
          <p:cNvPr name="Group 5" id="5"/>
          <p:cNvGrpSpPr/>
          <p:nvPr/>
        </p:nvGrpSpPr>
        <p:grpSpPr>
          <a:xfrm rot="0">
            <a:off x="822960" y="402336"/>
            <a:ext cx="16642080" cy="1118845"/>
            <a:chOff x="0" y="0"/>
            <a:chExt cx="22189440" cy="1491793"/>
          </a:xfrm>
        </p:grpSpPr>
        <p:sp>
          <p:nvSpPr>
            <p:cNvPr name="Freeform 6" id="6"/>
            <p:cNvSpPr/>
            <p:nvPr/>
          </p:nvSpPr>
          <p:spPr>
            <a:xfrm flipH="false" flipV="false" rot="0">
              <a:off x="0" y="0"/>
              <a:ext cx="22189439" cy="1491793"/>
            </a:xfrm>
            <a:custGeom>
              <a:avLst/>
              <a:gdLst/>
              <a:ahLst/>
              <a:cxnLst/>
              <a:rect r="r" b="b" t="t" l="l"/>
              <a:pathLst>
                <a:path h="1491793" w="22189439">
                  <a:moveTo>
                    <a:pt x="0" y="0"/>
                  </a:moveTo>
                  <a:lnTo>
                    <a:pt x="22189439" y="0"/>
                  </a:lnTo>
                  <a:lnTo>
                    <a:pt x="22189439" y="1491793"/>
                  </a:lnTo>
                  <a:lnTo>
                    <a:pt x="0" y="1491793"/>
                  </a:lnTo>
                  <a:close/>
                </a:path>
              </a:pathLst>
            </a:custGeom>
            <a:blipFill>
              <a:blip r:embed="rId3">
                <a:alphaModFix amt="0"/>
              </a:blip>
              <a:stretch>
                <a:fillRect l="0" t="-244877" r="0" b="-234777"/>
              </a:stretch>
            </a:blipFill>
          </p:spPr>
        </p:sp>
        <p:sp>
          <p:nvSpPr>
            <p:cNvPr name="TextBox 7" id="7"/>
            <p:cNvSpPr txBox="true"/>
            <p:nvPr/>
          </p:nvSpPr>
          <p:spPr>
            <a:xfrm>
              <a:off x="0" y="9525"/>
              <a:ext cx="22189440" cy="1482268"/>
            </a:xfrm>
            <a:prstGeom prst="rect">
              <a:avLst/>
            </a:prstGeom>
          </p:spPr>
          <p:txBody>
            <a:bodyPr anchor="ctr" rtlCol="false" tIns="0" lIns="0" bIns="0" rIns="0"/>
            <a:lstStyle/>
            <a:p>
              <a:pPr algn="l">
                <a:lnSpc>
                  <a:spcPts val="6480"/>
                </a:lnSpc>
              </a:pPr>
              <a:r>
                <a:rPr lang="en-US" sz="5400" b="true">
                  <a:solidFill>
                    <a:srgbClr val="1C2E40"/>
                  </a:solidFill>
                  <a:latin typeface="EB Garamond Semi-Bold"/>
                  <a:ea typeface="EB Garamond Semi-Bold"/>
                  <a:cs typeface="EB Garamond Semi-Bold"/>
                  <a:sym typeface="EB Garamond Semi-Bold"/>
                </a:rPr>
                <a:t>Ventes de bétail — Prix médian &amp; modèle OLS</a:t>
              </a:r>
            </a:p>
          </p:txBody>
        </p:sp>
      </p:grpSp>
      <p:grpSp>
        <p:nvGrpSpPr>
          <p:cNvPr name="Group 8" id="8"/>
          <p:cNvGrpSpPr/>
          <p:nvPr/>
        </p:nvGrpSpPr>
        <p:grpSpPr>
          <a:xfrm rot="0">
            <a:off x="822960" y="1426464"/>
            <a:ext cx="16642080" cy="512064"/>
            <a:chOff x="0" y="0"/>
            <a:chExt cx="22189440" cy="682752"/>
          </a:xfrm>
        </p:grpSpPr>
        <p:sp>
          <p:nvSpPr>
            <p:cNvPr name="Freeform 9" id="9"/>
            <p:cNvSpPr/>
            <p:nvPr/>
          </p:nvSpPr>
          <p:spPr>
            <a:xfrm flipH="false" flipV="false" rot="0">
              <a:off x="0" y="0"/>
              <a:ext cx="22189439" cy="682752"/>
            </a:xfrm>
            <a:custGeom>
              <a:avLst/>
              <a:gdLst/>
              <a:ahLst/>
              <a:cxnLst/>
              <a:rect r="r" b="b" t="t" l="l"/>
              <a:pathLst>
                <a:path h="682752" w="22189439">
                  <a:moveTo>
                    <a:pt x="0" y="0"/>
                  </a:moveTo>
                  <a:lnTo>
                    <a:pt x="22189439" y="0"/>
                  </a:lnTo>
                  <a:lnTo>
                    <a:pt x="22189439" y="682752"/>
                  </a:lnTo>
                  <a:lnTo>
                    <a:pt x="0" y="682752"/>
                  </a:lnTo>
                  <a:close/>
                </a:path>
              </a:pathLst>
            </a:custGeom>
            <a:blipFill>
              <a:blip r:embed="rId3">
                <a:alphaModFix amt="0"/>
              </a:blip>
              <a:stretch>
                <a:fillRect l="0" t="-583263" r="0" b="-583263"/>
              </a:stretch>
            </a:blipFill>
          </p:spPr>
        </p:sp>
        <p:sp>
          <p:nvSpPr>
            <p:cNvPr name="TextBox 10" id="10"/>
            <p:cNvSpPr txBox="true"/>
            <p:nvPr/>
          </p:nvSpPr>
          <p:spPr>
            <a:xfrm>
              <a:off x="0" y="9525"/>
              <a:ext cx="22189440" cy="673227"/>
            </a:xfrm>
            <a:prstGeom prst="rect">
              <a:avLst/>
            </a:prstGeom>
          </p:spPr>
          <p:txBody>
            <a:bodyPr anchor="ctr" rtlCol="false" tIns="0" lIns="0" bIns="0" rIns="0"/>
            <a:lstStyle/>
            <a:p>
              <a:pPr algn="l">
                <a:lnSpc>
                  <a:spcPts val="2879"/>
                </a:lnSpc>
              </a:pPr>
              <a:r>
                <a:rPr lang="en-US" sz="2400" i="true">
                  <a:solidFill>
                    <a:srgbClr val="7B8FA1"/>
                  </a:solidFill>
                  <a:latin typeface="EB Garamond Italics"/>
                  <a:ea typeface="EB Garamond Italics"/>
                  <a:cs typeface="EB Garamond Italics"/>
                  <a:sym typeface="EB Garamond Italics"/>
                </a:rPr>
                <a:t>Prix médian par sexe × pays · Régression linéaire · Variables additionnelles</a:t>
              </a:r>
            </a:p>
          </p:txBody>
        </p:sp>
      </p:grpSp>
      <p:grpSp>
        <p:nvGrpSpPr>
          <p:cNvPr name="Group 11" id="11"/>
          <p:cNvGrpSpPr/>
          <p:nvPr/>
        </p:nvGrpSpPr>
        <p:grpSpPr>
          <a:xfrm rot="0">
            <a:off x="629917" y="1964941"/>
            <a:ext cx="9164317" cy="7664701"/>
            <a:chOff x="0" y="0"/>
            <a:chExt cx="12219089" cy="10219601"/>
          </a:xfrm>
        </p:grpSpPr>
        <p:sp>
          <p:nvSpPr>
            <p:cNvPr name="Freeform 12" id="12"/>
            <p:cNvSpPr/>
            <p:nvPr/>
          </p:nvSpPr>
          <p:spPr>
            <a:xfrm flipH="false" flipV="false" rot="0">
              <a:off x="13462" y="13462"/>
              <a:ext cx="12192127" cy="10192639"/>
            </a:xfrm>
            <a:custGeom>
              <a:avLst/>
              <a:gdLst/>
              <a:ahLst/>
              <a:cxnLst/>
              <a:rect r="r" b="b" t="t" l="l"/>
              <a:pathLst>
                <a:path h="10192639" w="12192127">
                  <a:moveTo>
                    <a:pt x="127" y="243840"/>
                  </a:moveTo>
                  <a:cubicBezTo>
                    <a:pt x="127" y="109220"/>
                    <a:pt x="109347" y="0"/>
                    <a:pt x="244094" y="0"/>
                  </a:cubicBezTo>
                  <a:lnTo>
                    <a:pt x="11948160" y="0"/>
                  </a:lnTo>
                  <a:cubicBezTo>
                    <a:pt x="12082907" y="0"/>
                    <a:pt x="12192127" y="109093"/>
                    <a:pt x="12192127" y="243840"/>
                  </a:cubicBezTo>
                  <a:lnTo>
                    <a:pt x="12192127" y="9948799"/>
                  </a:lnTo>
                  <a:cubicBezTo>
                    <a:pt x="12192127" y="10083419"/>
                    <a:pt x="12082907" y="10192639"/>
                    <a:pt x="11948160" y="10192639"/>
                  </a:cubicBezTo>
                  <a:lnTo>
                    <a:pt x="243967" y="10192639"/>
                  </a:lnTo>
                  <a:cubicBezTo>
                    <a:pt x="109220" y="10192639"/>
                    <a:pt x="0" y="10083546"/>
                    <a:pt x="0" y="9948799"/>
                  </a:cubicBezTo>
                  <a:close/>
                </a:path>
              </a:pathLst>
            </a:custGeom>
            <a:solidFill>
              <a:srgbClr val="FFFFFF"/>
            </a:solidFill>
          </p:spPr>
        </p:sp>
        <p:sp>
          <p:nvSpPr>
            <p:cNvPr name="Freeform 13" id="13"/>
            <p:cNvSpPr/>
            <p:nvPr/>
          </p:nvSpPr>
          <p:spPr>
            <a:xfrm flipH="false" flipV="false" rot="0">
              <a:off x="0" y="0"/>
              <a:ext cx="12219051" cy="10219563"/>
            </a:xfrm>
            <a:custGeom>
              <a:avLst/>
              <a:gdLst/>
              <a:ahLst/>
              <a:cxnLst/>
              <a:rect r="r" b="b" t="t" l="l"/>
              <a:pathLst>
                <a:path h="10219563" w="12219051">
                  <a:moveTo>
                    <a:pt x="0" y="257302"/>
                  </a:moveTo>
                  <a:cubicBezTo>
                    <a:pt x="0" y="115189"/>
                    <a:pt x="115316" y="0"/>
                    <a:pt x="257429" y="0"/>
                  </a:cubicBezTo>
                  <a:lnTo>
                    <a:pt x="11961622" y="0"/>
                  </a:lnTo>
                  <a:lnTo>
                    <a:pt x="11961622" y="13589"/>
                  </a:lnTo>
                  <a:lnTo>
                    <a:pt x="11961622" y="0"/>
                  </a:lnTo>
                  <a:cubicBezTo>
                    <a:pt x="12103862" y="0"/>
                    <a:pt x="12219051" y="115189"/>
                    <a:pt x="12219051" y="257302"/>
                  </a:cubicBezTo>
                  <a:lnTo>
                    <a:pt x="12205462" y="257302"/>
                  </a:lnTo>
                  <a:lnTo>
                    <a:pt x="12219051" y="257302"/>
                  </a:lnTo>
                  <a:lnTo>
                    <a:pt x="12219051" y="9962261"/>
                  </a:lnTo>
                  <a:lnTo>
                    <a:pt x="12205462" y="9962261"/>
                  </a:lnTo>
                  <a:lnTo>
                    <a:pt x="12219051" y="9962261"/>
                  </a:lnTo>
                  <a:cubicBezTo>
                    <a:pt x="12219051" y="10104374"/>
                    <a:pt x="12103735" y="10219563"/>
                    <a:pt x="11961622" y="10219563"/>
                  </a:cubicBezTo>
                  <a:lnTo>
                    <a:pt x="11961622" y="10205974"/>
                  </a:lnTo>
                  <a:lnTo>
                    <a:pt x="11961622" y="10219563"/>
                  </a:lnTo>
                  <a:lnTo>
                    <a:pt x="257429" y="10219563"/>
                  </a:lnTo>
                  <a:lnTo>
                    <a:pt x="257429" y="10205974"/>
                  </a:lnTo>
                  <a:lnTo>
                    <a:pt x="257429" y="10219563"/>
                  </a:lnTo>
                  <a:cubicBezTo>
                    <a:pt x="115316" y="10219563"/>
                    <a:pt x="0" y="10104374"/>
                    <a:pt x="0" y="9962261"/>
                  </a:cubicBezTo>
                  <a:lnTo>
                    <a:pt x="0" y="257302"/>
                  </a:lnTo>
                  <a:lnTo>
                    <a:pt x="13589" y="257302"/>
                  </a:lnTo>
                  <a:lnTo>
                    <a:pt x="0" y="257302"/>
                  </a:lnTo>
                  <a:moveTo>
                    <a:pt x="27051" y="257302"/>
                  </a:moveTo>
                  <a:lnTo>
                    <a:pt x="27051" y="9962261"/>
                  </a:lnTo>
                  <a:lnTo>
                    <a:pt x="13589" y="9962261"/>
                  </a:lnTo>
                  <a:lnTo>
                    <a:pt x="27051" y="9962261"/>
                  </a:lnTo>
                  <a:cubicBezTo>
                    <a:pt x="27051" y="10089388"/>
                    <a:pt x="130175" y="10192512"/>
                    <a:pt x="257429" y="10192512"/>
                  </a:cubicBezTo>
                  <a:lnTo>
                    <a:pt x="11961622" y="10192512"/>
                  </a:lnTo>
                  <a:cubicBezTo>
                    <a:pt x="12088876" y="10192512"/>
                    <a:pt x="12192000" y="10089388"/>
                    <a:pt x="12192000" y="9962261"/>
                  </a:cubicBezTo>
                  <a:lnTo>
                    <a:pt x="12192000" y="257302"/>
                  </a:lnTo>
                  <a:cubicBezTo>
                    <a:pt x="12192000" y="130175"/>
                    <a:pt x="12088876" y="27051"/>
                    <a:pt x="11961622" y="27051"/>
                  </a:cubicBezTo>
                  <a:lnTo>
                    <a:pt x="257429" y="27051"/>
                  </a:lnTo>
                  <a:lnTo>
                    <a:pt x="257429" y="13589"/>
                  </a:lnTo>
                  <a:lnTo>
                    <a:pt x="257429" y="27051"/>
                  </a:lnTo>
                  <a:cubicBezTo>
                    <a:pt x="130175" y="27051"/>
                    <a:pt x="27051" y="130175"/>
                    <a:pt x="27051" y="257302"/>
                  </a:cubicBezTo>
                  <a:close/>
                </a:path>
              </a:pathLst>
            </a:custGeom>
            <a:solidFill>
              <a:srgbClr val="BDC8D5"/>
            </a:solidFill>
          </p:spPr>
        </p:sp>
      </p:grpSp>
      <p:grpSp>
        <p:nvGrpSpPr>
          <p:cNvPr name="Group 14" id="14"/>
          <p:cNvGrpSpPr/>
          <p:nvPr/>
        </p:nvGrpSpPr>
        <p:grpSpPr>
          <a:xfrm rot="0">
            <a:off x="950976" y="2139696"/>
            <a:ext cx="8631936" cy="512064"/>
            <a:chOff x="0" y="0"/>
            <a:chExt cx="11509248" cy="682752"/>
          </a:xfrm>
        </p:grpSpPr>
        <p:sp>
          <p:nvSpPr>
            <p:cNvPr name="Freeform 15" id="15"/>
            <p:cNvSpPr/>
            <p:nvPr/>
          </p:nvSpPr>
          <p:spPr>
            <a:xfrm flipH="false" flipV="false" rot="0">
              <a:off x="0" y="0"/>
              <a:ext cx="11509248" cy="682752"/>
            </a:xfrm>
            <a:custGeom>
              <a:avLst/>
              <a:gdLst/>
              <a:ahLst/>
              <a:cxnLst/>
              <a:rect r="r" b="b" t="t" l="l"/>
              <a:pathLst>
                <a:path h="682752" w="11509248">
                  <a:moveTo>
                    <a:pt x="0" y="0"/>
                  </a:moveTo>
                  <a:lnTo>
                    <a:pt x="11509248" y="0"/>
                  </a:lnTo>
                  <a:lnTo>
                    <a:pt x="11509248" y="682752"/>
                  </a:lnTo>
                  <a:lnTo>
                    <a:pt x="0" y="682752"/>
                  </a:lnTo>
                  <a:close/>
                </a:path>
              </a:pathLst>
            </a:custGeom>
            <a:blipFill>
              <a:blip r:embed="rId3">
                <a:alphaModFix amt="0"/>
              </a:blip>
              <a:stretch>
                <a:fillRect l="0" t="-278462" r="0" b="-278462"/>
              </a:stretch>
            </a:blipFill>
          </p:spPr>
        </p:sp>
        <p:sp>
          <p:nvSpPr>
            <p:cNvPr name="TextBox 16" id="16"/>
            <p:cNvSpPr txBox="true"/>
            <p:nvPr/>
          </p:nvSpPr>
          <p:spPr>
            <a:xfrm>
              <a:off x="0" y="9525"/>
              <a:ext cx="11509248" cy="673227"/>
            </a:xfrm>
            <a:prstGeom prst="rect">
              <a:avLst/>
            </a:prstGeom>
          </p:spPr>
          <p:txBody>
            <a:bodyPr anchor="ctr" rtlCol="false" tIns="0" lIns="0" bIns="0" rIns="0"/>
            <a:lstStyle/>
            <a:p>
              <a:pPr algn="l">
                <a:lnSpc>
                  <a:spcPts val="2879"/>
                </a:lnSpc>
              </a:pPr>
              <a:r>
                <a:rPr lang="en-US" sz="2400" b="true">
                  <a:solidFill>
                    <a:srgbClr val="1C2E40"/>
                  </a:solidFill>
                  <a:latin typeface="EB Garamond Semi-Bold"/>
                  <a:ea typeface="EB Garamond Semi-Bold"/>
                  <a:cs typeface="EB Garamond Semi-Bold"/>
                  <a:sym typeface="EB Garamond Semi-Bold"/>
                </a:rPr>
                <a:t>Prix médian de vente par sexe et pays (FCFA)</a:t>
              </a:r>
            </a:p>
          </p:txBody>
        </p:sp>
      </p:grpSp>
      <p:grpSp>
        <p:nvGrpSpPr>
          <p:cNvPr name="Group 17" id="17"/>
          <p:cNvGrpSpPr/>
          <p:nvPr/>
        </p:nvGrpSpPr>
        <p:grpSpPr>
          <a:xfrm rot="0">
            <a:off x="950976" y="2706624"/>
            <a:ext cx="8631936" cy="402336"/>
            <a:chOff x="0" y="0"/>
            <a:chExt cx="11509248" cy="536448"/>
          </a:xfrm>
        </p:grpSpPr>
        <p:sp>
          <p:nvSpPr>
            <p:cNvPr name="Freeform 18" id="18"/>
            <p:cNvSpPr/>
            <p:nvPr/>
          </p:nvSpPr>
          <p:spPr>
            <a:xfrm flipH="false" flipV="false" rot="0">
              <a:off x="0" y="0"/>
              <a:ext cx="11509248" cy="536448"/>
            </a:xfrm>
            <a:custGeom>
              <a:avLst/>
              <a:gdLst/>
              <a:ahLst/>
              <a:cxnLst/>
              <a:rect r="r" b="b" t="t" l="l"/>
              <a:pathLst>
                <a:path h="536448" w="11509248">
                  <a:moveTo>
                    <a:pt x="0" y="0"/>
                  </a:moveTo>
                  <a:lnTo>
                    <a:pt x="11509248" y="0"/>
                  </a:lnTo>
                  <a:lnTo>
                    <a:pt x="11509248" y="536448"/>
                  </a:lnTo>
                  <a:lnTo>
                    <a:pt x="0" y="536448"/>
                  </a:lnTo>
                  <a:close/>
                </a:path>
              </a:pathLst>
            </a:custGeom>
            <a:blipFill>
              <a:blip r:embed="rId3">
                <a:alphaModFix amt="0"/>
              </a:blip>
              <a:stretch>
                <a:fillRect l="0" t="-368042" r="0" b="-368042"/>
              </a:stretch>
            </a:blipFill>
          </p:spPr>
        </p:sp>
        <p:sp>
          <p:nvSpPr>
            <p:cNvPr name="TextBox 19" id="19"/>
            <p:cNvSpPr txBox="true"/>
            <p:nvPr/>
          </p:nvSpPr>
          <p:spPr>
            <a:xfrm>
              <a:off x="0" y="9525"/>
              <a:ext cx="11509248" cy="526923"/>
            </a:xfrm>
            <a:prstGeom prst="rect">
              <a:avLst/>
            </a:prstGeom>
          </p:spPr>
          <p:txBody>
            <a:bodyPr anchor="ctr" rtlCol="false" tIns="0" lIns="0" bIns="0" rIns="0"/>
            <a:lstStyle/>
            <a:p>
              <a:pPr algn="l">
                <a:lnSpc>
                  <a:spcPts val="2160"/>
                </a:lnSpc>
              </a:pPr>
              <a:r>
                <a:rPr lang="en-US" sz="1800" i="true">
                  <a:solidFill>
                    <a:srgbClr val="7B8FA1"/>
                  </a:solidFill>
                  <a:latin typeface="EB Garamond Italics"/>
                  <a:ea typeface="EB Garamond Italics"/>
                  <a:cs typeface="EB Garamond Italics"/>
                  <a:sym typeface="EB Garamond Italics"/>
                </a:rPr>
                <a:t>Justification : barres groupées = comparaison directe mâle/femelle par pays.</a:t>
              </a:r>
            </a:p>
          </p:txBody>
        </p:sp>
      </p:grpSp>
      <p:pic>
        <p:nvPicPr>
          <p:cNvPr name="Picture 20" id="20"/>
          <p:cNvPicPr>
            <a:picLocks noChangeAspect="true"/>
          </p:cNvPicPr>
          <p:nvPr/>
        </p:nvPicPr>
        <p:blipFill>
          <a:blip r:embed="rId4"/>
          <a:stretch>
            <a:fillRect/>
          </a:stretch>
        </p:blipFill>
        <p:spPr>
          <a:xfrm rot="0">
            <a:off x="-53035" y="2554910"/>
            <a:ext cx="10511942" cy="7794269"/>
          </a:xfrm>
          <a:prstGeom prst="rect">
            <a:avLst/>
          </a:prstGeom>
        </p:spPr>
      </p:pic>
      <p:grpSp>
        <p:nvGrpSpPr>
          <p:cNvPr name="Group 21" id="21"/>
          <p:cNvGrpSpPr/>
          <p:nvPr/>
        </p:nvGrpSpPr>
        <p:grpSpPr>
          <a:xfrm rot="0">
            <a:off x="10231117" y="1964941"/>
            <a:ext cx="7426957" cy="6093206"/>
            <a:chOff x="0" y="0"/>
            <a:chExt cx="9902609" cy="8124275"/>
          </a:xfrm>
        </p:grpSpPr>
        <p:sp>
          <p:nvSpPr>
            <p:cNvPr name="Freeform 22" id="22"/>
            <p:cNvSpPr/>
            <p:nvPr/>
          </p:nvSpPr>
          <p:spPr>
            <a:xfrm flipH="false" flipV="false" rot="0">
              <a:off x="13589" y="18299"/>
              <a:ext cx="9875393" cy="8087626"/>
            </a:xfrm>
            <a:custGeom>
              <a:avLst/>
              <a:gdLst/>
              <a:ahLst/>
              <a:cxnLst/>
              <a:rect r="r" b="b" t="t" l="l"/>
              <a:pathLst>
                <a:path h="8087626" w="9875393">
                  <a:moveTo>
                    <a:pt x="0" y="331453"/>
                  </a:moveTo>
                  <a:cubicBezTo>
                    <a:pt x="0" y="148463"/>
                    <a:pt x="109347" y="0"/>
                    <a:pt x="244221" y="0"/>
                  </a:cubicBezTo>
                  <a:lnTo>
                    <a:pt x="9631172" y="0"/>
                  </a:lnTo>
                  <a:cubicBezTo>
                    <a:pt x="9766046" y="0"/>
                    <a:pt x="9875393" y="148463"/>
                    <a:pt x="9875393" y="331453"/>
                  </a:cubicBezTo>
                  <a:lnTo>
                    <a:pt x="9875393" y="7756172"/>
                  </a:lnTo>
                  <a:cubicBezTo>
                    <a:pt x="9875393" y="7939163"/>
                    <a:pt x="9766046" y="8087626"/>
                    <a:pt x="9631172" y="8087626"/>
                  </a:cubicBezTo>
                  <a:lnTo>
                    <a:pt x="244221" y="8087626"/>
                  </a:lnTo>
                  <a:cubicBezTo>
                    <a:pt x="109347" y="8087626"/>
                    <a:pt x="0" y="7939163"/>
                    <a:pt x="0" y="7756172"/>
                  </a:cubicBezTo>
                  <a:close/>
                </a:path>
              </a:pathLst>
            </a:custGeom>
            <a:solidFill>
              <a:srgbClr val="FFFFFF"/>
            </a:solidFill>
          </p:spPr>
        </p:sp>
        <p:sp>
          <p:nvSpPr>
            <p:cNvPr name="Freeform 23" id="23"/>
            <p:cNvSpPr/>
            <p:nvPr/>
          </p:nvSpPr>
          <p:spPr>
            <a:xfrm flipH="false" flipV="false" rot="0">
              <a:off x="0" y="0"/>
              <a:ext cx="9902571" cy="8124223"/>
            </a:xfrm>
            <a:custGeom>
              <a:avLst/>
              <a:gdLst/>
              <a:ahLst/>
              <a:cxnLst/>
              <a:rect r="r" b="b" t="t" l="l"/>
              <a:pathLst>
                <a:path h="8124223" w="9902571">
                  <a:moveTo>
                    <a:pt x="0" y="349752"/>
                  </a:moveTo>
                  <a:cubicBezTo>
                    <a:pt x="0" y="156577"/>
                    <a:pt x="115443" y="0"/>
                    <a:pt x="257810" y="0"/>
                  </a:cubicBezTo>
                  <a:lnTo>
                    <a:pt x="9644761" y="0"/>
                  </a:lnTo>
                  <a:lnTo>
                    <a:pt x="9644761" y="18472"/>
                  </a:lnTo>
                  <a:lnTo>
                    <a:pt x="9644761" y="0"/>
                  </a:lnTo>
                  <a:cubicBezTo>
                    <a:pt x="9787128" y="0"/>
                    <a:pt x="9902571" y="156577"/>
                    <a:pt x="9902571" y="349752"/>
                  </a:cubicBezTo>
                  <a:lnTo>
                    <a:pt x="9888982" y="349752"/>
                  </a:lnTo>
                  <a:lnTo>
                    <a:pt x="9902571" y="349752"/>
                  </a:lnTo>
                  <a:lnTo>
                    <a:pt x="9902571" y="7774471"/>
                  </a:lnTo>
                  <a:lnTo>
                    <a:pt x="9888982" y="7774471"/>
                  </a:lnTo>
                  <a:lnTo>
                    <a:pt x="9902571" y="7774471"/>
                  </a:lnTo>
                  <a:cubicBezTo>
                    <a:pt x="9902571" y="7967646"/>
                    <a:pt x="9787128" y="8124223"/>
                    <a:pt x="9644761" y="8124223"/>
                  </a:cubicBezTo>
                  <a:lnTo>
                    <a:pt x="9644761" y="8105752"/>
                  </a:lnTo>
                  <a:lnTo>
                    <a:pt x="9644761" y="8124223"/>
                  </a:lnTo>
                  <a:lnTo>
                    <a:pt x="257810" y="8124223"/>
                  </a:lnTo>
                  <a:lnTo>
                    <a:pt x="257810" y="8105752"/>
                  </a:lnTo>
                  <a:lnTo>
                    <a:pt x="257810" y="8124223"/>
                  </a:lnTo>
                  <a:cubicBezTo>
                    <a:pt x="115443" y="8124223"/>
                    <a:pt x="0" y="7967646"/>
                    <a:pt x="0" y="7774471"/>
                  </a:cubicBezTo>
                  <a:lnTo>
                    <a:pt x="0" y="349752"/>
                  </a:lnTo>
                  <a:lnTo>
                    <a:pt x="13589" y="349752"/>
                  </a:lnTo>
                  <a:lnTo>
                    <a:pt x="0" y="349752"/>
                  </a:lnTo>
                  <a:moveTo>
                    <a:pt x="27051" y="349752"/>
                  </a:moveTo>
                  <a:lnTo>
                    <a:pt x="27051" y="7774471"/>
                  </a:lnTo>
                  <a:lnTo>
                    <a:pt x="13589" y="7774471"/>
                  </a:lnTo>
                  <a:lnTo>
                    <a:pt x="27051" y="7774471"/>
                  </a:lnTo>
                  <a:cubicBezTo>
                    <a:pt x="27051" y="7947276"/>
                    <a:pt x="130302" y="8087453"/>
                    <a:pt x="257810" y="8087453"/>
                  </a:cubicBezTo>
                  <a:lnTo>
                    <a:pt x="9644761" y="8087453"/>
                  </a:lnTo>
                  <a:cubicBezTo>
                    <a:pt x="9772142" y="8087453"/>
                    <a:pt x="9875520" y="7947276"/>
                    <a:pt x="9875520" y="7774471"/>
                  </a:cubicBezTo>
                  <a:lnTo>
                    <a:pt x="9875520" y="349752"/>
                  </a:lnTo>
                  <a:cubicBezTo>
                    <a:pt x="9875520" y="176948"/>
                    <a:pt x="9772269" y="36771"/>
                    <a:pt x="9644761" y="36771"/>
                  </a:cubicBezTo>
                  <a:lnTo>
                    <a:pt x="257810" y="36771"/>
                  </a:lnTo>
                  <a:lnTo>
                    <a:pt x="257810" y="18472"/>
                  </a:lnTo>
                  <a:lnTo>
                    <a:pt x="257810" y="36771"/>
                  </a:lnTo>
                  <a:cubicBezTo>
                    <a:pt x="130429" y="36771"/>
                    <a:pt x="27051" y="176948"/>
                    <a:pt x="27051" y="349752"/>
                  </a:cubicBezTo>
                  <a:close/>
                </a:path>
              </a:pathLst>
            </a:custGeom>
            <a:solidFill>
              <a:srgbClr val="BDC8D5"/>
            </a:solidFill>
          </p:spPr>
        </p:sp>
      </p:grpSp>
      <p:grpSp>
        <p:nvGrpSpPr>
          <p:cNvPr name="Group 24" id="24"/>
          <p:cNvGrpSpPr/>
          <p:nvPr/>
        </p:nvGrpSpPr>
        <p:grpSpPr>
          <a:xfrm rot="0">
            <a:off x="10173609" y="1962407"/>
            <a:ext cx="208394" cy="6095740"/>
            <a:chOff x="0" y="0"/>
            <a:chExt cx="204559" cy="5983567"/>
          </a:xfrm>
        </p:grpSpPr>
        <p:sp>
          <p:nvSpPr>
            <p:cNvPr name="Freeform 25" id="25"/>
            <p:cNvSpPr/>
            <p:nvPr/>
          </p:nvSpPr>
          <p:spPr>
            <a:xfrm flipH="false" flipV="false" rot="0">
              <a:off x="16891" y="16891"/>
              <a:ext cx="170688" cy="5949696"/>
            </a:xfrm>
            <a:custGeom>
              <a:avLst/>
              <a:gdLst/>
              <a:ahLst/>
              <a:cxnLst/>
              <a:rect r="r" b="b" t="t" l="l"/>
              <a:pathLst>
                <a:path h="5949696" w="170688">
                  <a:moveTo>
                    <a:pt x="0" y="0"/>
                  </a:moveTo>
                  <a:lnTo>
                    <a:pt x="170688" y="0"/>
                  </a:lnTo>
                  <a:lnTo>
                    <a:pt x="170688" y="5949696"/>
                  </a:lnTo>
                  <a:lnTo>
                    <a:pt x="0" y="5949696"/>
                  </a:lnTo>
                  <a:close/>
                </a:path>
              </a:pathLst>
            </a:custGeom>
            <a:solidFill>
              <a:srgbClr val="C89A3E"/>
            </a:solidFill>
          </p:spPr>
        </p:sp>
        <p:sp>
          <p:nvSpPr>
            <p:cNvPr name="Freeform 26" id="26"/>
            <p:cNvSpPr/>
            <p:nvPr/>
          </p:nvSpPr>
          <p:spPr>
            <a:xfrm flipH="false" flipV="false" rot="0">
              <a:off x="0" y="0"/>
              <a:ext cx="204470" cy="5983478"/>
            </a:xfrm>
            <a:custGeom>
              <a:avLst/>
              <a:gdLst/>
              <a:ahLst/>
              <a:cxnLst/>
              <a:rect r="r" b="b" t="t" l="l"/>
              <a:pathLst>
                <a:path h="5983478" w="204470">
                  <a:moveTo>
                    <a:pt x="16891" y="0"/>
                  </a:moveTo>
                  <a:lnTo>
                    <a:pt x="187579" y="0"/>
                  </a:lnTo>
                  <a:cubicBezTo>
                    <a:pt x="196977" y="0"/>
                    <a:pt x="204470" y="7620"/>
                    <a:pt x="204470" y="16891"/>
                  </a:cubicBezTo>
                  <a:lnTo>
                    <a:pt x="204470" y="5966587"/>
                  </a:lnTo>
                  <a:cubicBezTo>
                    <a:pt x="204470" y="5975985"/>
                    <a:pt x="196850" y="5983478"/>
                    <a:pt x="187579" y="5983478"/>
                  </a:cubicBezTo>
                  <a:lnTo>
                    <a:pt x="16891" y="5983478"/>
                  </a:lnTo>
                  <a:cubicBezTo>
                    <a:pt x="7493" y="5983478"/>
                    <a:pt x="0" y="5975858"/>
                    <a:pt x="0" y="5966587"/>
                  </a:cubicBezTo>
                  <a:lnTo>
                    <a:pt x="0" y="16891"/>
                  </a:lnTo>
                  <a:cubicBezTo>
                    <a:pt x="0" y="7620"/>
                    <a:pt x="7620" y="0"/>
                    <a:pt x="16891" y="0"/>
                  </a:cubicBezTo>
                  <a:moveTo>
                    <a:pt x="16891" y="33909"/>
                  </a:moveTo>
                  <a:lnTo>
                    <a:pt x="16891" y="16891"/>
                  </a:lnTo>
                  <a:lnTo>
                    <a:pt x="33909" y="16891"/>
                  </a:lnTo>
                  <a:lnTo>
                    <a:pt x="33909" y="5966587"/>
                  </a:lnTo>
                  <a:lnTo>
                    <a:pt x="16891" y="5966587"/>
                  </a:lnTo>
                  <a:lnTo>
                    <a:pt x="16891" y="5949696"/>
                  </a:lnTo>
                  <a:lnTo>
                    <a:pt x="187579" y="5949696"/>
                  </a:lnTo>
                  <a:lnTo>
                    <a:pt x="187579" y="5966587"/>
                  </a:lnTo>
                  <a:lnTo>
                    <a:pt x="170688" y="5966587"/>
                  </a:lnTo>
                  <a:lnTo>
                    <a:pt x="170688" y="16891"/>
                  </a:lnTo>
                  <a:lnTo>
                    <a:pt x="187579" y="16891"/>
                  </a:lnTo>
                  <a:lnTo>
                    <a:pt x="187579" y="33909"/>
                  </a:lnTo>
                  <a:lnTo>
                    <a:pt x="16891" y="33909"/>
                  </a:lnTo>
                  <a:close/>
                </a:path>
              </a:pathLst>
            </a:custGeom>
            <a:solidFill>
              <a:srgbClr val="C89A3E"/>
            </a:solidFill>
          </p:spPr>
        </p:sp>
      </p:grpSp>
      <p:grpSp>
        <p:nvGrpSpPr>
          <p:cNvPr name="Group 27" id="27"/>
          <p:cNvGrpSpPr/>
          <p:nvPr/>
        </p:nvGrpSpPr>
        <p:grpSpPr>
          <a:xfrm rot="0">
            <a:off x="10607040" y="2121408"/>
            <a:ext cx="6803136" cy="841248"/>
            <a:chOff x="0" y="0"/>
            <a:chExt cx="9070848" cy="1121664"/>
          </a:xfrm>
        </p:grpSpPr>
        <p:sp>
          <p:nvSpPr>
            <p:cNvPr name="Freeform 28" id="28"/>
            <p:cNvSpPr/>
            <p:nvPr/>
          </p:nvSpPr>
          <p:spPr>
            <a:xfrm flipH="false" flipV="false" rot="0">
              <a:off x="0" y="0"/>
              <a:ext cx="9070848" cy="1121664"/>
            </a:xfrm>
            <a:custGeom>
              <a:avLst/>
              <a:gdLst/>
              <a:ahLst/>
              <a:cxnLst/>
              <a:rect r="r" b="b" t="t" l="l"/>
              <a:pathLst>
                <a:path h="1121664" w="9070848">
                  <a:moveTo>
                    <a:pt x="0" y="0"/>
                  </a:moveTo>
                  <a:lnTo>
                    <a:pt x="9070848" y="0"/>
                  </a:lnTo>
                  <a:lnTo>
                    <a:pt x="9070848" y="1121664"/>
                  </a:lnTo>
                  <a:lnTo>
                    <a:pt x="0" y="1121664"/>
                  </a:lnTo>
                  <a:close/>
                </a:path>
              </a:pathLst>
            </a:custGeom>
            <a:blipFill>
              <a:blip r:embed="rId3">
                <a:alphaModFix amt="0"/>
              </a:blip>
              <a:stretch>
                <a:fillRect l="0" t="-107574" r="0" b="-107574"/>
              </a:stretch>
            </a:blipFill>
          </p:spPr>
        </p:sp>
        <p:sp>
          <p:nvSpPr>
            <p:cNvPr name="TextBox 29" id="29"/>
            <p:cNvSpPr txBox="true"/>
            <p:nvPr/>
          </p:nvSpPr>
          <p:spPr>
            <a:xfrm>
              <a:off x="0" y="0"/>
              <a:ext cx="9070848" cy="1121664"/>
            </a:xfrm>
            <a:prstGeom prst="rect">
              <a:avLst/>
            </a:prstGeom>
          </p:spPr>
          <p:txBody>
            <a:bodyPr anchor="ctr" rtlCol="false" tIns="0" lIns="0" bIns="0" rIns="0"/>
            <a:lstStyle/>
            <a:p>
              <a:pPr algn="l">
                <a:lnSpc>
                  <a:spcPts val="2520"/>
                </a:lnSpc>
              </a:pPr>
              <a:r>
                <a:rPr lang="en-US" sz="2100" b="true">
                  <a:solidFill>
                    <a:srgbClr val="1C2E40"/>
                  </a:solidFill>
                  <a:latin typeface="EB Garamond Semi-Bold"/>
                  <a:ea typeface="EB Garamond Semi-Bold"/>
                  <a:cs typeface="EB Garamond Semi-Bold"/>
                  <a:sym typeface="EB Garamond Semi-Bold"/>
                </a:rPr>
                <a:t>Régression OLS — Prix ~ Sexe + Âge + Origine + Aqui + Mois + Pays</a:t>
              </a:r>
            </a:p>
          </p:txBody>
        </p:sp>
      </p:grpSp>
      <p:grpSp>
        <p:nvGrpSpPr>
          <p:cNvPr name="Group 30" id="30"/>
          <p:cNvGrpSpPr/>
          <p:nvPr/>
        </p:nvGrpSpPr>
        <p:grpSpPr>
          <a:xfrm rot="0">
            <a:off x="10594343" y="3169415"/>
            <a:ext cx="116843" cy="464315"/>
            <a:chOff x="0" y="0"/>
            <a:chExt cx="155791" cy="619087"/>
          </a:xfrm>
        </p:grpSpPr>
        <p:sp>
          <p:nvSpPr>
            <p:cNvPr name="Freeform 31" id="31"/>
            <p:cNvSpPr/>
            <p:nvPr/>
          </p:nvSpPr>
          <p:spPr>
            <a:xfrm flipH="false" flipV="false" rot="0">
              <a:off x="16891" y="16891"/>
              <a:ext cx="121920" cy="585216"/>
            </a:xfrm>
            <a:custGeom>
              <a:avLst/>
              <a:gdLst/>
              <a:ahLst/>
              <a:cxnLst/>
              <a:rect r="r" b="b" t="t" l="l"/>
              <a:pathLst>
                <a:path h="585216" w="121920">
                  <a:moveTo>
                    <a:pt x="0" y="0"/>
                  </a:moveTo>
                  <a:lnTo>
                    <a:pt x="121920" y="0"/>
                  </a:lnTo>
                  <a:lnTo>
                    <a:pt x="121920" y="585216"/>
                  </a:lnTo>
                  <a:lnTo>
                    <a:pt x="0" y="585216"/>
                  </a:lnTo>
                  <a:close/>
                </a:path>
              </a:pathLst>
            </a:custGeom>
            <a:solidFill>
              <a:srgbClr val="C0614E"/>
            </a:solidFill>
          </p:spPr>
        </p:sp>
        <p:sp>
          <p:nvSpPr>
            <p:cNvPr name="Freeform 32" id="32"/>
            <p:cNvSpPr/>
            <p:nvPr/>
          </p:nvSpPr>
          <p:spPr>
            <a:xfrm flipH="false" flipV="false" rot="0">
              <a:off x="0" y="0"/>
              <a:ext cx="155702" cy="619000"/>
            </a:xfrm>
            <a:custGeom>
              <a:avLst/>
              <a:gdLst/>
              <a:ahLst/>
              <a:cxnLst/>
              <a:rect r="r" b="b" t="t" l="l"/>
              <a:pathLst>
                <a:path h="619000" w="155702">
                  <a:moveTo>
                    <a:pt x="16891" y="0"/>
                  </a:moveTo>
                  <a:lnTo>
                    <a:pt x="138811" y="0"/>
                  </a:lnTo>
                  <a:cubicBezTo>
                    <a:pt x="148209" y="0"/>
                    <a:pt x="155702" y="7620"/>
                    <a:pt x="155702" y="16891"/>
                  </a:cubicBezTo>
                  <a:lnTo>
                    <a:pt x="155702" y="602107"/>
                  </a:lnTo>
                  <a:cubicBezTo>
                    <a:pt x="155702" y="611505"/>
                    <a:pt x="148082" y="618998"/>
                    <a:pt x="138811" y="618998"/>
                  </a:cubicBezTo>
                  <a:lnTo>
                    <a:pt x="16891" y="618998"/>
                  </a:lnTo>
                  <a:cubicBezTo>
                    <a:pt x="7620" y="619125"/>
                    <a:pt x="0" y="611505"/>
                    <a:pt x="0" y="602107"/>
                  </a:cubicBezTo>
                  <a:lnTo>
                    <a:pt x="0" y="16891"/>
                  </a:lnTo>
                  <a:cubicBezTo>
                    <a:pt x="0" y="7620"/>
                    <a:pt x="7620" y="0"/>
                    <a:pt x="16891" y="0"/>
                  </a:cubicBezTo>
                  <a:moveTo>
                    <a:pt x="16891" y="33909"/>
                  </a:moveTo>
                  <a:lnTo>
                    <a:pt x="16891" y="16891"/>
                  </a:lnTo>
                  <a:lnTo>
                    <a:pt x="33909" y="16891"/>
                  </a:lnTo>
                  <a:lnTo>
                    <a:pt x="33909" y="602107"/>
                  </a:lnTo>
                  <a:lnTo>
                    <a:pt x="16891" y="602107"/>
                  </a:lnTo>
                  <a:lnTo>
                    <a:pt x="16891" y="585216"/>
                  </a:lnTo>
                  <a:lnTo>
                    <a:pt x="138811" y="585216"/>
                  </a:lnTo>
                  <a:lnTo>
                    <a:pt x="138811" y="602107"/>
                  </a:lnTo>
                  <a:lnTo>
                    <a:pt x="121920" y="602107"/>
                  </a:lnTo>
                  <a:lnTo>
                    <a:pt x="121920" y="16891"/>
                  </a:lnTo>
                  <a:lnTo>
                    <a:pt x="138811" y="16891"/>
                  </a:lnTo>
                  <a:lnTo>
                    <a:pt x="138811" y="33909"/>
                  </a:lnTo>
                  <a:lnTo>
                    <a:pt x="16891" y="33909"/>
                  </a:lnTo>
                  <a:close/>
                </a:path>
              </a:pathLst>
            </a:custGeom>
            <a:solidFill>
              <a:srgbClr val="C0614E"/>
            </a:solidFill>
          </p:spPr>
        </p:sp>
      </p:grpSp>
      <p:grpSp>
        <p:nvGrpSpPr>
          <p:cNvPr name="Group 33" id="33"/>
          <p:cNvGrpSpPr/>
          <p:nvPr/>
        </p:nvGrpSpPr>
        <p:grpSpPr>
          <a:xfrm rot="0">
            <a:off x="10844784" y="3090672"/>
            <a:ext cx="3474720" cy="585216"/>
            <a:chOff x="0" y="0"/>
            <a:chExt cx="4632960" cy="780288"/>
          </a:xfrm>
        </p:grpSpPr>
        <p:sp>
          <p:nvSpPr>
            <p:cNvPr name="Freeform 34" id="34"/>
            <p:cNvSpPr/>
            <p:nvPr/>
          </p:nvSpPr>
          <p:spPr>
            <a:xfrm flipH="false" flipV="false" rot="0">
              <a:off x="0" y="0"/>
              <a:ext cx="4632960" cy="780288"/>
            </a:xfrm>
            <a:custGeom>
              <a:avLst/>
              <a:gdLst/>
              <a:ahLst/>
              <a:cxnLst/>
              <a:rect r="r" b="b" t="t" l="l"/>
              <a:pathLst>
                <a:path h="780288" w="4632960">
                  <a:moveTo>
                    <a:pt x="0" y="0"/>
                  </a:moveTo>
                  <a:lnTo>
                    <a:pt x="4632960" y="0"/>
                  </a:lnTo>
                  <a:lnTo>
                    <a:pt x="4632960" y="780288"/>
                  </a:lnTo>
                  <a:lnTo>
                    <a:pt x="0" y="780288"/>
                  </a:lnTo>
                  <a:close/>
                </a:path>
              </a:pathLst>
            </a:custGeom>
            <a:blipFill>
              <a:blip r:embed="rId3">
                <a:alphaModFix amt="0"/>
              </a:blip>
              <a:stretch>
                <a:fillRect l="0" t="-65692" r="0" b="-65692"/>
              </a:stretch>
            </a:blipFill>
          </p:spPr>
        </p:sp>
        <p:sp>
          <p:nvSpPr>
            <p:cNvPr name="TextBox 35" id="35"/>
            <p:cNvSpPr txBox="true"/>
            <p:nvPr/>
          </p:nvSpPr>
          <p:spPr>
            <a:xfrm>
              <a:off x="0" y="9525"/>
              <a:ext cx="4632960" cy="770763"/>
            </a:xfrm>
            <a:prstGeom prst="rect">
              <a:avLst/>
            </a:prstGeom>
          </p:spPr>
          <p:txBody>
            <a:bodyPr anchor="ctr" rtlCol="false" tIns="0" lIns="0" bIns="0" rIns="0"/>
            <a:lstStyle/>
            <a:p>
              <a:pPr algn="l">
                <a:lnSpc>
                  <a:spcPts val="2280"/>
                </a:lnSpc>
              </a:pPr>
              <a:r>
                <a:rPr lang="en-US" sz="1900" b="true">
                  <a:solidFill>
                    <a:srgbClr val="1C2E40"/>
                  </a:solidFill>
                  <a:latin typeface="EB Garamond Semi-Bold"/>
                  <a:ea typeface="EB Garamond Semi-Bold"/>
                  <a:cs typeface="EB Garamond Semi-Bold"/>
                  <a:sym typeface="EB Garamond Semi-Bold"/>
                </a:rPr>
                <a:t>Sexe (Femelle) : </a:t>
              </a:r>
            </a:p>
          </p:txBody>
        </p:sp>
      </p:grpSp>
      <p:grpSp>
        <p:nvGrpSpPr>
          <p:cNvPr name="Group 36" id="36"/>
          <p:cNvGrpSpPr/>
          <p:nvPr/>
        </p:nvGrpSpPr>
        <p:grpSpPr>
          <a:xfrm rot="0">
            <a:off x="14264640" y="3090672"/>
            <a:ext cx="1554480" cy="585216"/>
            <a:chOff x="0" y="0"/>
            <a:chExt cx="2072640" cy="780288"/>
          </a:xfrm>
        </p:grpSpPr>
        <p:sp>
          <p:nvSpPr>
            <p:cNvPr name="Freeform 37" id="37"/>
            <p:cNvSpPr/>
            <p:nvPr/>
          </p:nvSpPr>
          <p:spPr>
            <a:xfrm flipH="false" flipV="false" rot="0">
              <a:off x="0" y="0"/>
              <a:ext cx="2072640" cy="780288"/>
            </a:xfrm>
            <a:custGeom>
              <a:avLst/>
              <a:gdLst/>
              <a:ahLst/>
              <a:cxnLst/>
              <a:rect r="r" b="b" t="t" l="l"/>
              <a:pathLst>
                <a:path h="780288" w="2072640">
                  <a:moveTo>
                    <a:pt x="0" y="0"/>
                  </a:moveTo>
                  <a:lnTo>
                    <a:pt x="2072640" y="0"/>
                  </a:lnTo>
                  <a:lnTo>
                    <a:pt x="2072640" y="780288"/>
                  </a:lnTo>
                  <a:lnTo>
                    <a:pt x="0" y="780288"/>
                  </a:lnTo>
                  <a:close/>
                </a:path>
              </a:pathLst>
            </a:custGeom>
            <a:blipFill>
              <a:blip r:embed="rId3">
                <a:alphaModFix amt="0"/>
              </a:blip>
              <a:stretch>
                <a:fillRect l="0" t="-1757" r="0" b="-1757"/>
              </a:stretch>
            </a:blipFill>
          </p:spPr>
        </p:sp>
        <p:sp>
          <p:nvSpPr>
            <p:cNvPr name="TextBox 38" id="38"/>
            <p:cNvSpPr txBox="true"/>
            <p:nvPr/>
          </p:nvSpPr>
          <p:spPr>
            <a:xfrm>
              <a:off x="0" y="9525"/>
              <a:ext cx="2072640" cy="770763"/>
            </a:xfrm>
            <a:prstGeom prst="rect">
              <a:avLst/>
            </a:prstGeom>
          </p:spPr>
          <p:txBody>
            <a:bodyPr anchor="ctr" rtlCol="false" tIns="0" lIns="0" bIns="0" rIns="0"/>
            <a:lstStyle/>
            <a:p>
              <a:pPr algn="l">
                <a:lnSpc>
                  <a:spcPts val="2280"/>
                </a:lnSpc>
              </a:pPr>
              <a:r>
                <a:rPr lang="en-US" sz="1900" b="true">
                  <a:solidFill>
                    <a:srgbClr val="C0614E"/>
                  </a:solidFill>
                  <a:latin typeface="EB Garamond Semi-Bold"/>
                  <a:ea typeface="EB Garamond Semi-Bold"/>
                  <a:cs typeface="EB Garamond Semi-Bold"/>
                  <a:sym typeface="EB Garamond Semi-Bold"/>
                </a:rPr>
                <a:t>−32 361.86</a:t>
              </a:r>
            </a:p>
          </p:txBody>
        </p:sp>
      </p:grpSp>
      <p:grpSp>
        <p:nvGrpSpPr>
          <p:cNvPr name="Group 39" id="39"/>
          <p:cNvGrpSpPr/>
          <p:nvPr/>
        </p:nvGrpSpPr>
        <p:grpSpPr>
          <a:xfrm rot="0">
            <a:off x="10594343" y="3791207"/>
            <a:ext cx="116843" cy="464315"/>
            <a:chOff x="0" y="0"/>
            <a:chExt cx="155791" cy="619087"/>
          </a:xfrm>
        </p:grpSpPr>
        <p:sp>
          <p:nvSpPr>
            <p:cNvPr name="Freeform 40" id="40"/>
            <p:cNvSpPr/>
            <p:nvPr/>
          </p:nvSpPr>
          <p:spPr>
            <a:xfrm flipH="false" flipV="false" rot="0">
              <a:off x="16891" y="16891"/>
              <a:ext cx="121920" cy="585216"/>
            </a:xfrm>
            <a:custGeom>
              <a:avLst/>
              <a:gdLst/>
              <a:ahLst/>
              <a:cxnLst/>
              <a:rect r="r" b="b" t="t" l="l"/>
              <a:pathLst>
                <a:path h="585216" w="121920">
                  <a:moveTo>
                    <a:pt x="0" y="0"/>
                  </a:moveTo>
                  <a:lnTo>
                    <a:pt x="121920" y="0"/>
                  </a:lnTo>
                  <a:lnTo>
                    <a:pt x="121920" y="585216"/>
                  </a:lnTo>
                  <a:lnTo>
                    <a:pt x="0" y="585216"/>
                  </a:lnTo>
                  <a:close/>
                </a:path>
              </a:pathLst>
            </a:custGeom>
            <a:solidFill>
              <a:srgbClr val="3A7D5C"/>
            </a:solidFill>
          </p:spPr>
        </p:sp>
        <p:sp>
          <p:nvSpPr>
            <p:cNvPr name="Freeform 41" id="41"/>
            <p:cNvSpPr/>
            <p:nvPr/>
          </p:nvSpPr>
          <p:spPr>
            <a:xfrm flipH="false" flipV="false" rot="0">
              <a:off x="0" y="0"/>
              <a:ext cx="155702" cy="619000"/>
            </a:xfrm>
            <a:custGeom>
              <a:avLst/>
              <a:gdLst/>
              <a:ahLst/>
              <a:cxnLst/>
              <a:rect r="r" b="b" t="t" l="l"/>
              <a:pathLst>
                <a:path h="619000" w="155702">
                  <a:moveTo>
                    <a:pt x="16891" y="0"/>
                  </a:moveTo>
                  <a:lnTo>
                    <a:pt x="138811" y="0"/>
                  </a:lnTo>
                  <a:cubicBezTo>
                    <a:pt x="148209" y="0"/>
                    <a:pt x="155702" y="7620"/>
                    <a:pt x="155702" y="16891"/>
                  </a:cubicBezTo>
                  <a:lnTo>
                    <a:pt x="155702" y="602107"/>
                  </a:lnTo>
                  <a:cubicBezTo>
                    <a:pt x="155702" y="611505"/>
                    <a:pt x="148082" y="618998"/>
                    <a:pt x="138811" y="618998"/>
                  </a:cubicBezTo>
                  <a:lnTo>
                    <a:pt x="16891" y="618998"/>
                  </a:lnTo>
                  <a:cubicBezTo>
                    <a:pt x="7620" y="619125"/>
                    <a:pt x="0" y="611505"/>
                    <a:pt x="0" y="602107"/>
                  </a:cubicBezTo>
                  <a:lnTo>
                    <a:pt x="0" y="16891"/>
                  </a:lnTo>
                  <a:cubicBezTo>
                    <a:pt x="0" y="7620"/>
                    <a:pt x="7620" y="0"/>
                    <a:pt x="16891" y="0"/>
                  </a:cubicBezTo>
                  <a:moveTo>
                    <a:pt x="16891" y="33909"/>
                  </a:moveTo>
                  <a:lnTo>
                    <a:pt x="16891" y="16891"/>
                  </a:lnTo>
                  <a:lnTo>
                    <a:pt x="33909" y="16891"/>
                  </a:lnTo>
                  <a:lnTo>
                    <a:pt x="33909" y="602107"/>
                  </a:lnTo>
                  <a:lnTo>
                    <a:pt x="16891" y="602107"/>
                  </a:lnTo>
                  <a:lnTo>
                    <a:pt x="16891" y="585216"/>
                  </a:lnTo>
                  <a:lnTo>
                    <a:pt x="138811" y="585216"/>
                  </a:lnTo>
                  <a:lnTo>
                    <a:pt x="138811" y="602107"/>
                  </a:lnTo>
                  <a:lnTo>
                    <a:pt x="121920" y="602107"/>
                  </a:lnTo>
                  <a:lnTo>
                    <a:pt x="121920" y="16891"/>
                  </a:lnTo>
                  <a:lnTo>
                    <a:pt x="138811" y="16891"/>
                  </a:lnTo>
                  <a:lnTo>
                    <a:pt x="138811" y="33909"/>
                  </a:lnTo>
                  <a:lnTo>
                    <a:pt x="16891" y="33909"/>
                  </a:lnTo>
                  <a:close/>
                </a:path>
              </a:pathLst>
            </a:custGeom>
            <a:solidFill>
              <a:srgbClr val="3A7D5C"/>
            </a:solidFill>
          </p:spPr>
        </p:sp>
      </p:grpSp>
      <p:grpSp>
        <p:nvGrpSpPr>
          <p:cNvPr name="Group 42" id="42"/>
          <p:cNvGrpSpPr/>
          <p:nvPr/>
        </p:nvGrpSpPr>
        <p:grpSpPr>
          <a:xfrm rot="0">
            <a:off x="10844784" y="3712464"/>
            <a:ext cx="3474720" cy="585216"/>
            <a:chOff x="0" y="0"/>
            <a:chExt cx="4632960" cy="780288"/>
          </a:xfrm>
        </p:grpSpPr>
        <p:sp>
          <p:nvSpPr>
            <p:cNvPr name="Freeform 43" id="43"/>
            <p:cNvSpPr/>
            <p:nvPr/>
          </p:nvSpPr>
          <p:spPr>
            <a:xfrm flipH="false" flipV="false" rot="0">
              <a:off x="0" y="0"/>
              <a:ext cx="4632960" cy="780288"/>
            </a:xfrm>
            <a:custGeom>
              <a:avLst/>
              <a:gdLst/>
              <a:ahLst/>
              <a:cxnLst/>
              <a:rect r="r" b="b" t="t" l="l"/>
              <a:pathLst>
                <a:path h="780288" w="4632960">
                  <a:moveTo>
                    <a:pt x="0" y="0"/>
                  </a:moveTo>
                  <a:lnTo>
                    <a:pt x="4632960" y="0"/>
                  </a:lnTo>
                  <a:lnTo>
                    <a:pt x="4632960" y="780288"/>
                  </a:lnTo>
                  <a:lnTo>
                    <a:pt x="0" y="780288"/>
                  </a:lnTo>
                  <a:close/>
                </a:path>
              </a:pathLst>
            </a:custGeom>
            <a:blipFill>
              <a:blip r:embed="rId3">
                <a:alphaModFix amt="0"/>
              </a:blip>
              <a:stretch>
                <a:fillRect l="0" t="-65692" r="0" b="-65692"/>
              </a:stretch>
            </a:blipFill>
          </p:spPr>
        </p:sp>
        <p:sp>
          <p:nvSpPr>
            <p:cNvPr name="TextBox 44" id="44"/>
            <p:cNvSpPr txBox="true"/>
            <p:nvPr/>
          </p:nvSpPr>
          <p:spPr>
            <a:xfrm>
              <a:off x="0" y="9525"/>
              <a:ext cx="4632960" cy="770763"/>
            </a:xfrm>
            <a:prstGeom prst="rect">
              <a:avLst/>
            </a:prstGeom>
          </p:spPr>
          <p:txBody>
            <a:bodyPr anchor="ctr" rtlCol="false" tIns="0" lIns="0" bIns="0" rIns="0"/>
            <a:lstStyle/>
            <a:p>
              <a:pPr algn="l">
                <a:lnSpc>
                  <a:spcPts val="2280"/>
                </a:lnSpc>
              </a:pPr>
              <a:r>
                <a:rPr lang="en-US" sz="1900" b="true">
                  <a:solidFill>
                    <a:srgbClr val="1C2E40"/>
                  </a:solidFill>
                  <a:latin typeface="EB Garamond Semi-Bold"/>
                  <a:ea typeface="EB Garamond Semi-Bold"/>
                  <a:cs typeface="EB Garamond Semi-Bold"/>
                  <a:sym typeface="EB Garamond Semi-Bold"/>
                </a:rPr>
                <a:t>Âge (+ 1 an) : </a:t>
              </a:r>
            </a:p>
          </p:txBody>
        </p:sp>
      </p:grpSp>
      <p:grpSp>
        <p:nvGrpSpPr>
          <p:cNvPr name="Group 45" id="45"/>
          <p:cNvGrpSpPr/>
          <p:nvPr/>
        </p:nvGrpSpPr>
        <p:grpSpPr>
          <a:xfrm rot="0">
            <a:off x="14264640" y="3712464"/>
            <a:ext cx="1554480" cy="585216"/>
            <a:chOff x="0" y="0"/>
            <a:chExt cx="2072640" cy="780288"/>
          </a:xfrm>
        </p:grpSpPr>
        <p:sp>
          <p:nvSpPr>
            <p:cNvPr name="Freeform 46" id="46"/>
            <p:cNvSpPr/>
            <p:nvPr/>
          </p:nvSpPr>
          <p:spPr>
            <a:xfrm flipH="false" flipV="false" rot="0">
              <a:off x="0" y="0"/>
              <a:ext cx="2072640" cy="780288"/>
            </a:xfrm>
            <a:custGeom>
              <a:avLst/>
              <a:gdLst/>
              <a:ahLst/>
              <a:cxnLst/>
              <a:rect r="r" b="b" t="t" l="l"/>
              <a:pathLst>
                <a:path h="780288" w="2072640">
                  <a:moveTo>
                    <a:pt x="0" y="0"/>
                  </a:moveTo>
                  <a:lnTo>
                    <a:pt x="2072640" y="0"/>
                  </a:lnTo>
                  <a:lnTo>
                    <a:pt x="2072640" y="780288"/>
                  </a:lnTo>
                  <a:lnTo>
                    <a:pt x="0" y="780288"/>
                  </a:lnTo>
                  <a:close/>
                </a:path>
              </a:pathLst>
            </a:custGeom>
            <a:blipFill>
              <a:blip r:embed="rId3">
                <a:alphaModFix amt="0"/>
              </a:blip>
              <a:stretch>
                <a:fillRect l="0" t="-1757" r="0" b="-1757"/>
              </a:stretch>
            </a:blipFill>
          </p:spPr>
        </p:sp>
        <p:sp>
          <p:nvSpPr>
            <p:cNvPr name="TextBox 47" id="47"/>
            <p:cNvSpPr txBox="true"/>
            <p:nvPr/>
          </p:nvSpPr>
          <p:spPr>
            <a:xfrm>
              <a:off x="0" y="9525"/>
              <a:ext cx="2072640" cy="770763"/>
            </a:xfrm>
            <a:prstGeom prst="rect">
              <a:avLst/>
            </a:prstGeom>
          </p:spPr>
          <p:txBody>
            <a:bodyPr anchor="ctr" rtlCol="false" tIns="0" lIns="0" bIns="0" rIns="0"/>
            <a:lstStyle/>
            <a:p>
              <a:pPr algn="l">
                <a:lnSpc>
                  <a:spcPts val="2280"/>
                </a:lnSpc>
              </a:pPr>
              <a:r>
                <a:rPr lang="en-US" sz="1900" b="true">
                  <a:solidFill>
                    <a:srgbClr val="3A7D5C"/>
                  </a:solidFill>
                  <a:latin typeface="EB Garamond Semi-Bold"/>
                  <a:ea typeface="EB Garamond Semi-Bold"/>
                  <a:cs typeface="EB Garamond Semi-Bold"/>
                  <a:sym typeface="EB Garamond Semi-Bold"/>
                </a:rPr>
                <a:t>+8 015.589</a:t>
              </a:r>
            </a:p>
          </p:txBody>
        </p:sp>
      </p:grpSp>
      <p:grpSp>
        <p:nvGrpSpPr>
          <p:cNvPr name="Group 48" id="48"/>
          <p:cNvGrpSpPr/>
          <p:nvPr/>
        </p:nvGrpSpPr>
        <p:grpSpPr>
          <a:xfrm rot="0">
            <a:off x="10594343" y="4412999"/>
            <a:ext cx="116843" cy="464315"/>
            <a:chOff x="0" y="0"/>
            <a:chExt cx="155791" cy="619087"/>
          </a:xfrm>
        </p:grpSpPr>
        <p:sp>
          <p:nvSpPr>
            <p:cNvPr name="Freeform 49" id="49"/>
            <p:cNvSpPr/>
            <p:nvPr/>
          </p:nvSpPr>
          <p:spPr>
            <a:xfrm flipH="false" flipV="false" rot="0">
              <a:off x="16891" y="16891"/>
              <a:ext cx="121920" cy="585216"/>
            </a:xfrm>
            <a:custGeom>
              <a:avLst/>
              <a:gdLst/>
              <a:ahLst/>
              <a:cxnLst/>
              <a:rect r="r" b="b" t="t" l="l"/>
              <a:pathLst>
                <a:path h="585216" w="121920">
                  <a:moveTo>
                    <a:pt x="0" y="0"/>
                  </a:moveTo>
                  <a:lnTo>
                    <a:pt x="121920" y="0"/>
                  </a:lnTo>
                  <a:lnTo>
                    <a:pt x="121920" y="585216"/>
                  </a:lnTo>
                  <a:lnTo>
                    <a:pt x="0" y="585216"/>
                  </a:lnTo>
                  <a:close/>
                </a:path>
              </a:pathLst>
            </a:custGeom>
            <a:solidFill>
              <a:srgbClr val="C0614E"/>
            </a:solidFill>
          </p:spPr>
        </p:sp>
        <p:sp>
          <p:nvSpPr>
            <p:cNvPr name="Freeform 50" id="50"/>
            <p:cNvSpPr/>
            <p:nvPr/>
          </p:nvSpPr>
          <p:spPr>
            <a:xfrm flipH="false" flipV="false" rot="0">
              <a:off x="0" y="0"/>
              <a:ext cx="155702" cy="619000"/>
            </a:xfrm>
            <a:custGeom>
              <a:avLst/>
              <a:gdLst/>
              <a:ahLst/>
              <a:cxnLst/>
              <a:rect r="r" b="b" t="t" l="l"/>
              <a:pathLst>
                <a:path h="619000" w="155702">
                  <a:moveTo>
                    <a:pt x="16891" y="0"/>
                  </a:moveTo>
                  <a:lnTo>
                    <a:pt x="138811" y="0"/>
                  </a:lnTo>
                  <a:cubicBezTo>
                    <a:pt x="148209" y="0"/>
                    <a:pt x="155702" y="7620"/>
                    <a:pt x="155702" y="16891"/>
                  </a:cubicBezTo>
                  <a:lnTo>
                    <a:pt x="155702" y="602107"/>
                  </a:lnTo>
                  <a:cubicBezTo>
                    <a:pt x="155702" y="611505"/>
                    <a:pt x="148082" y="618998"/>
                    <a:pt x="138811" y="618998"/>
                  </a:cubicBezTo>
                  <a:lnTo>
                    <a:pt x="16891" y="618998"/>
                  </a:lnTo>
                  <a:cubicBezTo>
                    <a:pt x="7620" y="619125"/>
                    <a:pt x="0" y="611505"/>
                    <a:pt x="0" y="602107"/>
                  </a:cubicBezTo>
                  <a:lnTo>
                    <a:pt x="0" y="16891"/>
                  </a:lnTo>
                  <a:cubicBezTo>
                    <a:pt x="0" y="7620"/>
                    <a:pt x="7620" y="0"/>
                    <a:pt x="16891" y="0"/>
                  </a:cubicBezTo>
                  <a:moveTo>
                    <a:pt x="16891" y="33909"/>
                  </a:moveTo>
                  <a:lnTo>
                    <a:pt x="16891" y="16891"/>
                  </a:lnTo>
                  <a:lnTo>
                    <a:pt x="33909" y="16891"/>
                  </a:lnTo>
                  <a:lnTo>
                    <a:pt x="33909" y="602107"/>
                  </a:lnTo>
                  <a:lnTo>
                    <a:pt x="16891" y="602107"/>
                  </a:lnTo>
                  <a:lnTo>
                    <a:pt x="16891" y="585216"/>
                  </a:lnTo>
                  <a:lnTo>
                    <a:pt x="138811" y="585216"/>
                  </a:lnTo>
                  <a:lnTo>
                    <a:pt x="138811" y="602107"/>
                  </a:lnTo>
                  <a:lnTo>
                    <a:pt x="121920" y="602107"/>
                  </a:lnTo>
                  <a:lnTo>
                    <a:pt x="121920" y="16891"/>
                  </a:lnTo>
                  <a:lnTo>
                    <a:pt x="138811" y="16891"/>
                  </a:lnTo>
                  <a:lnTo>
                    <a:pt x="138811" y="33909"/>
                  </a:lnTo>
                  <a:lnTo>
                    <a:pt x="16891" y="33909"/>
                  </a:lnTo>
                  <a:close/>
                </a:path>
              </a:pathLst>
            </a:custGeom>
            <a:solidFill>
              <a:srgbClr val="C0614E"/>
            </a:solidFill>
          </p:spPr>
        </p:sp>
      </p:grpSp>
      <p:grpSp>
        <p:nvGrpSpPr>
          <p:cNvPr name="Group 51" id="51"/>
          <p:cNvGrpSpPr/>
          <p:nvPr/>
        </p:nvGrpSpPr>
        <p:grpSpPr>
          <a:xfrm rot="0">
            <a:off x="10844784" y="4334256"/>
            <a:ext cx="3474720" cy="585216"/>
            <a:chOff x="0" y="0"/>
            <a:chExt cx="4632960" cy="780288"/>
          </a:xfrm>
        </p:grpSpPr>
        <p:sp>
          <p:nvSpPr>
            <p:cNvPr name="Freeform 52" id="52"/>
            <p:cNvSpPr/>
            <p:nvPr/>
          </p:nvSpPr>
          <p:spPr>
            <a:xfrm flipH="false" flipV="false" rot="0">
              <a:off x="0" y="0"/>
              <a:ext cx="4632960" cy="780288"/>
            </a:xfrm>
            <a:custGeom>
              <a:avLst/>
              <a:gdLst/>
              <a:ahLst/>
              <a:cxnLst/>
              <a:rect r="r" b="b" t="t" l="l"/>
              <a:pathLst>
                <a:path h="780288" w="4632960">
                  <a:moveTo>
                    <a:pt x="0" y="0"/>
                  </a:moveTo>
                  <a:lnTo>
                    <a:pt x="4632960" y="0"/>
                  </a:lnTo>
                  <a:lnTo>
                    <a:pt x="4632960" y="780288"/>
                  </a:lnTo>
                  <a:lnTo>
                    <a:pt x="0" y="780288"/>
                  </a:lnTo>
                  <a:close/>
                </a:path>
              </a:pathLst>
            </a:custGeom>
            <a:blipFill>
              <a:blip r:embed="rId3">
                <a:alphaModFix amt="0"/>
              </a:blip>
              <a:stretch>
                <a:fillRect l="0" t="-65692" r="0" b="-65692"/>
              </a:stretch>
            </a:blipFill>
          </p:spPr>
        </p:sp>
        <p:sp>
          <p:nvSpPr>
            <p:cNvPr name="TextBox 53" id="53"/>
            <p:cNvSpPr txBox="true"/>
            <p:nvPr/>
          </p:nvSpPr>
          <p:spPr>
            <a:xfrm>
              <a:off x="0" y="9525"/>
              <a:ext cx="4632960" cy="770763"/>
            </a:xfrm>
            <a:prstGeom prst="rect">
              <a:avLst/>
            </a:prstGeom>
          </p:spPr>
          <p:txBody>
            <a:bodyPr anchor="ctr" rtlCol="false" tIns="0" lIns="0" bIns="0" rIns="0"/>
            <a:lstStyle/>
            <a:p>
              <a:pPr algn="l">
                <a:lnSpc>
                  <a:spcPts val="2280"/>
                </a:lnSpc>
              </a:pPr>
              <a:r>
                <a:rPr lang="en-US" sz="1900" b="true">
                  <a:solidFill>
                    <a:srgbClr val="1C2E40"/>
                  </a:solidFill>
                  <a:latin typeface="EB Garamond Semi-Bold"/>
                  <a:ea typeface="EB Garamond Semi-Bold"/>
                  <a:cs typeface="EB Garamond Semi-Bold"/>
                  <a:sym typeface="EB Garamond Semi-Bold"/>
                </a:rPr>
                <a:t>Origine : </a:t>
              </a:r>
            </a:p>
          </p:txBody>
        </p:sp>
      </p:grpSp>
      <p:grpSp>
        <p:nvGrpSpPr>
          <p:cNvPr name="Group 54" id="54"/>
          <p:cNvGrpSpPr/>
          <p:nvPr/>
        </p:nvGrpSpPr>
        <p:grpSpPr>
          <a:xfrm rot="0">
            <a:off x="14264640" y="4334256"/>
            <a:ext cx="1554480" cy="585216"/>
            <a:chOff x="0" y="0"/>
            <a:chExt cx="2072640" cy="780288"/>
          </a:xfrm>
        </p:grpSpPr>
        <p:sp>
          <p:nvSpPr>
            <p:cNvPr name="Freeform 55" id="55"/>
            <p:cNvSpPr/>
            <p:nvPr/>
          </p:nvSpPr>
          <p:spPr>
            <a:xfrm flipH="false" flipV="false" rot="0">
              <a:off x="0" y="0"/>
              <a:ext cx="2072640" cy="780288"/>
            </a:xfrm>
            <a:custGeom>
              <a:avLst/>
              <a:gdLst/>
              <a:ahLst/>
              <a:cxnLst/>
              <a:rect r="r" b="b" t="t" l="l"/>
              <a:pathLst>
                <a:path h="780288" w="2072640">
                  <a:moveTo>
                    <a:pt x="0" y="0"/>
                  </a:moveTo>
                  <a:lnTo>
                    <a:pt x="2072640" y="0"/>
                  </a:lnTo>
                  <a:lnTo>
                    <a:pt x="2072640" y="780288"/>
                  </a:lnTo>
                  <a:lnTo>
                    <a:pt x="0" y="780288"/>
                  </a:lnTo>
                  <a:close/>
                </a:path>
              </a:pathLst>
            </a:custGeom>
            <a:blipFill>
              <a:blip r:embed="rId3">
                <a:alphaModFix amt="0"/>
              </a:blip>
              <a:stretch>
                <a:fillRect l="0" t="-1757" r="0" b="-1757"/>
              </a:stretch>
            </a:blipFill>
          </p:spPr>
        </p:sp>
        <p:sp>
          <p:nvSpPr>
            <p:cNvPr name="TextBox 56" id="56"/>
            <p:cNvSpPr txBox="true"/>
            <p:nvPr/>
          </p:nvSpPr>
          <p:spPr>
            <a:xfrm>
              <a:off x="0" y="9525"/>
              <a:ext cx="2072640" cy="770763"/>
            </a:xfrm>
            <a:prstGeom prst="rect">
              <a:avLst/>
            </a:prstGeom>
          </p:spPr>
          <p:txBody>
            <a:bodyPr anchor="ctr" rtlCol="false" tIns="0" lIns="0" bIns="0" rIns="0"/>
            <a:lstStyle/>
            <a:p>
              <a:pPr algn="l">
                <a:lnSpc>
                  <a:spcPts val="2280"/>
                </a:lnSpc>
              </a:pPr>
              <a:r>
                <a:rPr lang="en-US" sz="1900" b="true">
                  <a:solidFill>
                    <a:srgbClr val="C0614E"/>
                  </a:solidFill>
                  <a:latin typeface="EB Garamond Semi-Bold"/>
                  <a:ea typeface="EB Garamond Semi-Bold"/>
                  <a:cs typeface="EB Garamond Semi-Bold"/>
                  <a:sym typeface="EB Garamond Semi-Bold"/>
                </a:rPr>
                <a:t>−27 929.708</a:t>
              </a:r>
            </a:p>
          </p:txBody>
        </p:sp>
      </p:grpSp>
      <p:grpSp>
        <p:nvGrpSpPr>
          <p:cNvPr name="Group 57" id="57"/>
          <p:cNvGrpSpPr/>
          <p:nvPr/>
        </p:nvGrpSpPr>
        <p:grpSpPr>
          <a:xfrm rot="0">
            <a:off x="10594343" y="5034791"/>
            <a:ext cx="116843" cy="464315"/>
            <a:chOff x="0" y="0"/>
            <a:chExt cx="155791" cy="619087"/>
          </a:xfrm>
        </p:grpSpPr>
        <p:sp>
          <p:nvSpPr>
            <p:cNvPr name="Freeform 58" id="58"/>
            <p:cNvSpPr/>
            <p:nvPr/>
          </p:nvSpPr>
          <p:spPr>
            <a:xfrm flipH="false" flipV="false" rot="0">
              <a:off x="16891" y="16891"/>
              <a:ext cx="121920" cy="585216"/>
            </a:xfrm>
            <a:custGeom>
              <a:avLst/>
              <a:gdLst/>
              <a:ahLst/>
              <a:cxnLst/>
              <a:rect r="r" b="b" t="t" l="l"/>
              <a:pathLst>
                <a:path h="585216" w="121920">
                  <a:moveTo>
                    <a:pt x="0" y="0"/>
                  </a:moveTo>
                  <a:lnTo>
                    <a:pt x="121920" y="0"/>
                  </a:lnTo>
                  <a:lnTo>
                    <a:pt x="121920" y="585216"/>
                  </a:lnTo>
                  <a:lnTo>
                    <a:pt x="0" y="585216"/>
                  </a:lnTo>
                  <a:close/>
                </a:path>
              </a:pathLst>
            </a:custGeom>
            <a:solidFill>
              <a:srgbClr val="C0614E"/>
            </a:solidFill>
          </p:spPr>
        </p:sp>
        <p:sp>
          <p:nvSpPr>
            <p:cNvPr name="Freeform 59" id="59"/>
            <p:cNvSpPr/>
            <p:nvPr/>
          </p:nvSpPr>
          <p:spPr>
            <a:xfrm flipH="false" flipV="false" rot="0">
              <a:off x="0" y="0"/>
              <a:ext cx="155702" cy="619000"/>
            </a:xfrm>
            <a:custGeom>
              <a:avLst/>
              <a:gdLst/>
              <a:ahLst/>
              <a:cxnLst/>
              <a:rect r="r" b="b" t="t" l="l"/>
              <a:pathLst>
                <a:path h="619000" w="155702">
                  <a:moveTo>
                    <a:pt x="16891" y="0"/>
                  </a:moveTo>
                  <a:lnTo>
                    <a:pt x="138811" y="0"/>
                  </a:lnTo>
                  <a:cubicBezTo>
                    <a:pt x="148209" y="0"/>
                    <a:pt x="155702" y="7620"/>
                    <a:pt x="155702" y="16891"/>
                  </a:cubicBezTo>
                  <a:lnTo>
                    <a:pt x="155702" y="602107"/>
                  </a:lnTo>
                  <a:cubicBezTo>
                    <a:pt x="155702" y="611505"/>
                    <a:pt x="148082" y="618998"/>
                    <a:pt x="138811" y="618998"/>
                  </a:cubicBezTo>
                  <a:lnTo>
                    <a:pt x="16891" y="618998"/>
                  </a:lnTo>
                  <a:cubicBezTo>
                    <a:pt x="7620" y="619125"/>
                    <a:pt x="0" y="611505"/>
                    <a:pt x="0" y="602107"/>
                  </a:cubicBezTo>
                  <a:lnTo>
                    <a:pt x="0" y="16891"/>
                  </a:lnTo>
                  <a:cubicBezTo>
                    <a:pt x="0" y="7620"/>
                    <a:pt x="7620" y="0"/>
                    <a:pt x="16891" y="0"/>
                  </a:cubicBezTo>
                  <a:moveTo>
                    <a:pt x="16891" y="33909"/>
                  </a:moveTo>
                  <a:lnTo>
                    <a:pt x="16891" y="16891"/>
                  </a:lnTo>
                  <a:lnTo>
                    <a:pt x="33909" y="16891"/>
                  </a:lnTo>
                  <a:lnTo>
                    <a:pt x="33909" y="602107"/>
                  </a:lnTo>
                  <a:lnTo>
                    <a:pt x="16891" y="602107"/>
                  </a:lnTo>
                  <a:lnTo>
                    <a:pt x="16891" y="585216"/>
                  </a:lnTo>
                  <a:lnTo>
                    <a:pt x="138811" y="585216"/>
                  </a:lnTo>
                  <a:lnTo>
                    <a:pt x="138811" y="602107"/>
                  </a:lnTo>
                  <a:lnTo>
                    <a:pt x="121920" y="602107"/>
                  </a:lnTo>
                  <a:lnTo>
                    <a:pt x="121920" y="16891"/>
                  </a:lnTo>
                  <a:lnTo>
                    <a:pt x="138811" y="16891"/>
                  </a:lnTo>
                  <a:lnTo>
                    <a:pt x="138811" y="33909"/>
                  </a:lnTo>
                  <a:lnTo>
                    <a:pt x="16891" y="33909"/>
                  </a:lnTo>
                  <a:close/>
                </a:path>
              </a:pathLst>
            </a:custGeom>
            <a:solidFill>
              <a:srgbClr val="C0614E"/>
            </a:solidFill>
          </p:spPr>
        </p:sp>
      </p:grpSp>
      <p:grpSp>
        <p:nvGrpSpPr>
          <p:cNvPr name="Group 60" id="60"/>
          <p:cNvGrpSpPr/>
          <p:nvPr/>
        </p:nvGrpSpPr>
        <p:grpSpPr>
          <a:xfrm rot="0">
            <a:off x="10844784" y="4956048"/>
            <a:ext cx="3474720" cy="585216"/>
            <a:chOff x="0" y="0"/>
            <a:chExt cx="4632960" cy="780288"/>
          </a:xfrm>
        </p:grpSpPr>
        <p:sp>
          <p:nvSpPr>
            <p:cNvPr name="Freeform 61" id="61"/>
            <p:cNvSpPr/>
            <p:nvPr/>
          </p:nvSpPr>
          <p:spPr>
            <a:xfrm flipH="false" flipV="false" rot="0">
              <a:off x="0" y="0"/>
              <a:ext cx="4632960" cy="780288"/>
            </a:xfrm>
            <a:custGeom>
              <a:avLst/>
              <a:gdLst/>
              <a:ahLst/>
              <a:cxnLst/>
              <a:rect r="r" b="b" t="t" l="l"/>
              <a:pathLst>
                <a:path h="780288" w="4632960">
                  <a:moveTo>
                    <a:pt x="0" y="0"/>
                  </a:moveTo>
                  <a:lnTo>
                    <a:pt x="4632960" y="0"/>
                  </a:lnTo>
                  <a:lnTo>
                    <a:pt x="4632960" y="780288"/>
                  </a:lnTo>
                  <a:lnTo>
                    <a:pt x="0" y="780288"/>
                  </a:lnTo>
                  <a:close/>
                </a:path>
              </a:pathLst>
            </a:custGeom>
            <a:blipFill>
              <a:blip r:embed="rId3">
                <a:alphaModFix amt="0"/>
              </a:blip>
              <a:stretch>
                <a:fillRect l="0" t="-65692" r="0" b="-65692"/>
              </a:stretch>
            </a:blipFill>
          </p:spPr>
        </p:sp>
        <p:sp>
          <p:nvSpPr>
            <p:cNvPr name="TextBox 62" id="62"/>
            <p:cNvSpPr txBox="true"/>
            <p:nvPr/>
          </p:nvSpPr>
          <p:spPr>
            <a:xfrm>
              <a:off x="0" y="9525"/>
              <a:ext cx="4632960" cy="770763"/>
            </a:xfrm>
            <a:prstGeom prst="rect">
              <a:avLst/>
            </a:prstGeom>
          </p:spPr>
          <p:txBody>
            <a:bodyPr anchor="ctr" rtlCol="false" tIns="0" lIns="0" bIns="0" rIns="0"/>
            <a:lstStyle/>
            <a:p>
              <a:pPr algn="l">
                <a:lnSpc>
                  <a:spcPts val="2280"/>
                </a:lnSpc>
              </a:pPr>
              <a:r>
                <a:rPr lang="en-US" sz="1900" b="true">
                  <a:solidFill>
                    <a:srgbClr val="1C2E40"/>
                  </a:solidFill>
                  <a:latin typeface="EB Garamond Semi-Bold"/>
                  <a:ea typeface="EB Garamond Semi-Bold"/>
                  <a:cs typeface="EB Garamond Semi-Bold"/>
                  <a:sym typeface="EB Garamond Semi-Bold"/>
                </a:rPr>
                <a:t>Aqui</a:t>
              </a:r>
            </a:p>
          </p:txBody>
        </p:sp>
      </p:grpSp>
      <p:grpSp>
        <p:nvGrpSpPr>
          <p:cNvPr name="Group 63" id="63"/>
          <p:cNvGrpSpPr/>
          <p:nvPr/>
        </p:nvGrpSpPr>
        <p:grpSpPr>
          <a:xfrm rot="0">
            <a:off x="14264640" y="4956048"/>
            <a:ext cx="1554480" cy="585216"/>
            <a:chOff x="0" y="0"/>
            <a:chExt cx="2072640" cy="780288"/>
          </a:xfrm>
        </p:grpSpPr>
        <p:sp>
          <p:nvSpPr>
            <p:cNvPr name="Freeform 64" id="64"/>
            <p:cNvSpPr/>
            <p:nvPr/>
          </p:nvSpPr>
          <p:spPr>
            <a:xfrm flipH="false" flipV="false" rot="0">
              <a:off x="0" y="0"/>
              <a:ext cx="2072640" cy="780288"/>
            </a:xfrm>
            <a:custGeom>
              <a:avLst/>
              <a:gdLst/>
              <a:ahLst/>
              <a:cxnLst/>
              <a:rect r="r" b="b" t="t" l="l"/>
              <a:pathLst>
                <a:path h="780288" w="2072640">
                  <a:moveTo>
                    <a:pt x="0" y="0"/>
                  </a:moveTo>
                  <a:lnTo>
                    <a:pt x="2072640" y="0"/>
                  </a:lnTo>
                  <a:lnTo>
                    <a:pt x="2072640" y="780288"/>
                  </a:lnTo>
                  <a:lnTo>
                    <a:pt x="0" y="780288"/>
                  </a:lnTo>
                  <a:close/>
                </a:path>
              </a:pathLst>
            </a:custGeom>
            <a:blipFill>
              <a:blip r:embed="rId3">
                <a:alphaModFix amt="0"/>
              </a:blip>
              <a:stretch>
                <a:fillRect l="0" t="-1757" r="0" b="-1757"/>
              </a:stretch>
            </a:blipFill>
          </p:spPr>
        </p:sp>
        <p:sp>
          <p:nvSpPr>
            <p:cNvPr name="TextBox 65" id="65"/>
            <p:cNvSpPr txBox="true"/>
            <p:nvPr/>
          </p:nvSpPr>
          <p:spPr>
            <a:xfrm>
              <a:off x="0" y="9525"/>
              <a:ext cx="2072640" cy="770763"/>
            </a:xfrm>
            <a:prstGeom prst="rect">
              <a:avLst/>
            </a:prstGeom>
          </p:spPr>
          <p:txBody>
            <a:bodyPr anchor="ctr" rtlCol="false" tIns="0" lIns="0" bIns="0" rIns="0"/>
            <a:lstStyle/>
            <a:p>
              <a:pPr algn="l">
                <a:lnSpc>
                  <a:spcPts val="2280"/>
                </a:lnSpc>
              </a:pPr>
              <a:r>
                <a:rPr lang="en-US" sz="1900" b="true">
                  <a:solidFill>
                    <a:srgbClr val="C0614E"/>
                  </a:solidFill>
                  <a:latin typeface="EB Garamond Semi-Bold"/>
                  <a:ea typeface="EB Garamond Semi-Bold"/>
                  <a:cs typeface="EB Garamond Semi-Bold"/>
                  <a:sym typeface="EB Garamond Semi-Bold"/>
                </a:rPr>
                <a:t>-3 023.708</a:t>
              </a:r>
            </a:p>
          </p:txBody>
        </p:sp>
      </p:grpSp>
      <p:grpSp>
        <p:nvGrpSpPr>
          <p:cNvPr name="Group 66" id="66"/>
          <p:cNvGrpSpPr/>
          <p:nvPr/>
        </p:nvGrpSpPr>
        <p:grpSpPr>
          <a:xfrm rot="0">
            <a:off x="10594343" y="5656583"/>
            <a:ext cx="116843" cy="464315"/>
            <a:chOff x="0" y="0"/>
            <a:chExt cx="155791" cy="619087"/>
          </a:xfrm>
        </p:grpSpPr>
        <p:sp>
          <p:nvSpPr>
            <p:cNvPr name="Freeform 67" id="67"/>
            <p:cNvSpPr/>
            <p:nvPr/>
          </p:nvSpPr>
          <p:spPr>
            <a:xfrm flipH="false" flipV="false" rot="0">
              <a:off x="16891" y="16891"/>
              <a:ext cx="121920" cy="585216"/>
            </a:xfrm>
            <a:custGeom>
              <a:avLst/>
              <a:gdLst/>
              <a:ahLst/>
              <a:cxnLst/>
              <a:rect r="r" b="b" t="t" l="l"/>
              <a:pathLst>
                <a:path h="585216" w="121920">
                  <a:moveTo>
                    <a:pt x="0" y="0"/>
                  </a:moveTo>
                  <a:lnTo>
                    <a:pt x="121920" y="0"/>
                  </a:lnTo>
                  <a:lnTo>
                    <a:pt x="121920" y="585216"/>
                  </a:lnTo>
                  <a:lnTo>
                    <a:pt x="0" y="585216"/>
                  </a:lnTo>
                  <a:close/>
                </a:path>
              </a:pathLst>
            </a:custGeom>
            <a:solidFill>
              <a:srgbClr val="C0614E"/>
            </a:solidFill>
          </p:spPr>
        </p:sp>
        <p:sp>
          <p:nvSpPr>
            <p:cNvPr name="Freeform 68" id="68"/>
            <p:cNvSpPr/>
            <p:nvPr/>
          </p:nvSpPr>
          <p:spPr>
            <a:xfrm flipH="false" flipV="false" rot="0">
              <a:off x="0" y="0"/>
              <a:ext cx="155702" cy="619000"/>
            </a:xfrm>
            <a:custGeom>
              <a:avLst/>
              <a:gdLst/>
              <a:ahLst/>
              <a:cxnLst/>
              <a:rect r="r" b="b" t="t" l="l"/>
              <a:pathLst>
                <a:path h="619000" w="155702">
                  <a:moveTo>
                    <a:pt x="16891" y="0"/>
                  </a:moveTo>
                  <a:lnTo>
                    <a:pt x="138811" y="0"/>
                  </a:lnTo>
                  <a:cubicBezTo>
                    <a:pt x="148209" y="0"/>
                    <a:pt x="155702" y="7620"/>
                    <a:pt x="155702" y="16891"/>
                  </a:cubicBezTo>
                  <a:lnTo>
                    <a:pt x="155702" y="602107"/>
                  </a:lnTo>
                  <a:cubicBezTo>
                    <a:pt x="155702" y="611505"/>
                    <a:pt x="148082" y="618998"/>
                    <a:pt x="138811" y="618998"/>
                  </a:cubicBezTo>
                  <a:lnTo>
                    <a:pt x="16891" y="618998"/>
                  </a:lnTo>
                  <a:cubicBezTo>
                    <a:pt x="7620" y="619125"/>
                    <a:pt x="0" y="611505"/>
                    <a:pt x="0" y="602107"/>
                  </a:cubicBezTo>
                  <a:lnTo>
                    <a:pt x="0" y="16891"/>
                  </a:lnTo>
                  <a:cubicBezTo>
                    <a:pt x="0" y="7620"/>
                    <a:pt x="7620" y="0"/>
                    <a:pt x="16891" y="0"/>
                  </a:cubicBezTo>
                  <a:moveTo>
                    <a:pt x="16891" y="33909"/>
                  </a:moveTo>
                  <a:lnTo>
                    <a:pt x="16891" y="16891"/>
                  </a:lnTo>
                  <a:lnTo>
                    <a:pt x="33909" y="16891"/>
                  </a:lnTo>
                  <a:lnTo>
                    <a:pt x="33909" y="602107"/>
                  </a:lnTo>
                  <a:lnTo>
                    <a:pt x="16891" y="602107"/>
                  </a:lnTo>
                  <a:lnTo>
                    <a:pt x="16891" y="585216"/>
                  </a:lnTo>
                  <a:lnTo>
                    <a:pt x="138811" y="585216"/>
                  </a:lnTo>
                  <a:lnTo>
                    <a:pt x="138811" y="602107"/>
                  </a:lnTo>
                  <a:lnTo>
                    <a:pt x="121920" y="602107"/>
                  </a:lnTo>
                  <a:lnTo>
                    <a:pt x="121920" y="16891"/>
                  </a:lnTo>
                  <a:lnTo>
                    <a:pt x="138811" y="16891"/>
                  </a:lnTo>
                  <a:lnTo>
                    <a:pt x="138811" y="33909"/>
                  </a:lnTo>
                  <a:lnTo>
                    <a:pt x="16891" y="33909"/>
                  </a:lnTo>
                  <a:close/>
                </a:path>
              </a:pathLst>
            </a:custGeom>
            <a:solidFill>
              <a:srgbClr val="C0614E"/>
            </a:solidFill>
          </p:spPr>
        </p:sp>
      </p:grpSp>
      <p:grpSp>
        <p:nvGrpSpPr>
          <p:cNvPr name="Group 69" id="69"/>
          <p:cNvGrpSpPr/>
          <p:nvPr/>
        </p:nvGrpSpPr>
        <p:grpSpPr>
          <a:xfrm rot="0">
            <a:off x="10844784" y="5577840"/>
            <a:ext cx="3474720" cy="585216"/>
            <a:chOff x="0" y="0"/>
            <a:chExt cx="4632960" cy="780288"/>
          </a:xfrm>
        </p:grpSpPr>
        <p:sp>
          <p:nvSpPr>
            <p:cNvPr name="Freeform 70" id="70"/>
            <p:cNvSpPr/>
            <p:nvPr/>
          </p:nvSpPr>
          <p:spPr>
            <a:xfrm flipH="false" flipV="false" rot="0">
              <a:off x="0" y="0"/>
              <a:ext cx="4632960" cy="780288"/>
            </a:xfrm>
            <a:custGeom>
              <a:avLst/>
              <a:gdLst/>
              <a:ahLst/>
              <a:cxnLst/>
              <a:rect r="r" b="b" t="t" l="l"/>
              <a:pathLst>
                <a:path h="780288" w="4632960">
                  <a:moveTo>
                    <a:pt x="0" y="0"/>
                  </a:moveTo>
                  <a:lnTo>
                    <a:pt x="4632960" y="0"/>
                  </a:lnTo>
                  <a:lnTo>
                    <a:pt x="4632960" y="780288"/>
                  </a:lnTo>
                  <a:lnTo>
                    <a:pt x="0" y="780288"/>
                  </a:lnTo>
                  <a:close/>
                </a:path>
              </a:pathLst>
            </a:custGeom>
            <a:blipFill>
              <a:blip r:embed="rId3">
                <a:alphaModFix amt="0"/>
              </a:blip>
              <a:stretch>
                <a:fillRect l="0" t="-65692" r="0" b="-65692"/>
              </a:stretch>
            </a:blipFill>
          </p:spPr>
        </p:sp>
        <p:sp>
          <p:nvSpPr>
            <p:cNvPr name="TextBox 71" id="71"/>
            <p:cNvSpPr txBox="true"/>
            <p:nvPr/>
          </p:nvSpPr>
          <p:spPr>
            <a:xfrm>
              <a:off x="0" y="9525"/>
              <a:ext cx="4632960" cy="770763"/>
            </a:xfrm>
            <a:prstGeom prst="rect">
              <a:avLst/>
            </a:prstGeom>
          </p:spPr>
          <p:txBody>
            <a:bodyPr anchor="ctr" rtlCol="false" tIns="0" lIns="0" bIns="0" rIns="0"/>
            <a:lstStyle/>
            <a:p>
              <a:pPr algn="l">
                <a:lnSpc>
                  <a:spcPts val="2280"/>
                </a:lnSpc>
              </a:pPr>
              <a:r>
                <a:rPr lang="en-US" sz="1900" b="true">
                  <a:solidFill>
                    <a:srgbClr val="1C2E40"/>
                  </a:solidFill>
                  <a:latin typeface="EB Garamond Semi-Bold"/>
                  <a:ea typeface="EB Garamond Semi-Bold"/>
                  <a:cs typeface="EB Garamond Semi-Bold"/>
                  <a:sym typeface="EB Garamond Semi-Bold"/>
                </a:rPr>
                <a:t>Mois : </a:t>
              </a:r>
            </a:p>
          </p:txBody>
        </p:sp>
      </p:grpSp>
      <p:grpSp>
        <p:nvGrpSpPr>
          <p:cNvPr name="Group 72" id="72"/>
          <p:cNvGrpSpPr/>
          <p:nvPr/>
        </p:nvGrpSpPr>
        <p:grpSpPr>
          <a:xfrm rot="0">
            <a:off x="14264640" y="5577840"/>
            <a:ext cx="1554480" cy="585216"/>
            <a:chOff x="0" y="0"/>
            <a:chExt cx="2072640" cy="780288"/>
          </a:xfrm>
        </p:grpSpPr>
        <p:sp>
          <p:nvSpPr>
            <p:cNvPr name="Freeform 73" id="73"/>
            <p:cNvSpPr/>
            <p:nvPr/>
          </p:nvSpPr>
          <p:spPr>
            <a:xfrm flipH="false" flipV="false" rot="0">
              <a:off x="0" y="0"/>
              <a:ext cx="2072640" cy="780288"/>
            </a:xfrm>
            <a:custGeom>
              <a:avLst/>
              <a:gdLst/>
              <a:ahLst/>
              <a:cxnLst/>
              <a:rect r="r" b="b" t="t" l="l"/>
              <a:pathLst>
                <a:path h="780288" w="2072640">
                  <a:moveTo>
                    <a:pt x="0" y="0"/>
                  </a:moveTo>
                  <a:lnTo>
                    <a:pt x="2072640" y="0"/>
                  </a:lnTo>
                  <a:lnTo>
                    <a:pt x="2072640" y="780288"/>
                  </a:lnTo>
                  <a:lnTo>
                    <a:pt x="0" y="780288"/>
                  </a:lnTo>
                  <a:close/>
                </a:path>
              </a:pathLst>
            </a:custGeom>
            <a:blipFill>
              <a:blip r:embed="rId3">
                <a:alphaModFix amt="0"/>
              </a:blip>
              <a:stretch>
                <a:fillRect l="0" t="-1757" r="0" b="-1757"/>
              </a:stretch>
            </a:blipFill>
          </p:spPr>
        </p:sp>
        <p:sp>
          <p:nvSpPr>
            <p:cNvPr name="TextBox 74" id="74"/>
            <p:cNvSpPr txBox="true"/>
            <p:nvPr/>
          </p:nvSpPr>
          <p:spPr>
            <a:xfrm>
              <a:off x="0" y="9525"/>
              <a:ext cx="2072640" cy="770763"/>
            </a:xfrm>
            <a:prstGeom prst="rect">
              <a:avLst/>
            </a:prstGeom>
          </p:spPr>
          <p:txBody>
            <a:bodyPr anchor="ctr" rtlCol="false" tIns="0" lIns="0" bIns="0" rIns="0"/>
            <a:lstStyle/>
            <a:p>
              <a:pPr algn="l">
                <a:lnSpc>
                  <a:spcPts val="2280"/>
                </a:lnSpc>
              </a:pPr>
              <a:r>
                <a:rPr lang="en-US" sz="1900" b="true">
                  <a:solidFill>
                    <a:srgbClr val="C0614E"/>
                  </a:solidFill>
                  <a:latin typeface="EB Garamond Semi-Bold"/>
                  <a:ea typeface="EB Garamond Semi-Bold"/>
                  <a:cs typeface="EB Garamond Semi-Bold"/>
                  <a:sym typeface="EB Garamond Semi-Bold"/>
                </a:rPr>
                <a:t>−639.7931</a:t>
              </a:r>
            </a:p>
          </p:txBody>
        </p:sp>
      </p:grpSp>
      <p:grpSp>
        <p:nvGrpSpPr>
          <p:cNvPr name="Group 75" id="75"/>
          <p:cNvGrpSpPr/>
          <p:nvPr/>
        </p:nvGrpSpPr>
        <p:grpSpPr>
          <a:xfrm rot="0">
            <a:off x="10594343" y="7357629"/>
            <a:ext cx="6803136" cy="512064"/>
            <a:chOff x="0" y="0"/>
            <a:chExt cx="9070848" cy="682752"/>
          </a:xfrm>
        </p:grpSpPr>
        <p:sp>
          <p:nvSpPr>
            <p:cNvPr name="Freeform 76" id="76"/>
            <p:cNvSpPr/>
            <p:nvPr/>
          </p:nvSpPr>
          <p:spPr>
            <a:xfrm flipH="false" flipV="false" rot="0">
              <a:off x="0" y="0"/>
              <a:ext cx="9070848" cy="682752"/>
            </a:xfrm>
            <a:custGeom>
              <a:avLst/>
              <a:gdLst/>
              <a:ahLst/>
              <a:cxnLst/>
              <a:rect r="r" b="b" t="t" l="l"/>
              <a:pathLst>
                <a:path h="682752" w="9070848">
                  <a:moveTo>
                    <a:pt x="0" y="0"/>
                  </a:moveTo>
                  <a:lnTo>
                    <a:pt x="9070848" y="0"/>
                  </a:lnTo>
                  <a:lnTo>
                    <a:pt x="9070848" y="682752"/>
                  </a:lnTo>
                  <a:lnTo>
                    <a:pt x="0" y="682752"/>
                  </a:lnTo>
                  <a:close/>
                </a:path>
              </a:pathLst>
            </a:custGeom>
            <a:blipFill>
              <a:blip r:embed="rId3">
                <a:alphaModFix amt="0"/>
              </a:blip>
              <a:stretch>
                <a:fillRect l="0" t="-208872" r="0" b="-208872"/>
              </a:stretch>
            </a:blipFill>
          </p:spPr>
        </p:sp>
        <p:sp>
          <p:nvSpPr>
            <p:cNvPr name="TextBox 77" id="77"/>
            <p:cNvSpPr txBox="true"/>
            <p:nvPr/>
          </p:nvSpPr>
          <p:spPr>
            <a:xfrm>
              <a:off x="0" y="9525"/>
              <a:ext cx="9070848" cy="673227"/>
            </a:xfrm>
            <a:prstGeom prst="rect">
              <a:avLst/>
            </a:prstGeom>
          </p:spPr>
          <p:txBody>
            <a:bodyPr anchor="ctr" rtlCol="false" tIns="0" lIns="0" bIns="0" rIns="0"/>
            <a:lstStyle/>
            <a:p>
              <a:pPr algn="l">
                <a:lnSpc>
                  <a:spcPts val="2160"/>
                </a:lnSpc>
              </a:pPr>
              <a:r>
                <a:rPr lang="en-US" sz="1800" i="true">
                  <a:solidFill>
                    <a:srgbClr val="7B8FA1"/>
                  </a:solidFill>
                  <a:latin typeface="EB Garamond Italics"/>
                  <a:ea typeface="EB Garamond Italics"/>
                  <a:cs typeface="EB Garamond Italics"/>
                  <a:sym typeface="EB Garamond Italics"/>
                </a:rPr>
                <a:t>R² = 0,13 :  faible pouvoir explicatif</a:t>
              </a:r>
            </a:p>
          </p:txBody>
        </p:sp>
      </p:grpSp>
      <p:grpSp>
        <p:nvGrpSpPr>
          <p:cNvPr name="Group 78" id="78"/>
          <p:cNvGrpSpPr/>
          <p:nvPr/>
        </p:nvGrpSpPr>
        <p:grpSpPr>
          <a:xfrm rot="0">
            <a:off x="10231117" y="8153397"/>
            <a:ext cx="7426957" cy="1476244"/>
            <a:chOff x="0" y="0"/>
            <a:chExt cx="9902609" cy="1968326"/>
          </a:xfrm>
        </p:grpSpPr>
        <p:grpSp>
          <p:nvGrpSpPr>
            <p:cNvPr name="Group 79" id="79"/>
            <p:cNvGrpSpPr/>
            <p:nvPr/>
          </p:nvGrpSpPr>
          <p:grpSpPr>
            <a:xfrm rot="0">
              <a:off x="0" y="0"/>
              <a:ext cx="9902609" cy="1968326"/>
              <a:chOff x="0" y="0"/>
              <a:chExt cx="9902609" cy="1968326"/>
            </a:xfrm>
          </p:grpSpPr>
          <p:sp>
            <p:nvSpPr>
              <p:cNvPr name="Freeform 80" id="80"/>
              <p:cNvSpPr/>
              <p:nvPr/>
            </p:nvSpPr>
            <p:spPr>
              <a:xfrm flipH="false" flipV="false" rot="0">
                <a:off x="13589" y="6486"/>
                <a:ext cx="9875393" cy="1955396"/>
              </a:xfrm>
              <a:custGeom>
                <a:avLst/>
                <a:gdLst/>
                <a:ahLst/>
                <a:cxnLst/>
                <a:rect r="r" b="b" t="t" l="l"/>
                <a:pathLst>
                  <a:path h="1955396" w="9875393">
                    <a:moveTo>
                      <a:pt x="0" y="116393"/>
                    </a:moveTo>
                    <a:cubicBezTo>
                      <a:pt x="0" y="52135"/>
                      <a:pt x="109601" y="0"/>
                      <a:pt x="244729" y="0"/>
                    </a:cubicBezTo>
                    <a:lnTo>
                      <a:pt x="9630664" y="0"/>
                    </a:lnTo>
                    <a:cubicBezTo>
                      <a:pt x="9765792" y="0"/>
                      <a:pt x="9875393" y="52135"/>
                      <a:pt x="9875393" y="116393"/>
                    </a:cubicBezTo>
                    <a:lnTo>
                      <a:pt x="9875393" y="1839003"/>
                    </a:lnTo>
                    <a:cubicBezTo>
                      <a:pt x="9875393" y="1903262"/>
                      <a:pt x="9765792" y="1955396"/>
                      <a:pt x="9630664" y="1955396"/>
                    </a:cubicBezTo>
                    <a:lnTo>
                      <a:pt x="244729" y="1955396"/>
                    </a:lnTo>
                    <a:cubicBezTo>
                      <a:pt x="109601" y="1955396"/>
                      <a:pt x="0" y="1903262"/>
                      <a:pt x="0" y="1839003"/>
                    </a:cubicBezTo>
                    <a:close/>
                  </a:path>
                </a:pathLst>
              </a:custGeom>
              <a:solidFill>
                <a:srgbClr val="F9F4E7"/>
              </a:solidFill>
            </p:spPr>
          </p:sp>
          <p:sp>
            <p:nvSpPr>
              <p:cNvPr name="Freeform 81" id="81"/>
              <p:cNvSpPr/>
              <p:nvPr/>
            </p:nvSpPr>
            <p:spPr>
              <a:xfrm flipH="false" flipV="false" rot="0">
                <a:off x="0" y="0"/>
                <a:ext cx="9902572" cy="1968415"/>
              </a:xfrm>
              <a:custGeom>
                <a:avLst/>
                <a:gdLst/>
                <a:ahLst/>
                <a:cxnLst/>
                <a:rect r="r" b="b" t="t" l="l"/>
                <a:pathLst>
                  <a:path h="1968415" w="9902572">
                    <a:moveTo>
                      <a:pt x="0" y="122879"/>
                    </a:moveTo>
                    <a:cubicBezTo>
                      <a:pt x="0" y="54983"/>
                      <a:pt x="115697" y="0"/>
                      <a:pt x="258318" y="0"/>
                    </a:cubicBezTo>
                    <a:lnTo>
                      <a:pt x="9644253" y="0"/>
                    </a:lnTo>
                    <a:lnTo>
                      <a:pt x="9644253" y="6486"/>
                    </a:lnTo>
                    <a:lnTo>
                      <a:pt x="9644253" y="0"/>
                    </a:lnTo>
                    <a:cubicBezTo>
                      <a:pt x="9786874" y="0"/>
                      <a:pt x="9902572" y="54983"/>
                      <a:pt x="9902572" y="122879"/>
                    </a:cubicBezTo>
                    <a:lnTo>
                      <a:pt x="9888982" y="122879"/>
                    </a:lnTo>
                    <a:lnTo>
                      <a:pt x="9902572" y="122879"/>
                    </a:lnTo>
                    <a:lnTo>
                      <a:pt x="9902572" y="1845489"/>
                    </a:lnTo>
                    <a:lnTo>
                      <a:pt x="9888982" y="1845489"/>
                    </a:lnTo>
                    <a:lnTo>
                      <a:pt x="9902572" y="1845489"/>
                    </a:lnTo>
                    <a:cubicBezTo>
                      <a:pt x="9902572" y="1913385"/>
                      <a:pt x="9786874" y="1968415"/>
                      <a:pt x="9644253" y="1968415"/>
                    </a:cubicBezTo>
                    <a:lnTo>
                      <a:pt x="9644253" y="1961882"/>
                    </a:lnTo>
                    <a:lnTo>
                      <a:pt x="9644253" y="1968415"/>
                    </a:lnTo>
                    <a:lnTo>
                      <a:pt x="258318" y="1968415"/>
                    </a:lnTo>
                    <a:lnTo>
                      <a:pt x="258318" y="1961882"/>
                    </a:lnTo>
                    <a:lnTo>
                      <a:pt x="258318" y="1968415"/>
                    </a:lnTo>
                    <a:cubicBezTo>
                      <a:pt x="115697" y="1968308"/>
                      <a:pt x="0" y="1913324"/>
                      <a:pt x="0" y="1845489"/>
                    </a:cubicBezTo>
                    <a:lnTo>
                      <a:pt x="0" y="122879"/>
                    </a:lnTo>
                    <a:lnTo>
                      <a:pt x="13589" y="122879"/>
                    </a:lnTo>
                    <a:lnTo>
                      <a:pt x="0" y="122879"/>
                    </a:lnTo>
                    <a:moveTo>
                      <a:pt x="27051" y="122879"/>
                    </a:moveTo>
                    <a:lnTo>
                      <a:pt x="27051" y="1845489"/>
                    </a:lnTo>
                    <a:lnTo>
                      <a:pt x="13589" y="1845489"/>
                    </a:lnTo>
                    <a:lnTo>
                      <a:pt x="27051" y="1845489"/>
                    </a:lnTo>
                    <a:cubicBezTo>
                      <a:pt x="27051" y="1906171"/>
                      <a:pt x="130556" y="1955395"/>
                      <a:pt x="258318" y="1955395"/>
                    </a:cubicBezTo>
                    <a:lnTo>
                      <a:pt x="9644253" y="1955395"/>
                    </a:lnTo>
                    <a:cubicBezTo>
                      <a:pt x="9772015" y="1955395"/>
                      <a:pt x="9875520" y="1906171"/>
                      <a:pt x="9875520" y="1845489"/>
                    </a:cubicBezTo>
                    <a:lnTo>
                      <a:pt x="9875520" y="122879"/>
                    </a:lnTo>
                    <a:cubicBezTo>
                      <a:pt x="9875520" y="62197"/>
                      <a:pt x="9772015" y="12973"/>
                      <a:pt x="9644253" y="12973"/>
                    </a:cubicBezTo>
                    <a:lnTo>
                      <a:pt x="258318" y="12973"/>
                    </a:lnTo>
                    <a:lnTo>
                      <a:pt x="258318" y="6486"/>
                    </a:lnTo>
                    <a:lnTo>
                      <a:pt x="258318" y="12912"/>
                    </a:lnTo>
                    <a:cubicBezTo>
                      <a:pt x="130556" y="12912"/>
                      <a:pt x="27051" y="62137"/>
                      <a:pt x="27051" y="122818"/>
                    </a:cubicBezTo>
                    <a:close/>
                  </a:path>
                </a:pathLst>
              </a:custGeom>
              <a:solidFill>
                <a:srgbClr val="BDC8D5"/>
              </a:solidFill>
            </p:spPr>
          </p:sp>
        </p:grpSp>
        <p:grpSp>
          <p:nvGrpSpPr>
            <p:cNvPr name="Group 82" id="82"/>
            <p:cNvGrpSpPr/>
            <p:nvPr/>
          </p:nvGrpSpPr>
          <p:grpSpPr>
            <a:xfrm rot="0">
              <a:off x="452463" y="111222"/>
              <a:ext cx="9217152" cy="637305"/>
              <a:chOff x="0" y="0"/>
              <a:chExt cx="9217152" cy="637305"/>
            </a:xfrm>
          </p:grpSpPr>
          <p:sp>
            <p:nvSpPr>
              <p:cNvPr name="Freeform 83" id="83"/>
              <p:cNvSpPr/>
              <p:nvPr/>
            </p:nvSpPr>
            <p:spPr>
              <a:xfrm flipH="false" flipV="false" rot="0">
                <a:off x="0" y="0"/>
                <a:ext cx="9217152" cy="637305"/>
              </a:xfrm>
              <a:custGeom>
                <a:avLst/>
                <a:gdLst/>
                <a:ahLst/>
                <a:cxnLst/>
                <a:rect r="r" b="b" t="t" l="l"/>
                <a:pathLst>
                  <a:path h="637305" w="9217152">
                    <a:moveTo>
                      <a:pt x="0" y="0"/>
                    </a:moveTo>
                    <a:lnTo>
                      <a:pt x="9217152" y="0"/>
                    </a:lnTo>
                    <a:lnTo>
                      <a:pt x="9217152" y="637305"/>
                    </a:lnTo>
                    <a:lnTo>
                      <a:pt x="0" y="637305"/>
                    </a:lnTo>
                    <a:close/>
                  </a:path>
                </a:pathLst>
              </a:custGeom>
              <a:blipFill>
                <a:blip r:embed="rId3">
                  <a:alphaModFix amt="0"/>
                </a:blip>
                <a:stretch>
                  <a:fillRect l="0" t="-228240" r="0" b="-235371"/>
                </a:stretch>
              </a:blipFill>
            </p:spPr>
          </p:sp>
          <p:sp>
            <p:nvSpPr>
              <p:cNvPr name="TextBox 84" id="84"/>
              <p:cNvSpPr txBox="true"/>
              <p:nvPr/>
            </p:nvSpPr>
            <p:spPr>
              <a:xfrm>
                <a:off x="0" y="-47625"/>
                <a:ext cx="9217152" cy="684930"/>
              </a:xfrm>
              <a:prstGeom prst="rect">
                <a:avLst/>
              </a:prstGeom>
            </p:spPr>
            <p:txBody>
              <a:bodyPr anchor="ctr" rtlCol="false" tIns="0" lIns="0" bIns="0" rIns="0"/>
              <a:lstStyle/>
              <a:p>
                <a:pPr algn="l">
                  <a:lnSpc>
                    <a:spcPts val="2640"/>
                  </a:lnSpc>
                </a:pPr>
                <a:r>
                  <a:rPr lang="en-US" sz="2200" b="true">
                    <a:solidFill>
                      <a:srgbClr val="1C2E40"/>
                    </a:solidFill>
                    <a:latin typeface="Calibri (MS) Bold"/>
                    <a:ea typeface="Calibri (MS) Bold"/>
                    <a:cs typeface="Calibri (MS) Bold"/>
                    <a:sym typeface="Calibri (MS) Bold"/>
                  </a:rPr>
                  <a:t>Variables additionnelles proposées</a:t>
                </a:r>
              </a:p>
            </p:txBody>
          </p:sp>
        </p:grpSp>
        <p:grpSp>
          <p:nvGrpSpPr>
            <p:cNvPr name="Group 85" id="85"/>
            <p:cNvGrpSpPr/>
            <p:nvPr/>
          </p:nvGrpSpPr>
          <p:grpSpPr>
            <a:xfrm rot="0">
              <a:off x="452463" y="495317"/>
              <a:ext cx="9001587" cy="1438559"/>
              <a:chOff x="0" y="0"/>
              <a:chExt cx="9217152" cy="1473009"/>
            </a:xfrm>
          </p:grpSpPr>
          <p:sp>
            <p:nvSpPr>
              <p:cNvPr name="Freeform 86" id="86"/>
              <p:cNvSpPr/>
              <p:nvPr/>
            </p:nvSpPr>
            <p:spPr>
              <a:xfrm flipH="false" flipV="false" rot="0">
                <a:off x="0" y="0"/>
                <a:ext cx="9217152" cy="1473009"/>
              </a:xfrm>
              <a:custGeom>
                <a:avLst/>
                <a:gdLst/>
                <a:ahLst/>
                <a:cxnLst/>
                <a:rect r="r" b="b" t="t" l="l"/>
                <a:pathLst>
                  <a:path h="1473009" w="9217152">
                    <a:moveTo>
                      <a:pt x="0" y="0"/>
                    </a:moveTo>
                    <a:lnTo>
                      <a:pt x="9217152" y="0"/>
                    </a:lnTo>
                    <a:lnTo>
                      <a:pt x="9217152" y="1473009"/>
                    </a:lnTo>
                    <a:lnTo>
                      <a:pt x="0" y="1473009"/>
                    </a:lnTo>
                    <a:close/>
                  </a:path>
                </a:pathLst>
              </a:custGeom>
              <a:blipFill>
                <a:blip r:embed="rId3">
                  <a:alphaModFix amt="0"/>
                </a:blip>
                <a:stretch>
                  <a:fillRect l="0" t="-98749" r="0" b="-45100"/>
                </a:stretch>
              </a:blipFill>
            </p:spPr>
          </p:sp>
          <p:sp>
            <p:nvSpPr>
              <p:cNvPr name="TextBox 87" id="87"/>
              <p:cNvSpPr txBox="true"/>
              <p:nvPr/>
            </p:nvSpPr>
            <p:spPr>
              <a:xfrm>
                <a:off x="0" y="-38100"/>
                <a:ext cx="9217152" cy="1511109"/>
              </a:xfrm>
              <a:prstGeom prst="rect">
                <a:avLst/>
              </a:prstGeom>
            </p:spPr>
            <p:txBody>
              <a:bodyPr anchor="t" rtlCol="false" tIns="0" lIns="0" bIns="0" rIns="0"/>
              <a:lstStyle/>
              <a:p>
                <a:pPr algn="just">
                  <a:lnSpc>
                    <a:spcPts val="2400"/>
                  </a:lnSpc>
                </a:pPr>
                <a:r>
                  <a:rPr lang="en-US" sz="2000">
                    <a:solidFill>
                      <a:srgbClr val="364E64"/>
                    </a:solidFill>
                    <a:latin typeface="Calibri (MS)"/>
                    <a:ea typeface="Calibri (MS)"/>
                    <a:cs typeface="Calibri (MS)"/>
                    <a:sym typeface="Calibri (MS)"/>
                  </a:rPr>
                  <a:t>+ Ajout de la variable soudure dans la régression linéaire</a:t>
                </a:r>
              </a:p>
              <a:p>
                <a:pPr algn="just">
                  <a:lnSpc>
                    <a:spcPts val="2400"/>
                  </a:lnSpc>
                </a:pPr>
                <a:r>
                  <a:rPr lang="en-US" sz="2000">
                    <a:solidFill>
                      <a:srgbClr val="364E64"/>
                    </a:solidFill>
                    <a:latin typeface="Calibri (MS)"/>
                    <a:ea typeface="Calibri (MS)"/>
                    <a:cs typeface="Calibri (MS)"/>
                    <a:sym typeface="Calibri (MS)"/>
                  </a:rPr>
                  <a:t>Il en ressort que soudure est une variable significative de coefficient 10 436.88 et une p-value de 0.005</a:t>
                </a:r>
              </a:p>
            </p:txBody>
          </p:sp>
        </p:grpSp>
      </p:grpSp>
      <p:grpSp>
        <p:nvGrpSpPr>
          <p:cNvPr name="Group 88" id="88"/>
          <p:cNvGrpSpPr/>
          <p:nvPr/>
        </p:nvGrpSpPr>
        <p:grpSpPr>
          <a:xfrm rot="0">
            <a:off x="10828020" y="6222373"/>
            <a:ext cx="3474720" cy="585216"/>
            <a:chOff x="0" y="0"/>
            <a:chExt cx="4632960" cy="780288"/>
          </a:xfrm>
        </p:grpSpPr>
        <p:sp>
          <p:nvSpPr>
            <p:cNvPr name="Freeform 89" id="89"/>
            <p:cNvSpPr/>
            <p:nvPr/>
          </p:nvSpPr>
          <p:spPr>
            <a:xfrm flipH="false" flipV="false" rot="0">
              <a:off x="0" y="0"/>
              <a:ext cx="4632960" cy="780288"/>
            </a:xfrm>
            <a:custGeom>
              <a:avLst/>
              <a:gdLst/>
              <a:ahLst/>
              <a:cxnLst/>
              <a:rect r="r" b="b" t="t" l="l"/>
              <a:pathLst>
                <a:path h="780288" w="4632960">
                  <a:moveTo>
                    <a:pt x="0" y="0"/>
                  </a:moveTo>
                  <a:lnTo>
                    <a:pt x="4632960" y="0"/>
                  </a:lnTo>
                  <a:lnTo>
                    <a:pt x="4632960" y="780288"/>
                  </a:lnTo>
                  <a:lnTo>
                    <a:pt x="0" y="780288"/>
                  </a:lnTo>
                  <a:close/>
                </a:path>
              </a:pathLst>
            </a:custGeom>
            <a:blipFill>
              <a:blip r:embed="rId3">
                <a:alphaModFix amt="0"/>
              </a:blip>
              <a:stretch>
                <a:fillRect l="0" t="-65692" r="0" b="-65692"/>
              </a:stretch>
            </a:blipFill>
          </p:spPr>
        </p:sp>
        <p:sp>
          <p:nvSpPr>
            <p:cNvPr name="TextBox 90" id="90"/>
            <p:cNvSpPr txBox="true"/>
            <p:nvPr/>
          </p:nvSpPr>
          <p:spPr>
            <a:xfrm>
              <a:off x="0" y="9525"/>
              <a:ext cx="4632960" cy="770763"/>
            </a:xfrm>
            <a:prstGeom prst="rect">
              <a:avLst/>
            </a:prstGeom>
          </p:spPr>
          <p:txBody>
            <a:bodyPr anchor="ctr" rtlCol="false" tIns="0" lIns="0" bIns="0" rIns="0"/>
            <a:lstStyle/>
            <a:p>
              <a:pPr algn="l">
                <a:lnSpc>
                  <a:spcPts val="2280"/>
                </a:lnSpc>
              </a:pPr>
              <a:r>
                <a:rPr lang="en-US" sz="1900" b="true">
                  <a:solidFill>
                    <a:srgbClr val="1C2E40"/>
                  </a:solidFill>
                  <a:latin typeface="EB Garamond Semi-Bold"/>
                  <a:ea typeface="EB Garamond Semi-Bold"/>
                  <a:cs typeface="EB Garamond Semi-Bold"/>
                  <a:sym typeface="EB Garamond Semi-Bold"/>
                </a:rPr>
                <a:t>Année </a:t>
              </a:r>
              <a:r>
                <a:rPr lang="en-US" sz="1900" b="true">
                  <a:solidFill>
                    <a:srgbClr val="1C2E40"/>
                  </a:solidFill>
                  <a:latin typeface="EB Garamond Semi-Bold"/>
                  <a:ea typeface="EB Garamond Semi-Bold"/>
                  <a:cs typeface="EB Garamond Semi-Bold"/>
                  <a:sym typeface="EB Garamond Semi-Bold"/>
                </a:rPr>
                <a:t>: </a:t>
              </a:r>
            </a:p>
          </p:txBody>
        </p:sp>
      </p:grpSp>
      <p:grpSp>
        <p:nvGrpSpPr>
          <p:cNvPr name="Group 91" id="91"/>
          <p:cNvGrpSpPr/>
          <p:nvPr/>
        </p:nvGrpSpPr>
        <p:grpSpPr>
          <a:xfrm rot="0">
            <a:off x="10594343" y="6258306"/>
            <a:ext cx="116843" cy="464315"/>
            <a:chOff x="0" y="0"/>
            <a:chExt cx="155791" cy="619087"/>
          </a:xfrm>
        </p:grpSpPr>
        <p:sp>
          <p:nvSpPr>
            <p:cNvPr name="Freeform 92" id="92"/>
            <p:cNvSpPr/>
            <p:nvPr/>
          </p:nvSpPr>
          <p:spPr>
            <a:xfrm flipH="false" flipV="false" rot="0">
              <a:off x="16891" y="16891"/>
              <a:ext cx="121920" cy="585216"/>
            </a:xfrm>
            <a:custGeom>
              <a:avLst/>
              <a:gdLst/>
              <a:ahLst/>
              <a:cxnLst/>
              <a:rect r="r" b="b" t="t" l="l"/>
              <a:pathLst>
                <a:path h="585216" w="121920">
                  <a:moveTo>
                    <a:pt x="0" y="0"/>
                  </a:moveTo>
                  <a:lnTo>
                    <a:pt x="121920" y="0"/>
                  </a:lnTo>
                  <a:lnTo>
                    <a:pt x="121920" y="585216"/>
                  </a:lnTo>
                  <a:lnTo>
                    <a:pt x="0" y="585216"/>
                  </a:lnTo>
                  <a:close/>
                </a:path>
              </a:pathLst>
            </a:custGeom>
            <a:solidFill>
              <a:srgbClr val="C0614E"/>
            </a:solidFill>
          </p:spPr>
        </p:sp>
        <p:sp>
          <p:nvSpPr>
            <p:cNvPr name="Freeform 93" id="93"/>
            <p:cNvSpPr/>
            <p:nvPr/>
          </p:nvSpPr>
          <p:spPr>
            <a:xfrm flipH="false" flipV="false" rot="0">
              <a:off x="0" y="0"/>
              <a:ext cx="155702" cy="619000"/>
            </a:xfrm>
            <a:custGeom>
              <a:avLst/>
              <a:gdLst/>
              <a:ahLst/>
              <a:cxnLst/>
              <a:rect r="r" b="b" t="t" l="l"/>
              <a:pathLst>
                <a:path h="619000" w="155702">
                  <a:moveTo>
                    <a:pt x="16891" y="0"/>
                  </a:moveTo>
                  <a:lnTo>
                    <a:pt x="138811" y="0"/>
                  </a:lnTo>
                  <a:cubicBezTo>
                    <a:pt x="148209" y="0"/>
                    <a:pt x="155702" y="7620"/>
                    <a:pt x="155702" y="16891"/>
                  </a:cubicBezTo>
                  <a:lnTo>
                    <a:pt x="155702" y="602107"/>
                  </a:lnTo>
                  <a:cubicBezTo>
                    <a:pt x="155702" y="611505"/>
                    <a:pt x="148082" y="618998"/>
                    <a:pt x="138811" y="618998"/>
                  </a:cubicBezTo>
                  <a:lnTo>
                    <a:pt x="16891" y="618998"/>
                  </a:lnTo>
                  <a:cubicBezTo>
                    <a:pt x="7620" y="619125"/>
                    <a:pt x="0" y="611505"/>
                    <a:pt x="0" y="602107"/>
                  </a:cubicBezTo>
                  <a:lnTo>
                    <a:pt x="0" y="16891"/>
                  </a:lnTo>
                  <a:cubicBezTo>
                    <a:pt x="0" y="7620"/>
                    <a:pt x="7620" y="0"/>
                    <a:pt x="16891" y="0"/>
                  </a:cubicBezTo>
                  <a:moveTo>
                    <a:pt x="16891" y="33909"/>
                  </a:moveTo>
                  <a:lnTo>
                    <a:pt x="16891" y="16891"/>
                  </a:lnTo>
                  <a:lnTo>
                    <a:pt x="33909" y="16891"/>
                  </a:lnTo>
                  <a:lnTo>
                    <a:pt x="33909" y="602107"/>
                  </a:lnTo>
                  <a:lnTo>
                    <a:pt x="16891" y="602107"/>
                  </a:lnTo>
                  <a:lnTo>
                    <a:pt x="16891" y="585216"/>
                  </a:lnTo>
                  <a:lnTo>
                    <a:pt x="138811" y="585216"/>
                  </a:lnTo>
                  <a:lnTo>
                    <a:pt x="138811" y="602107"/>
                  </a:lnTo>
                  <a:lnTo>
                    <a:pt x="121920" y="602107"/>
                  </a:lnTo>
                  <a:lnTo>
                    <a:pt x="121920" y="16891"/>
                  </a:lnTo>
                  <a:lnTo>
                    <a:pt x="138811" y="16891"/>
                  </a:lnTo>
                  <a:lnTo>
                    <a:pt x="138811" y="33909"/>
                  </a:lnTo>
                  <a:lnTo>
                    <a:pt x="16891" y="33909"/>
                  </a:lnTo>
                  <a:close/>
                </a:path>
              </a:pathLst>
            </a:custGeom>
            <a:solidFill>
              <a:srgbClr val="C0614E"/>
            </a:solidFill>
          </p:spPr>
        </p:sp>
      </p:grpSp>
      <p:grpSp>
        <p:nvGrpSpPr>
          <p:cNvPr name="Group 94" id="94"/>
          <p:cNvGrpSpPr/>
          <p:nvPr/>
        </p:nvGrpSpPr>
        <p:grpSpPr>
          <a:xfrm rot="0">
            <a:off x="14264640" y="6222373"/>
            <a:ext cx="1554480" cy="585216"/>
            <a:chOff x="0" y="0"/>
            <a:chExt cx="2072640" cy="780288"/>
          </a:xfrm>
        </p:grpSpPr>
        <p:sp>
          <p:nvSpPr>
            <p:cNvPr name="Freeform 95" id="95"/>
            <p:cNvSpPr/>
            <p:nvPr/>
          </p:nvSpPr>
          <p:spPr>
            <a:xfrm flipH="false" flipV="false" rot="0">
              <a:off x="0" y="0"/>
              <a:ext cx="2072640" cy="780288"/>
            </a:xfrm>
            <a:custGeom>
              <a:avLst/>
              <a:gdLst/>
              <a:ahLst/>
              <a:cxnLst/>
              <a:rect r="r" b="b" t="t" l="l"/>
              <a:pathLst>
                <a:path h="780288" w="2072640">
                  <a:moveTo>
                    <a:pt x="0" y="0"/>
                  </a:moveTo>
                  <a:lnTo>
                    <a:pt x="2072640" y="0"/>
                  </a:lnTo>
                  <a:lnTo>
                    <a:pt x="2072640" y="780288"/>
                  </a:lnTo>
                  <a:lnTo>
                    <a:pt x="0" y="780288"/>
                  </a:lnTo>
                  <a:close/>
                </a:path>
              </a:pathLst>
            </a:custGeom>
            <a:blipFill>
              <a:blip r:embed="rId3">
                <a:alphaModFix amt="0"/>
              </a:blip>
              <a:stretch>
                <a:fillRect l="0" t="-1757" r="0" b="-1757"/>
              </a:stretch>
            </a:blipFill>
          </p:spPr>
        </p:sp>
        <p:sp>
          <p:nvSpPr>
            <p:cNvPr name="TextBox 96" id="96"/>
            <p:cNvSpPr txBox="true"/>
            <p:nvPr/>
          </p:nvSpPr>
          <p:spPr>
            <a:xfrm>
              <a:off x="0" y="9525"/>
              <a:ext cx="2072640" cy="770763"/>
            </a:xfrm>
            <a:prstGeom prst="rect">
              <a:avLst/>
            </a:prstGeom>
          </p:spPr>
          <p:txBody>
            <a:bodyPr anchor="ctr" rtlCol="false" tIns="0" lIns="0" bIns="0" rIns="0"/>
            <a:lstStyle/>
            <a:p>
              <a:pPr algn="l">
                <a:lnSpc>
                  <a:spcPts val="2280"/>
                </a:lnSpc>
              </a:pPr>
              <a:r>
                <a:rPr lang="en-US" sz="1900" b="true">
                  <a:solidFill>
                    <a:srgbClr val="C0614E"/>
                  </a:solidFill>
                  <a:latin typeface="EB Garamond Semi-Bold"/>
                  <a:ea typeface="EB Garamond Semi-Bold"/>
                  <a:cs typeface="EB Garamond Semi-Bold"/>
                  <a:sym typeface="EB Garamond Semi-Bold"/>
                </a:rPr>
                <a:t>−6 743.541</a:t>
              </a:r>
            </a:p>
          </p:txBody>
        </p:sp>
      </p:grpSp>
      <p:grpSp>
        <p:nvGrpSpPr>
          <p:cNvPr name="Group 97" id="97"/>
          <p:cNvGrpSpPr/>
          <p:nvPr/>
        </p:nvGrpSpPr>
        <p:grpSpPr>
          <a:xfrm rot="0">
            <a:off x="10818495" y="6775714"/>
            <a:ext cx="3474720" cy="585216"/>
            <a:chOff x="0" y="0"/>
            <a:chExt cx="4632960" cy="780288"/>
          </a:xfrm>
        </p:grpSpPr>
        <p:sp>
          <p:nvSpPr>
            <p:cNvPr name="Freeform 98" id="98"/>
            <p:cNvSpPr/>
            <p:nvPr/>
          </p:nvSpPr>
          <p:spPr>
            <a:xfrm flipH="false" flipV="false" rot="0">
              <a:off x="0" y="0"/>
              <a:ext cx="4632960" cy="780288"/>
            </a:xfrm>
            <a:custGeom>
              <a:avLst/>
              <a:gdLst/>
              <a:ahLst/>
              <a:cxnLst/>
              <a:rect r="r" b="b" t="t" l="l"/>
              <a:pathLst>
                <a:path h="780288" w="4632960">
                  <a:moveTo>
                    <a:pt x="0" y="0"/>
                  </a:moveTo>
                  <a:lnTo>
                    <a:pt x="4632960" y="0"/>
                  </a:lnTo>
                  <a:lnTo>
                    <a:pt x="4632960" y="780288"/>
                  </a:lnTo>
                  <a:lnTo>
                    <a:pt x="0" y="780288"/>
                  </a:lnTo>
                  <a:close/>
                </a:path>
              </a:pathLst>
            </a:custGeom>
            <a:blipFill>
              <a:blip r:embed="rId3">
                <a:alphaModFix amt="0"/>
              </a:blip>
              <a:stretch>
                <a:fillRect l="0" t="-65692" r="0" b="-65692"/>
              </a:stretch>
            </a:blipFill>
          </p:spPr>
        </p:sp>
        <p:sp>
          <p:nvSpPr>
            <p:cNvPr name="TextBox 99" id="99"/>
            <p:cNvSpPr txBox="true"/>
            <p:nvPr/>
          </p:nvSpPr>
          <p:spPr>
            <a:xfrm>
              <a:off x="0" y="9525"/>
              <a:ext cx="4632960" cy="770763"/>
            </a:xfrm>
            <a:prstGeom prst="rect">
              <a:avLst/>
            </a:prstGeom>
          </p:spPr>
          <p:txBody>
            <a:bodyPr anchor="ctr" rtlCol="false" tIns="0" lIns="0" bIns="0" rIns="0"/>
            <a:lstStyle/>
            <a:p>
              <a:pPr algn="l">
                <a:lnSpc>
                  <a:spcPts val="2280"/>
                </a:lnSpc>
              </a:pPr>
              <a:r>
                <a:rPr lang="en-US" sz="1900" b="true">
                  <a:solidFill>
                    <a:srgbClr val="1C2E40"/>
                  </a:solidFill>
                  <a:latin typeface="EB Garamond Semi-Bold"/>
                  <a:ea typeface="EB Garamond Semi-Bold"/>
                  <a:cs typeface="EB Garamond Semi-Bold"/>
                  <a:sym typeface="EB Garamond Semi-Bold"/>
                </a:rPr>
                <a:t>Pays </a:t>
              </a:r>
              <a:r>
                <a:rPr lang="en-US" sz="1900" b="true">
                  <a:solidFill>
                    <a:srgbClr val="1C2E40"/>
                  </a:solidFill>
                  <a:latin typeface="EB Garamond Semi-Bold"/>
                  <a:ea typeface="EB Garamond Semi-Bold"/>
                  <a:cs typeface="EB Garamond Semi-Bold"/>
                  <a:sym typeface="EB Garamond Semi-Bold"/>
                </a:rPr>
                <a:t>: </a:t>
              </a:r>
            </a:p>
          </p:txBody>
        </p:sp>
      </p:grpSp>
      <p:grpSp>
        <p:nvGrpSpPr>
          <p:cNvPr name="Group 100" id="100"/>
          <p:cNvGrpSpPr/>
          <p:nvPr/>
        </p:nvGrpSpPr>
        <p:grpSpPr>
          <a:xfrm rot="0">
            <a:off x="10607040" y="6836164"/>
            <a:ext cx="116843" cy="464315"/>
            <a:chOff x="0" y="0"/>
            <a:chExt cx="155791" cy="619087"/>
          </a:xfrm>
        </p:grpSpPr>
        <p:sp>
          <p:nvSpPr>
            <p:cNvPr name="Freeform 101" id="101"/>
            <p:cNvSpPr/>
            <p:nvPr/>
          </p:nvSpPr>
          <p:spPr>
            <a:xfrm flipH="false" flipV="false" rot="0">
              <a:off x="16891" y="16891"/>
              <a:ext cx="121920" cy="585216"/>
            </a:xfrm>
            <a:custGeom>
              <a:avLst/>
              <a:gdLst/>
              <a:ahLst/>
              <a:cxnLst/>
              <a:rect r="r" b="b" t="t" l="l"/>
              <a:pathLst>
                <a:path h="585216" w="121920">
                  <a:moveTo>
                    <a:pt x="0" y="0"/>
                  </a:moveTo>
                  <a:lnTo>
                    <a:pt x="121920" y="0"/>
                  </a:lnTo>
                  <a:lnTo>
                    <a:pt x="121920" y="585216"/>
                  </a:lnTo>
                  <a:lnTo>
                    <a:pt x="0" y="585216"/>
                  </a:lnTo>
                  <a:close/>
                </a:path>
              </a:pathLst>
            </a:custGeom>
            <a:solidFill>
              <a:srgbClr val="C0614E"/>
            </a:solidFill>
          </p:spPr>
        </p:sp>
        <p:sp>
          <p:nvSpPr>
            <p:cNvPr name="Freeform 102" id="102"/>
            <p:cNvSpPr/>
            <p:nvPr/>
          </p:nvSpPr>
          <p:spPr>
            <a:xfrm flipH="false" flipV="false" rot="0">
              <a:off x="0" y="0"/>
              <a:ext cx="155702" cy="619000"/>
            </a:xfrm>
            <a:custGeom>
              <a:avLst/>
              <a:gdLst/>
              <a:ahLst/>
              <a:cxnLst/>
              <a:rect r="r" b="b" t="t" l="l"/>
              <a:pathLst>
                <a:path h="619000" w="155702">
                  <a:moveTo>
                    <a:pt x="16891" y="0"/>
                  </a:moveTo>
                  <a:lnTo>
                    <a:pt x="138811" y="0"/>
                  </a:lnTo>
                  <a:cubicBezTo>
                    <a:pt x="148209" y="0"/>
                    <a:pt x="155702" y="7620"/>
                    <a:pt x="155702" y="16891"/>
                  </a:cubicBezTo>
                  <a:lnTo>
                    <a:pt x="155702" y="602107"/>
                  </a:lnTo>
                  <a:cubicBezTo>
                    <a:pt x="155702" y="611505"/>
                    <a:pt x="148082" y="618998"/>
                    <a:pt x="138811" y="618998"/>
                  </a:cubicBezTo>
                  <a:lnTo>
                    <a:pt x="16891" y="618998"/>
                  </a:lnTo>
                  <a:cubicBezTo>
                    <a:pt x="7620" y="619125"/>
                    <a:pt x="0" y="611505"/>
                    <a:pt x="0" y="602107"/>
                  </a:cubicBezTo>
                  <a:lnTo>
                    <a:pt x="0" y="16891"/>
                  </a:lnTo>
                  <a:cubicBezTo>
                    <a:pt x="0" y="7620"/>
                    <a:pt x="7620" y="0"/>
                    <a:pt x="16891" y="0"/>
                  </a:cubicBezTo>
                  <a:moveTo>
                    <a:pt x="16891" y="33909"/>
                  </a:moveTo>
                  <a:lnTo>
                    <a:pt x="16891" y="16891"/>
                  </a:lnTo>
                  <a:lnTo>
                    <a:pt x="33909" y="16891"/>
                  </a:lnTo>
                  <a:lnTo>
                    <a:pt x="33909" y="602107"/>
                  </a:lnTo>
                  <a:lnTo>
                    <a:pt x="16891" y="602107"/>
                  </a:lnTo>
                  <a:lnTo>
                    <a:pt x="16891" y="585216"/>
                  </a:lnTo>
                  <a:lnTo>
                    <a:pt x="138811" y="585216"/>
                  </a:lnTo>
                  <a:lnTo>
                    <a:pt x="138811" y="602107"/>
                  </a:lnTo>
                  <a:lnTo>
                    <a:pt x="121920" y="602107"/>
                  </a:lnTo>
                  <a:lnTo>
                    <a:pt x="121920" y="16891"/>
                  </a:lnTo>
                  <a:lnTo>
                    <a:pt x="138811" y="16891"/>
                  </a:lnTo>
                  <a:lnTo>
                    <a:pt x="138811" y="33909"/>
                  </a:lnTo>
                  <a:lnTo>
                    <a:pt x="16891" y="33909"/>
                  </a:lnTo>
                  <a:close/>
                </a:path>
              </a:pathLst>
            </a:custGeom>
            <a:solidFill>
              <a:srgbClr val="C0614E"/>
            </a:solidFill>
          </p:spPr>
        </p:sp>
      </p:grpSp>
      <p:grpSp>
        <p:nvGrpSpPr>
          <p:cNvPr name="Group 103" id="103"/>
          <p:cNvGrpSpPr/>
          <p:nvPr/>
        </p:nvGrpSpPr>
        <p:grpSpPr>
          <a:xfrm rot="0">
            <a:off x="14293215" y="6775714"/>
            <a:ext cx="1554480" cy="585216"/>
            <a:chOff x="0" y="0"/>
            <a:chExt cx="2072640" cy="780288"/>
          </a:xfrm>
        </p:grpSpPr>
        <p:sp>
          <p:nvSpPr>
            <p:cNvPr name="Freeform 104" id="104"/>
            <p:cNvSpPr/>
            <p:nvPr/>
          </p:nvSpPr>
          <p:spPr>
            <a:xfrm flipH="false" flipV="false" rot="0">
              <a:off x="0" y="0"/>
              <a:ext cx="2072640" cy="780288"/>
            </a:xfrm>
            <a:custGeom>
              <a:avLst/>
              <a:gdLst/>
              <a:ahLst/>
              <a:cxnLst/>
              <a:rect r="r" b="b" t="t" l="l"/>
              <a:pathLst>
                <a:path h="780288" w="2072640">
                  <a:moveTo>
                    <a:pt x="0" y="0"/>
                  </a:moveTo>
                  <a:lnTo>
                    <a:pt x="2072640" y="0"/>
                  </a:lnTo>
                  <a:lnTo>
                    <a:pt x="2072640" y="780288"/>
                  </a:lnTo>
                  <a:lnTo>
                    <a:pt x="0" y="780288"/>
                  </a:lnTo>
                  <a:close/>
                </a:path>
              </a:pathLst>
            </a:custGeom>
            <a:blipFill>
              <a:blip r:embed="rId3">
                <a:alphaModFix amt="0"/>
              </a:blip>
              <a:stretch>
                <a:fillRect l="0" t="-1757" r="0" b="-1757"/>
              </a:stretch>
            </a:blipFill>
          </p:spPr>
        </p:sp>
        <p:sp>
          <p:nvSpPr>
            <p:cNvPr name="TextBox 105" id="105"/>
            <p:cNvSpPr txBox="true"/>
            <p:nvPr/>
          </p:nvSpPr>
          <p:spPr>
            <a:xfrm>
              <a:off x="0" y="9525"/>
              <a:ext cx="2072640" cy="770763"/>
            </a:xfrm>
            <a:prstGeom prst="rect">
              <a:avLst/>
            </a:prstGeom>
          </p:spPr>
          <p:txBody>
            <a:bodyPr anchor="ctr" rtlCol="false" tIns="0" lIns="0" bIns="0" rIns="0"/>
            <a:lstStyle/>
            <a:p>
              <a:pPr algn="l">
                <a:lnSpc>
                  <a:spcPts val="2280"/>
                </a:lnSpc>
              </a:pPr>
              <a:r>
                <a:rPr lang="en-US" sz="1900" b="true">
                  <a:solidFill>
                    <a:srgbClr val="C0614E"/>
                  </a:solidFill>
                  <a:latin typeface="EB Garamond Semi-Bold"/>
                  <a:ea typeface="EB Garamond Semi-Bold"/>
                  <a:cs typeface="EB Garamond Semi-Bold"/>
                  <a:sym typeface="EB Garamond Semi-Bold"/>
                </a:rPr>
                <a:t>−4 895.55</a:t>
              </a:r>
            </a:p>
          </p:txBody>
        </p:sp>
      </p:grpSp>
      <p:grpSp>
        <p:nvGrpSpPr>
          <p:cNvPr name="Group 106" id="106"/>
          <p:cNvGrpSpPr/>
          <p:nvPr/>
        </p:nvGrpSpPr>
        <p:grpSpPr>
          <a:xfrm rot="0">
            <a:off x="15855696" y="3090672"/>
            <a:ext cx="1554480" cy="585216"/>
            <a:chOff x="0" y="0"/>
            <a:chExt cx="2072640" cy="780288"/>
          </a:xfrm>
        </p:grpSpPr>
        <p:sp>
          <p:nvSpPr>
            <p:cNvPr name="Freeform 107" id="107"/>
            <p:cNvSpPr/>
            <p:nvPr/>
          </p:nvSpPr>
          <p:spPr>
            <a:xfrm flipH="false" flipV="false" rot="0">
              <a:off x="0" y="0"/>
              <a:ext cx="2072640" cy="780288"/>
            </a:xfrm>
            <a:custGeom>
              <a:avLst/>
              <a:gdLst/>
              <a:ahLst/>
              <a:cxnLst/>
              <a:rect r="r" b="b" t="t" l="l"/>
              <a:pathLst>
                <a:path h="780288" w="2072640">
                  <a:moveTo>
                    <a:pt x="0" y="0"/>
                  </a:moveTo>
                  <a:lnTo>
                    <a:pt x="2072640" y="0"/>
                  </a:lnTo>
                  <a:lnTo>
                    <a:pt x="2072640" y="780288"/>
                  </a:lnTo>
                  <a:lnTo>
                    <a:pt x="0" y="780288"/>
                  </a:lnTo>
                  <a:close/>
                </a:path>
              </a:pathLst>
            </a:custGeom>
            <a:blipFill>
              <a:blip r:embed="rId3">
                <a:alphaModFix amt="0"/>
              </a:blip>
              <a:stretch>
                <a:fillRect l="0" t="-1757" r="0" b="-1757"/>
              </a:stretch>
            </a:blipFill>
          </p:spPr>
        </p:sp>
        <p:sp>
          <p:nvSpPr>
            <p:cNvPr name="TextBox 108" id="108"/>
            <p:cNvSpPr txBox="true"/>
            <p:nvPr/>
          </p:nvSpPr>
          <p:spPr>
            <a:xfrm>
              <a:off x="0" y="9525"/>
              <a:ext cx="2072640" cy="770763"/>
            </a:xfrm>
            <a:prstGeom prst="rect">
              <a:avLst/>
            </a:prstGeom>
          </p:spPr>
          <p:txBody>
            <a:bodyPr anchor="ctr" rtlCol="false" tIns="0" lIns="0" bIns="0" rIns="0"/>
            <a:lstStyle/>
            <a:p>
              <a:pPr algn="l">
                <a:lnSpc>
                  <a:spcPts val="2280"/>
                </a:lnSpc>
              </a:pPr>
              <a:r>
                <a:rPr lang="en-US" sz="1900" b="true">
                  <a:solidFill>
                    <a:srgbClr val="C0614E"/>
                  </a:solidFill>
                  <a:latin typeface="EB Garamond Semi-Bold"/>
                  <a:ea typeface="EB Garamond Semi-Bold"/>
                  <a:cs typeface="EB Garamond Semi-Bold"/>
                  <a:sym typeface="EB Garamond Semi-Bold"/>
                </a:rPr>
                <a:t>0.000</a:t>
              </a:r>
            </a:p>
          </p:txBody>
        </p:sp>
      </p:grpSp>
      <p:grpSp>
        <p:nvGrpSpPr>
          <p:cNvPr name="Group 109" id="109"/>
          <p:cNvGrpSpPr/>
          <p:nvPr/>
        </p:nvGrpSpPr>
        <p:grpSpPr>
          <a:xfrm rot="0">
            <a:off x="15855696" y="3712464"/>
            <a:ext cx="1554480" cy="585216"/>
            <a:chOff x="0" y="0"/>
            <a:chExt cx="2072640" cy="780288"/>
          </a:xfrm>
        </p:grpSpPr>
        <p:sp>
          <p:nvSpPr>
            <p:cNvPr name="Freeform 110" id="110"/>
            <p:cNvSpPr/>
            <p:nvPr/>
          </p:nvSpPr>
          <p:spPr>
            <a:xfrm flipH="false" flipV="false" rot="0">
              <a:off x="0" y="0"/>
              <a:ext cx="2072640" cy="780288"/>
            </a:xfrm>
            <a:custGeom>
              <a:avLst/>
              <a:gdLst/>
              <a:ahLst/>
              <a:cxnLst/>
              <a:rect r="r" b="b" t="t" l="l"/>
              <a:pathLst>
                <a:path h="780288" w="2072640">
                  <a:moveTo>
                    <a:pt x="0" y="0"/>
                  </a:moveTo>
                  <a:lnTo>
                    <a:pt x="2072640" y="0"/>
                  </a:lnTo>
                  <a:lnTo>
                    <a:pt x="2072640" y="780288"/>
                  </a:lnTo>
                  <a:lnTo>
                    <a:pt x="0" y="780288"/>
                  </a:lnTo>
                  <a:close/>
                </a:path>
              </a:pathLst>
            </a:custGeom>
            <a:blipFill>
              <a:blip r:embed="rId3">
                <a:alphaModFix amt="0"/>
              </a:blip>
              <a:stretch>
                <a:fillRect l="0" t="-1757" r="0" b="-1757"/>
              </a:stretch>
            </a:blipFill>
          </p:spPr>
        </p:sp>
        <p:sp>
          <p:nvSpPr>
            <p:cNvPr name="TextBox 111" id="111"/>
            <p:cNvSpPr txBox="true"/>
            <p:nvPr/>
          </p:nvSpPr>
          <p:spPr>
            <a:xfrm>
              <a:off x="0" y="9525"/>
              <a:ext cx="2072640" cy="770763"/>
            </a:xfrm>
            <a:prstGeom prst="rect">
              <a:avLst/>
            </a:prstGeom>
          </p:spPr>
          <p:txBody>
            <a:bodyPr anchor="ctr" rtlCol="false" tIns="0" lIns="0" bIns="0" rIns="0"/>
            <a:lstStyle/>
            <a:p>
              <a:pPr algn="l">
                <a:lnSpc>
                  <a:spcPts val="2280"/>
                </a:lnSpc>
              </a:pPr>
              <a:r>
                <a:rPr lang="en-US" sz="1900" b="true">
                  <a:solidFill>
                    <a:srgbClr val="C0614E"/>
                  </a:solidFill>
                  <a:latin typeface="EB Garamond Semi-Bold"/>
                  <a:ea typeface="EB Garamond Semi-Bold"/>
                  <a:cs typeface="EB Garamond Semi-Bold"/>
                  <a:sym typeface="EB Garamond Semi-Bold"/>
                </a:rPr>
                <a:t>0.000</a:t>
              </a:r>
            </a:p>
          </p:txBody>
        </p:sp>
      </p:grpSp>
      <p:grpSp>
        <p:nvGrpSpPr>
          <p:cNvPr name="Group 112" id="112"/>
          <p:cNvGrpSpPr/>
          <p:nvPr/>
        </p:nvGrpSpPr>
        <p:grpSpPr>
          <a:xfrm rot="0">
            <a:off x="15855696" y="4334256"/>
            <a:ext cx="1554480" cy="585216"/>
            <a:chOff x="0" y="0"/>
            <a:chExt cx="2072640" cy="780288"/>
          </a:xfrm>
        </p:grpSpPr>
        <p:sp>
          <p:nvSpPr>
            <p:cNvPr name="Freeform 113" id="113"/>
            <p:cNvSpPr/>
            <p:nvPr/>
          </p:nvSpPr>
          <p:spPr>
            <a:xfrm flipH="false" flipV="false" rot="0">
              <a:off x="0" y="0"/>
              <a:ext cx="2072640" cy="780288"/>
            </a:xfrm>
            <a:custGeom>
              <a:avLst/>
              <a:gdLst/>
              <a:ahLst/>
              <a:cxnLst/>
              <a:rect r="r" b="b" t="t" l="l"/>
              <a:pathLst>
                <a:path h="780288" w="2072640">
                  <a:moveTo>
                    <a:pt x="0" y="0"/>
                  </a:moveTo>
                  <a:lnTo>
                    <a:pt x="2072640" y="0"/>
                  </a:lnTo>
                  <a:lnTo>
                    <a:pt x="2072640" y="780288"/>
                  </a:lnTo>
                  <a:lnTo>
                    <a:pt x="0" y="780288"/>
                  </a:lnTo>
                  <a:close/>
                </a:path>
              </a:pathLst>
            </a:custGeom>
            <a:blipFill>
              <a:blip r:embed="rId3">
                <a:alphaModFix amt="0"/>
              </a:blip>
              <a:stretch>
                <a:fillRect l="0" t="-1757" r="0" b="-1757"/>
              </a:stretch>
            </a:blipFill>
          </p:spPr>
        </p:sp>
        <p:sp>
          <p:nvSpPr>
            <p:cNvPr name="TextBox 114" id="114"/>
            <p:cNvSpPr txBox="true"/>
            <p:nvPr/>
          </p:nvSpPr>
          <p:spPr>
            <a:xfrm>
              <a:off x="0" y="9525"/>
              <a:ext cx="2072640" cy="770763"/>
            </a:xfrm>
            <a:prstGeom prst="rect">
              <a:avLst/>
            </a:prstGeom>
          </p:spPr>
          <p:txBody>
            <a:bodyPr anchor="ctr" rtlCol="false" tIns="0" lIns="0" bIns="0" rIns="0"/>
            <a:lstStyle/>
            <a:p>
              <a:pPr algn="l">
                <a:lnSpc>
                  <a:spcPts val="2280"/>
                </a:lnSpc>
              </a:pPr>
              <a:r>
                <a:rPr lang="en-US" sz="1900" b="true">
                  <a:solidFill>
                    <a:srgbClr val="C0614E"/>
                  </a:solidFill>
                  <a:latin typeface="EB Garamond Semi-Bold"/>
                  <a:ea typeface="EB Garamond Semi-Bold"/>
                  <a:cs typeface="EB Garamond Semi-Bold"/>
                  <a:sym typeface="EB Garamond Semi-Bold"/>
                </a:rPr>
                <a:t>0.032</a:t>
              </a:r>
            </a:p>
          </p:txBody>
        </p:sp>
      </p:grpSp>
      <p:grpSp>
        <p:nvGrpSpPr>
          <p:cNvPr name="Group 115" id="115"/>
          <p:cNvGrpSpPr/>
          <p:nvPr/>
        </p:nvGrpSpPr>
        <p:grpSpPr>
          <a:xfrm rot="0">
            <a:off x="15855696" y="4956048"/>
            <a:ext cx="1554480" cy="585216"/>
            <a:chOff x="0" y="0"/>
            <a:chExt cx="2072640" cy="780288"/>
          </a:xfrm>
        </p:grpSpPr>
        <p:sp>
          <p:nvSpPr>
            <p:cNvPr name="Freeform 116" id="116"/>
            <p:cNvSpPr/>
            <p:nvPr/>
          </p:nvSpPr>
          <p:spPr>
            <a:xfrm flipH="false" flipV="false" rot="0">
              <a:off x="0" y="0"/>
              <a:ext cx="2072640" cy="780288"/>
            </a:xfrm>
            <a:custGeom>
              <a:avLst/>
              <a:gdLst/>
              <a:ahLst/>
              <a:cxnLst/>
              <a:rect r="r" b="b" t="t" l="l"/>
              <a:pathLst>
                <a:path h="780288" w="2072640">
                  <a:moveTo>
                    <a:pt x="0" y="0"/>
                  </a:moveTo>
                  <a:lnTo>
                    <a:pt x="2072640" y="0"/>
                  </a:lnTo>
                  <a:lnTo>
                    <a:pt x="2072640" y="780288"/>
                  </a:lnTo>
                  <a:lnTo>
                    <a:pt x="0" y="780288"/>
                  </a:lnTo>
                  <a:close/>
                </a:path>
              </a:pathLst>
            </a:custGeom>
            <a:blipFill>
              <a:blip r:embed="rId3">
                <a:alphaModFix amt="0"/>
              </a:blip>
              <a:stretch>
                <a:fillRect l="0" t="-1757" r="0" b="-1757"/>
              </a:stretch>
            </a:blipFill>
          </p:spPr>
        </p:sp>
        <p:sp>
          <p:nvSpPr>
            <p:cNvPr name="TextBox 117" id="117"/>
            <p:cNvSpPr txBox="true"/>
            <p:nvPr/>
          </p:nvSpPr>
          <p:spPr>
            <a:xfrm>
              <a:off x="0" y="9525"/>
              <a:ext cx="2072640" cy="770763"/>
            </a:xfrm>
            <a:prstGeom prst="rect">
              <a:avLst/>
            </a:prstGeom>
          </p:spPr>
          <p:txBody>
            <a:bodyPr anchor="ctr" rtlCol="false" tIns="0" lIns="0" bIns="0" rIns="0"/>
            <a:lstStyle/>
            <a:p>
              <a:pPr algn="l">
                <a:lnSpc>
                  <a:spcPts val="2280"/>
                </a:lnSpc>
              </a:pPr>
              <a:r>
                <a:rPr lang="en-US" sz="1900" b="true">
                  <a:solidFill>
                    <a:srgbClr val="C0614E"/>
                  </a:solidFill>
                  <a:latin typeface="EB Garamond Semi-Bold"/>
                  <a:ea typeface="EB Garamond Semi-Bold"/>
                  <a:cs typeface="EB Garamond Semi-Bold"/>
                  <a:sym typeface="EB Garamond Semi-Bold"/>
                </a:rPr>
                <a:t>0.071</a:t>
              </a:r>
            </a:p>
          </p:txBody>
        </p:sp>
      </p:grpSp>
      <p:grpSp>
        <p:nvGrpSpPr>
          <p:cNvPr name="Group 118" id="118"/>
          <p:cNvGrpSpPr/>
          <p:nvPr/>
        </p:nvGrpSpPr>
        <p:grpSpPr>
          <a:xfrm rot="0">
            <a:off x="15855696" y="5596133"/>
            <a:ext cx="1554480" cy="585216"/>
            <a:chOff x="0" y="0"/>
            <a:chExt cx="2072640" cy="780288"/>
          </a:xfrm>
        </p:grpSpPr>
        <p:sp>
          <p:nvSpPr>
            <p:cNvPr name="Freeform 119" id="119"/>
            <p:cNvSpPr/>
            <p:nvPr/>
          </p:nvSpPr>
          <p:spPr>
            <a:xfrm flipH="false" flipV="false" rot="0">
              <a:off x="0" y="0"/>
              <a:ext cx="2072640" cy="780288"/>
            </a:xfrm>
            <a:custGeom>
              <a:avLst/>
              <a:gdLst/>
              <a:ahLst/>
              <a:cxnLst/>
              <a:rect r="r" b="b" t="t" l="l"/>
              <a:pathLst>
                <a:path h="780288" w="2072640">
                  <a:moveTo>
                    <a:pt x="0" y="0"/>
                  </a:moveTo>
                  <a:lnTo>
                    <a:pt x="2072640" y="0"/>
                  </a:lnTo>
                  <a:lnTo>
                    <a:pt x="2072640" y="780288"/>
                  </a:lnTo>
                  <a:lnTo>
                    <a:pt x="0" y="780288"/>
                  </a:lnTo>
                  <a:close/>
                </a:path>
              </a:pathLst>
            </a:custGeom>
            <a:blipFill>
              <a:blip r:embed="rId3">
                <a:alphaModFix amt="0"/>
              </a:blip>
              <a:stretch>
                <a:fillRect l="0" t="-1757" r="0" b="-1757"/>
              </a:stretch>
            </a:blipFill>
          </p:spPr>
        </p:sp>
        <p:sp>
          <p:nvSpPr>
            <p:cNvPr name="TextBox 120" id="120"/>
            <p:cNvSpPr txBox="true"/>
            <p:nvPr/>
          </p:nvSpPr>
          <p:spPr>
            <a:xfrm>
              <a:off x="0" y="9525"/>
              <a:ext cx="2072640" cy="770763"/>
            </a:xfrm>
            <a:prstGeom prst="rect">
              <a:avLst/>
            </a:prstGeom>
          </p:spPr>
          <p:txBody>
            <a:bodyPr anchor="ctr" rtlCol="false" tIns="0" lIns="0" bIns="0" rIns="0"/>
            <a:lstStyle/>
            <a:p>
              <a:pPr algn="l">
                <a:lnSpc>
                  <a:spcPts val="2280"/>
                </a:lnSpc>
              </a:pPr>
              <a:r>
                <a:rPr lang="en-US" sz="1900" b="true">
                  <a:solidFill>
                    <a:srgbClr val="C0614E"/>
                  </a:solidFill>
                  <a:latin typeface="EB Garamond Semi-Bold"/>
                  <a:ea typeface="EB Garamond Semi-Bold"/>
                  <a:cs typeface="EB Garamond Semi-Bold"/>
                  <a:sym typeface="EB Garamond Semi-Bold"/>
                </a:rPr>
                <a:t>0.364</a:t>
              </a:r>
            </a:p>
          </p:txBody>
        </p:sp>
      </p:grpSp>
      <p:grpSp>
        <p:nvGrpSpPr>
          <p:cNvPr name="Group 121" id="121"/>
          <p:cNvGrpSpPr/>
          <p:nvPr/>
        </p:nvGrpSpPr>
        <p:grpSpPr>
          <a:xfrm rot="0">
            <a:off x="15855696" y="6236218"/>
            <a:ext cx="1554480" cy="585216"/>
            <a:chOff x="0" y="0"/>
            <a:chExt cx="2072640" cy="780288"/>
          </a:xfrm>
        </p:grpSpPr>
        <p:sp>
          <p:nvSpPr>
            <p:cNvPr name="Freeform 122" id="122"/>
            <p:cNvSpPr/>
            <p:nvPr/>
          </p:nvSpPr>
          <p:spPr>
            <a:xfrm flipH="false" flipV="false" rot="0">
              <a:off x="0" y="0"/>
              <a:ext cx="2072640" cy="780288"/>
            </a:xfrm>
            <a:custGeom>
              <a:avLst/>
              <a:gdLst/>
              <a:ahLst/>
              <a:cxnLst/>
              <a:rect r="r" b="b" t="t" l="l"/>
              <a:pathLst>
                <a:path h="780288" w="2072640">
                  <a:moveTo>
                    <a:pt x="0" y="0"/>
                  </a:moveTo>
                  <a:lnTo>
                    <a:pt x="2072640" y="0"/>
                  </a:lnTo>
                  <a:lnTo>
                    <a:pt x="2072640" y="780288"/>
                  </a:lnTo>
                  <a:lnTo>
                    <a:pt x="0" y="780288"/>
                  </a:lnTo>
                  <a:close/>
                </a:path>
              </a:pathLst>
            </a:custGeom>
            <a:blipFill>
              <a:blip r:embed="rId3">
                <a:alphaModFix amt="0"/>
              </a:blip>
              <a:stretch>
                <a:fillRect l="0" t="-1757" r="0" b="-1757"/>
              </a:stretch>
            </a:blipFill>
          </p:spPr>
        </p:sp>
        <p:sp>
          <p:nvSpPr>
            <p:cNvPr name="TextBox 123" id="123"/>
            <p:cNvSpPr txBox="true"/>
            <p:nvPr/>
          </p:nvSpPr>
          <p:spPr>
            <a:xfrm>
              <a:off x="0" y="9525"/>
              <a:ext cx="2072640" cy="770763"/>
            </a:xfrm>
            <a:prstGeom prst="rect">
              <a:avLst/>
            </a:prstGeom>
          </p:spPr>
          <p:txBody>
            <a:bodyPr anchor="ctr" rtlCol="false" tIns="0" lIns="0" bIns="0" rIns="0"/>
            <a:lstStyle/>
            <a:p>
              <a:pPr algn="l">
                <a:lnSpc>
                  <a:spcPts val="2280"/>
                </a:lnSpc>
              </a:pPr>
              <a:r>
                <a:rPr lang="en-US" sz="1900" b="true">
                  <a:solidFill>
                    <a:srgbClr val="C0614E"/>
                  </a:solidFill>
                  <a:latin typeface="EB Garamond Semi-Bold"/>
                  <a:ea typeface="EB Garamond Semi-Bold"/>
                  <a:cs typeface="EB Garamond Semi-Bold"/>
                  <a:sym typeface="EB Garamond Semi-Bold"/>
                </a:rPr>
                <a:t>0.198</a:t>
              </a:r>
            </a:p>
          </p:txBody>
        </p:sp>
      </p:grpSp>
      <p:grpSp>
        <p:nvGrpSpPr>
          <p:cNvPr name="Group 124" id="124"/>
          <p:cNvGrpSpPr/>
          <p:nvPr/>
        </p:nvGrpSpPr>
        <p:grpSpPr>
          <a:xfrm rot="0">
            <a:off x="15855696" y="6741671"/>
            <a:ext cx="1554480" cy="585216"/>
            <a:chOff x="0" y="0"/>
            <a:chExt cx="2072640" cy="780288"/>
          </a:xfrm>
        </p:grpSpPr>
        <p:sp>
          <p:nvSpPr>
            <p:cNvPr name="Freeform 125" id="125"/>
            <p:cNvSpPr/>
            <p:nvPr/>
          </p:nvSpPr>
          <p:spPr>
            <a:xfrm flipH="false" flipV="false" rot="0">
              <a:off x="0" y="0"/>
              <a:ext cx="2072640" cy="780288"/>
            </a:xfrm>
            <a:custGeom>
              <a:avLst/>
              <a:gdLst/>
              <a:ahLst/>
              <a:cxnLst/>
              <a:rect r="r" b="b" t="t" l="l"/>
              <a:pathLst>
                <a:path h="780288" w="2072640">
                  <a:moveTo>
                    <a:pt x="0" y="0"/>
                  </a:moveTo>
                  <a:lnTo>
                    <a:pt x="2072640" y="0"/>
                  </a:lnTo>
                  <a:lnTo>
                    <a:pt x="2072640" y="780288"/>
                  </a:lnTo>
                  <a:lnTo>
                    <a:pt x="0" y="780288"/>
                  </a:lnTo>
                  <a:close/>
                </a:path>
              </a:pathLst>
            </a:custGeom>
            <a:blipFill>
              <a:blip r:embed="rId3">
                <a:alphaModFix amt="0"/>
              </a:blip>
              <a:stretch>
                <a:fillRect l="0" t="-1757" r="0" b="-1757"/>
              </a:stretch>
            </a:blipFill>
          </p:spPr>
        </p:sp>
        <p:sp>
          <p:nvSpPr>
            <p:cNvPr name="TextBox 126" id="126"/>
            <p:cNvSpPr txBox="true"/>
            <p:nvPr/>
          </p:nvSpPr>
          <p:spPr>
            <a:xfrm>
              <a:off x="0" y="9525"/>
              <a:ext cx="2072640" cy="770763"/>
            </a:xfrm>
            <a:prstGeom prst="rect">
              <a:avLst/>
            </a:prstGeom>
          </p:spPr>
          <p:txBody>
            <a:bodyPr anchor="ctr" rtlCol="false" tIns="0" lIns="0" bIns="0" rIns="0"/>
            <a:lstStyle/>
            <a:p>
              <a:pPr algn="l">
                <a:lnSpc>
                  <a:spcPts val="2280"/>
                </a:lnSpc>
              </a:pPr>
              <a:r>
                <a:rPr lang="en-US" sz="1900" b="true">
                  <a:solidFill>
                    <a:srgbClr val="C0614E"/>
                  </a:solidFill>
                  <a:latin typeface="EB Garamond Semi-Bold"/>
                  <a:ea typeface="EB Garamond Semi-Bold"/>
                  <a:cs typeface="EB Garamond Semi-Bold"/>
                  <a:sym typeface="EB Garamond Semi-Bold"/>
                </a:rPr>
                <a:t>0.000</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C0614E"/>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C0614E"/>
            </a:solidFill>
          </p:spPr>
        </p:sp>
      </p:grpSp>
      <p:grpSp>
        <p:nvGrpSpPr>
          <p:cNvPr name="Group 5" id="5"/>
          <p:cNvGrpSpPr/>
          <p:nvPr/>
        </p:nvGrpSpPr>
        <p:grpSpPr>
          <a:xfrm rot="0">
            <a:off x="822960" y="402336"/>
            <a:ext cx="16642080" cy="1118845"/>
            <a:chOff x="0" y="0"/>
            <a:chExt cx="22189440" cy="1491793"/>
          </a:xfrm>
        </p:grpSpPr>
        <p:sp>
          <p:nvSpPr>
            <p:cNvPr name="Freeform 6" id="6"/>
            <p:cNvSpPr/>
            <p:nvPr/>
          </p:nvSpPr>
          <p:spPr>
            <a:xfrm flipH="false" flipV="false" rot="0">
              <a:off x="0" y="0"/>
              <a:ext cx="22189439" cy="1491793"/>
            </a:xfrm>
            <a:custGeom>
              <a:avLst/>
              <a:gdLst/>
              <a:ahLst/>
              <a:cxnLst/>
              <a:rect r="r" b="b" t="t" l="l"/>
              <a:pathLst>
                <a:path h="1491793" w="22189439">
                  <a:moveTo>
                    <a:pt x="0" y="0"/>
                  </a:moveTo>
                  <a:lnTo>
                    <a:pt x="22189439" y="0"/>
                  </a:lnTo>
                  <a:lnTo>
                    <a:pt x="22189439" y="1491793"/>
                  </a:lnTo>
                  <a:lnTo>
                    <a:pt x="0" y="1491793"/>
                  </a:lnTo>
                  <a:close/>
                </a:path>
              </a:pathLst>
            </a:custGeom>
            <a:blipFill>
              <a:blip r:embed="rId3">
                <a:alphaModFix amt="0"/>
              </a:blip>
              <a:stretch>
                <a:fillRect l="0" t="-244877" r="0" b="-234777"/>
              </a:stretch>
            </a:blipFill>
          </p:spPr>
        </p:sp>
        <p:sp>
          <p:nvSpPr>
            <p:cNvPr name="TextBox 7" id="7"/>
            <p:cNvSpPr txBox="true"/>
            <p:nvPr/>
          </p:nvSpPr>
          <p:spPr>
            <a:xfrm>
              <a:off x="0" y="9525"/>
              <a:ext cx="22189440" cy="1482268"/>
            </a:xfrm>
            <a:prstGeom prst="rect">
              <a:avLst/>
            </a:prstGeom>
          </p:spPr>
          <p:txBody>
            <a:bodyPr anchor="ctr" rtlCol="false" tIns="0" lIns="0" bIns="0" rIns="0"/>
            <a:lstStyle/>
            <a:p>
              <a:pPr algn="l">
                <a:lnSpc>
                  <a:spcPts val="6480"/>
                </a:lnSpc>
              </a:pPr>
              <a:r>
                <a:rPr lang="en-US" sz="5400" b="true">
                  <a:solidFill>
                    <a:srgbClr val="1C2E40"/>
                  </a:solidFill>
                  <a:latin typeface="EB Garamond Semi-Bold"/>
                  <a:ea typeface="EB Garamond Semi-Bold"/>
                  <a:cs typeface="EB Garamond Semi-Bold"/>
                  <a:sym typeface="EB Garamond Semi-Bold"/>
                </a:rPr>
                <a:t>Élevage et Émigration : Profils et intensité</a:t>
              </a:r>
            </a:p>
          </p:txBody>
        </p:sp>
      </p:grpSp>
      <p:grpSp>
        <p:nvGrpSpPr>
          <p:cNvPr name="Group 8" id="8"/>
          <p:cNvGrpSpPr/>
          <p:nvPr/>
        </p:nvGrpSpPr>
        <p:grpSpPr>
          <a:xfrm rot="0">
            <a:off x="822960" y="1426464"/>
            <a:ext cx="16642080" cy="512064"/>
            <a:chOff x="0" y="0"/>
            <a:chExt cx="22189440" cy="682752"/>
          </a:xfrm>
        </p:grpSpPr>
        <p:sp>
          <p:nvSpPr>
            <p:cNvPr name="Freeform 9" id="9"/>
            <p:cNvSpPr/>
            <p:nvPr/>
          </p:nvSpPr>
          <p:spPr>
            <a:xfrm flipH="false" flipV="false" rot="0">
              <a:off x="0" y="0"/>
              <a:ext cx="22189439" cy="682752"/>
            </a:xfrm>
            <a:custGeom>
              <a:avLst/>
              <a:gdLst/>
              <a:ahLst/>
              <a:cxnLst/>
              <a:rect r="r" b="b" t="t" l="l"/>
              <a:pathLst>
                <a:path h="682752" w="22189439">
                  <a:moveTo>
                    <a:pt x="0" y="0"/>
                  </a:moveTo>
                  <a:lnTo>
                    <a:pt x="22189439" y="0"/>
                  </a:lnTo>
                  <a:lnTo>
                    <a:pt x="22189439" y="682752"/>
                  </a:lnTo>
                  <a:lnTo>
                    <a:pt x="0" y="682752"/>
                  </a:lnTo>
                  <a:close/>
                </a:path>
              </a:pathLst>
            </a:custGeom>
            <a:blipFill>
              <a:blip r:embed="rId3">
                <a:alphaModFix amt="0"/>
              </a:blip>
              <a:stretch>
                <a:fillRect l="0" t="-583263" r="0" b="-583263"/>
              </a:stretch>
            </a:blipFill>
          </p:spPr>
        </p:sp>
        <p:sp>
          <p:nvSpPr>
            <p:cNvPr name="TextBox 10" id="10"/>
            <p:cNvSpPr txBox="true"/>
            <p:nvPr/>
          </p:nvSpPr>
          <p:spPr>
            <a:xfrm>
              <a:off x="0" y="9525"/>
              <a:ext cx="22189440" cy="673227"/>
            </a:xfrm>
            <a:prstGeom prst="rect">
              <a:avLst/>
            </a:prstGeom>
          </p:spPr>
          <p:txBody>
            <a:bodyPr anchor="ctr" rtlCol="false" tIns="0" lIns="0" bIns="0" rIns="0"/>
            <a:lstStyle/>
            <a:p>
              <a:pPr algn="l">
                <a:lnSpc>
                  <a:spcPts val="2879"/>
                </a:lnSpc>
              </a:pPr>
              <a:r>
                <a:rPr lang="en-US" sz="2400" i="true">
                  <a:solidFill>
                    <a:srgbClr val="7B8FA1"/>
                  </a:solidFill>
                  <a:latin typeface="EB Garamond Italics"/>
                  <a:ea typeface="EB Garamond Italics"/>
                  <a:cs typeface="EB Garamond Italics"/>
                  <a:sym typeface="EB Garamond Italics"/>
                </a:rPr>
                <a:t>580 </a:t>
              </a:r>
              <a:r>
                <a:rPr lang="en-US" sz="2400" i="true">
                  <a:solidFill>
                    <a:srgbClr val="7B8FA1"/>
                  </a:solidFill>
                  <a:latin typeface="EB Garamond Italics"/>
                  <a:ea typeface="EB Garamond Italics"/>
                  <a:cs typeface="EB Garamond Italics"/>
                  <a:sym typeface="EB Garamond Italics"/>
                </a:rPr>
                <a:t>migrants identifiés · 5 pays · Intensité = émigrés / taille ménage</a:t>
              </a:r>
            </a:p>
          </p:txBody>
        </p:sp>
      </p:grpSp>
      <p:grpSp>
        <p:nvGrpSpPr>
          <p:cNvPr name="Group 11" id="11"/>
          <p:cNvGrpSpPr/>
          <p:nvPr/>
        </p:nvGrpSpPr>
        <p:grpSpPr>
          <a:xfrm rot="0">
            <a:off x="629917" y="1964941"/>
            <a:ext cx="8432797" cy="5360413"/>
            <a:chOff x="0" y="0"/>
            <a:chExt cx="11243729" cy="7147217"/>
          </a:xfrm>
        </p:grpSpPr>
        <p:sp>
          <p:nvSpPr>
            <p:cNvPr name="Freeform 12" id="12"/>
            <p:cNvSpPr/>
            <p:nvPr/>
          </p:nvSpPr>
          <p:spPr>
            <a:xfrm flipH="false" flipV="false" rot="0">
              <a:off x="13589" y="13589"/>
              <a:ext cx="11216639" cy="7120001"/>
            </a:xfrm>
            <a:custGeom>
              <a:avLst/>
              <a:gdLst/>
              <a:ahLst/>
              <a:cxnLst/>
              <a:rect r="r" b="b" t="t" l="l"/>
              <a:pathLst>
                <a:path h="7120001" w="11216639">
                  <a:moveTo>
                    <a:pt x="0" y="243840"/>
                  </a:moveTo>
                  <a:cubicBezTo>
                    <a:pt x="0" y="109220"/>
                    <a:pt x="109347" y="0"/>
                    <a:pt x="244221" y="0"/>
                  </a:cubicBezTo>
                  <a:lnTo>
                    <a:pt x="10972419" y="0"/>
                  </a:lnTo>
                  <a:cubicBezTo>
                    <a:pt x="11107293" y="0"/>
                    <a:pt x="11216639" y="109220"/>
                    <a:pt x="11216639" y="243840"/>
                  </a:cubicBezTo>
                  <a:lnTo>
                    <a:pt x="11216639" y="6876161"/>
                  </a:lnTo>
                  <a:cubicBezTo>
                    <a:pt x="11216639" y="7010781"/>
                    <a:pt x="11107293" y="7120001"/>
                    <a:pt x="10972419" y="7120001"/>
                  </a:cubicBezTo>
                  <a:lnTo>
                    <a:pt x="244221" y="7120001"/>
                  </a:lnTo>
                  <a:cubicBezTo>
                    <a:pt x="109347" y="7120001"/>
                    <a:pt x="0" y="7010781"/>
                    <a:pt x="0" y="6876161"/>
                  </a:cubicBezTo>
                  <a:close/>
                </a:path>
              </a:pathLst>
            </a:custGeom>
            <a:solidFill>
              <a:srgbClr val="FFFFFF"/>
            </a:solidFill>
          </p:spPr>
        </p:sp>
        <p:sp>
          <p:nvSpPr>
            <p:cNvPr name="Freeform 13" id="13"/>
            <p:cNvSpPr/>
            <p:nvPr/>
          </p:nvSpPr>
          <p:spPr>
            <a:xfrm flipH="false" flipV="false" rot="0">
              <a:off x="0" y="0"/>
              <a:ext cx="11243818" cy="7147179"/>
            </a:xfrm>
            <a:custGeom>
              <a:avLst/>
              <a:gdLst/>
              <a:ahLst/>
              <a:cxnLst/>
              <a:rect r="r" b="b" t="t" l="l"/>
              <a:pathLst>
                <a:path h="7147179" w="11243818">
                  <a:moveTo>
                    <a:pt x="0" y="257429"/>
                  </a:moveTo>
                  <a:cubicBezTo>
                    <a:pt x="0" y="115189"/>
                    <a:pt x="115443" y="0"/>
                    <a:pt x="257810" y="0"/>
                  </a:cubicBezTo>
                  <a:lnTo>
                    <a:pt x="10986008" y="0"/>
                  </a:lnTo>
                  <a:lnTo>
                    <a:pt x="10986008" y="13589"/>
                  </a:lnTo>
                  <a:lnTo>
                    <a:pt x="10986008" y="0"/>
                  </a:lnTo>
                  <a:cubicBezTo>
                    <a:pt x="11128375" y="0"/>
                    <a:pt x="11243818" y="115189"/>
                    <a:pt x="11243818" y="257429"/>
                  </a:cubicBezTo>
                  <a:lnTo>
                    <a:pt x="11230228" y="257429"/>
                  </a:lnTo>
                  <a:lnTo>
                    <a:pt x="11243818" y="257429"/>
                  </a:lnTo>
                  <a:lnTo>
                    <a:pt x="11243818" y="6889750"/>
                  </a:lnTo>
                  <a:lnTo>
                    <a:pt x="11230228" y="6889750"/>
                  </a:lnTo>
                  <a:lnTo>
                    <a:pt x="11243818" y="6889750"/>
                  </a:lnTo>
                  <a:cubicBezTo>
                    <a:pt x="11243818" y="7031990"/>
                    <a:pt x="11128375" y="7147179"/>
                    <a:pt x="10986008" y="7147179"/>
                  </a:cubicBezTo>
                  <a:lnTo>
                    <a:pt x="10986008" y="7133590"/>
                  </a:lnTo>
                  <a:lnTo>
                    <a:pt x="10986008" y="7147179"/>
                  </a:lnTo>
                  <a:lnTo>
                    <a:pt x="257810" y="7147179"/>
                  </a:lnTo>
                  <a:lnTo>
                    <a:pt x="257810" y="7133590"/>
                  </a:lnTo>
                  <a:lnTo>
                    <a:pt x="257810" y="7147179"/>
                  </a:lnTo>
                  <a:cubicBezTo>
                    <a:pt x="115443" y="7147179"/>
                    <a:pt x="0" y="7031990"/>
                    <a:pt x="0" y="6889750"/>
                  </a:cubicBezTo>
                  <a:lnTo>
                    <a:pt x="0" y="257429"/>
                  </a:lnTo>
                  <a:lnTo>
                    <a:pt x="13589" y="257429"/>
                  </a:lnTo>
                  <a:lnTo>
                    <a:pt x="0" y="257429"/>
                  </a:lnTo>
                  <a:moveTo>
                    <a:pt x="27051" y="257429"/>
                  </a:moveTo>
                  <a:lnTo>
                    <a:pt x="27051" y="6889750"/>
                  </a:lnTo>
                  <a:lnTo>
                    <a:pt x="13589" y="6889750"/>
                  </a:lnTo>
                  <a:lnTo>
                    <a:pt x="27051" y="6889750"/>
                  </a:lnTo>
                  <a:cubicBezTo>
                    <a:pt x="27051" y="7016877"/>
                    <a:pt x="130302" y="7120128"/>
                    <a:pt x="257683" y="7120128"/>
                  </a:cubicBezTo>
                  <a:lnTo>
                    <a:pt x="10986008" y="7120128"/>
                  </a:lnTo>
                  <a:cubicBezTo>
                    <a:pt x="11113389" y="7120128"/>
                    <a:pt x="11216639" y="7017004"/>
                    <a:pt x="11216639" y="6889750"/>
                  </a:cubicBezTo>
                  <a:lnTo>
                    <a:pt x="11216639" y="257429"/>
                  </a:lnTo>
                  <a:cubicBezTo>
                    <a:pt x="11216639" y="130302"/>
                    <a:pt x="11113389" y="27051"/>
                    <a:pt x="10986008" y="27051"/>
                  </a:cubicBezTo>
                  <a:lnTo>
                    <a:pt x="257810" y="27051"/>
                  </a:lnTo>
                  <a:lnTo>
                    <a:pt x="257810" y="13589"/>
                  </a:lnTo>
                  <a:lnTo>
                    <a:pt x="257810" y="27051"/>
                  </a:lnTo>
                  <a:cubicBezTo>
                    <a:pt x="130429" y="27051"/>
                    <a:pt x="27178" y="130175"/>
                    <a:pt x="27178" y="257429"/>
                  </a:cubicBezTo>
                  <a:close/>
                </a:path>
              </a:pathLst>
            </a:custGeom>
            <a:solidFill>
              <a:srgbClr val="BDC8D5"/>
            </a:solidFill>
          </p:spPr>
        </p:sp>
      </p:grpSp>
      <p:grpSp>
        <p:nvGrpSpPr>
          <p:cNvPr name="Group 14" id="14"/>
          <p:cNvGrpSpPr/>
          <p:nvPr/>
        </p:nvGrpSpPr>
        <p:grpSpPr>
          <a:xfrm rot="0">
            <a:off x="950976" y="2092071"/>
            <a:ext cx="7863840" cy="512064"/>
            <a:chOff x="0" y="0"/>
            <a:chExt cx="10485120" cy="682752"/>
          </a:xfrm>
        </p:grpSpPr>
        <p:sp>
          <p:nvSpPr>
            <p:cNvPr name="Freeform 15" id="15"/>
            <p:cNvSpPr/>
            <p:nvPr/>
          </p:nvSpPr>
          <p:spPr>
            <a:xfrm flipH="false" flipV="false" rot="0">
              <a:off x="0" y="0"/>
              <a:ext cx="10485120" cy="682752"/>
            </a:xfrm>
            <a:custGeom>
              <a:avLst/>
              <a:gdLst/>
              <a:ahLst/>
              <a:cxnLst/>
              <a:rect r="r" b="b" t="t" l="l"/>
              <a:pathLst>
                <a:path h="682752" w="10485120">
                  <a:moveTo>
                    <a:pt x="0" y="0"/>
                  </a:moveTo>
                  <a:lnTo>
                    <a:pt x="10485120" y="0"/>
                  </a:lnTo>
                  <a:lnTo>
                    <a:pt x="10485120" y="682752"/>
                  </a:lnTo>
                  <a:lnTo>
                    <a:pt x="0" y="682752"/>
                  </a:lnTo>
                  <a:close/>
                </a:path>
              </a:pathLst>
            </a:custGeom>
            <a:blipFill>
              <a:blip r:embed="rId3">
                <a:alphaModFix amt="0"/>
              </a:blip>
              <a:stretch>
                <a:fillRect l="0" t="-249234" r="0" b="-249234"/>
              </a:stretch>
            </a:blipFill>
          </p:spPr>
        </p:sp>
        <p:sp>
          <p:nvSpPr>
            <p:cNvPr name="TextBox 16" id="16"/>
            <p:cNvSpPr txBox="true"/>
            <p:nvPr/>
          </p:nvSpPr>
          <p:spPr>
            <a:xfrm>
              <a:off x="0" y="9525"/>
              <a:ext cx="10485120" cy="673227"/>
            </a:xfrm>
            <a:prstGeom prst="rect">
              <a:avLst/>
            </a:prstGeom>
          </p:spPr>
          <p:txBody>
            <a:bodyPr anchor="ctr" rtlCol="false" tIns="0" lIns="0" bIns="0" rIns="0"/>
            <a:lstStyle/>
            <a:p>
              <a:pPr algn="l">
                <a:lnSpc>
                  <a:spcPts val="2879"/>
                </a:lnSpc>
              </a:pPr>
              <a:r>
                <a:rPr lang="en-US" sz="2400" b="true">
                  <a:solidFill>
                    <a:srgbClr val="1C2E40"/>
                  </a:solidFill>
                  <a:latin typeface="EB Garamond Semi-Bold"/>
                  <a:ea typeface="EB Garamond Semi-Bold"/>
                  <a:cs typeface="EB Garamond Semi-Bold"/>
                  <a:sym typeface="EB Garamond Semi-Bold"/>
                </a:rPr>
                <a:t>Répartition des migrants par pays</a:t>
              </a:r>
            </a:p>
          </p:txBody>
        </p:sp>
      </p:grpSp>
      <p:pic>
        <p:nvPicPr>
          <p:cNvPr name="Picture 17" id="17"/>
          <p:cNvPicPr>
            <a:picLocks noChangeAspect="true"/>
          </p:cNvPicPr>
          <p:nvPr/>
        </p:nvPicPr>
        <p:blipFill>
          <a:blip r:embed="rId4"/>
          <a:stretch>
            <a:fillRect/>
          </a:stretch>
        </p:blipFill>
        <p:spPr>
          <a:xfrm rot="0">
            <a:off x="2189171" y="2074300"/>
            <a:ext cx="4855553" cy="5559526"/>
          </a:xfrm>
          <a:prstGeom prst="rect">
            <a:avLst/>
          </a:prstGeom>
        </p:spPr>
      </p:pic>
      <p:grpSp>
        <p:nvGrpSpPr>
          <p:cNvPr name="Group 18" id="18"/>
          <p:cNvGrpSpPr/>
          <p:nvPr/>
        </p:nvGrpSpPr>
        <p:grpSpPr>
          <a:xfrm rot="0">
            <a:off x="9591037" y="1964941"/>
            <a:ext cx="8067037" cy="5360413"/>
            <a:chOff x="0" y="0"/>
            <a:chExt cx="10756049" cy="7147217"/>
          </a:xfrm>
        </p:grpSpPr>
        <p:sp>
          <p:nvSpPr>
            <p:cNvPr name="Freeform 19" id="19"/>
            <p:cNvSpPr/>
            <p:nvPr/>
          </p:nvSpPr>
          <p:spPr>
            <a:xfrm flipH="false" flipV="false" rot="0">
              <a:off x="13462" y="13589"/>
              <a:ext cx="10729087" cy="7120001"/>
            </a:xfrm>
            <a:custGeom>
              <a:avLst/>
              <a:gdLst/>
              <a:ahLst/>
              <a:cxnLst/>
              <a:rect r="r" b="b" t="t" l="l"/>
              <a:pathLst>
                <a:path h="7120001" w="10729087">
                  <a:moveTo>
                    <a:pt x="127" y="243840"/>
                  </a:moveTo>
                  <a:cubicBezTo>
                    <a:pt x="127" y="109220"/>
                    <a:pt x="109474" y="0"/>
                    <a:pt x="244348" y="0"/>
                  </a:cubicBezTo>
                  <a:lnTo>
                    <a:pt x="10484866" y="0"/>
                  </a:lnTo>
                  <a:cubicBezTo>
                    <a:pt x="10619740" y="0"/>
                    <a:pt x="10729087" y="109220"/>
                    <a:pt x="10729087" y="243840"/>
                  </a:cubicBezTo>
                  <a:lnTo>
                    <a:pt x="10729087" y="6876161"/>
                  </a:lnTo>
                  <a:cubicBezTo>
                    <a:pt x="10729087" y="7010781"/>
                    <a:pt x="10619740" y="7120001"/>
                    <a:pt x="10484866" y="7120001"/>
                  </a:cubicBezTo>
                  <a:lnTo>
                    <a:pt x="244221" y="7120001"/>
                  </a:lnTo>
                  <a:cubicBezTo>
                    <a:pt x="109347" y="7120001"/>
                    <a:pt x="0" y="7010781"/>
                    <a:pt x="0" y="6876161"/>
                  </a:cubicBezTo>
                  <a:close/>
                </a:path>
              </a:pathLst>
            </a:custGeom>
            <a:solidFill>
              <a:srgbClr val="FFFFFF"/>
            </a:solidFill>
          </p:spPr>
        </p:sp>
        <p:sp>
          <p:nvSpPr>
            <p:cNvPr name="Freeform 20" id="20"/>
            <p:cNvSpPr/>
            <p:nvPr/>
          </p:nvSpPr>
          <p:spPr>
            <a:xfrm flipH="false" flipV="false" rot="0">
              <a:off x="0" y="0"/>
              <a:ext cx="10756011" cy="7147179"/>
            </a:xfrm>
            <a:custGeom>
              <a:avLst/>
              <a:gdLst/>
              <a:ahLst/>
              <a:cxnLst/>
              <a:rect r="r" b="b" t="t" l="l"/>
              <a:pathLst>
                <a:path h="7147179" w="10756011">
                  <a:moveTo>
                    <a:pt x="0" y="257429"/>
                  </a:moveTo>
                  <a:cubicBezTo>
                    <a:pt x="0" y="115189"/>
                    <a:pt x="115443" y="0"/>
                    <a:pt x="257683" y="0"/>
                  </a:cubicBezTo>
                  <a:lnTo>
                    <a:pt x="10498328" y="0"/>
                  </a:lnTo>
                  <a:lnTo>
                    <a:pt x="10498328" y="13589"/>
                  </a:lnTo>
                  <a:lnTo>
                    <a:pt x="10498328" y="0"/>
                  </a:lnTo>
                  <a:cubicBezTo>
                    <a:pt x="10640695" y="0"/>
                    <a:pt x="10756011" y="115189"/>
                    <a:pt x="10756011" y="257429"/>
                  </a:cubicBezTo>
                  <a:lnTo>
                    <a:pt x="10742423" y="257429"/>
                  </a:lnTo>
                  <a:lnTo>
                    <a:pt x="10756011" y="257429"/>
                  </a:lnTo>
                  <a:lnTo>
                    <a:pt x="10756011" y="6889750"/>
                  </a:lnTo>
                  <a:lnTo>
                    <a:pt x="10742423" y="6889750"/>
                  </a:lnTo>
                  <a:lnTo>
                    <a:pt x="10756011" y="6889750"/>
                  </a:lnTo>
                  <a:cubicBezTo>
                    <a:pt x="10756011" y="7031990"/>
                    <a:pt x="10640568" y="7147179"/>
                    <a:pt x="10498328" y="7147179"/>
                  </a:cubicBezTo>
                  <a:lnTo>
                    <a:pt x="10498328" y="7133590"/>
                  </a:lnTo>
                  <a:lnTo>
                    <a:pt x="10498328" y="7147179"/>
                  </a:lnTo>
                  <a:lnTo>
                    <a:pt x="257683" y="7147179"/>
                  </a:lnTo>
                  <a:lnTo>
                    <a:pt x="257683" y="7133590"/>
                  </a:lnTo>
                  <a:lnTo>
                    <a:pt x="257683" y="7147179"/>
                  </a:lnTo>
                  <a:cubicBezTo>
                    <a:pt x="115443" y="7147179"/>
                    <a:pt x="0" y="7031990"/>
                    <a:pt x="0" y="6889750"/>
                  </a:cubicBezTo>
                  <a:lnTo>
                    <a:pt x="0" y="257429"/>
                  </a:lnTo>
                  <a:lnTo>
                    <a:pt x="13589" y="257429"/>
                  </a:lnTo>
                  <a:lnTo>
                    <a:pt x="0" y="257429"/>
                  </a:lnTo>
                  <a:moveTo>
                    <a:pt x="27051" y="257429"/>
                  </a:moveTo>
                  <a:lnTo>
                    <a:pt x="27051" y="6889750"/>
                  </a:lnTo>
                  <a:lnTo>
                    <a:pt x="13589" y="6889750"/>
                  </a:lnTo>
                  <a:lnTo>
                    <a:pt x="27051" y="6889750"/>
                  </a:lnTo>
                  <a:cubicBezTo>
                    <a:pt x="27051" y="7016877"/>
                    <a:pt x="130302" y="7120128"/>
                    <a:pt x="257683" y="7120128"/>
                  </a:cubicBezTo>
                  <a:lnTo>
                    <a:pt x="10498328" y="7120128"/>
                  </a:lnTo>
                  <a:cubicBezTo>
                    <a:pt x="10625710" y="7120128"/>
                    <a:pt x="10728960" y="7017004"/>
                    <a:pt x="10728960" y="6889750"/>
                  </a:cubicBezTo>
                  <a:lnTo>
                    <a:pt x="10728960" y="257429"/>
                  </a:lnTo>
                  <a:cubicBezTo>
                    <a:pt x="10728960" y="130302"/>
                    <a:pt x="10625710" y="27051"/>
                    <a:pt x="10498328" y="27051"/>
                  </a:cubicBezTo>
                  <a:lnTo>
                    <a:pt x="257683" y="27051"/>
                  </a:lnTo>
                  <a:lnTo>
                    <a:pt x="257683" y="13589"/>
                  </a:lnTo>
                  <a:lnTo>
                    <a:pt x="257683" y="27051"/>
                  </a:lnTo>
                  <a:cubicBezTo>
                    <a:pt x="130302" y="27051"/>
                    <a:pt x="27051" y="130175"/>
                    <a:pt x="27051" y="257429"/>
                  </a:cubicBezTo>
                  <a:close/>
                </a:path>
              </a:pathLst>
            </a:custGeom>
            <a:solidFill>
              <a:srgbClr val="BDC8D5"/>
            </a:solidFill>
          </p:spPr>
        </p:sp>
      </p:grpSp>
      <p:grpSp>
        <p:nvGrpSpPr>
          <p:cNvPr name="Group 21" id="21"/>
          <p:cNvGrpSpPr/>
          <p:nvPr/>
        </p:nvGrpSpPr>
        <p:grpSpPr>
          <a:xfrm rot="0">
            <a:off x="9912096" y="2139696"/>
            <a:ext cx="7498080" cy="512064"/>
            <a:chOff x="0" y="0"/>
            <a:chExt cx="9997440" cy="682752"/>
          </a:xfrm>
        </p:grpSpPr>
        <p:sp>
          <p:nvSpPr>
            <p:cNvPr name="Freeform 22" id="22"/>
            <p:cNvSpPr/>
            <p:nvPr/>
          </p:nvSpPr>
          <p:spPr>
            <a:xfrm flipH="false" flipV="false" rot="0">
              <a:off x="0" y="0"/>
              <a:ext cx="9997440" cy="682752"/>
            </a:xfrm>
            <a:custGeom>
              <a:avLst/>
              <a:gdLst/>
              <a:ahLst/>
              <a:cxnLst/>
              <a:rect r="r" b="b" t="t" l="l"/>
              <a:pathLst>
                <a:path h="682752" w="9997440">
                  <a:moveTo>
                    <a:pt x="0" y="0"/>
                  </a:moveTo>
                  <a:lnTo>
                    <a:pt x="9997440" y="0"/>
                  </a:lnTo>
                  <a:lnTo>
                    <a:pt x="9997440" y="682752"/>
                  </a:lnTo>
                  <a:lnTo>
                    <a:pt x="0" y="682752"/>
                  </a:lnTo>
                  <a:close/>
                </a:path>
              </a:pathLst>
            </a:custGeom>
            <a:blipFill>
              <a:blip r:embed="rId3">
                <a:alphaModFix amt="0"/>
              </a:blip>
              <a:stretch>
                <a:fillRect l="0" t="-235316" r="0" b="-235316"/>
              </a:stretch>
            </a:blipFill>
          </p:spPr>
        </p:sp>
        <p:sp>
          <p:nvSpPr>
            <p:cNvPr name="TextBox 23" id="23"/>
            <p:cNvSpPr txBox="true"/>
            <p:nvPr/>
          </p:nvSpPr>
          <p:spPr>
            <a:xfrm>
              <a:off x="0" y="9525"/>
              <a:ext cx="9997440" cy="673227"/>
            </a:xfrm>
            <a:prstGeom prst="rect">
              <a:avLst/>
            </a:prstGeom>
          </p:spPr>
          <p:txBody>
            <a:bodyPr anchor="ctr" rtlCol="false" tIns="0" lIns="0" bIns="0" rIns="0"/>
            <a:lstStyle/>
            <a:p>
              <a:pPr algn="l">
                <a:lnSpc>
                  <a:spcPts val="2879"/>
                </a:lnSpc>
              </a:pPr>
              <a:r>
                <a:rPr lang="en-US" sz="2400" b="true">
                  <a:solidFill>
                    <a:srgbClr val="1C2E40"/>
                  </a:solidFill>
                  <a:latin typeface="EB Garamond Semi-Bold"/>
                  <a:ea typeface="EB Garamond Semi-Bold"/>
                  <a:cs typeface="EB Garamond Semi-Bold"/>
                  <a:sym typeface="EB Garamond Semi-Bold"/>
                </a:rPr>
                <a:t>Intensité d'émigration (émigrés / taille ménage)</a:t>
              </a:r>
            </a:p>
          </p:txBody>
        </p:sp>
      </p:grpSp>
      <p:pic>
        <p:nvPicPr>
          <p:cNvPr name="Picture 24" id="24"/>
          <p:cNvPicPr>
            <a:picLocks noChangeAspect="true"/>
          </p:cNvPicPr>
          <p:nvPr/>
        </p:nvPicPr>
        <p:blipFill>
          <a:blip r:embed="rId5"/>
          <a:stretch>
            <a:fillRect/>
          </a:stretch>
        </p:blipFill>
        <p:spPr>
          <a:xfrm rot="0">
            <a:off x="9099820" y="1908065"/>
            <a:ext cx="9088938" cy="6019879"/>
          </a:xfrm>
          <a:prstGeom prst="rect">
            <a:avLst/>
          </a:prstGeom>
        </p:spPr>
      </p:pic>
      <p:grpSp>
        <p:nvGrpSpPr>
          <p:cNvPr name="Group 25" id="25"/>
          <p:cNvGrpSpPr/>
          <p:nvPr/>
        </p:nvGrpSpPr>
        <p:grpSpPr>
          <a:xfrm rot="0">
            <a:off x="640080" y="7498080"/>
            <a:ext cx="17007840" cy="512064"/>
            <a:chOff x="0" y="0"/>
            <a:chExt cx="22677120" cy="682752"/>
          </a:xfrm>
        </p:grpSpPr>
        <p:sp>
          <p:nvSpPr>
            <p:cNvPr name="Freeform 26" id="26"/>
            <p:cNvSpPr/>
            <p:nvPr/>
          </p:nvSpPr>
          <p:spPr>
            <a:xfrm flipH="false" flipV="false" rot="0">
              <a:off x="0" y="0"/>
              <a:ext cx="22677120" cy="682752"/>
            </a:xfrm>
            <a:custGeom>
              <a:avLst/>
              <a:gdLst/>
              <a:ahLst/>
              <a:cxnLst/>
              <a:rect r="r" b="b" t="t" l="l"/>
              <a:pathLst>
                <a:path h="682752" w="22677120">
                  <a:moveTo>
                    <a:pt x="0" y="0"/>
                  </a:moveTo>
                  <a:lnTo>
                    <a:pt x="22677120" y="0"/>
                  </a:lnTo>
                  <a:lnTo>
                    <a:pt x="22677120" y="682752"/>
                  </a:lnTo>
                  <a:lnTo>
                    <a:pt x="0" y="682752"/>
                  </a:lnTo>
                  <a:close/>
                </a:path>
              </a:pathLst>
            </a:custGeom>
            <a:blipFill>
              <a:blip r:embed="rId3">
                <a:alphaModFix amt="0"/>
              </a:blip>
              <a:stretch>
                <a:fillRect l="0" t="-597181" r="0" b="-597181"/>
              </a:stretch>
            </a:blipFill>
          </p:spPr>
        </p:sp>
        <p:sp>
          <p:nvSpPr>
            <p:cNvPr name="TextBox 27" id="27"/>
            <p:cNvSpPr txBox="true"/>
            <p:nvPr/>
          </p:nvSpPr>
          <p:spPr>
            <a:xfrm>
              <a:off x="0" y="0"/>
              <a:ext cx="22677120" cy="682752"/>
            </a:xfrm>
            <a:prstGeom prst="rect">
              <a:avLst/>
            </a:prstGeom>
          </p:spPr>
          <p:txBody>
            <a:bodyPr anchor="ctr" rtlCol="false" tIns="0" lIns="0" bIns="0" rIns="0"/>
            <a:lstStyle/>
            <a:p>
              <a:pPr algn="l">
                <a:lnSpc>
                  <a:spcPts val="2760"/>
                </a:lnSpc>
              </a:pPr>
              <a:r>
                <a:rPr lang="en-US" sz="2300" b="true">
                  <a:solidFill>
                    <a:srgbClr val="1C2E40"/>
                  </a:solidFill>
                  <a:latin typeface="EB Garamond Semi-Bold"/>
                  <a:ea typeface="EB Garamond Semi-Bold"/>
                  <a:cs typeface="EB Garamond Semi-Bold"/>
                  <a:sym typeface="EB Garamond Semi-Bold"/>
                </a:rPr>
                <a:t>Profil des migrants : Lien de parenté avec le chef de ménage</a:t>
              </a:r>
            </a:p>
          </p:txBody>
        </p:sp>
      </p:grpSp>
      <p:grpSp>
        <p:nvGrpSpPr>
          <p:cNvPr name="Group 28" id="28"/>
          <p:cNvGrpSpPr/>
          <p:nvPr/>
        </p:nvGrpSpPr>
        <p:grpSpPr>
          <a:xfrm rot="0">
            <a:off x="629917" y="8091421"/>
            <a:ext cx="2690365" cy="1812541"/>
            <a:chOff x="0" y="0"/>
            <a:chExt cx="3587153" cy="2416721"/>
          </a:xfrm>
        </p:grpSpPr>
        <p:sp>
          <p:nvSpPr>
            <p:cNvPr name="Freeform 29" id="29"/>
            <p:cNvSpPr/>
            <p:nvPr/>
          </p:nvSpPr>
          <p:spPr>
            <a:xfrm flipH="false" flipV="false" rot="0">
              <a:off x="13589" y="13589"/>
              <a:ext cx="3560064" cy="2389632"/>
            </a:xfrm>
            <a:custGeom>
              <a:avLst/>
              <a:gdLst/>
              <a:ahLst/>
              <a:cxnLst/>
              <a:rect r="r" b="b" t="t" l="l"/>
              <a:pathLst>
                <a:path h="2389632" w="3560064">
                  <a:moveTo>
                    <a:pt x="0" y="243840"/>
                  </a:moveTo>
                  <a:cubicBezTo>
                    <a:pt x="0" y="109220"/>
                    <a:pt x="109601" y="0"/>
                    <a:pt x="244729" y="0"/>
                  </a:cubicBezTo>
                  <a:lnTo>
                    <a:pt x="3315335" y="0"/>
                  </a:lnTo>
                  <a:cubicBezTo>
                    <a:pt x="3450463" y="0"/>
                    <a:pt x="3560064" y="109220"/>
                    <a:pt x="3560064" y="243840"/>
                  </a:cubicBezTo>
                  <a:lnTo>
                    <a:pt x="3560064" y="2145792"/>
                  </a:lnTo>
                  <a:cubicBezTo>
                    <a:pt x="3560064" y="2280412"/>
                    <a:pt x="3450463" y="2389632"/>
                    <a:pt x="3315335" y="2389632"/>
                  </a:cubicBezTo>
                  <a:lnTo>
                    <a:pt x="244729" y="2389632"/>
                  </a:lnTo>
                  <a:cubicBezTo>
                    <a:pt x="109601" y="2389632"/>
                    <a:pt x="0" y="2280412"/>
                    <a:pt x="0" y="2145792"/>
                  </a:cubicBezTo>
                  <a:close/>
                </a:path>
              </a:pathLst>
            </a:custGeom>
            <a:solidFill>
              <a:srgbClr val="EEF3F9"/>
            </a:solidFill>
          </p:spPr>
        </p:sp>
        <p:sp>
          <p:nvSpPr>
            <p:cNvPr name="Freeform 30" id="30"/>
            <p:cNvSpPr/>
            <p:nvPr/>
          </p:nvSpPr>
          <p:spPr>
            <a:xfrm flipH="false" flipV="false" rot="0">
              <a:off x="0" y="0"/>
              <a:ext cx="3587242" cy="2416810"/>
            </a:xfrm>
            <a:custGeom>
              <a:avLst/>
              <a:gdLst/>
              <a:ahLst/>
              <a:cxnLst/>
              <a:rect r="r" b="b" t="t" l="l"/>
              <a:pathLst>
                <a:path h="2416810" w="3587242">
                  <a:moveTo>
                    <a:pt x="0" y="257429"/>
                  </a:moveTo>
                  <a:cubicBezTo>
                    <a:pt x="0" y="115189"/>
                    <a:pt x="115697" y="0"/>
                    <a:pt x="258318" y="0"/>
                  </a:cubicBezTo>
                  <a:lnTo>
                    <a:pt x="3328924" y="0"/>
                  </a:lnTo>
                  <a:lnTo>
                    <a:pt x="3328924" y="13589"/>
                  </a:lnTo>
                  <a:lnTo>
                    <a:pt x="3328924" y="0"/>
                  </a:lnTo>
                  <a:cubicBezTo>
                    <a:pt x="3471545" y="0"/>
                    <a:pt x="3587242" y="115189"/>
                    <a:pt x="3587242" y="257429"/>
                  </a:cubicBezTo>
                  <a:lnTo>
                    <a:pt x="3573653" y="257429"/>
                  </a:lnTo>
                  <a:lnTo>
                    <a:pt x="3587242" y="257429"/>
                  </a:lnTo>
                  <a:lnTo>
                    <a:pt x="3587242" y="2159381"/>
                  </a:lnTo>
                  <a:lnTo>
                    <a:pt x="3573653" y="2159381"/>
                  </a:lnTo>
                  <a:lnTo>
                    <a:pt x="3587242" y="2159381"/>
                  </a:lnTo>
                  <a:cubicBezTo>
                    <a:pt x="3587242" y="2301621"/>
                    <a:pt x="3471545" y="2416810"/>
                    <a:pt x="3328924" y="2416810"/>
                  </a:cubicBezTo>
                  <a:lnTo>
                    <a:pt x="3328924" y="2403221"/>
                  </a:lnTo>
                  <a:lnTo>
                    <a:pt x="3328924" y="2416810"/>
                  </a:lnTo>
                  <a:lnTo>
                    <a:pt x="258318" y="2416810"/>
                  </a:lnTo>
                  <a:lnTo>
                    <a:pt x="258318" y="2403221"/>
                  </a:lnTo>
                  <a:lnTo>
                    <a:pt x="258318" y="2416810"/>
                  </a:lnTo>
                  <a:cubicBezTo>
                    <a:pt x="115697" y="2416683"/>
                    <a:pt x="0" y="2301494"/>
                    <a:pt x="0" y="2159381"/>
                  </a:cubicBezTo>
                  <a:lnTo>
                    <a:pt x="0" y="257429"/>
                  </a:lnTo>
                  <a:lnTo>
                    <a:pt x="13589" y="257429"/>
                  </a:lnTo>
                  <a:lnTo>
                    <a:pt x="0" y="257429"/>
                  </a:lnTo>
                  <a:moveTo>
                    <a:pt x="27051" y="257429"/>
                  </a:moveTo>
                  <a:lnTo>
                    <a:pt x="27051" y="2159381"/>
                  </a:lnTo>
                  <a:lnTo>
                    <a:pt x="13589" y="2159381"/>
                  </a:lnTo>
                  <a:lnTo>
                    <a:pt x="27051" y="2159381"/>
                  </a:lnTo>
                  <a:cubicBezTo>
                    <a:pt x="27051" y="2286508"/>
                    <a:pt x="130556" y="2389632"/>
                    <a:pt x="258191" y="2389632"/>
                  </a:cubicBezTo>
                  <a:lnTo>
                    <a:pt x="3328924" y="2389632"/>
                  </a:lnTo>
                  <a:cubicBezTo>
                    <a:pt x="3456686" y="2389632"/>
                    <a:pt x="3560064" y="2286508"/>
                    <a:pt x="3560064" y="2159381"/>
                  </a:cubicBezTo>
                  <a:lnTo>
                    <a:pt x="3560064" y="257429"/>
                  </a:lnTo>
                  <a:cubicBezTo>
                    <a:pt x="3560064" y="130302"/>
                    <a:pt x="3456559" y="27178"/>
                    <a:pt x="3328924" y="27178"/>
                  </a:cubicBezTo>
                  <a:lnTo>
                    <a:pt x="258318" y="27178"/>
                  </a:lnTo>
                  <a:lnTo>
                    <a:pt x="258318" y="13589"/>
                  </a:lnTo>
                  <a:lnTo>
                    <a:pt x="258318" y="27051"/>
                  </a:lnTo>
                  <a:cubicBezTo>
                    <a:pt x="130556" y="27051"/>
                    <a:pt x="27178" y="130175"/>
                    <a:pt x="27178" y="257302"/>
                  </a:cubicBezTo>
                  <a:close/>
                </a:path>
              </a:pathLst>
            </a:custGeom>
            <a:solidFill>
              <a:srgbClr val="2C4A6E"/>
            </a:solidFill>
          </p:spPr>
        </p:sp>
      </p:grpSp>
      <p:grpSp>
        <p:nvGrpSpPr>
          <p:cNvPr name="Group 31" id="31"/>
          <p:cNvGrpSpPr/>
          <p:nvPr/>
        </p:nvGrpSpPr>
        <p:grpSpPr>
          <a:xfrm rot="0">
            <a:off x="627383" y="8088887"/>
            <a:ext cx="2695451" cy="116843"/>
            <a:chOff x="0" y="0"/>
            <a:chExt cx="3593935" cy="155791"/>
          </a:xfrm>
        </p:grpSpPr>
        <p:sp>
          <p:nvSpPr>
            <p:cNvPr name="Freeform 32" id="32"/>
            <p:cNvSpPr/>
            <p:nvPr/>
          </p:nvSpPr>
          <p:spPr>
            <a:xfrm flipH="false" flipV="false" rot="0">
              <a:off x="16891" y="16891"/>
              <a:ext cx="3560064" cy="121920"/>
            </a:xfrm>
            <a:custGeom>
              <a:avLst/>
              <a:gdLst/>
              <a:ahLst/>
              <a:cxnLst/>
              <a:rect r="r" b="b" t="t" l="l"/>
              <a:pathLst>
                <a:path h="121920" w="3560064">
                  <a:moveTo>
                    <a:pt x="0" y="0"/>
                  </a:moveTo>
                  <a:lnTo>
                    <a:pt x="3560064" y="0"/>
                  </a:lnTo>
                  <a:lnTo>
                    <a:pt x="3560064" y="121920"/>
                  </a:lnTo>
                  <a:lnTo>
                    <a:pt x="0" y="121920"/>
                  </a:lnTo>
                  <a:close/>
                </a:path>
              </a:pathLst>
            </a:custGeom>
            <a:solidFill>
              <a:srgbClr val="2C4A6E"/>
            </a:solidFill>
          </p:spPr>
        </p:sp>
        <p:sp>
          <p:nvSpPr>
            <p:cNvPr name="Freeform 33" id="33"/>
            <p:cNvSpPr/>
            <p:nvPr/>
          </p:nvSpPr>
          <p:spPr>
            <a:xfrm flipH="false" flipV="false" rot="0">
              <a:off x="0" y="0"/>
              <a:ext cx="3593846" cy="155704"/>
            </a:xfrm>
            <a:custGeom>
              <a:avLst/>
              <a:gdLst/>
              <a:ahLst/>
              <a:cxnLst/>
              <a:rect r="r" b="b" t="t" l="l"/>
              <a:pathLst>
                <a:path h="155704" w="3593846">
                  <a:moveTo>
                    <a:pt x="16891" y="0"/>
                  </a:moveTo>
                  <a:lnTo>
                    <a:pt x="3576955" y="0"/>
                  </a:lnTo>
                  <a:cubicBezTo>
                    <a:pt x="3586353" y="0"/>
                    <a:pt x="3593846" y="7620"/>
                    <a:pt x="3593846" y="16891"/>
                  </a:cubicBezTo>
                  <a:lnTo>
                    <a:pt x="3593846" y="138811"/>
                  </a:lnTo>
                  <a:cubicBezTo>
                    <a:pt x="3593846" y="148209"/>
                    <a:pt x="3586226" y="155702"/>
                    <a:pt x="3576955"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3576955" y="121920"/>
                  </a:lnTo>
                  <a:lnTo>
                    <a:pt x="3576955" y="138811"/>
                  </a:lnTo>
                  <a:lnTo>
                    <a:pt x="3560064" y="138811"/>
                  </a:lnTo>
                  <a:lnTo>
                    <a:pt x="3560064" y="16891"/>
                  </a:lnTo>
                  <a:lnTo>
                    <a:pt x="3576955" y="16891"/>
                  </a:lnTo>
                  <a:lnTo>
                    <a:pt x="3576955" y="33909"/>
                  </a:lnTo>
                  <a:lnTo>
                    <a:pt x="16891" y="33909"/>
                  </a:lnTo>
                  <a:close/>
                </a:path>
              </a:pathLst>
            </a:custGeom>
            <a:solidFill>
              <a:srgbClr val="2C4A6E"/>
            </a:solidFill>
          </p:spPr>
        </p:sp>
      </p:grpSp>
      <p:grpSp>
        <p:nvGrpSpPr>
          <p:cNvPr name="Group 34" id="34"/>
          <p:cNvGrpSpPr/>
          <p:nvPr/>
        </p:nvGrpSpPr>
        <p:grpSpPr>
          <a:xfrm rot="0">
            <a:off x="640080" y="8229600"/>
            <a:ext cx="2670048" cy="990295"/>
            <a:chOff x="0" y="0"/>
            <a:chExt cx="3560064" cy="1320394"/>
          </a:xfrm>
        </p:grpSpPr>
        <p:sp>
          <p:nvSpPr>
            <p:cNvPr name="Freeform 35" id="35"/>
            <p:cNvSpPr/>
            <p:nvPr/>
          </p:nvSpPr>
          <p:spPr>
            <a:xfrm flipH="false" flipV="false" rot="0">
              <a:off x="0" y="0"/>
              <a:ext cx="3560064" cy="1320394"/>
            </a:xfrm>
            <a:custGeom>
              <a:avLst/>
              <a:gdLst/>
              <a:ahLst/>
              <a:cxnLst/>
              <a:rect r="r" b="b" t="t" l="l"/>
              <a:pathLst>
                <a:path h="1320394" w="3560064">
                  <a:moveTo>
                    <a:pt x="0" y="0"/>
                  </a:moveTo>
                  <a:lnTo>
                    <a:pt x="3560064" y="0"/>
                  </a:lnTo>
                  <a:lnTo>
                    <a:pt x="3560064" y="1320394"/>
                  </a:lnTo>
                  <a:lnTo>
                    <a:pt x="0" y="1320394"/>
                  </a:lnTo>
                  <a:close/>
                </a:path>
              </a:pathLst>
            </a:custGeom>
            <a:blipFill>
              <a:blip r:embed="rId3">
                <a:alphaModFix amt="0"/>
              </a:blip>
              <a:stretch>
                <a:fillRect l="0" t="-8214" r="0" b="3142"/>
              </a:stretch>
            </a:blipFill>
          </p:spPr>
        </p:sp>
        <p:sp>
          <p:nvSpPr>
            <p:cNvPr name="TextBox 36" id="36"/>
            <p:cNvSpPr txBox="true"/>
            <p:nvPr/>
          </p:nvSpPr>
          <p:spPr>
            <a:xfrm>
              <a:off x="0" y="0"/>
              <a:ext cx="3560064" cy="1320394"/>
            </a:xfrm>
            <a:prstGeom prst="rect">
              <a:avLst/>
            </a:prstGeom>
          </p:spPr>
          <p:txBody>
            <a:bodyPr anchor="ctr" rtlCol="false" tIns="0" lIns="0" bIns="0" rIns="0"/>
            <a:lstStyle/>
            <a:p>
              <a:pPr algn="ctr">
                <a:lnSpc>
                  <a:spcPts val="5759"/>
                </a:lnSpc>
              </a:pPr>
              <a:r>
                <a:rPr lang="en-US" sz="4800" b="true">
                  <a:solidFill>
                    <a:srgbClr val="2C4A6E"/>
                  </a:solidFill>
                  <a:latin typeface="EB Garamond Semi-Bold"/>
                  <a:ea typeface="EB Garamond Semi-Bold"/>
                  <a:cs typeface="EB Garamond Semi-Bold"/>
                  <a:sym typeface="EB Garamond Semi-Bold"/>
                </a:rPr>
                <a:t>87</a:t>
              </a:r>
            </a:p>
          </p:txBody>
        </p:sp>
      </p:grpSp>
      <p:grpSp>
        <p:nvGrpSpPr>
          <p:cNvPr name="Group 37" id="37"/>
          <p:cNvGrpSpPr/>
          <p:nvPr/>
        </p:nvGrpSpPr>
        <p:grpSpPr>
          <a:xfrm rot="0">
            <a:off x="640080" y="9089136"/>
            <a:ext cx="2670048" cy="548640"/>
            <a:chOff x="0" y="0"/>
            <a:chExt cx="3560064" cy="731520"/>
          </a:xfrm>
        </p:grpSpPr>
        <p:sp>
          <p:nvSpPr>
            <p:cNvPr name="Freeform 38" id="38"/>
            <p:cNvSpPr/>
            <p:nvPr/>
          </p:nvSpPr>
          <p:spPr>
            <a:xfrm flipH="false" flipV="false" rot="0">
              <a:off x="0" y="0"/>
              <a:ext cx="3560064" cy="731520"/>
            </a:xfrm>
            <a:custGeom>
              <a:avLst/>
              <a:gdLst/>
              <a:ahLst/>
              <a:cxnLst/>
              <a:rect r="r" b="b" t="t" l="l"/>
              <a:pathLst>
                <a:path h="731520" w="3560064">
                  <a:moveTo>
                    <a:pt x="0" y="0"/>
                  </a:moveTo>
                  <a:lnTo>
                    <a:pt x="3560064" y="0"/>
                  </a:lnTo>
                  <a:lnTo>
                    <a:pt x="3560064" y="731520"/>
                  </a:lnTo>
                  <a:lnTo>
                    <a:pt x="0" y="731520"/>
                  </a:lnTo>
                  <a:close/>
                </a:path>
              </a:pathLst>
            </a:custGeom>
            <a:blipFill>
              <a:blip r:embed="rId3">
                <a:alphaModFix amt="0"/>
              </a:blip>
              <a:stretch>
                <a:fillRect l="0" t="-44827" r="0" b="-44827"/>
              </a:stretch>
            </a:blipFill>
          </p:spPr>
        </p:sp>
        <p:sp>
          <p:nvSpPr>
            <p:cNvPr name="TextBox 39" id="39"/>
            <p:cNvSpPr txBox="true"/>
            <p:nvPr/>
          </p:nvSpPr>
          <p:spPr>
            <a:xfrm>
              <a:off x="0" y="9525"/>
              <a:ext cx="3560064" cy="721995"/>
            </a:xfrm>
            <a:prstGeom prst="rect">
              <a:avLst/>
            </a:prstGeom>
          </p:spPr>
          <p:txBody>
            <a:bodyPr anchor="ctr" rtlCol="false" tIns="0" lIns="0" bIns="0" rIns="0"/>
            <a:lstStyle/>
            <a:p>
              <a:pPr algn="ctr">
                <a:lnSpc>
                  <a:spcPts val="2160"/>
                </a:lnSpc>
              </a:pPr>
              <a:r>
                <a:rPr lang="en-US" sz="1800">
                  <a:solidFill>
                    <a:srgbClr val="7B8FA1"/>
                  </a:solidFill>
                  <a:latin typeface="EB Garamond"/>
                  <a:ea typeface="EB Garamond"/>
                  <a:cs typeface="EB Garamond"/>
                  <a:sym typeface="EB Garamond"/>
                </a:rPr>
                <a:t>Fils/Fille</a:t>
              </a:r>
            </a:p>
          </p:txBody>
        </p:sp>
      </p:grpSp>
      <p:grpSp>
        <p:nvGrpSpPr>
          <p:cNvPr name="Group 40" id="40"/>
          <p:cNvGrpSpPr/>
          <p:nvPr/>
        </p:nvGrpSpPr>
        <p:grpSpPr>
          <a:xfrm rot="0">
            <a:off x="3482845" y="8091421"/>
            <a:ext cx="2690365" cy="1812541"/>
            <a:chOff x="0" y="0"/>
            <a:chExt cx="3587153" cy="2416721"/>
          </a:xfrm>
        </p:grpSpPr>
        <p:sp>
          <p:nvSpPr>
            <p:cNvPr name="Freeform 41" id="41"/>
            <p:cNvSpPr/>
            <p:nvPr/>
          </p:nvSpPr>
          <p:spPr>
            <a:xfrm flipH="false" flipV="false" rot="0">
              <a:off x="13589" y="13589"/>
              <a:ext cx="3560064" cy="2389632"/>
            </a:xfrm>
            <a:custGeom>
              <a:avLst/>
              <a:gdLst/>
              <a:ahLst/>
              <a:cxnLst/>
              <a:rect r="r" b="b" t="t" l="l"/>
              <a:pathLst>
                <a:path h="2389632" w="3560064">
                  <a:moveTo>
                    <a:pt x="0" y="243840"/>
                  </a:moveTo>
                  <a:cubicBezTo>
                    <a:pt x="0" y="109220"/>
                    <a:pt x="109601" y="0"/>
                    <a:pt x="244729" y="0"/>
                  </a:cubicBezTo>
                  <a:lnTo>
                    <a:pt x="3315335" y="0"/>
                  </a:lnTo>
                  <a:cubicBezTo>
                    <a:pt x="3450463" y="0"/>
                    <a:pt x="3560064" y="109220"/>
                    <a:pt x="3560064" y="243840"/>
                  </a:cubicBezTo>
                  <a:lnTo>
                    <a:pt x="3560064" y="2145792"/>
                  </a:lnTo>
                  <a:cubicBezTo>
                    <a:pt x="3560064" y="2280412"/>
                    <a:pt x="3450463" y="2389632"/>
                    <a:pt x="3315335" y="2389632"/>
                  </a:cubicBezTo>
                  <a:lnTo>
                    <a:pt x="244729" y="2389632"/>
                  </a:lnTo>
                  <a:cubicBezTo>
                    <a:pt x="109601" y="2389632"/>
                    <a:pt x="0" y="2280412"/>
                    <a:pt x="0" y="2145792"/>
                  </a:cubicBezTo>
                  <a:close/>
                </a:path>
              </a:pathLst>
            </a:custGeom>
            <a:solidFill>
              <a:srgbClr val="EEF3F9"/>
            </a:solidFill>
          </p:spPr>
        </p:sp>
        <p:sp>
          <p:nvSpPr>
            <p:cNvPr name="Freeform 42" id="42"/>
            <p:cNvSpPr/>
            <p:nvPr/>
          </p:nvSpPr>
          <p:spPr>
            <a:xfrm flipH="false" flipV="false" rot="0">
              <a:off x="0" y="0"/>
              <a:ext cx="3587242" cy="2416810"/>
            </a:xfrm>
            <a:custGeom>
              <a:avLst/>
              <a:gdLst/>
              <a:ahLst/>
              <a:cxnLst/>
              <a:rect r="r" b="b" t="t" l="l"/>
              <a:pathLst>
                <a:path h="2416810" w="3587242">
                  <a:moveTo>
                    <a:pt x="0" y="257429"/>
                  </a:moveTo>
                  <a:cubicBezTo>
                    <a:pt x="0" y="115189"/>
                    <a:pt x="115697" y="0"/>
                    <a:pt x="258318" y="0"/>
                  </a:cubicBezTo>
                  <a:lnTo>
                    <a:pt x="3328924" y="0"/>
                  </a:lnTo>
                  <a:lnTo>
                    <a:pt x="3328924" y="13589"/>
                  </a:lnTo>
                  <a:lnTo>
                    <a:pt x="3328924" y="0"/>
                  </a:lnTo>
                  <a:cubicBezTo>
                    <a:pt x="3471545" y="0"/>
                    <a:pt x="3587242" y="115189"/>
                    <a:pt x="3587242" y="257429"/>
                  </a:cubicBezTo>
                  <a:lnTo>
                    <a:pt x="3573653" y="257429"/>
                  </a:lnTo>
                  <a:lnTo>
                    <a:pt x="3587242" y="257429"/>
                  </a:lnTo>
                  <a:lnTo>
                    <a:pt x="3587242" y="2159381"/>
                  </a:lnTo>
                  <a:lnTo>
                    <a:pt x="3573653" y="2159381"/>
                  </a:lnTo>
                  <a:lnTo>
                    <a:pt x="3587242" y="2159381"/>
                  </a:lnTo>
                  <a:cubicBezTo>
                    <a:pt x="3587242" y="2301621"/>
                    <a:pt x="3471545" y="2416810"/>
                    <a:pt x="3328924" y="2416810"/>
                  </a:cubicBezTo>
                  <a:lnTo>
                    <a:pt x="3328924" y="2403221"/>
                  </a:lnTo>
                  <a:lnTo>
                    <a:pt x="3328924" y="2416810"/>
                  </a:lnTo>
                  <a:lnTo>
                    <a:pt x="258318" y="2416810"/>
                  </a:lnTo>
                  <a:lnTo>
                    <a:pt x="258318" y="2403221"/>
                  </a:lnTo>
                  <a:lnTo>
                    <a:pt x="258318" y="2416810"/>
                  </a:lnTo>
                  <a:cubicBezTo>
                    <a:pt x="115697" y="2416683"/>
                    <a:pt x="0" y="2301494"/>
                    <a:pt x="0" y="2159381"/>
                  </a:cubicBezTo>
                  <a:lnTo>
                    <a:pt x="0" y="257429"/>
                  </a:lnTo>
                  <a:lnTo>
                    <a:pt x="13589" y="257429"/>
                  </a:lnTo>
                  <a:lnTo>
                    <a:pt x="0" y="257429"/>
                  </a:lnTo>
                  <a:moveTo>
                    <a:pt x="27051" y="257429"/>
                  </a:moveTo>
                  <a:lnTo>
                    <a:pt x="27051" y="2159381"/>
                  </a:lnTo>
                  <a:lnTo>
                    <a:pt x="13589" y="2159381"/>
                  </a:lnTo>
                  <a:lnTo>
                    <a:pt x="27051" y="2159381"/>
                  </a:lnTo>
                  <a:cubicBezTo>
                    <a:pt x="27051" y="2286508"/>
                    <a:pt x="130556" y="2389632"/>
                    <a:pt x="258191" y="2389632"/>
                  </a:cubicBezTo>
                  <a:lnTo>
                    <a:pt x="3328924" y="2389632"/>
                  </a:lnTo>
                  <a:cubicBezTo>
                    <a:pt x="3456686" y="2389632"/>
                    <a:pt x="3560064" y="2286508"/>
                    <a:pt x="3560064" y="2159381"/>
                  </a:cubicBezTo>
                  <a:lnTo>
                    <a:pt x="3560064" y="257429"/>
                  </a:lnTo>
                  <a:cubicBezTo>
                    <a:pt x="3560064" y="130302"/>
                    <a:pt x="3456559" y="27178"/>
                    <a:pt x="3328924" y="27178"/>
                  </a:cubicBezTo>
                  <a:lnTo>
                    <a:pt x="258318" y="27178"/>
                  </a:lnTo>
                  <a:lnTo>
                    <a:pt x="258318" y="13589"/>
                  </a:lnTo>
                  <a:lnTo>
                    <a:pt x="258318" y="27051"/>
                  </a:lnTo>
                  <a:cubicBezTo>
                    <a:pt x="130556" y="27051"/>
                    <a:pt x="27178" y="130175"/>
                    <a:pt x="27178" y="257302"/>
                  </a:cubicBezTo>
                  <a:close/>
                </a:path>
              </a:pathLst>
            </a:custGeom>
            <a:solidFill>
              <a:srgbClr val="5B8DB8"/>
            </a:solidFill>
          </p:spPr>
        </p:sp>
      </p:grpSp>
      <p:grpSp>
        <p:nvGrpSpPr>
          <p:cNvPr name="Group 43" id="43"/>
          <p:cNvGrpSpPr/>
          <p:nvPr/>
        </p:nvGrpSpPr>
        <p:grpSpPr>
          <a:xfrm rot="0">
            <a:off x="3480311" y="8088887"/>
            <a:ext cx="2695451" cy="116843"/>
            <a:chOff x="0" y="0"/>
            <a:chExt cx="3593935" cy="155791"/>
          </a:xfrm>
        </p:grpSpPr>
        <p:sp>
          <p:nvSpPr>
            <p:cNvPr name="Freeform 44" id="44"/>
            <p:cNvSpPr/>
            <p:nvPr/>
          </p:nvSpPr>
          <p:spPr>
            <a:xfrm flipH="false" flipV="false" rot="0">
              <a:off x="16891" y="16891"/>
              <a:ext cx="3560064" cy="121920"/>
            </a:xfrm>
            <a:custGeom>
              <a:avLst/>
              <a:gdLst/>
              <a:ahLst/>
              <a:cxnLst/>
              <a:rect r="r" b="b" t="t" l="l"/>
              <a:pathLst>
                <a:path h="121920" w="3560064">
                  <a:moveTo>
                    <a:pt x="0" y="0"/>
                  </a:moveTo>
                  <a:lnTo>
                    <a:pt x="3560064" y="0"/>
                  </a:lnTo>
                  <a:lnTo>
                    <a:pt x="3560064" y="121920"/>
                  </a:lnTo>
                  <a:lnTo>
                    <a:pt x="0" y="121920"/>
                  </a:lnTo>
                  <a:close/>
                </a:path>
              </a:pathLst>
            </a:custGeom>
            <a:solidFill>
              <a:srgbClr val="5B8DB8"/>
            </a:solidFill>
          </p:spPr>
        </p:sp>
        <p:sp>
          <p:nvSpPr>
            <p:cNvPr name="Freeform 45" id="45"/>
            <p:cNvSpPr/>
            <p:nvPr/>
          </p:nvSpPr>
          <p:spPr>
            <a:xfrm flipH="false" flipV="false" rot="0">
              <a:off x="0" y="0"/>
              <a:ext cx="3593846" cy="155704"/>
            </a:xfrm>
            <a:custGeom>
              <a:avLst/>
              <a:gdLst/>
              <a:ahLst/>
              <a:cxnLst/>
              <a:rect r="r" b="b" t="t" l="l"/>
              <a:pathLst>
                <a:path h="155704" w="3593846">
                  <a:moveTo>
                    <a:pt x="16891" y="0"/>
                  </a:moveTo>
                  <a:lnTo>
                    <a:pt x="3576955" y="0"/>
                  </a:lnTo>
                  <a:cubicBezTo>
                    <a:pt x="3586353" y="0"/>
                    <a:pt x="3593846" y="7620"/>
                    <a:pt x="3593846" y="16891"/>
                  </a:cubicBezTo>
                  <a:lnTo>
                    <a:pt x="3593846" y="138811"/>
                  </a:lnTo>
                  <a:cubicBezTo>
                    <a:pt x="3593846" y="148209"/>
                    <a:pt x="3586226" y="155702"/>
                    <a:pt x="3576955"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3576955" y="121920"/>
                  </a:lnTo>
                  <a:lnTo>
                    <a:pt x="3576955" y="138811"/>
                  </a:lnTo>
                  <a:lnTo>
                    <a:pt x="3560064" y="138811"/>
                  </a:lnTo>
                  <a:lnTo>
                    <a:pt x="3560064" y="16891"/>
                  </a:lnTo>
                  <a:lnTo>
                    <a:pt x="3576955" y="16891"/>
                  </a:lnTo>
                  <a:lnTo>
                    <a:pt x="3576955" y="33909"/>
                  </a:lnTo>
                  <a:lnTo>
                    <a:pt x="16891" y="33909"/>
                  </a:lnTo>
                  <a:close/>
                </a:path>
              </a:pathLst>
            </a:custGeom>
            <a:solidFill>
              <a:srgbClr val="5B8DB8"/>
            </a:solidFill>
          </p:spPr>
        </p:sp>
      </p:grpSp>
      <p:grpSp>
        <p:nvGrpSpPr>
          <p:cNvPr name="Group 46" id="46"/>
          <p:cNvGrpSpPr/>
          <p:nvPr/>
        </p:nvGrpSpPr>
        <p:grpSpPr>
          <a:xfrm rot="0">
            <a:off x="3493008" y="8229600"/>
            <a:ext cx="2670048" cy="990295"/>
            <a:chOff x="0" y="0"/>
            <a:chExt cx="3560064" cy="1320394"/>
          </a:xfrm>
        </p:grpSpPr>
        <p:sp>
          <p:nvSpPr>
            <p:cNvPr name="Freeform 47" id="47"/>
            <p:cNvSpPr/>
            <p:nvPr/>
          </p:nvSpPr>
          <p:spPr>
            <a:xfrm flipH="false" flipV="false" rot="0">
              <a:off x="0" y="0"/>
              <a:ext cx="3560064" cy="1320394"/>
            </a:xfrm>
            <a:custGeom>
              <a:avLst/>
              <a:gdLst/>
              <a:ahLst/>
              <a:cxnLst/>
              <a:rect r="r" b="b" t="t" l="l"/>
              <a:pathLst>
                <a:path h="1320394" w="3560064">
                  <a:moveTo>
                    <a:pt x="0" y="0"/>
                  </a:moveTo>
                  <a:lnTo>
                    <a:pt x="3560064" y="0"/>
                  </a:lnTo>
                  <a:lnTo>
                    <a:pt x="3560064" y="1320394"/>
                  </a:lnTo>
                  <a:lnTo>
                    <a:pt x="0" y="1320394"/>
                  </a:lnTo>
                  <a:close/>
                </a:path>
              </a:pathLst>
            </a:custGeom>
            <a:blipFill>
              <a:blip r:embed="rId3">
                <a:alphaModFix amt="0"/>
              </a:blip>
              <a:stretch>
                <a:fillRect l="0" t="-8214" r="0" b="3142"/>
              </a:stretch>
            </a:blipFill>
          </p:spPr>
        </p:sp>
        <p:sp>
          <p:nvSpPr>
            <p:cNvPr name="TextBox 48" id="48"/>
            <p:cNvSpPr txBox="true"/>
            <p:nvPr/>
          </p:nvSpPr>
          <p:spPr>
            <a:xfrm>
              <a:off x="0" y="0"/>
              <a:ext cx="3560064" cy="1320394"/>
            </a:xfrm>
            <a:prstGeom prst="rect">
              <a:avLst/>
            </a:prstGeom>
          </p:spPr>
          <p:txBody>
            <a:bodyPr anchor="ctr" rtlCol="false" tIns="0" lIns="0" bIns="0" rIns="0"/>
            <a:lstStyle/>
            <a:p>
              <a:pPr algn="ctr">
                <a:lnSpc>
                  <a:spcPts val="5759"/>
                </a:lnSpc>
              </a:pPr>
              <a:r>
                <a:rPr lang="en-US" sz="4800" b="true">
                  <a:solidFill>
                    <a:srgbClr val="5B8DB8"/>
                  </a:solidFill>
                  <a:latin typeface="EB Garamond Semi-Bold"/>
                  <a:ea typeface="EB Garamond Semi-Bold"/>
                  <a:cs typeface="EB Garamond Semi-Bold"/>
                  <a:sym typeface="EB Garamond Semi-Bold"/>
                </a:rPr>
                <a:t>66</a:t>
              </a:r>
            </a:p>
          </p:txBody>
        </p:sp>
      </p:grpSp>
      <p:grpSp>
        <p:nvGrpSpPr>
          <p:cNvPr name="Group 49" id="49"/>
          <p:cNvGrpSpPr/>
          <p:nvPr/>
        </p:nvGrpSpPr>
        <p:grpSpPr>
          <a:xfrm rot="0">
            <a:off x="3493008" y="9089136"/>
            <a:ext cx="2670048" cy="548640"/>
            <a:chOff x="0" y="0"/>
            <a:chExt cx="3560064" cy="731520"/>
          </a:xfrm>
        </p:grpSpPr>
        <p:sp>
          <p:nvSpPr>
            <p:cNvPr name="Freeform 50" id="50"/>
            <p:cNvSpPr/>
            <p:nvPr/>
          </p:nvSpPr>
          <p:spPr>
            <a:xfrm flipH="false" flipV="false" rot="0">
              <a:off x="0" y="0"/>
              <a:ext cx="3560064" cy="731520"/>
            </a:xfrm>
            <a:custGeom>
              <a:avLst/>
              <a:gdLst/>
              <a:ahLst/>
              <a:cxnLst/>
              <a:rect r="r" b="b" t="t" l="l"/>
              <a:pathLst>
                <a:path h="731520" w="3560064">
                  <a:moveTo>
                    <a:pt x="0" y="0"/>
                  </a:moveTo>
                  <a:lnTo>
                    <a:pt x="3560064" y="0"/>
                  </a:lnTo>
                  <a:lnTo>
                    <a:pt x="3560064" y="731520"/>
                  </a:lnTo>
                  <a:lnTo>
                    <a:pt x="0" y="731520"/>
                  </a:lnTo>
                  <a:close/>
                </a:path>
              </a:pathLst>
            </a:custGeom>
            <a:blipFill>
              <a:blip r:embed="rId3">
                <a:alphaModFix amt="0"/>
              </a:blip>
              <a:stretch>
                <a:fillRect l="0" t="-44827" r="0" b="-44827"/>
              </a:stretch>
            </a:blipFill>
          </p:spPr>
        </p:sp>
        <p:sp>
          <p:nvSpPr>
            <p:cNvPr name="TextBox 51" id="51"/>
            <p:cNvSpPr txBox="true"/>
            <p:nvPr/>
          </p:nvSpPr>
          <p:spPr>
            <a:xfrm>
              <a:off x="0" y="9525"/>
              <a:ext cx="3560064" cy="721995"/>
            </a:xfrm>
            <a:prstGeom prst="rect">
              <a:avLst/>
            </a:prstGeom>
          </p:spPr>
          <p:txBody>
            <a:bodyPr anchor="ctr" rtlCol="false" tIns="0" lIns="0" bIns="0" rIns="0"/>
            <a:lstStyle/>
            <a:p>
              <a:pPr algn="ctr">
                <a:lnSpc>
                  <a:spcPts val="2160"/>
                </a:lnSpc>
              </a:pPr>
              <a:r>
                <a:rPr lang="en-US" sz="1800">
                  <a:solidFill>
                    <a:srgbClr val="7B8FA1"/>
                  </a:solidFill>
                  <a:latin typeface="EB Garamond"/>
                  <a:ea typeface="EB Garamond"/>
                  <a:cs typeface="EB Garamond"/>
                  <a:sym typeface="EB Garamond"/>
                </a:rPr>
                <a:t>Frère</a:t>
              </a:r>
            </a:p>
          </p:txBody>
        </p:sp>
      </p:grpSp>
      <p:grpSp>
        <p:nvGrpSpPr>
          <p:cNvPr name="Group 52" id="52"/>
          <p:cNvGrpSpPr/>
          <p:nvPr/>
        </p:nvGrpSpPr>
        <p:grpSpPr>
          <a:xfrm rot="0">
            <a:off x="6335773" y="8091421"/>
            <a:ext cx="2690365" cy="1812541"/>
            <a:chOff x="0" y="0"/>
            <a:chExt cx="3587153" cy="2416721"/>
          </a:xfrm>
        </p:grpSpPr>
        <p:sp>
          <p:nvSpPr>
            <p:cNvPr name="Freeform 53" id="53"/>
            <p:cNvSpPr/>
            <p:nvPr/>
          </p:nvSpPr>
          <p:spPr>
            <a:xfrm flipH="false" flipV="false" rot="0">
              <a:off x="13589" y="13589"/>
              <a:ext cx="3560064" cy="2389632"/>
            </a:xfrm>
            <a:custGeom>
              <a:avLst/>
              <a:gdLst/>
              <a:ahLst/>
              <a:cxnLst/>
              <a:rect r="r" b="b" t="t" l="l"/>
              <a:pathLst>
                <a:path h="2389632" w="3560064">
                  <a:moveTo>
                    <a:pt x="0" y="243840"/>
                  </a:moveTo>
                  <a:cubicBezTo>
                    <a:pt x="0" y="109220"/>
                    <a:pt x="109601" y="0"/>
                    <a:pt x="244729" y="0"/>
                  </a:cubicBezTo>
                  <a:lnTo>
                    <a:pt x="3315335" y="0"/>
                  </a:lnTo>
                  <a:cubicBezTo>
                    <a:pt x="3450463" y="0"/>
                    <a:pt x="3560064" y="109220"/>
                    <a:pt x="3560064" y="243840"/>
                  </a:cubicBezTo>
                  <a:lnTo>
                    <a:pt x="3560064" y="2145792"/>
                  </a:lnTo>
                  <a:cubicBezTo>
                    <a:pt x="3560064" y="2280412"/>
                    <a:pt x="3450463" y="2389632"/>
                    <a:pt x="3315335" y="2389632"/>
                  </a:cubicBezTo>
                  <a:lnTo>
                    <a:pt x="244729" y="2389632"/>
                  </a:lnTo>
                  <a:cubicBezTo>
                    <a:pt x="109601" y="2389632"/>
                    <a:pt x="0" y="2280412"/>
                    <a:pt x="0" y="2145792"/>
                  </a:cubicBezTo>
                  <a:close/>
                </a:path>
              </a:pathLst>
            </a:custGeom>
            <a:solidFill>
              <a:srgbClr val="EEF3F9"/>
            </a:solidFill>
          </p:spPr>
        </p:sp>
        <p:sp>
          <p:nvSpPr>
            <p:cNvPr name="Freeform 54" id="54"/>
            <p:cNvSpPr/>
            <p:nvPr/>
          </p:nvSpPr>
          <p:spPr>
            <a:xfrm flipH="false" flipV="false" rot="0">
              <a:off x="0" y="0"/>
              <a:ext cx="3587242" cy="2416810"/>
            </a:xfrm>
            <a:custGeom>
              <a:avLst/>
              <a:gdLst/>
              <a:ahLst/>
              <a:cxnLst/>
              <a:rect r="r" b="b" t="t" l="l"/>
              <a:pathLst>
                <a:path h="2416810" w="3587242">
                  <a:moveTo>
                    <a:pt x="0" y="257429"/>
                  </a:moveTo>
                  <a:cubicBezTo>
                    <a:pt x="0" y="115189"/>
                    <a:pt x="115697" y="0"/>
                    <a:pt x="258318" y="0"/>
                  </a:cubicBezTo>
                  <a:lnTo>
                    <a:pt x="3328924" y="0"/>
                  </a:lnTo>
                  <a:lnTo>
                    <a:pt x="3328924" y="13589"/>
                  </a:lnTo>
                  <a:lnTo>
                    <a:pt x="3328924" y="0"/>
                  </a:lnTo>
                  <a:cubicBezTo>
                    <a:pt x="3471545" y="0"/>
                    <a:pt x="3587242" y="115189"/>
                    <a:pt x="3587242" y="257429"/>
                  </a:cubicBezTo>
                  <a:lnTo>
                    <a:pt x="3573653" y="257429"/>
                  </a:lnTo>
                  <a:lnTo>
                    <a:pt x="3587242" y="257429"/>
                  </a:lnTo>
                  <a:lnTo>
                    <a:pt x="3587242" y="2159381"/>
                  </a:lnTo>
                  <a:lnTo>
                    <a:pt x="3573653" y="2159381"/>
                  </a:lnTo>
                  <a:lnTo>
                    <a:pt x="3587242" y="2159381"/>
                  </a:lnTo>
                  <a:cubicBezTo>
                    <a:pt x="3587242" y="2301621"/>
                    <a:pt x="3471545" y="2416810"/>
                    <a:pt x="3328924" y="2416810"/>
                  </a:cubicBezTo>
                  <a:lnTo>
                    <a:pt x="3328924" y="2403221"/>
                  </a:lnTo>
                  <a:lnTo>
                    <a:pt x="3328924" y="2416810"/>
                  </a:lnTo>
                  <a:lnTo>
                    <a:pt x="258318" y="2416810"/>
                  </a:lnTo>
                  <a:lnTo>
                    <a:pt x="258318" y="2403221"/>
                  </a:lnTo>
                  <a:lnTo>
                    <a:pt x="258318" y="2416810"/>
                  </a:lnTo>
                  <a:cubicBezTo>
                    <a:pt x="115697" y="2416683"/>
                    <a:pt x="0" y="2301494"/>
                    <a:pt x="0" y="2159381"/>
                  </a:cubicBezTo>
                  <a:lnTo>
                    <a:pt x="0" y="257429"/>
                  </a:lnTo>
                  <a:lnTo>
                    <a:pt x="13589" y="257429"/>
                  </a:lnTo>
                  <a:lnTo>
                    <a:pt x="0" y="257429"/>
                  </a:lnTo>
                  <a:moveTo>
                    <a:pt x="27051" y="257429"/>
                  </a:moveTo>
                  <a:lnTo>
                    <a:pt x="27051" y="2159381"/>
                  </a:lnTo>
                  <a:lnTo>
                    <a:pt x="13589" y="2159381"/>
                  </a:lnTo>
                  <a:lnTo>
                    <a:pt x="27051" y="2159381"/>
                  </a:lnTo>
                  <a:cubicBezTo>
                    <a:pt x="27051" y="2286508"/>
                    <a:pt x="130556" y="2389632"/>
                    <a:pt x="258191" y="2389632"/>
                  </a:cubicBezTo>
                  <a:lnTo>
                    <a:pt x="3328924" y="2389632"/>
                  </a:lnTo>
                  <a:cubicBezTo>
                    <a:pt x="3456686" y="2389632"/>
                    <a:pt x="3560064" y="2286508"/>
                    <a:pt x="3560064" y="2159381"/>
                  </a:cubicBezTo>
                  <a:lnTo>
                    <a:pt x="3560064" y="257429"/>
                  </a:lnTo>
                  <a:cubicBezTo>
                    <a:pt x="3560064" y="130302"/>
                    <a:pt x="3456559" y="27178"/>
                    <a:pt x="3328924" y="27178"/>
                  </a:cubicBezTo>
                  <a:lnTo>
                    <a:pt x="258318" y="27178"/>
                  </a:lnTo>
                  <a:lnTo>
                    <a:pt x="258318" y="13589"/>
                  </a:lnTo>
                  <a:lnTo>
                    <a:pt x="258318" y="27051"/>
                  </a:lnTo>
                  <a:cubicBezTo>
                    <a:pt x="130556" y="27051"/>
                    <a:pt x="27178" y="130175"/>
                    <a:pt x="27178" y="257302"/>
                  </a:cubicBezTo>
                  <a:close/>
                </a:path>
              </a:pathLst>
            </a:custGeom>
            <a:solidFill>
              <a:srgbClr val="3A6B9B"/>
            </a:solidFill>
          </p:spPr>
        </p:sp>
      </p:grpSp>
      <p:grpSp>
        <p:nvGrpSpPr>
          <p:cNvPr name="Group 55" id="55"/>
          <p:cNvGrpSpPr/>
          <p:nvPr/>
        </p:nvGrpSpPr>
        <p:grpSpPr>
          <a:xfrm rot="0">
            <a:off x="6333239" y="8088887"/>
            <a:ext cx="2695451" cy="116843"/>
            <a:chOff x="0" y="0"/>
            <a:chExt cx="3593935" cy="155791"/>
          </a:xfrm>
        </p:grpSpPr>
        <p:sp>
          <p:nvSpPr>
            <p:cNvPr name="Freeform 56" id="56"/>
            <p:cNvSpPr/>
            <p:nvPr/>
          </p:nvSpPr>
          <p:spPr>
            <a:xfrm flipH="false" flipV="false" rot="0">
              <a:off x="16891" y="16891"/>
              <a:ext cx="3560064" cy="121920"/>
            </a:xfrm>
            <a:custGeom>
              <a:avLst/>
              <a:gdLst/>
              <a:ahLst/>
              <a:cxnLst/>
              <a:rect r="r" b="b" t="t" l="l"/>
              <a:pathLst>
                <a:path h="121920" w="3560064">
                  <a:moveTo>
                    <a:pt x="0" y="0"/>
                  </a:moveTo>
                  <a:lnTo>
                    <a:pt x="3560064" y="0"/>
                  </a:lnTo>
                  <a:lnTo>
                    <a:pt x="3560064" y="121920"/>
                  </a:lnTo>
                  <a:lnTo>
                    <a:pt x="0" y="121920"/>
                  </a:lnTo>
                  <a:close/>
                </a:path>
              </a:pathLst>
            </a:custGeom>
            <a:solidFill>
              <a:srgbClr val="3A6B9B"/>
            </a:solidFill>
          </p:spPr>
        </p:sp>
        <p:sp>
          <p:nvSpPr>
            <p:cNvPr name="Freeform 57" id="57"/>
            <p:cNvSpPr/>
            <p:nvPr/>
          </p:nvSpPr>
          <p:spPr>
            <a:xfrm flipH="false" flipV="false" rot="0">
              <a:off x="0" y="0"/>
              <a:ext cx="3593846" cy="155704"/>
            </a:xfrm>
            <a:custGeom>
              <a:avLst/>
              <a:gdLst/>
              <a:ahLst/>
              <a:cxnLst/>
              <a:rect r="r" b="b" t="t" l="l"/>
              <a:pathLst>
                <a:path h="155704" w="3593846">
                  <a:moveTo>
                    <a:pt x="16891" y="0"/>
                  </a:moveTo>
                  <a:lnTo>
                    <a:pt x="3576955" y="0"/>
                  </a:lnTo>
                  <a:cubicBezTo>
                    <a:pt x="3586353" y="0"/>
                    <a:pt x="3593846" y="7620"/>
                    <a:pt x="3593846" y="16891"/>
                  </a:cubicBezTo>
                  <a:lnTo>
                    <a:pt x="3593846" y="138811"/>
                  </a:lnTo>
                  <a:cubicBezTo>
                    <a:pt x="3593846" y="148209"/>
                    <a:pt x="3586226" y="155702"/>
                    <a:pt x="3576955"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3576955" y="121920"/>
                  </a:lnTo>
                  <a:lnTo>
                    <a:pt x="3576955" y="138811"/>
                  </a:lnTo>
                  <a:lnTo>
                    <a:pt x="3560064" y="138811"/>
                  </a:lnTo>
                  <a:lnTo>
                    <a:pt x="3560064" y="16891"/>
                  </a:lnTo>
                  <a:lnTo>
                    <a:pt x="3576955" y="16891"/>
                  </a:lnTo>
                  <a:lnTo>
                    <a:pt x="3576955" y="33909"/>
                  </a:lnTo>
                  <a:lnTo>
                    <a:pt x="16891" y="33909"/>
                  </a:lnTo>
                  <a:close/>
                </a:path>
              </a:pathLst>
            </a:custGeom>
            <a:solidFill>
              <a:srgbClr val="3A6B9B"/>
            </a:solidFill>
          </p:spPr>
        </p:sp>
      </p:grpSp>
      <p:grpSp>
        <p:nvGrpSpPr>
          <p:cNvPr name="Group 58" id="58"/>
          <p:cNvGrpSpPr/>
          <p:nvPr/>
        </p:nvGrpSpPr>
        <p:grpSpPr>
          <a:xfrm rot="0">
            <a:off x="6345936" y="8229600"/>
            <a:ext cx="2670048" cy="990295"/>
            <a:chOff x="0" y="0"/>
            <a:chExt cx="3560064" cy="1320394"/>
          </a:xfrm>
        </p:grpSpPr>
        <p:sp>
          <p:nvSpPr>
            <p:cNvPr name="Freeform 59" id="59"/>
            <p:cNvSpPr/>
            <p:nvPr/>
          </p:nvSpPr>
          <p:spPr>
            <a:xfrm flipH="false" flipV="false" rot="0">
              <a:off x="0" y="0"/>
              <a:ext cx="3560064" cy="1320394"/>
            </a:xfrm>
            <a:custGeom>
              <a:avLst/>
              <a:gdLst/>
              <a:ahLst/>
              <a:cxnLst/>
              <a:rect r="r" b="b" t="t" l="l"/>
              <a:pathLst>
                <a:path h="1320394" w="3560064">
                  <a:moveTo>
                    <a:pt x="0" y="0"/>
                  </a:moveTo>
                  <a:lnTo>
                    <a:pt x="3560064" y="0"/>
                  </a:lnTo>
                  <a:lnTo>
                    <a:pt x="3560064" y="1320394"/>
                  </a:lnTo>
                  <a:lnTo>
                    <a:pt x="0" y="1320394"/>
                  </a:lnTo>
                  <a:close/>
                </a:path>
              </a:pathLst>
            </a:custGeom>
            <a:blipFill>
              <a:blip r:embed="rId3">
                <a:alphaModFix amt="0"/>
              </a:blip>
              <a:stretch>
                <a:fillRect l="0" t="-8214" r="0" b="3142"/>
              </a:stretch>
            </a:blipFill>
          </p:spPr>
        </p:sp>
        <p:sp>
          <p:nvSpPr>
            <p:cNvPr name="TextBox 60" id="60"/>
            <p:cNvSpPr txBox="true"/>
            <p:nvPr/>
          </p:nvSpPr>
          <p:spPr>
            <a:xfrm>
              <a:off x="0" y="0"/>
              <a:ext cx="3560064" cy="1320394"/>
            </a:xfrm>
            <a:prstGeom prst="rect">
              <a:avLst/>
            </a:prstGeom>
          </p:spPr>
          <p:txBody>
            <a:bodyPr anchor="ctr" rtlCol="false" tIns="0" lIns="0" bIns="0" rIns="0"/>
            <a:lstStyle/>
            <a:p>
              <a:pPr algn="ctr">
                <a:lnSpc>
                  <a:spcPts val="5759"/>
                </a:lnSpc>
              </a:pPr>
              <a:r>
                <a:rPr lang="en-US" sz="4800" b="true">
                  <a:solidFill>
                    <a:srgbClr val="3A6B9B"/>
                  </a:solidFill>
                  <a:latin typeface="EB Garamond Semi-Bold"/>
                  <a:ea typeface="EB Garamond Semi-Bold"/>
                  <a:cs typeface="EB Garamond Semi-Bold"/>
                  <a:sym typeface="EB Garamond Semi-Bold"/>
                </a:rPr>
                <a:t>25</a:t>
              </a:r>
            </a:p>
          </p:txBody>
        </p:sp>
      </p:grpSp>
      <p:grpSp>
        <p:nvGrpSpPr>
          <p:cNvPr name="Group 61" id="61"/>
          <p:cNvGrpSpPr/>
          <p:nvPr/>
        </p:nvGrpSpPr>
        <p:grpSpPr>
          <a:xfrm rot="0">
            <a:off x="6345936" y="9089136"/>
            <a:ext cx="2670048" cy="548640"/>
            <a:chOff x="0" y="0"/>
            <a:chExt cx="3560064" cy="731520"/>
          </a:xfrm>
        </p:grpSpPr>
        <p:sp>
          <p:nvSpPr>
            <p:cNvPr name="Freeform 62" id="62"/>
            <p:cNvSpPr/>
            <p:nvPr/>
          </p:nvSpPr>
          <p:spPr>
            <a:xfrm flipH="false" flipV="false" rot="0">
              <a:off x="0" y="0"/>
              <a:ext cx="3560064" cy="731520"/>
            </a:xfrm>
            <a:custGeom>
              <a:avLst/>
              <a:gdLst/>
              <a:ahLst/>
              <a:cxnLst/>
              <a:rect r="r" b="b" t="t" l="l"/>
              <a:pathLst>
                <a:path h="731520" w="3560064">
                  <a:moveTo>
                    <a:pt x="0" y="0"/>
                  </a:moveTo>
                  <a:lnTo>
                    <a:pt x="3560064" y="0"/>
                  </a:lnTo>
                  <a:lnTo>
                    <a:pt x="3560064" y="731520"/>
                  </a:lnTo>
                  <a:lnTo>
                    <a:pt x="0" y="731520"/>
                  </a:lnTo>
                  <a:close/>
                </a:path>
              </a:pathLst>
            </a:custGeom>
            <a:blipFill>
              <a:blip r:embed="rId3">
                <a:alphaModFix amt="0"/>
              </a:blip>
              <a:stretch>
                <a:fillRect l="0" t="-44827" r="0" b="-44827"/>
              </a:stretch>
            </a:blipFill>
          </p:spPr>
        </p:sp>
        <p:sp>
          <p:nvSpPr>
            <p:cNvPr name="TextBox 63" id="63"/>
            <p:cNvSpPr txBox="true"/>
            <p:nvPr/>
          </p:nvSpPr>
          <p:spPr>
            <a:xfrm>
              <a:off x="0" y="9525"/>
              <a:ext cx="3560064" cy="721995"/>
            </a:xfrm>
            <a:prstGeom prst="rect">
              <a:avLst/>
            </a:prstGeom>
          </p:spPr>
          <p:txBody>
            <a:bodyPr anchor="ctr" rtlCol="false" tIns="0" lIns="0" bIns="0" rIns="0"/>
            <a:lstStyle/>
            <a:p>
              <a:pPr algn="ctr">
                <a:lnSpc>
                  <a:spcPts val="2160"/>
                </a:lnSpc>
              </a:pPr>
              <a:r>
                <a:rPr lang="en-US" sz="1800">
                  <a:solidFill>
                    <a:srgbClr val="7B8FA1"/>
                  </a:solidFill>
                  <a:latin typeface="EB Garamond"/>
                  <a:ea typeface="EB Garamond"/>
                  <a:cs typeface="EB Garamond"/>
                  <a:sym typeface="EB Garamond"/>
                </a:rPr>
                <a:t>Fils</a:t>
              </a:r>
            </a:p>
          </p:txBody>
        </p:sp>
      </p:grpSp>
      <p:grpSp>
        <p:nvGrpSpPr>
          <p:cNvPr name="Group 64" id="64"/>
          <p:cNvGrpSpPr/>
          <p:nvPr/>
        </p:nvGrpSpPr>
        <p:grpSpPr>
          <a:xfrm rot="0">
            <a:off x="9188701" y="8091421"/>
            <a:ext cx="2690365" cy="1812541"/>
            <a:chOff x="0" y="0"/>
            <a:chExt cx="3587153" cy="2416721"/>
          </a:xfrm>
        </p:grpSpPr>
        <p:sp>
          <p:nvSpPr>
            <p:cNvPr name="Freeform 65" id="65"/>
            <p:cNvSpPr/>
            <p:nvPr/>
          </p:nvSpPr>
          <p:spPr>
            <a:xfrm flipH="false" flipV="false" rot="0">
              <a:off x="13589" y="13589"/>
              <a:ext cx="3560064" cy="2389632"/>
            </a:xfrm>
            <a:custGeom>
              <a:avLst/>
              <a:gdLst/>
              <a:ahLst/>
              <a:cxnLst/>
              <a:rect r="r" b="b" t="t" l="l"/>
              <a:pathLst>
                <a:path h="2389632" w="3560064">
                  <a:moveTo>
                    <a:pt x="0" y="243840"/>
                  </a:moveTo>
                  <a:cubicBezTo>
                    <a:pt x="0" y="109220"/>
                    <a:pt x="109601" y="0"/>
                    <a:pt x="244729" y="0"/>
                  </a:cubicBezTo>
                  <a:lnTo>
                    <a:pt x="3315335" y="0"/>
                  </a:lnTo>
                  <a:cubicBezTo>
                    <a:pt x="3450463" y="0"/>
                    <a:pt x="3560064" y="109220"/>
                    <a:pt x="3560064" y="243840"/>
                  </a:cubicBezTo>
                  <a:lnTo>
                    <a:pt x="3560064" y="2145792"/>
                  </a:lnTo>
                  <a:cubicBezTo>
                    <a:pt x="3560064" y="2280412"/>
                    <a:pt x="3450463" y="2389632"/>
                    <a:pt x="3315335" y="2389632"/>
                  </a:cubicBezTo>
                  <a:lnTo>
                    <a:pt x="244729" y="2389632"/>
                  </a:lnTo>
                  <a:cubicBezTo>
                    <a:pt x="109601" y="2389632"/>
                    <a:pt x="0" y="2280412"/>
                    <a:pt x="0" y="2145792"/>
                  </a:cubicBezTo>
                  <a:close/>
                </a:path>
              </a:pathLst>
            </a:custGeom>
            <a:solidFill>
              <a:srgbClr val="EEF3F9"/>
            </a:solidFill>
          </p:spPr>
        </p:sp>
        <p:sp>
          <p:nvSpPr>
            <p:cNvPr name="Freeform 66" id="66"/>
            <p:cNvSpPr/>
            <p:nvPr/>
          </p:nvSpPr>
          <p:spPr>
            <a:xfrm flipH="false" flipV="false" rot="0">
              <a:off x="0" y="0"/>
              <a:ext cx="3587242" cy="2416810"/>
            </a:xfrm>
            <a:custGeom>
              <a:avLst/>
              <a:gdLst/>
              <a:ahLst/>
              <a:cxnLst/>
              <a:rect r="r" b="b" t="t" l="l"/>
              <a:pathLst>
                <a:path h="2416810" w="3587242">
                  <a:moveTo>
                    <a:pt x="0" y="257429"/>
                  </a:moveTo>
                  <a:cubicBezTo>
                    <a:pt x="0" y="115189"/>
                    <a:pt x="115697" y="0"/>
                    <a:pt x="258318" y="0"/>
                  </a:cubicBezTo>
                  <a:lnTo>
                    <a:pt x="3328924" y="0"/>
                  </a:lnTo>
                  <a:lnTo>
                    <a:pt x="3328924" y="13589"/>
                  </a:lnTo>
                  <a:lnTo>
                    <a:pt x="3328924" y="0"/>
                  </a:lnTo>
                  <a:cubicBezTo>
                    <a:pt x="3471545" y="0"/>
                    <a:pt x="3587242" y="115189"/>
                    <a:pt x="3587242" y="257429"/>
                  </a:cubicBezTo>
                  <a:lnTo>
                    <a:pt x="3573653" y="257429"/>
                  </a:lnTo>
                  <a:lnTo>
                    <a:pt x="3587242" y="257429"/>
                  </a:lnTo>
                  <a:lnTo>
                    <a:pt x="3587242" y="2159381"/>
                  </a:lnTo>
                  <a:lnTo>
                    <a:pt x="3573653" y="2159381"/>
                  </a:lnTo>
                  <a:lnTo>
                    <a:pt x="3587242" y="2159381"/>
                  </a:lnTo>
                  <a:cubicBezTo>
                    <a:pt x="3587242" y="2301621"/>
                    <a:pt x="3471545" y="2416810"/>
                    <a:pt x="3328924" y="2416810"/>
                  </a:cubicBezTo>
                  <a:lnTo>
                    <a:pt x="3328924" y="2403221"/>
                  </a:lnTo>
                  <a:lnTo>
                    <a:pt x="3328924" y="2416810"/>
                  </a:lnTo>
                  <a:lnTo>
                    <a:pt x="258318" y="2416810"/>
                  </a:lnTo>
                  <a:lnTo>
                    <a:pt x="258318" y="2403221"/>
                  </a:lnTo>
                  <a:lnTo>
                    <a:pt x="258318" y="2416810"/>
                  </a:lnTo>
                  <a:cubicBezTo>
                    <a:pt x="115697" y="2416683"/>
                    <a:pt x="0" y="2301494"/>
                    <a:pt x="0" y="2159381"/>
                  </a:cubicBezTo>
                  <a:lnTo>
                    <a:pt x="0" y="257429"/>
                  </a:lnTo>
                  <a:lnTo>
                    <a:pt x="13589" y="257429"/>
                  </a:lnTo>
                  <a:lnTo>
                    <a:pt x="0" y="257429"/>
                  </a:lnTo>
                  <a:moveTo>
                    <a:pt x="27051" y="257429"/>
                  </a:moveTo>
                  <a:lnTo>
                    <a:pt x="27051" y="2159381"/>
                  </a:lnTo>
                  <a:lnTo>
                    <a:pt x="13589" y="2159381"/>
                  </a:lnTo>
                  <a:lnTo>
                    <a:pt x="27051" y="2159381"/>
                  </a:lnTo>
                  <a:cubicBezTo>
                    <a:pt x="27051" y="2286508"/>
                    <a:pt x="130556" y="2389632"/>
                    <a:pt x="258191" y="2389632"/>
                  </a:cubicBezTo>
                  <a:lnTo>
                    <a:pt x="3328924" y="2389632"/>
                  </a:lnTo>
                  <a:cubicBezTo>
                    <a:pt x="3456686" y="2389632"/>
                    <a:pt x="3560064" y="2286508"/>
                    <a:pt x="3560064" y="2159381"/>
                  </a:cubicBezTo>
                  <a:lnTo>
                    <a:pt x="3560064" y="257429"/>
                  </a:lnTo>
                  <a:cubicBezTo>
                    <a:pt x="3560064" y="130302"/>
                    <a:pt x="3456559" y="27178"/>
                    <a:pt x="3328924" y="27178"/>
                  </a:cubicBezTo>
                  <a:lnTo>
                    <a:pt x="258318" y="27178"/>
                  </a:lnTo>
                  <a:lnTo>
                    <a:pt x="258318" y="13589"/>
                  </a:lnTo>
                  <a:lnTo>
                    <a:pt x="258318" y="27051"/>
                  </a:lnTo>
                  <a:cubicBezTo>
                    <a:pt x="130556" y="27051"/>
                    <a:pt x="27178" y="130175"/>
                    <a:pt x="27178" y="257302"/>
                  </a:cubicBezTo>
                  <a:close/>
                </a:path>
              </a:pathLst>
            </a:custGeom>
            <a:solidFill>
              <a:srgbClr val="3A7D5C"/>
            </a:solidFill>
          </p:spPr>
        </p:sp>
      </p:grpSp>
      <p:grpSp>
        <p:nvGrpSpPr>
          <p:cNvPr name="Group 67" id="67"/>
          <p:cNvGrpSpPr/>
          <p:nvPr/>
        </p:nvGrpSpPr>
        <p:grpSpPr>
          <a:xfrm rot="0">
            <a:off x="9186167" y="8088887"/>
            <a:ext cx="2695451" cy="116843"/>
            <a:chOff x="0" y="0"/>
            <a:chExt cx="3593935" cy="155791"/>
          </a:xfrm>
        </p:grpSpPr>
        <p:sp>
          <p:nvSpPr>
            <p:cNvPr name="Freeform 68" id="68"/>
            <p:cNvSpPr/>
            <p:nvPr/>
          </p:nvSpPr>
          <p:spPr>
            <a:xfrm flipH="false" flipV="false" rot="0">
              <a:off x="16891" y="16891"/>
              <a:ext cx="3560064" cy="121920"/>
            </a:xfrm>
            <a:custGeom>
              <a:avLst/>
              <a:gdLst/>
              <a:ahLst/>
              <a:cxnLst/>
              <a:rect r="r" b="b" t="t" l="l"/>
              <a:pathLst>
                <a:path h="121920" w="3560064">
                  <a:moveTo>
                    <a:pt x="0" y="0"/>
                  </a:moveTo>
                  <a:lnTo>
                    <a:pt x="3560064" y="0"/>
                  </a:lnTo>
                  <a:lnTo>
                    <a:pt x="3560064" y="121920"/>
                  </a:lnTo>
                  <a:lnTo>
                    <a:pt x="0" y="121920"/>
                  </a:lnTo>
                  <a:close/>
                </a:path>
              </a:pathLst>
            </a:custGeom>
            <a:solidFill>
              <a:srgbClr val="3A7D5C"/>
            </a:solidFill>
          </p:spPr>
        </p:sp>
        <p:sp>
          <p:nvSpPr>
            <p:cNvPr name="Freeform 69" id="69"/>
            <p:cNvSpPr/>
            <p:nvPr/>
          </p:nvSpPr>
          <p:spPr>
            <a:xfrm flipH="false" flipV="false" rot="0">
              <a:off x="0" y="0"/>
              <a:ext cx="3593846" cy="155704"/>
            </a:xfrm>
            <a:custGeom>
              <a:avLst/>
              <a:gdLst/>
              <a:ahLst/>
              <a:cxnLst/>
              <a:rect r="r" b="b" t="t" l="l"/>
              <a:pathLst>
                <a:path h="155704" w="3593846">
                  <a:moveTo>
                    <a:pt x="16891" y="0"/>
                  </a:moveTo>
                  <a:lnTo>
                    <a:pt x="3576955" y="0"/>
                  </a:lnTo>
                  <a:cubicBezTo>
                    <a:pt x="3586353" y="0"/>
                    <a:pt x="3593846" y="7620"/>
                    <a:pt x="3593846" y="16891"/>
                  </a:cubicBezTo>
                  <a:lnTo>
                    <a:pt x="3593846" y="138811"/>
                  </a:lnTo>
                  <a:cubicBezTo>
                    <a:pt x="3593846" y="148209"/>
                    <a:pt x="3586226" y="155702"/>
                    <a:pt x="3576955"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3576955" y="121920"/>
                  </a:lnTo>
                  <a:lnTo>
                    <a:pt x="3576955" y="138811"/>
                  </a:lnTo>
                  <a:lnTo>
                    <a:pt x="3560064" y="138811"/>
                  </a:lnTo>
                  <a:lnTo>
                    <a:pt x="3560064" y="16891"/>
                  </a:lnTo>
                  <a:lnTo>
                    <a:pt x="3576955" y="16891"/>
                  </a:lnTo>
                  <a:lnTo>
                    <a:pt x="3576955" y="33909"/>
                  </a:lnTo>
                  <a:lnTo>
                    <a:pt x="16891" y="33909"/>
                  </a:lnTo>
                  <a:close/>
                </a:path>
              </a:pathLst>
            </a:custGeom>
            <a:solidFill>
              <a:srgbClr val="3A7D5C"/>
            </a:solidFill>
          </p:spPr>
        </p:sp>
      </p:grpSp>
      <p:grpSp>
        <p:nvGrpSpPr>
          <p:cNvPr name="Group 70" id="70"/>
          <p:cNvGrpSpPr/>
          <p:nvPr/>
        </p:nvGrpSpPr>
        <p:grpSpPr>
          <a:xfrm rot="0">
            <a:off x="9198864" y="8229600"/>
            <a:ext cx="2670048" cy="990295"/>
            <a:chOff x="0" y="0"/>
            <a:chExt cx="3560064" cy="1320394"/>
          </a:xfrm>
        </p:grpSpPr>
        <p:sp>
          <p:nvSpPr>
            <p:cNvPr name="Freeform 71" id="71"/>
            <p:cNvSpPr/>
            <p:nvPr/>
          </p:nvSpPr>
          <p:spPr>
            <a:xfrm flipH="false" flipV="false" rot="0">
              <a:off x="0" y="0"/>
              <a:ext cx="3560064" cy="1320394"/>
            </a:xfrm>
            <a:custGeom>
              <a:avLst/>
              <a:gdLst/>
              <a:ahLst/>
              <a:cxnLst/>
              <a:rect r="r" b="b" t="t" l="l"/>
              <a:pathLst>
                <a:path h="1320394" w="3560064">
                  <a:moveTo>
                    <a:pt x="0" y="0"/>
                  </a:moveTo>
                  <a:lnTo>
                    <a:pt x="3560064" y="0"/>
                  </a:lnTo>
                  <a:lnTo>
                    <a:pt x="3560064" y="1320394"/>
                  </a:lnTo>
                  <a:lnTo>
                    <a:pt x="0" y="1320394"/>
                  </a:lnTo>
                  <a:close/>
                </a:path>
              </a:pathLst>
            </a:custGeom>
            <a:blipFill>
              <a:blip r:embed="rId3">
                <a:alphaModFix amt="0"/>
              </a:blip>
              <a:stretch>
                <a:fillRect l="0" t="-8214" r="0" b="3142"/>
              </a:stretch>
            </a:blipFill>
          </p:spPr>
        </p:sp>
        <p:sp>
          <p:nvSpPr>
            <p:cNvPr name="TextBox 72" id="72"/>
            <p:cNvSpPr txBox="true"/>
            <p:nvPr/>
          </p:nvSpPr>
          <p:spPr>
            <a:xfrm>
              <a:off x="0" y="0"/>
              <a:ext cx="3560064" cy="1320394"/>
            </a:xfrm>
            <a:prstGeom prst="rect">
              <a:avLst/>
            </a:prstGeom>
          </p:spPr>
          <p:txBody>
            <a:bodyPr anchor="ctr" rtlCol="false" tIns="0" lIns="0" bIns="0" rIns="0"/>
            <a:lstStyle/>
            <a:p>
              <a:pPr algn="ctr">
                <a:lnSpc>
                  <a:spcPts val="5759"/>
                </a:lnSpc>
              </a:pPr>
              <a:r>
                <a:rPr lang="en-US" sz="4800" b="true">
                  <a:solidFill>
                    <a:srgbClr val="3A7D5C"/>
                  </a:solidFill>
                  <a:latin typeface="EB Garamond Semi-Bold"/>
                  <a:ea typeface="EB Garamond Semi-Bold"/>
                  <a:cs typeface="EB Garamond Semi-Bold"/>
                  <a:sym typeface="EB Garamond Semi-Bold"/>
                </a:rPr>
                <a:t>12</a:t>
              </a:r>
            </a:p>
          </p:txBody>
        </p:sp>
      </p:grpSp>
      <p:grpSp>
        <p:nvGrpSpPr>
          <p:cNvPr name="Group 73" id="73"/>
          <p:cNvGrpSpPr/>
          <p:nvPr/>
        </p:nvGrpSpPr>
        <p:grpSpPr>
          <a:xfrm rot="0">
            <a:off x="9198864" y="9089136"/>
            <a:ext cx="2670048" cy="548640"/>
            <a:chOff x="0" y="0"/>
            <a:chExt cx="3560064" cy="731520"/>
          </a:xfrm>
        </p:grpSpPr>
        <p:sp>
          <p:nvSpPr>
            <p:cNvPr name="Freeform 74" id="74"/>
            <p:cNvSpPr/>
            <p:nvPr/>
          </p:nvSpPr>
          <p:spPr>
            <a:xfrm flipH="false" flipV="false" rot="0">
              <a:off x="0" y="0"/>
              <a:ext cx="3560064" cy="731520"/>
            </a:xfrm>
            <a:custGeom>
              <a:avLst/>
              <a:gdLst/>
              <a:ahLst/>
              <a:cxnLst/>
              <a:rect r="r" b="b" t="t" l="l"/>
              <a:pathLst>
                <a:path h="731520" w="3560064">
                  <a:moveTo>
                    <a:pt x="0" y="0"/>
                  </a:moveTo>
                  <a:lnTo>
                    <a:pt x="3560064" y="0"/>
                  </a:lnTo>
                  <a:lnTo>
                    <a:pt x="3560064" y="731520"/>
                  </a:lnTo>
                  <a:lnTo>
                    <a:pt x="0" y="731520"/>
                  </a:lnTo>
                  <a:close/>
                </a:path>
              </a:pathLst>
            </a:custGeom>
            <a:blipFill>
              <a:blip r:embed="rId3">
                <a:alphaModFix amt="0"/>
              </a:blip>
              <a:stretch>
                <a:fillRect l="0" t="-44827" r="0" b="-44827"/>
              </a:stretch>
            </a:blipFill>
          </p:spPr>
        </p:sp>
        <p:sp>
          <p:nvSpPr>
            <p:cNvPr name="TextBox 75" id="75"/>
            <p:cNvSpPr txBox="true"/>
            <p:nvPr/>
          </p:nvSpPr>
          <p:spPr>
            <a:xfrm>
              <a:off x="0" y="9525"/>
              <a:ext cx="3560064" cy="721995"/>
            </a:xfrm>
            <a:prstGeom prst="rect">
              <a:avLst/>
            </a:prstGeom>
          </p:spPr>
          <p:txBody>
            <a:bodyPr anchor="ctr" rtlCol="false" tIns="0" lIns="0" bIns="0" rIns="0"/>
            <a:lstStyle/>
            <a:p>
              <a:pPr algn="ctr">
                <a:lnSpc>
                  <a:spcPts val="2160"/>
                </a:lnSpc>
              </a:pPr>
              <a:r>
                <a:rPr lang="en-US" sz="1800">
                  <a:solidFill>
                    <a:srgbClr val="7B8FA1"/>
                  </a:solidFill>
                  <a:latin typeface="EB Garamond"/>
                  <a:ea typeface="EB Garamond"/>
                  <a:cs typeface="EB Garamond"/>
                  <a:sym typeface="EB Garamond"/>
                </a:rPr>
                <a:t>Neveu</a:t>
              </a:r>
            </a:p>
          </p:txBody>
        </p:sp>
      </p:grpSp>
      <p:grpSp>
        <p:nvGrpSpPr>
          <p:cNvPr name="Group 76" id="76"/>
          <p:cNvGrpSpPr/>
          <p:nvPr/>
        </p:nvGrpSpPr>
        <p:grpSpPr>
          <a:xfrm rot="0">
            <a:off x="12041629" y="8091421"/>
            <a:ext cx="2690365" cy="1812541"/>
            <a:chOff x="0" y="0"/>
            <a:chExt cx="3587153" cy="2416721"/>
          </a:xfrm>
        </p:grpSpPr>
        <p:sp>
          <p:nvSpPr>
            <p:cNvPr name="Freeform 77" id="77"/>
            <p:cNvSpPr/>
            <p:nvPr/>
          </p:nvSpPr>
          <p:spPr>
            <a:xfrm flipH="false" flipV="false" rot="0">
              <a:off x="13589" y="13589"/>
              <a:ext cx="3560064" cy="2389632"/>
            </a:xfrm>
            <a:custGeom>
              <a:avLst/>
              <a:gdLst/>
              <a:ahLst/>
              <a:cxnLst/>
              <a:rect r="r" b="b" t="t" l="l"/>
              <a:pathLst>
                <a:path h="2389632" w="3560064">
                  <a:moveTo>
                    <a:pt x="0" y="243840"/>
                  </a:moveTo>
                  <a:cubicBezTo>
                    <a:pt x="0" y="109220"/>
                    <a:pt x="109601" y="0"/>
                    <a:pt x="244729" y="0"/>
                  </a:cubicBezTo>
                  <a:lnTo>
                    <a:pt x="3315335" y="0"/>
                  </a:lnTo>
                  <a:cubicBezTo>
                    <a:pt x="3450463" y="0"/>
                    <a:pt x="3560064" y="109220"/>
                    <a:pt x="3560064" y="243840"/>
                  </a:cubicBezTo>
                  <a:lnTo>
                    <a:pt x="3560064" y="2145792"/>
                  </a:lnTo>
                  <a:cubicBezTo>
                    <a:pt x="3560064" y="2280412"/>
                    <a:pt x="3450463" y="2389632"/>
                    <a:pt x="3315335" y="2389632"/>
                  </a:cubicBezTo>
                  <a:lnTo>
                    <a:pt x="244729" y="2389632"/>
                  </a:lnTo>
                  <a:cubicBezTo>
                    <a:pt x="109601" y="2389632"/>
                    <a:pt x="0" y="2280412"/>
                    <a:pt x="0" y="2145792"/>
                  </a:cubicBezTo>
                  <a:close/>
                </a:path>
              </a:pathLst>
            </a:custGeom>
            <a:solidFill>
              <a:srgbClr val="EEF3F9"/>
            </a:solidFill>
          </p:spPr>
        </p:sp>
        <p:sp>
          <p:nvSpPr>
            <p:cNvPr name="Freeform 78" id="78"/>
            <p:cNvSpPr/>
            <p:nvPr/>
          </p:nvSpPr>
          <p:spPr>
            <a:xfrm flipH="false" flipV="false" rot="0">
              <a:off x="0" y="0"/>
              <a:ext cx="3587242" cy="2416810"/>
            </a:xfrm>
            <a:custGeom>
              <a:avLst/>
              <a:gdLst/>
              <a:ahLst/>
              <a:cxnLst/>
              <a:rect r="r" b="b" t="t" l="l"/>
              <a:pathLst>
                <a:path h="2416810" w="3587242">
                  <a:moveTo>
                    <a:pt x="0" y="257429"/>
                  </a:moveTo>
                  <a:cubicBezTo>
                    <a:pt x="0" y="115189"/>
                    <a:pt x="115697" y="0"/>
                    <a:pt x="258318" y="0"/>
                  </a:cubicBezTo>
                  <a:lnTo>
                    <a:pt x="3328924" y="0"/>
                  </a:lnTo>
                  <a:lnTo>
                    <a:pt x="3328924" y="13589"/>
                  </a:lnTo>
                  <a:lnTo>
                    <a:pt x="3328924" y="0"/>
                  </a:lnTo>
                  <a:cubicBezTo>
                    <a:pt x="3471545" y="0"/>
                    <a:pt x="3587242" y="115189"/>
                    <a:pt x="3587242" y="257429"/>
                  </a:cubicBezTo>
                  <a:lnTo>
                    <a:pt x="3573653" y="257429"/>
                  </a:lnTo>
                  <a:lnTo>
                    <a:pt x="3587242" y="257429"/>
                  </a:lnTo>
                  <a:lnTo>
                    <a:pt x="3587242" y="2159381"/>
                  </a:lnTo>
                  <a:lnTo>
                    <a:pt x="3573653" y="2159381"/>
                  </a:lnTo>
                  <a:lnTo>
                    <a:pt x="3587242" y="2159381"/>
                  </a:lnTo>
                  <a:cubicBezTo>
                    <a:pt x="3587242" y="2301621"/>
                    <a:pt x="3471545" y="2416810"/>
                    <a:pt x="3328924" y="2416810"/>
                  </a:cubicBezTo>
                  <a:lnTo>
                    <a:pt x="3328924" y="2403221"/>
                  </a:lnTo>
                  <a:lnTo>
                    <a:pt x="3328924" y="2416810"/>
                  </a:lnTo>
                  <a:lnTo>
                    <a:pt x="258318" y="2416810"/>
                  </a:lnTo>
                  <a:lnTo>
                    <a:pt x="258318" y="2403221"/>
                  </a:lnTo>
                  <a:lnTo>
                    <a:pt x="258318" y="2416810"/>
                  </a:lnTo>
                  <a:cubicBezTo>
                    <a:pt x="115697" y="2416683"/>
                    <a:pt x="0" y="2301494"/>
                    <a:pt x="0" y="2159381"/>
                  </a:cubicBezTo>
                  <a:lnTo>
                    <a:pt x="0" y="257429"/>
                  </a:lnTo>
                  <a:lnTo>
                    <a:pt x="13589" y="257429"/>
                  </a:lnTo>
                  <a:lnTo>
                    <a:pt x="0" y="257429"/>
                  </a:lnTo>
                  <a:moveTo>
                    <a:pt x="27051" y="257429"/>
                  </a:moveTo>
                  <a:lnTo>
                    <a:pt x="27051" y="2159381"/>
                  </a:lnTo>
                  <a:lnTo>
                    <a:pt x="13589" y="2159381"/>
                  </a:lnTo>
                  <a:lnTo>
                    <a:pt x="27051" y="2159381"/>
                  </a:lnTo>
                  <a:cubicBezTo>
                    <a:pt x="27051" y="2286508"/>
                    <a:pt x="130556" y="2389632"/>
                    <a:pt x="258191" y="2389632"/>
                  </a:cubicBezTo>
                  <a:lnTo>
                    <a:pt x="3328924" y="2389632"/>
                  </a:lnTo>
                  <a:cubicBezTo>
                    <a:pt x="3456686" y="2389632"/>
                    <a:pt x="3560064" y="2286508"/>
                    <a:pt x="3560064" y="2159381"/>
                  </a:cubicBezTo>
                  <a:lnTo>
                    <a:pt x="3560064" y="257429"/>
                  </a:lnTo>
                  <a:cubicBezTo>
                    <a:pt x="3560064" y="130302"/>
                    <a:pt x="3456559" y="27178"/>
                    <a:pt x="3328924" y="27178"/>
                  </a:cubicBezTo>
                  <a:lnTo>
                    <a:pt x="258318" y="27178"/>
                  </a:lnTo>
                  <a:lnTo>
                    <a:pt x="258318" y="13589"/>
                  </a:lnTo>
                  <a:lnTo>
                    <a:pt x="258318" y="27051"/>
                  </a:lnTo>
                  <a:cubicBezTo>
                    <a:pt x="130556" y="27051"/>
                    <a:pt x="27178" y="130175"/>
                    <a:pt x="27178" y="257302"/>
                  </a:cubicBezTo>
                  <a:close/>
                </a:path>
              </a:pathLst>
            </a:custGeom>
            <a:solidFill>
              <a:srgbClr val="7B8FA1"/>
            </a:solidFill>
          </p:spPr>
        </p:sp>
      </p:grpSp>
      <p:grpSp>
        <p:nvGrpSpPr>
          <p:cNvPr name="Group 79" id="79"/>
          <p:cNvGrpSpPr/>
          <p:nvPr/>
        </p:nvGrpSpPr>
        <p:grpSpPr>
          <a:xfrm rot="0">
            <a:off x="12039095" y="8088887"/>
            <a:ext cx="2695451" cy="116843"/>
            <a:chOff x="0" y="0"/>
            <a:chExt cx="3593935" cy="155791"/>
          </a:xfrm>
        </p:grpSpPr>
        <p:sp>
          <p:nvSpPr>
            <p:cNvPr name="Freeform 80" id="80"/>
            <p:cNvSpPr/>
            <p:nvPr/>
          </p:nvSpPr>
          <p:spPr>
            <a:xfrm flipH="false" flipV="false" rot="0">
              <a:off x="16891" y="16891"/>
              <a:ext cx="3560064" cy="121920"/>
            </a:xfrm>
            <a:custGeom>
              <a:avLst/>
              <a:gdLst/>
              <a:ahLst/>
              <a:cxnLst/>
              <a:rect r="r" b="b" t="t" l="l"/>
              <a:pathLst>
                <a:path h="121920" w="3560064">
                  <a:moveTo>
                    <a:pt x="0" y="0"/>
                  </a:moveTo>
                  <a:lnTo>
                    <a:pt x="3560064" y="0"/>
                  </a:lnTo>
                  <a:lnTo>
                    <a:pt x="3560064" y="121920"/>
                  </a:lnTo>
                  <a:lnTo>
                    <a:pt x="0" y="121920"/>
                  </a:lnTo>
                  <a:close/>
                </a:path>
              </a:pathLst>
            </a:custGeom>
            <a:solidFill>
              <a:srgbClr val="7B8FA1"/>
            </a:solidFill>
          </p:spPr>
        </p:sp>
        <p:sp>
          <p:nvSpPr>
            <p:cNvPr name="Freeform 81" id="81"/>
            <p:cNvSpPr/>
            <p:nvPr/>
          </p:nvSpPr>
          <p:spPr>
            <a:xfrm flipH="false" flipV="false" rot="0">
              <a:off x="0" y="0"/>
              <a:ext cx="3593846" cy="155704"/>
            </a:xfrm>
            <a:custGeom>
              <a:avLst/>
              <a:gdLst/>
              <a:ahLst/>
              <a:cxnLst/>
              <a:rect r="r" b="b" t="t" l="l"/>
              <a:pathLst>
                <a:path h="155704" w="3593846">
                  <a:moveTo>
                    <a:pt x="16891" y="0"/>
                  </a:moveTo>
                  <a:lnTo>
                    <a:pt x="3576955" y="0"/>
                  </a:lnTo>
                  <a:cubicBezTo>
                    <a:pt x="3586353" y="0"/>
                    <a:pt x="3593846" y="7620"/>
                    <a:pt x="3593846" y="16891"/>
                  </a:cubicBezTo>
                  <a:lnTo>
                    <a:pt x="3593846" y="138811"/>
                  </a:lnTo>
                  <a:cubicBezTo>
                    <a:pt x="3593846" y="148209"/>
                    <a:pt x="3586226" y="155702"/>
                    <a:pt x="3576955"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3576955" y="121920"/>
                  </a:lnTo>
                  <a:lnTo>
                    <a:pt x="3576955" y="138811"/>
                  </a:lnTo>
                  <a:lnTo>
                    <a:pt x="3560064" y="138811"/>
                  </a:lnTo>
                  <a:lnTo>
                    <a:pt x="3560064" y="16891"/>
                  </a:lnTo>
                  <a:lnTo>
                    <a:pt x="3576955" y="16891"/>
                  </a:lnTo>
                  <a:lnTo>
                    <a:pt x="3576955" y="33909"/>
                  </a:lnTo>
                  <a:lnTo>
                    <a:pt x="16891" y="33909"/>
                  </a:lnTo>
                  <a:close/>
                </a:path>
              </a:pathLst>
            </a:custGeom>
            <a:solidFill>
              <a:srgbClr val="7B8FA1"/>
            </a:solidFill>
          </p:spPr>
        </p:sp>
      </p:grpSp>
      <p:grpSp>
        <p:nvGrpSpPr>
          <p:cNvPr name="Group 82" id="82"/>
          <p:cNvGrpSpPr/>
          <p:nvPr/>
        </p:nvGrpSpPr>
        <p:grpSpPr>
          <a:xfrm rot="0">
            <a:off x="12051792" y="8229600"/>
            <a:ext cx="2670048" cy="990295"/>
            <a:chOff x="0" y="0"/>
            <a:chExt cx="3560064" cy="1320394"/>
          </a:xfrm>
        </p:grpSpPr>
        <p:sp>
          <p:nvSpPr>
            <p:cNvPr name="Freeform 83" id="83"/>
            <p:cNvSpPr/>
            <p:nvPr/>
          </p:nvSpPr>
          <p:spPr>
            <a:xfrm flipH="false" flipV="false" rot="0">
              <a:off x="0" y="0"/>
              <a:ext cx="3560064" cy="1320394"/>
            </a:xfrm>
            <a:custGeom>
              <a:avLst/>
              <a:gdLst/>
              <a:ahLst/>
              <a:cxnLst/>
              <a:rect r="r" b="b" t="t" l="l"/>
              <a:pathLst>
                <a:path h="1320394" w="3560064">
                  <a:moveTo>
                    <a:pt x="0" y="0"/>
                  </a:moveTo>
                  <a:lnTo>
                    <a:pt x="3560064" y="0"/>
                  </a:lnTo>
                  <a:lnTo>
                    <a:pt x="3560064" y="1320394"/>
                  </a:lnTo>
                  <a:lnTo>
                    <a:pt x="0" y="1320394"/>
                  </a:lnTo>
                  <a:close/>
                </a:path>
              </a:pathLst>
            </a:custGeom>
            <a:blipFill>
              <a:blip r:embed="rId3">
                <a:alphaModFix amt="0"/>
              </a:blip>
              <a:stretch>
                <a:fillRect l="0" t="-8214" r="0" b="3142"/>
              </a:stretch>
            </a:blipFill>
          </p:spPr>
        </p:sp>
        <p:sp>
          <p:nvSpPr>
            <p:cNvPr name="TextBox 84" id="84"/>
            <p:cNvSpPr txBox="true"/>
            <p:nvPr/>
          </p:nvSpPr>
          <p:spPr>
            <a:xfrm>
              <a:off x="0" y="0"/>
              <a:ext cx="3560064" cy="1320394"/>
            </a:xfrm>
            <a:prstGeom prst="rect">
              <a:avLst/>
            </a:prstGeom>
          </p:spPr>
          <p:txBody>
            <a:bodyPr anchor="ctr" rtlCol="false" tIns="0" lIns="0" bIns="0" rIns="0"/>
            <a:lstStyle/>
            <a:p>
              <a:pPr algn="ctr">
                <a:lnSpc>
                  <a:spcPts val="5759"/>
                </a:lnSpc>
              </a:pPr>
              <a:r>
                <a:rPr lang="en-US" sz="4800" b="true">
                  <a:solidFill>
                    <a:srgbClr val="7B8FA1"/>
                  </a:solidFill>
                  <a:latin typeface="EB Garamond Semi-Bold"/>
                  <a:ea typeface="EB Garamond Semi-Bold"/>
                  <a:cs typeface="EB Garamond Semi-Bold"/>
                  <a:sym typeface="EB Garamond Semi-Bold"/>
                </a:rPr>
                <a:t>48</a:t>
              </a:r>
            </a:p>
          </p:txBody>
        </p:sp>
      </p:grpSp>
      <p:grpSp>
        <p:nvGrpSpPr>
          <p:cNvPr name="Group 85" id="85"/>
          <p:cNvGrpSpPr/>
          <p:nvPr/>
        </p:nvGrpSpPr>
        <p:grpSpPr>
          <a:xfrm rot="0">
            <a:off x="12051792" y="9089136"/>
            <a:ext cx="2670048" cy="548640"/>
            <a:chOff x="0" y="0"/>
            <a:chExt cx="3560064" cy="731520"/>
          </a:xfrm>
        </p:grpSpPr>
        <p:sp>
          <p:nvSpPr>
            <p:cNvPr name="Freeform 86" id="86"/>
            <p:cNvSpPr/>
            <p:nvPr/>
          </p:nvSpPr>
          <p:spPr>
            <a:xfrm flipH="false" flipV="false" rot="0">
              <a:off x="0" y="0"/>
              <a:ext cx="3560064" cy="731520"/>
            </a:xfrm>
            <a:custGeom>
              <a:avLst/>
              <a:gdLst/>
              <a:ahLst/>
              <a:cxnLst/>
              <a:rect r="r" b="b" t="t" l="l"/>
              <a:pathLst>
                <a:path h="731520" w="3560064">
                  <a:moveTo>
                    <a:pt x="0" y="0"/>
                  </a:moveTo>
                  <a:lnTo>
                    <a:pt x="3560064" y="0"/>
                  </a:lnTo>
                  <a:lnTo>
                    <a:pt x="3560064" y="731520"/>
                  </a:lnTo>
                  <a:lnTo>
                    <a:pt x="0" y="731520"/>
                  </a:lnTo>
                  <a:close/>
                </a:path>
              </a:pathLst>
            </a:custGeom>
            <a:blipFill>
              <a:blip r:embed="rId3">
                <a:alphaModFix amt="0"/>
              </a:blip>
              <a:stretch>
                <a:fillRect l="0" t="-44827" r="0" b="-44827"/>
              </a:stretch>
            </a:blipFill>
          </p:spPr>
        </p:sp>
        <p:sp>
          <p:nvSpPr>
            <p:cNvPr name="TextBox 87" id="87"/>
            <p:cNvSpPr txBox="true"/>
            <p:nvPr/>
          </p:nvSpPr>
          <p:spPr>
            <a:xfrm>
              <a:off x="0" y="9525"/>
              <a:ext cx="3560064" cy="721995"/>
            </a:xfrm>
            <a:prstGeom prst="rect">
              <a:avLst/>
            </a:prstGeom>
          </p:spPr>
          <p:txBody>
            <a:bodyPr anchor="ctr" rtlCol="false" tIns="0" lIns="0" bIns="0" rIns="0"/>
            <a:lstStyle/>
            <a:p>
              <a:pPr algn="ctr">
                <a:lnSpc>
                  <a:spcPts val="2160"/>
                </a:lnSpc>
              </a:pPr>
              <a:r>
                <a:rPr lang="en-US" sz="1800">
                  <a:solidFill>
                    <a:srgbClr val="7B8FA1"/>
                  </a:solidFill>
                  <a:latin typeface="EB Garamond"/>
                  <a:ea typeface="EB Garamond"/>
                  <a:cs typeface="EB Garamond"/>
                  <a:sym typeface="EB Garamond"/>
                </a:rPr>
                <a:t>Autres</a:t>
              </a:r>
            </a:p>
          </p:txBody>
        </p:sp>
      </p:grpSp>
      <p:grpSp>
        <p:nvGrpSpPr>
          <p:cNvPr name="Group 88" id="88"/>
          <p:cNvGrpSpPr/>
          <p:nvPr/>
        </p:nvGrpSpPr>
        <p:grpSpPr>
          <a:xfrm rot="0">
            <a:off x="14894557" y="8091421"/>
            <a:ext cx="2690365" cy="1812541"/>
            <a:chOff x="0" y="0"/>
            <a:chExt cx="3587153" cy="2416721"/>
          </a:xfrm>
        </p:grpSpPr>
        <p:sp>
          <p:nvSpPr>
            <p:cNvPr name="Freeform 89" id="89"/>
            <p:cNvSpPr/>
            <p:nvPr/>
          </p:nvSpPr>
          <p:spPr>
            <a:xfrm flipH="false" flipV="false" rot="0">
              <a:off x="13589" y="13589"/>
              <a:ext cx="3560064" cy="2389632"/>
            </a:xfrm>
            <a:custGeom>
              <a:avLst/>
              <a:gdLst/>
              <a:ahLst/>
              <a:cxnLst/>
              <a:rect r="r" b="b" t="t" l="l"/>
              <a:pathLst>
                <a:path h="2389632" w="3560064">
                  <a:moveTo>
                    <a:pt x="0" y="243840"/>
                  </a:moveTo>
                  <a:cubicBezTo>
                    <a:pt x="0" y="109220"/>
                    <a:pt x="109601" y="0"/>
                    <a:pt x="244729" y="0"/>
                  </a:cubicBezTo>
                  <a:lnTo>
                    <a:pt x="3315335" y="0"/>
                  </a:lnTo>
                  <a:cubicBezTo>
                    <a:pt x="3450463" y="0"/>
                    <a:pt x="3560064" y="109220"/>
                    <a:pt x="3560064" y="243840"/>
                  </a:cubicBezTo>
                  <a:lnTo>
                    <a:pt x="3560064" y="2145792"/>
                  </a:lnTo>
                  <a:cubicBezTo>
                    <a:pt x="3560064" y="2280412"/>
                    <a:pt x="3450463" y="2389632"/>
                    <a:pt x="3315335" y="2389632"/>
                  </a:cubicBezTo>
                  <a:lnTo>
                    <a:pt x="244729" y="2389632"/>
                  </a:lnTo>
                  <a:cubicBezTo>
                    <a:pt x="109601" y="2389632"/>
                    <a:pt x="0" y="2280412"/>
                    <a:pt x="0" y="2145792"/>
                  </a:cubicBezTo>
                  <a:close/>
                </a:path>
              </a:pathLst>
            </a:custGeom>
            <a:solidFill>
              <a:srgbClr val="EEF3F9"/>
            </a:solidFill>
          </p:spPr>
        </p:sp>
        <p:sp>
          <p:nvSpPr>
            <p:cNvPr name="Freeform 90" id="90"/>
            <p:cNvSpPr/>
            <p:nvPr/>
          </p:nvSpPr>
          <p:spPr>
            <a:xfrm flipH="false" flipV="false" rot="0">
              <a:off x="0" y="0"/>
              <a:ext cx="3587242" cy="2416810"/>
            </a:xfrm>
            <a:custGeom>
              <a:avLst/>
              <a:gdLst/>
              <a:ahLst/>
              <a:cxnLst/>
              <a:rect r="r" b="b" t="t" l="l"/>
              <a:pathLst>
                <a:path h="2416810" w="3587242">
                  <a:moveTo>
                    <a:pt x="0" y="257429"/>
                  </a:moveTo>
                  <a:cubicBezTo>
                    <a:pt x="0" y="115189"/>
                    <a:pt x="115697" y="0"/>
                    <a:pt x="258318" y="0"/>
                  </a:cubicBezTo>
                  <a:lnTo>
                    <a:pt x="3328924" y="0"/>
                  </a:lnTo>
                  <a:lnTo>
                    <a:pt x="3328924" y="13589"/>
                  </a:lnTo>
                  <a:lnTo>
                    <a:pt x="3328924" y="0"/>
                  </a:lnTo>
                  <a:cubicBezTo>
                    <a:pt x="3471545" y="0"/>
                    <a:pt x="3587242" y="115189"/>
                    <a:pt x="3587242" y="257429"/>
                  </a:cubicBezTo>
                  <a:lnTo>
                    <a:pt x="3573653" y="257429"/>
                  </a:lnTo>
                  <a:lnTo>
                    <a:pt x="3587242" y="257429"/>
                  </a:lnTo>
                  <a:lnTo>
                    <a:pt x="3587242" y="2159381"/>
                  </a:lnTo>
                  <a:lnTo>
                    <a:pt x="3573653" y="2159381"/>
                  </a:lnTo>
                  <a:lnTo>
                    <a:pt x="3587242" y="2159381"/>
                  </a:lnTo>
                  <a:cubicBezTo>
                    <a:pt x="3587242" y="2301621"/>
                    <a:pt x="3471545" y="2416810"/>
                    <a:pt x="3328924" y="2416810"/>
                  </a:cubicBezTo>
                  <a:lnTo>
                    <a:pt x="3328924" y="2403221"/>
                  </a:lnTo>
                  <a:lnTo>
                    <a:pt x="3328924" y="2416810"/>
                  </a:lnTo>
                  <a:lnTo>
                    <a:pt x="258318" y="2416810"/>
                  </a:lnTo>
                  <a:lnTo>
                    <a:pt x="258318" y="2403221"/>
                  </a:lnTo>
                  <a:lnTo>
                    <a:pt x="258318" y="2416810"/>
                  </a:lnTo>
                  <a:cubicBezTo>
                    <a:pt x="115697" y="2416683"/>
                    <a:pt x="0" y="2301494"/>
                    <a:pt x="0" y="2159381"/>
                  </a:cubicBezTo>
                  <a:lnTo>
                    <a:pt x="0" y="257429"/>
                  </a:lnTo>
                  <a:lnTo>
                    <a:pt x="13589" y="257429"/>
                  </a:lnTo>
                  <a:lnTo>
                    <a:pt x="0" y="257429"/>
                  </a:lnTo>
                  <a:moveTo>
                    <a:pt x="27051" y="257429"/>
                  </a:moveTo>
                  <a:lnTo>
                    <a:pt x="27051" y="2159381"/>
                  </a:lnTo>
                  <a:lnTo>
                    <a:pt x="13589" y="2159381"/>
                  </a:lnTo>
                  <a:lnTo>
                    <a:pt x="27051" y="2159381"/>
                  </a:lnTo>
                  <a:cubicBezTo>
                    <a:pt x="27051" y="2286508"/>
                    <a:pt x="130556" y="2389632"/>
                    <a:pt x="258191" y="2389632"/>
                  </a:cubicBezTo>
                  <a:lnTo>
                    <a:pt x="3328924" y="2389632"/>
                  </a:lnTo>
                  <a:cubicBezTo>
                    <a:pt x="3456686" y="2389632"/>
                    <a:pt x="3560064" y="2286508"/>
                    <a:pt x="3560064" y="2159381"/>
                  </a:cubicBezTo>
                  <a:lnTo>
                    <a:pt x="3560064" y="257429"/>
                  </a:lnTo>
                  <a:cubicBezTo>
                    <a:pt x="3560064" y="130302"/>
                    <a:pt x="3456559" y="27178"/>
                    <a:pt x="3328924" y="27178"/>
                  </a:cubicBezTo>
                  <a:lnTo>
                    <a:pt x="258318" y="27178"/>
                  </a:lnTo>
                  <a:lnTo>
                    <a:pt x="258318" y="13589"/>
                  </a:lnTo>
                  <a:lnTo>
                    <a:pt x="258318" y="27051"/>
                  </a:lnTo>
                  <a:cubicBezTo>
                    <a:pt x="130556" y="27051"/>
                    <a:pt x="27178" y="130175"/>
                    <a:pt x="27178" y="257302"/>
                  </a:cubicBezTo>
                  <a:close/>
                </a:path>
              </a:pathLst>
            </a:custGeom>
            <a:solidFill>
              <a:srgbClr val="BDC8D5"/>
            </a:solidFill>
          </p:spPr>
        </p:sp>
      </p:grpSp>
      <p:grpSp>
        <p:nvGrpSpPr>
          <p:cNvPr name="Group 91" id="91"/>
          <p:cNvGrpSpPr/>
          <p:nvPr/>
        </p:nvGrpSpPr>
        <p:grpSpPr>
          <a:xfrm rot="0">
            <a:off x="14892023" y="8088887"/>
            <a:ext cx="2695451" cy="116843"/>
            <a:chOff x="0" y="0"/>
            <a:chExt cx="3593935" cy="155791"/>
          </a:xfrm>
        </p:grpSpPr>
        <p:sp>
          <p:nvSpPr>
            <p:cNvPr name="Freeform 92" id="92"/>
            <p:cNvSpPr/>
            <p:nvPr/>
          </p:nvSpPr>
          <p:spPr>
            <a:xfrm flipH="false" flipV="false" rot="0">
              <a:off x="16891" y="16891"/>
              <a:ext cx="3560064" cy="121920"/>
            </a:xfrm>
            <a:custGeom>
              <a:avLst/>
              <a:gdLst/>
              <a:ahLst/>
              <a:cxnLst/>
              <a:rect r="r" b="b" t="t" l="l"/>
              <a:pathLst>
                <a:path h="121920" w="3560064">
                  <a:moveTo>
                    <a:pt x="0" y="0"/>
                  </a:moveTo>
                  <a:lnTo>
                    <a:pt x="3560064" y="0"/>
                  </a:lnTo>
                  <a:lnTo>
                    <a:pt x="3560064" y="121920"/>
                  </a:lnTo>
                  <a:lnTo>
                    <a:pt x="0" y="121920"/>
                  </a:lnTo>
                  <a:close/>
                </a:path>
              </a:pathLst>
            </a:custGeom>
            <a:solidFill>
              <a:srgbClr val="BDC8D5"/>
            </a:solidFill>
          </p:spPr>
        </p:sp>
        <p:sp>
          <p:nvSpPr>
            <p:cNvPr name="Freeform 93" id="93"/>
            <p:cNvSpPr/>
            <p:nvPr/>
          </p:nvSpPr>
          <p:spPr>
            <a:xfrm flipH="false" flipV="false" rot="0">
              <a:off x="0" y="0"/>
              <a:ext cx="3593846" cy="155704"/>
            </a:xfrm>
            <a:custGeom>
              <a:avLst/>
              <a:gdLst/>
              <a:ahLst/>
              <a:cxnLst/>
              <a:rect r="r" b="b" t="t" l="l"/>
              <a:pathLst>
                <a:path h="155704" w="3593846">
                  <a:moveTo>
                    <a:pt x="16891" y="0"/>
                  </a:moveTo>
                  <a:lnTo>
                    <a:pt x="3576955" y="0"/>
                  </a:lnTo>
                  <a:cubicBezTo>
                    <a:pt x="3586353" y="0"/>
                    <a:pt x="3593846" y="7620"/>
                    <a:pt x="3593846" y="16891"/>
                  </a:cubicBezTo>
                  <a:lnTo>
                    <a:pt x="3593846" y="138811"/>
                  </a:lnTo>
                  <a:cubicBezTo>
                    <a:pt x="3593846" y="148209"/>
                    <a:pt x="3586226" y="155702"/>
                    <a:pt x="3576955"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3576955" y="121920"/>
                  </a:lnTo>
                  <a:lnTo>
                    <a:pt x="3576955" y="138811"/>
                  </a:lnTo>
                  <a:lnTo>
                    <a:pt x="3560064" y="138811"/>
                  </a:lnTo>
                  <a:lnTo>
                    <a:pt x="3560064" y="16891"/>
                  </a:lnTo>
                  <a:lnTo>
                    <a:pt x="3576955" y="16891"/>
                  </a:lnTo>
                  <a:lnTo>
                    <a:pt x="3576955" y="33909"/>
                  </a:lnTo>
                  <a:lnTo>
                    <a:pt x="16891" y="33909"/>
                  </a:lnTo>
                  <a:close/>
                </a:path>
              </a:pathLst>
            </a:custGeom>
            <a:solidFill>
              <a:srgbClr val="BDC8D5"/>
            </a:solidFill>
          </p:spPr>
        </p:sp>
      </p:grpSp>
      <p:grpSp>
        <p:nvGrpSpPr>
          <p:cNvPr name="Group 94" id="94"/>
          <p:cNvGrpSpPr/>
          <p:nvPr/>
        </p:nvGrpSpPr>
        <p:grpSpPr>
          <a:xfrm rot="0">
            <a:off x="14904720" y="8229600"/>
            <a:ext cx="2670048" cy="990295"/>
            <a:chOff x="0" y="0"/>
            <a:chExt cx="3560064" cy="1320394"/>
          </a:xfrm>
        </p:grpSpPr>
        <p:sp>
          <p:nvSpPr>
            <p:cNvPr name="Freeform 95" id="95"/>
            <p:cNvSpPr/>
            <p:nvPr/>
          </p:nvSpPr>
          <p:spPr>
            <a:xfrm flipH="false" flipV="false" rot="0">
              <a:off x="0" y="0"/>
              <a:ext cx="3560064" cy="1320394"/>
            </a:xfrm>
            <a:custGeom>
              <a:avLst/>
              <a:gdLst/>
              <a:ahLst/>
              <a:cxnLst/>
              <a:rect r="r" b="b" t="t" l="l"/>
              <a:pathLst>
                <a:path h="1320394" w="3560064">
                  <a:moveTo>
                    <a:pt x="0" y="0"/>
                  </a:moveTo>
                  <a:lnTo>
                    <a:pt x="3560064" y="0"/>
                  </a:lnTo>
                  <a:lnTo>
                    <a:pt x="3560064" y="1320394"/>
                  </a:lnTo>
                  <a:lnTo>
                    <a:pt x="0" y="1320394"/>
                  </a:lnTo>
                  <a:close/>
                </a:path>
              </a:pathLst>
            </a:custGeom>
            <a:blipFill>
              <a:blip r:embed="rId3">
                <a:alphaModFix amt="0"/>
              </a:blip>
              <a:stretch>
                <a:fillRect l="0" t="-8214" r="0" b="3142"/>
              </a:stretch>
            </a:blipFill>
          </p:spPr>
        </p:sp>
        <p:sp>
          <p:nvSpPr>
            <p:cNvPr name="TextBox 96" id="96"/>
            <p:cNvSpPr txBox="true"/>
            <p:nvPr/>
          </p:nvSpPr>
          <p:spPr>
            <a:xfrm>
              <a:off x="0" y="0"/>
              <a:ext cx="3560064" cy="1320394"/>
            </a:xfrm>
            <a:prstGeom prst="rect">
              <a:avLst/>
            </a:prstGeom>
          </p:spPr>
          <p:txBody>
            <a:bodyPr anchor="ctr" rtlCol="false" tIns="0" lIns="0" bIns="0" rIns="0"/>
            <a:lstStyle/>
            <a:p>
              <a:pPr algn="ctr">
                <a:lnSpc>
                  <a:spcPts val="5759"/>
                </a:lnSpc>
              </a:pPr>
              <a:r>
                <a:rPr lang="en-US" sz="4800" b="true">
                  <a:solidFill>
                    <a:srgbClr val="BDC8D5"/>
                  </a:solidFill>
                  <a:latin typeface="EB Garamond Semi-Bold"/>
                  <a:ea typeface="EB Garamond Semi-Bold"/>
                  <a:cs typeface="EB Garamond Semi-Bold"/>
                  <a:sym typeface="EB Garamond Semi-Bold"/>
                </a:rPr>
                <a:t>102</a:t>
              </a:r>
            </a:p>
          </p:txBody>
        </p:sp>
      </p:grpSp>
      <p:grpSp>
        <p:nvGrpSpPr>
          <p:cNvPr name="Group 97" id="97"/>
          <p:cNvGrpSpPr/>
          <p:nvPr/>
        </p:nvGrpSpPr>
        <p:grpSpPr>
          <a:xfrm rot="0">
            <a:off x="14904720" y="9089136"/>
            <a:ext cx="2670048" cy="548640"/>
            <a:chOff x="0" y="0"/>
            <a:chExt cx="3560064" cy="731520"/>
          </a:xfrm>
        </p:grpSpPr>
        <p:sp>
          <p:nvSpPr>
            <p:cNvPr name="Freeform 98" id="98"/>
            <p:cNvSpPr/>
            <p:nvPr/>
          </p:nvSpPr>
          <p:spPr>
            <a:xfrm flipH="false" flipV="false" rot="0">
              <a:off x="0" y="0"/>
              <a:ext cx="3560064" cy="731520"/>
            </a:xfrm>
            <a:custGeom>
              <a:avLst/>
              <a:gdLst/>
              <a:ahLst/>
              <a:cxnLst/>
              <a:rect r="r" b="b" t="t" l="l"/>
              <a:pathLst>
                <a:path h="731520" w="3560064">
                  <a:moveTo>
                    <a:pt x="0" y="0"/>
                  </a:moveTo>
                  <a:lnTo>
                    <a:pt x="3560064" y="0"/>
                  </a:lnTo>
                  <a:lnTo>
                    <a:pt x="3560064" y="731520"/>
                  </a:lnTo>
                  <a:lnTo>
                    <a:pt x="0" y="731520"/>
                  </a:lnTo>
                  <a:close/>
                </a:path>
              </a:pathLst>
            </a:custGeom>
            <a:blipFill>
              <a:blip r:embed="rId3">
                <a:alphaModFix amt="0"/>
              </a:blip>
              <a:stretch>
                <a:fillRect l="0" t="-44827" r="0" b="-44827"/>
              </a:stretch>
            </a:blipFill>
          </p:spPr>
        </p:sp>
        <p:sp>
          <p:nvSpPr>
            <p:cNvPr name="TextBox 99" id="99"/>
            <p:cNvSpPr txBox="true"/>
            <p:nvPr/>
          </p:nvSpPr>
          <p:spPr>
            <a:xfrm>
              <a:off x="0" y="9525"/>
              <a:ext cx="3560064" cy="721995"/>
            </a:xfrm>
            <a:prstGeom prst="rect">
              <a:avLst/>
            </a:prstGeom>
          </p:spPr>
          <p:txBody>
            <a:bodyPr anchor="ctr" rtlCol="false" tIns="0" lIns="0" bIns="0" rIns="0"/>
            <a:lstStyle/>
            <a:p>
              <a:pPr algn="ctr">
                <a:lnSpc>
                  <a:spcPts val="2160"/>
                </a:lnSpc>
              </a:pPr>
              <a:r>
                <a:rPr lang="en-US" sz="1800">
                  <a:solidFill>
                    <a:srgbClr val="7B8FA1"/>
                  </a:solidFill>
                  <a:latin typeface="EB Garamond"/>
                  <a:ea typeface="EB Garamond"/>
                  <a:cs typeface="EB Garamond"/>
                  <a:sym typeface="EB Garamond"/>
                </a:rPr>
                <a:t>Non renseigné</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C0614E"/>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C0614E"/>
            </a:solidFill>
          </p:spPr>
        </p:sp>
      </p:grpSp>
      <p:grpSp>
        <p:nvGrpSpPr>
          <p:cNvPr name="Group 5" id="5"/>
          <p:cNvGrpSpPr/>
          <p:nvPr/>
        </p:nvGrpSpPr>
        <p:grpSpPr>
          <a:xfrm rot="0">
            <a:off x="822960" y="402336"/>
            <a:ext cx="16642080" cy="1118845"/>
            <a:chOff x="0" y="0"/>
            <a:chExt cx="22189440" cy="1491793"/>
          </a:xfrm>
        </p:grpSpPr>
        <p:sp>
          <p:nvSpPr>
            <p:cNvPr name="Freeform 6" id="6"/>
            <p:cNvSpPr/>
            <p:nvPr/>
          </p:nvSpPr>
          <p:spPr>
            <a:xfrm flipH="false" flipV="false" rot="0">
              <a:off x="0" y="0"/>
              <a:ext cx="22189439" cy="1491793"/>
            </a:xfrm>
            <a:custGeom>
              <a:avLst/>
              <a:gdLst/>
              <a:ahLst/>
              <a:cxnLst/>
              <a:rect r="r" b="b" t="t" l="l"/>
              <a:pathLst>
                <a:path h="1491793" w="22189439">
                  <a:moveTo>
                    <a:pt x="0" y="0"/>
                  </a:moveTo>
                  <a:lnTo>
                    <a:pt x="22189439" y="0"/>
                  </a:lnTo>
                  <a:lnTo>
                    <a:pt x="22189439" y="1491793"/>
                  </a:lnTo>
                  <a:lnTo>
                    <a:pt x="0" y="1491793"/>
                  </a:lnTo>
                  <a:close/>
                </a:path>
              </a:pathLst>
            </a:custGeom>
            <a:blipFill>
              <a:blip r:embed="rId3">
                <a:alphaModFix amt="0"/>
              </a:blip>
              <a:stretch>
                <a:fillRect l="0" t="-244877" r="0" b="-234777"/>
              </a:stretch>
            </a:blipFill>
          </p:spPr>
        </p:sp>
        <p:sp>
          <p:nvSpPr>
            <p:cNvPr name="TextBox 7" id="7"/>
            <p:cNvSpPr txBox="true"/>
            <p:nvPr/>
          </p:nvSpPr>
          <p:spPr>
            <a:xfrm>
              <a:off x="0" y="9525"/>
              <a:ext cx="22189440" cy="1482268"/>
            </a:xfrm>
            <a:prstGeom prst="rect">
              <a:avLst/>
            </a:prstGeom>
          </p:spPr>
          <p:txBody>
            <a:bodyPr anchor="ctr" rtlCol="false" tIns="0" lIns="0" bIns="0" rIns="0"/>
            <a:lstStyle/>
            <a:p>
              <a:pPr algn="l">
                <a:lnSpc>
                  <a:spcPts val="6480"/>
                </a:lnSpc>
              </a:pPr>
              <a:r>
                <a:rPr lang="en-US" sz="5400" b="true">
                  <a:solidFill>
                    <a:srgbClr val="1C2E40"/>
                  </a:solidFill>
                  <a:latin typeface="EB Garamond Semi-Bold"/>
                  <a:ea typeface="EB Garamond Semi-Bold"/>
                  <a:cs typeface="EB Garamond Semi-Bold"/>
                  <a:sym typeface="EB Garamond Semi-Bold"/>
                </a:rPr>
                <a:t>Élevage et Émigration : Destinations et corrélation</a:t>
              </a:r>
            </a:p>
          </p:txBody>
        </p:sp>
      </p:grpSp>
      <p:grpSp>
        <p:nvGrpSpPr>
          <p:cNvPr name="Group 8" id="8"/>
          <p:cNvGrpSpPr/>
          <p:nvPr/>
        </p:nvGrpSpPr>
        <p:grpSpPr>
          <a:xfrm rot="0">
            <a:off x="822960" y="1426464"/>
            <a:ext cx="16642080" cy="512064"/>
            <a:chOff x="0" y="0"/>
            <a:chExt cx="22189440" cy="682752"/>
          </a:xfrm>
        </p:grpSpPr>
        <p:sp>
          <p:nvSpPr>
            <p:cNvPr name="Freeform 9" id="9"/>
            <p:cNvSpPr/>
            <p:nvPr/>
          </p:nvSpPr>
          <p:spPr>
            <a:xfrm flipH="false" flipV="false" rot="0">
              <a:off x="0" y="0"/>
              <a:ext cx="22189439" cy="682752"/>
            </a:xfrm>
            <a:custGeom>
              <a:avLst/>
              <a:gdLst/>
              <a:ahLst/>
              <a:cxnLst/>
              <a:rect r="r" b="b" t="t" l="l"/>
              <a:pathLst>
                <a:path h="682752" w="22189439">
                  <a:moveTo>
                    <a:pt x="0" y="0"/>
                  </a:moveTo>
                  <a:lnTo>
                    <a:pt x="22189439" y="0"/>
                  </a:lnTo>
                  <a:lnTo>
                    <a:pt x="22189439" y="682752"/>
                  </a:lnTo>
                  <a:lnTo>
                    <a:pt x="0" y="682752"/>
                  </a:lnTo>
                  <a:close/>
                </a:path>
              </a:pathLst>
            </a:custGeom>
            <a:blipFill>
              <a:blip r:embed="rId3">
                <a:alphaModFix amt="0"/>
              </a:blip>
              <a:stretch>
                <a:fillRect l="0" t="-583263" r="0" b="-583263"/>
              </a:stretch>
            </a:blipFill>
          </p:spPr>
        </p:sp>
        <p:sp>
          <p:nvSpPr>
            <p:cNvPr name="TextBox 10" id="10"/>
            <p:cNvSpPr txBox="true"/>
            <p:nvPr/>
          </p:nvSpPr>
          <p:spPr>
            <a:xfrm>
              <a:off x="0" y="9525"/>
              <a:ext cx="22189440" cy="673227"/>
            </a:xfrm>
            <a:prstGeom prst="rect">
              <a:avLst/>
            </a:prstGeom>
          </p:spPr>
          <p:txBody>
            <a:bodyPr anchor="ctr" rtlCol="false" tIns="0" lIns="0" bIns="0" rIns="0"/>
            <a:lstStyle/>
            <a:p>
              <a:pPr algn="l">
                <a:lnSpc>
                  <a:spcPts val="2879"/>
                </a:lnSpc>
              </a:pPr>
              <a:r>
                <a:rPr lang="en-US" sz="2400" i="true">
                  <a:solidFill>
                    <a:srgbClr val="7B8FA1"/>
                  </a:solidFill>
                  <a:latin typeface="EB Garamond Italics"/>
                  <a:ea typeface="EB Garamond Italics"/>
                  <a:cs typeface="EB Garamond Italics"/>
                  <a:sym typeface="EB Garamond Italics"/>
                </a:rPr>
                <a:t>Où vont les émigrés ? · Destinations des fils · Corrélation intensité ~ viabilité</a:t>
              </a:r>
            </a:p>
          </p:txBody>
        </p:sp>
      </p:grpSp>
      <p:grpSp>
        <p:nvGrpSpPr>
          <p:cNvPr name="Group 11" id="11"/>
          <p:cNvGrpSpPr/>
          <p:nvPr/>
        </p:nvGrpSpPr>
        <p:grpSpPr>
          <a:xfrm rot="0">
            <a:off x="629917" y="1964941"/>
            <a:ext cx="8432797" cy="6859591"/>
            <a:chOff x="0" y="0"/>
            <a:chExt cx="11243729" cy="9146121"/>
          </a:xfrm>
        </p:grpSpPr>
        <p:sp>
          <p:nvSpPr>
            <p:cNvPr name="Freeform 12" id="12"/>
            <p:cNvSpPr/>
            <p:nvPr/>
          </p:nvSpPr>
          <p:spPr>
            <a:xfrm flipH="false" flipV="false" rot="0">
              <a:off x="13589" y="14115"/>
              <a:ext cx="11216513" cy="9117983"/>
            </a:xfrm>
            <a:custGeom>
              <a:avLst/>
              <a:gdLst/>
              <a:ahLst/>
              <a:cxnLst/>
              <a:rect r="r" b="b" t="t" l="l"/>
              <a:pathLst>
                <a:path h="9117983" w="11216513">
                  <a:moveTo>
                    <a:pt x="0" y="253277"/>
                  </a:moveTo>
                  <a:cubicBezTo>
                    <a:pt x="0" y="113447"/>
                    <a:pt x="109220" y="0"/>
                    <a:pt x="243967" y="0"/>
                  </a:cubicBezTo>
                  <a:lnTo>
                    <a:pt x="10972546" y="0"/>
                  </a:lnTo>
                  <a:cubicBezTo>
                    <a:pt x="11107293" y="0"/>
                    <a:pt x="11216513" y="113447"/>
                    <a:pt x="11216513" y="253277"/>
                  </a:cubicBezTo>
                  <a:lnTo>
                    <a:pt x="11216513" y="8864706"/>
                  </a:lnTo>
                  <a:cubicBezTo>
                    <a:pt x="11216513" y="9004536"/>
                    <a:pt x="11107293" y="9117983"/>
                    <a:pt x="10972546" y="9117983"/>
                  </a:cubicBezTo>
                  <a:lnTo>
                    <a:pt x="243967" y="9117983"/>
                  </a:lnTo>
                  <a:cubicBezTo>
                    <a:pt x="109220" y="9117983"/>
                    <a:pt x="0" y="9004536"/>
                    <a:pt x="0" y="8864706"/>
                  </a:cubicBezTo>
                  <a:close/>
                </a:path>
              </a:pathLst>
            </a:custGeom>
            <a:solidFill>
              <a:srgbClr val="FFFFFF"/>
            </a:solidFill>
          </p:spPr>
        </p:sp>
        <p:sp>
          <p:nvSpPr>
            <p:cNvPr name="Freeform 13" id="13"/>
            <p:cNvSpPr/>
            <p:nvPr/>
          </p:nvSpPr>
          <p:spPr>
            <a:xfrm flipH="false" flipV="false" rot="0">
              <a:off x="0" y="0"/>
              <a:ext cx="11243691" cy="9146209"/>
            </a:xfrm>
            <a:custGeom>
              <a:avLst/>
              <a:gdLst/>
              <a:ahLst/>
              <a:cxnLst/>
              <a:rect r="r" b="b" t="t" l="l"/>
              <a:pathLst>
                <a:path h="9146209" w="11243691">
                  <a:moveTo>
                    <a:pt x="0" y="267392"/>
                  </a:moveTo>
                  <a:cubicBezTo>
                    <a:pt x="0" y="119647"/>
                    <a:pt x="115316" y="0"/>
                    <a:pt x="257556" y="0"/>
                  </a:cubicBezTo>
                  <a:lnTo>
                    <a:pt x="10986135" y="0"/>
                  </a:lnTo>
                  <a:lnTo>
                    <a:pt x="10986135" y="14115"/>
                  </a:lnTo>
                  <a:lnTo>
                    <a:pt x="10986135" y="0"/>
                  </a:lnTo>
                  <a:cubicBezTo>
                    <a:pt x="11128375" y="0"/>
                    <a:pt x="11243691" y="119647"/>
                    <a:pt x="11243691" y="267392"/>
                  </a:cubicBezTo>
                  <a:lnTo>
                    <a:pt x="11230102" y="267392"/>
                  </a:lnTo>
                  <a:lnTo>
                    <a:pt x="11243691" y="267392"/>
                  </a:lnTo>
                  <a:lnTo>
                    <a:pt x="11243691" y="8878821"/>
                  </a:lnTo>
                  <a:lnTo>
                    <a:pt x="11230102" y="8878821"/>
                  </a:lnTo>
                  <a:lnTo>
                    <a:pt x="11243691" y="8878821"/>
                  </a:lnTo>
                  <a:cubicBezTo>
                    <a:pt x="11243691" y="9026434"/>
                    <a:pt x="11128375" y="9146209"/>
                    <a:pt x="10986135" y="9146209"/>
                  </a:cubicBezTo>
                  <a:lnTo>
                    <a:pt x="10986135" y="9132098"/>
                  </a:lnTo>
                  <a:lnTo>
                    <a:pt x="10986135" y="9146209"/>
                  </a:lnTo>
                  <a:lnTo>
                    <a:pt x="257556" y="9146209"/>
                  </a:lnTo>
                  <a:lnTo>
                    <a:pt x="257556" y="9132098"/>
                  </a:lnTo>
                  <a:lnTo>
                    <a:pt x="257556" y="9146209"/>
                  </a:lnTo>
                  <a:cubicBezTo>
                    <a:pt x="115316" y="9146081"/>
                    <a:pt x="0" y="9026434"/>
                    <a:pt x="0" y="8878821"/>
                  </a:cubicBezTo>
                  <a:lnTo>
                    <a:pt x="0" y="267392"/>
                  </a:lnTo>
                  <a:lnTo>
                    <a:pt x="13589" y="267392"/>
                  </a:lnTo>
                  <a:lnTo>
                    <a:pt x="0" y="267392"/>
                  </a:lnTo>
                  <a:moveTo>
                    <a:pt x="27051" y="267392"/>
                  </a:moveTo>
                  <a:lnTo>
                    <a:pt x="27051" y="8878821"/>
                  </a:lnTo>
                  <a:lnTo>
                    <a:pt x="13589" y="8878821"/>
                  </a:lnTo>
                  <a:lnTo>
                    <a:pt x="27051" y="8878821"/>
                  </a:lnTo>
                  <a:cubicBezTo>
                    <a:pt x="27051" y="9010869"/>
                    <a:pt x="130175" y="9117984"/>
                    <a:pt x="257556" y="9117984"/>
                  </a:cubicBezTo>
                  <a:lnTo>
                    <a:pt x="10986135" y="9117984"/>
                  </a:lnTo>
                  <a:cubicBezTo>
                    <a:pt x="11113389" y="9117984"/>
                    <a:pt x="11216640" y="9010869"/>
                    <a:pt x="11216640" y="8878821"/>
                  </a:cubicBezTo>
                  <a:lnTo>
                    <a:pt x="11216640" y="267392"/>
                  </a:lnTo>
                  <a:cubicBezTo>
                    <a:pt x="11216640" y="135345"/>
                    <a:pt x="11113516" y="28230"/>
                    <a:pt x="10986135" y="28230"/>
                  </a:cubicBezTo>
                  <a:lnTo>
                    <a:pt x="257556" y="28230"/>
                  </a:lnTo>
                  <a:lnTo>
                    <a:pt x="257556" y="14115"/>
                  </a:lnTo>
                  <a:lnTo>
                    <a:pt x="257556" y="28098"/>
                  </a:lnTo>
                  <a:cubicBezTo>
                    <a:pt x="130302" y="28098"/>
                    <a:pt x="27051" y="135213"/>
                    <a:pt x="27051" y="267260"/>
                  </a:cubicBezTo>
                  <a:close/>
                </a:path>
              </a:pathLst>
            </a:custGeom>
            <a:solidFill>
              <a:srgbClr val="BDC8D5"/>
            </a:solidFill>
          </p:spPr>
        </p:sp>
      </p:grpSp>
      <p:grpSp>
        <p:nvGrpSpPr>
          <p:cNvPr name="Group 14" id="14"/>
          <p:cNvGrpSpPr/>
          <p:nvPr/>
        </p:nvGrpSpPr>
        <p:grpSpPr>
          <a:xfrm rot="0">
            <a:off x="950976" y="2111121"/>
            <a:ext cx="7863840" cy="512064"/>
            <a:chOff x="0" y="0"/>
            <a:chExt cx="10485120" cy="682752"/>
          </a:xfrm>
        </p:grpSpPr>
        <p:sp>
          <p:nvSpPr>
            <p:cNvPr name="Freeform 15" id="15"/>
            <p:cNvSpPr/>
            <p:nvPr/>
          </p:nvSpPr>
          <p:spPr>
            <a:xfrm flipH="false" flipV="false" rot="0">
              <a:off x="0" y="0"/>
              <a:ext cx="10485120" cy="682752"/>
            </a:xfrm>
            <a:custGeom>
              <a:avLst/>
              <a:gdLst/>
              <a:ahLst/>
              <a:cxnLst/>
              <a:rect r="r" b="b" t="t" l="l"/>
              <a:pathLst>
                <a:path h="682752" w="10485120">
                  <a:moveTo>
                    <a:pt x="0" y="0"/>
                  </a:moveTo>
                  <a:lnTo>
                    <a:pt x="10485120" y="0"/>
                  </a:lnTo>
                  <a:lnTo>
                    <a:pt x="10485120" y="682752"/>
                  </a:lnTo>
                  <a:lnTo>
                    <a:pt x="0" y="682752"/>
                  </a:lnTo>
                  <a:close/>
                </a:path>
              </a:pathLst>
            </a:custGeom>
            <a:blipFill>
              <a:blip r:embed="rId3">
                <a:alphaModFix amt="0"/>
              </a:blip>
              <a:stretch>
                <a:fillRect l="0" t="-249234" r="0" b="-249234"/>
              </a:stretch>
            </a:blipFill>
          </p:spPr>
        </p:sp>
        <p:sp>
          <p:nvSpPr>
            <p:cNvPr name="TextBox 16" id="16"/>
            <p:cNvSpPr txBox="true"/>
            <p:nvPr/>
          </p:nvSpPr>
          <p:spPr>
            <a:xfrm>
              <a:off x="0" y="0"/>
              <a:ext cx="10485120" cy="682752"/>
            </a:xfrm>
            <a:prstGeom prst="rect">
              <a:avLst/>
            </a:prstGeom>
          </p:spPr>
          <p:txBody>
            <a:bodyPr anchor="ctr" rtlCol="false" tIns="0" lIns="0" bIns="0" rIns="0"/>
            <a:lstStyle/>
            <a:p>
              <a:pPr algn="l">
                <a:lnSpc>
                  <a:spcPts val="2760"/>
                </a:lnSpc>
              </a:pPr>
              <a:r>
                <a:rPr lang="en-US" sz="2300" b="true">
                  <a:solidFill>
                    <a:srgbClr val="1C2E40"/>
                  </a:solidFill>
                  <a:latin typeface="EB Garamond Semi-Bold"/>
                  <a:ea typeface="EB Garamond Semi-Bold"/>
                  <a:cs typeface="EB Garamond Semi-Bold"/>
                  <a:sym typeface="EB Garamond Semi-Bold"/>
                </a:rPr>
                <a:t>Destinations principales des émigrés</a:t>
              </a:r>
            </a:p>
          </p:txBody>
        </p:sp>
      </p:grpSp>
      <p:pic>
        <p:nvPicPr>
          <p:cNvPr name="Picture 17" id="17"/>
          <p:cNvPicPr>
            <a:picLocks noChangeAspect="true"/>
          </p:cNvPicPr>
          <p:nvPr/>
        </p:nvPicPr>
        <p:blipFill>
          <a:blip r:embed="rId4"/>
          <a:stretch>
            <a:fillRect/>
          </a:stretch>
        </p:blipFill>
        <p:spPr>
          <a:xfrm rot="0">
            <a:off x="23258" y="1852630"/>
            <a:ext cx="9596426" cy="7652160"/>
          </a:xfrm>
          <a:prstGeom prst="rect">
            <a:avLst/>
          </a:prstGeom>
        </p:spPr>
      </p:pic>
      <p:grpSp>
        <p:nvGrpSpPr>
          <p:cNvPr name="Group 18" id="18"/>
          <p:cNvGrpSpPr/>
          <p:nvPr/>
        </p:nvGrpSpPr>
        <p:grpSpPr>
          <a:xfrm rot="0">
            <a:off x="620392" y="8897493"/>
            <a:ext cx="7863840" cy="676948"/>
            <a:chOff x="0" y="0"/>
            <a:chExt cx="10485120" cy="902597"/>
          </a:xfrm>
        </p:grpSpPr>
        <p:sp>
          <p:nvSpPr>
            <p:cNvPr name="Freeform 19" id="19"/>
            <p:cNvSpPr/>
            <p:nvPr/>
          </p:nvSpPr>
          <p:spPr>
            <a:xfrm flipH="false" flipV="false" rot="0">
              <a:off x="0" y="0"/>
              <a:ext cx="10485120" cy="902598"/>
            </a:xfrm>
            <a:custGeom>
              <a:avLst/>
              <a:gdLst/>
              <a:ahLst/>
              <a:cxnLst/>
              <a:rect r="r" b="b" t="t" l="l"/>
              <a:pathLst>
                <a:path h="902598" w="10485120">
                  <a:moveTo>
                    <a:pt x="0" y="0"/>
                  </a:moveTo>
                  <a:lnTo>
                    <a:pt x="10485120" y="0"/>
                  </a:lnTo>
                  <a:lnTo>
                    <a:pt x="10485120" y="902598"/>
                  </a:lnTo>
                  <a:lnTo>
                    <a:pt x="0" y="902598"/>
                  </a:lnTo>
                  <a:close/>
                </a:path>
              </a:pathLst>
            </a:custGeom>
            <a:blipFill>
              <a:blip r:embed="rId3">
                <a:alphaModFix amt="0"/>
              </a:blip>
              <a:stretch>
                <a:fillRect l="0" t="-177722" r="0" b="-174977"/>
              </a:stretch>
            </a:blipFill>
          </p:spPr>
        </p:sp>
        <p:sp>
          <p:nvSpPr>
            <p:cNvPr name="TextBox 20" id="20"/>
            <p:cNvSpPr txBox="true"/>
            <p:nvPr/>
          </p:nvSpPr>
          <p:spPr>
            <a:xfrm>
              <a:off x="0" y="9525"/>
              <a:ext cx="10485120" cy="893072"/>
            </a:xfrm>
            <a:prstGeom prst="rect">
              <a:avLst/>
            </a:prstGeom>
          </p:spPr>
          <p:txBody>
            <a:bodyPr anchor="ctr" rtlCol="false" tIns="0" lIns="0" bIns="0" rIns="0"/>
            <a:lstStyle/>
            <a:p>
              <a:pPr algn="l">
                <a:lnSpc>
                  <a:spcPts val="2280"/>
                </a:lnSpc>
              </a:pPr>
              <a:r>
                <a:rPr lang="en-US" sz="1900" i="true">
                  <a:solidFill>
                    <a:srgbClr val="7B8FA1"/>
                  </a:solidFill>
                  <a:latin typeface="EB Garamond Italics"/>
                  <a:ea typeface="EB Garamond Italics"/>
                  <a:cs typeface="EB Garamond Italics"/>
                  <a:sym typeface="EB Garamond Italics"/>
                </a:rPr>
                <a:t>→ La majorité des migrations reste interne au pays ou régionale (Sahel + pays côtiers). Migration vers Europe-US rare.</a:t>
              </a:r>
            </a:p>
          </p:txBody>
        </p:sp>
      </p:grpSp>
      <p:grpSp>
        <p:nvGrpSpPr>
          <p:cNvPr name="Group 21" id="21"/>
          <p:cNvGrpSpPr/>
          <p:nvPr/>
        </p:nvGrpSpPr>
        <p:grpSpPr>
          <a:xfrm rot="0">
            <a:off x="9581512" y="1964941"/>
            <a:ext cx="8067037" cy="3576880"/>
            <a:chOff x="0" y="0"/>
            <a:chExt cx="10756049" cy="4769173"/>
          </a:xfrm>
        </p:grpSpPr>
        <p:sp>
          <p:nvSpPr>
            <p:cNvPr name="Freeform 22" id="22"/>
            <p:cNvSpPr/>
            <p:nvPr/>
          </p:nvSpPr>
          <p:spPr>
            <a:xfrm flipH="false" flipV="false" rot="0">
              <a:off x="13462" y="15353"/>
              <a:ext cx="10729088" cy="4738567"/>
            </a:xfrm>
            <a:custGeom>
              <a:avLst/>
              <a:gdLst/>
              <a:ahLst/>
              <a:cxnLst/>
              <a:rect r="r" b="b" t="t" l="l"/>
              <a:pathLst>
                <a:path h="4738567" w="10729088">
                  <a:moveTo>
                    <a:pt x="127" y="275498"/>
                  </a:moveTo>
                  <a:cubicBezTo>
                    <a:pt x="127" y="123400"/>
                    <a:pt x="109728" y="0"/>
                    <a:pt x="244983" y="0"/>
                  </a:cubicBezTo>
                  <a:lnTo>
                    <a:pt x="10484231" y="0"/>
                  </a:lnTo>
                  <a:cubicBezTo>
                    <a:pt x="10619487" y="0"/>
                    <a:pt x="10729088" y="123400"/>
                    <a:pt x="10729088" y="275498"/>
                  </a:cubicBezTo>
                  <a:lnTo>
                    <a:pt x="10729088" y="4463069"/>
                  </a:lnTo>
                  <a:cubicBezTo>
                    <a:pt x="10729088" y="4615167"/>
                    <a:pt x="10619487" y="4738567"/>
                    <a:pt x="10484231" y="4738567"/>
                  </a:cubicBezTo>
                  <a:lnTo>
                    <a:pt x="244856" y="4738567"/>
                  </a:lnTo>
                  <a:cubicBezTo>
                    <a:pt x="109601" y="4738567"/>
                    <a:pt x="0" y="4615167"/>
                    <a:pt x="0" y="4463069"/>
                  </a:cubicBezTo>
                  <a:close/>
                </a:path>
              </a:pathLst>
            </a:custGeom>
            <a:solidFill>
              <a:srgbClr val="F9F4E7"/>
            </a:solidFill>
          </p:spPr>
        </p:sp>
        <p:sp>
          <p:nvSpPr>
            <p:cNvPr name="Freeform 23" id="23"/>
            <p:cNvSpPr/>
            <p:nvPr/>
          </p:nvSpPr>
          <p:spPr>
            <a:xfrm flipH="false" flipV="false" rot="0">
              <a:off x="0" y="0"/>
              <a:ext cx="10756012" cy="4769262"/>
            </a:xfrm>
            <a:custGeom>
              <a:avLst/>
              <a:gdLst/>
              <a:ahLst/>
              <a:cxnLst/>
              <a:rect r="r" b="b" t="t" l="l"/>
              <a:pathLst>
                <a:path h="4769262" w="10756012">
                  <a:moveTo>
                    <a:pt x="0" y="290851"/>
                  </a:moveTo>
                  <a:cubicBezTo>
                    <a:pt x="0" y="130144"/>
                    <a:pt x="115697" y="0"/>
                    <a:pt x="258318" y="0"/>
                  </a:cubicBezTo>
                  <a:lnTo>
                    <a:pt x="10497693" y="0"/>
                  </a:lnTo>
                  <a:lnTo>
                    <a:pt x="10497693" y="15353"/>
                  </a:lnTo>
                  <a:lnTo>
                    <a:pt x="10497693" y="0"/>
                  </a:lnTo>
                  <a:cubicBezTo>
                    <a:pt x="10640314" y="0"/>
                    <a:pt x="10756012" y="130144"/>
                    <a:pt x="10756012" y="290851"/>
                  </a:cubicBezTo>
                  <a:lnTo>
                    <a:pt x="10742423" y="290851"/>
                  </a:lnTo>
                  <a:lnTo>
                    <a:pt x="10756012" y="290851"/>
                  </a:lnTo>
                  <a:lnTo>
                    <a:pt x="10756012" y="4478422"/>
                  </a:lnTo>
                  <a:lnTo>
                    <a:pt x="10742423" y="4478422"/>
                  </a:lnTo>
                  <a:lnTo>
                    <a:pt x="10756012" y="4478422"/>
                  </a:lnTo>
                  <a:cubicBezTo>
                    <a:pt x="10756012" y="4639130"/>
                    <a:pt x="10640314" y="4769262"/>
                    <a:pt x="10497693" y="4769262"/>
                  </a:cubicBezTo>
                  <a:lnTo>
                    <a:pt x="10497693" y="4753920"/>
                  </a:lnTo>
                  <a:lnTo>
                    <a:pt x="10497693" y="4769262"/>
                  </a:lnTo>
                  <a:lnTo>
                    <a:pt x="258318" y="4769262"/>
                  </a:lnTo>
                  <a:lnTo>
                    <a:pt x="258318" y="4753920"/>
                  </a:lnTo>
                  <a:lnTo>
                    <a:pt x="258318" y="4769262"/>
                  </a:lnTo>
                  <a:cubicBezTo>
                    <a:pt x="115697" y="4769130"/>
                    <a:pt x="0" y="4638986"/>
                    <a:pt x="0" y="4478422"/>
                  </a:cubicBezTo>
                  <a:lnTo>
                    <a:pt x="0" y="290851"/>
                  </a:lnTo>
                  <a:lnTo>
                    <a:pt x="13589" y="290851"/>
                  </a:lnTo>
                  <a:lnTo>
                    <a:pt x="0" y="290851"/>
                  </a:lnTo>
                  <a:moveTo>
                    <a:pt x="27051" y="290851"/>
                  </a:moveTo>
                  <a:lnTo>
                    <a:pt x="27051" y="4478422"/>
                  </a:lnTo>
                  <a:lnTo>
                    <a:pt x="13589" y="4478422"/>
                  </a:lnTo>
                  <a:lnTo>
                    <a:pt x="27051" y="4478422"/>
                  </a:lnTo>
                  <a:cubicBezTo>
                    <a:pt x="27051" y="4622054"/>
                    <a:pt x="130556" y="4738567"/>
                    <a:pt x="258318" y="4738567"/>
                  </a:cubicBezTo>
                  <a:lnTo>
                    <a:pt x="10497693" y="4738567"/>
                  </a:lnTo>
                  <a:cubicBezTo>
                    <a:pt x="10625455" y="4738567"/>
                    <a:pt x="10728961" y="4622054"/>
                    <a:pt x="10728961" y="4478422"/>
                  </a:cubicBezTo>
                  <a:lnTo>
                    <a:pt x="10728961" y="290851"/>
                  </a:lnTo>
                  <a:cubicBezTo>
                    <a:pt x="10728961" y="147219"/>
                    <a:pt x="10625455" y="30707"/>
                    <a:pt x="10497693" y="30707"/>
                  </a:cubicBezTo>
                  <a:lnTo>
                    <a:pt x="258318" y="30707"/>
                  </a:lnTo>
                  <a:lnTo>
                    <a:pt x="258318" y="15353"/>
                  </a:lnTo>
                  <a:lnTo>
                    <a:pt x="258318" y="30563"/>
                  </a:lnTo>
                  <a:cubicBezTo>
                    <a:pt x="130556" y="30563"/>
                    <a:pt x="27051" y="147076"/>
                    <a:pt x="27051" y="290708"/>
                  </a:cubicBezTo>
                  <a:close/>
                </a:path>
              </a:pathLst>
            </a:custGeom>
            <a:solidFill>
              <a:srgbClr val="BDC8D5"/>
            </a:solidFill>
          </p:spPr>
        </p:sp>
      </p:grpSp>
      <p:grpSp>
        <p:nvGrpSpPr>
          <p:cNvPr name="Group 24" id="24"/>
          <p:cNvGrpSpPr/>
          <p:nvPr/>
        </p:nvGrpSpPr>
        <p:grpSpPr>
          <a:xfrm rot="0">
            <a:off x="9912096" y="2139696"/>
            <a:ext cx="7498080" cy="512064"/>
            <a:chOff x="0" y="0"/>
            <a:chExt cx="9997440" cy="682752"/>
          </a:xfrm>
        </p:grpSpPr>
        <p:sp>
          <p:nvSpPr>
            <p:cNvPr name="Freeform 25" id="25"/>
            <p:cNvSpPr/>
            <p:nvPr/>
          </p:nvSpPr>
          <p:spPr>
            <a:xfrm flipH="false" flipV="false" rot="0">
              <a:off x="0" y="0"/>
              <a:ext cx="9997440" cy="682752"/>
            </a:xfrm>
            <a:custGeom>
              <a:avLst/>
              <a:gdLst/>
              <a:ahLst/>
              <a:cxnLst/>
              <a:rect r="r" b="b" t="t" l="l"/>
              <a:pathLst>
                <a:path h="682752" w="9997440">
                  <a:moveTo>
                    <a:pt x="0" y="0"/>
                  </a:moveTo>
                  <a:lnTo>
                    <a:pt x="9997440" y="0"/>
                  </a:lnTo>
                  <a:lnTo>
                    <a:pt x="9997440" y="682752"/>
                  </a:lnTo>
                  <a:lnTo>
                    <a:pt x="0" y="682752"/>
                  </a:lnTo>
                  <a:close/>
                </a:path>
              </a:pathLst>
            </a:custGeom>
            <a:blipFill>
              <a:blip r:embed="rId3">
                <a:alphaModFix amt="0"/>
              </a:blip>
              <a:stretch>
                <a:fillRect l="0" t="-235316" r="0" b="-235316"/>
              </a:stretch>
            </a:blipFill>
          </p:spPr>
        </p:sp>
        <p:sp>
          <p:nvSpPr>
            <p:cNvPr name="TextBox 26" id="26"/>
            <p:cNvSpPr txBox="true"/>
            <p:nvPr/>
          </p:nvSpPr>
          <p:spPr>
            <a:xfrm>
              <a:off x="0" y="0"/>
              <a:ext cx="9997440" cy="682752"/>
            </a:xfrm>
            <a:prstGeom prst="rect">
              <a:avLst/>
            </a:prstGeom>
          </p:spPr>
          <p:txBody>
            <a:bodyPr anchor="ctr" rtlCol="false" tIns="0" lIns="0" bIns="0" rIns="0"/>
            <a:lstStyle/>
            <a:p>
              <a:pPr algn="l">
                <a:lnSpc>
                  <a:spcPts val="2760"/>
                </a:lnSpc>
              </a:pPr>
              <a:r>
                <a:rPr lang="en-US" sz="2300" b="true">
                  <a:solidFill>
                    <a:srgbClr val="1C2E40"/>
                  </a:solidFill>
                  <a:latin typeface="EB Garamond Semi-Bold"/>
                  <a:ea typeface="EB Garamond Semi-Bold"/>
                  <a:cs typeface="EB Garamond Semi-Bold"/>
                  <a:sym typeface="EB Garamond Semi-Bold"/>
                </a:rPr>
                <a:t>Destinations des fils d'éleveurs</a:t>
              </a:r>
            </a:p>
          </p:txBody>
        </p:sp>
      </p:grpSp>
      <p:grpSp>
        <p:nvGrpSpPr>
          <p:cNvPr name="Group 27" id="27"/>
          <p:cNvGrpSpPr/>
          <p:nvPr/>
        </p:nvGrpSpPr>
        <p:grpSpPr>
          <a:xfrm rot="0">
            <a:off x="9912096" y="2779776"/>
            <a:ext cx="5486400" cy="512064"/>
            <a:chOff x="0" y="0"/>
            <a:chExt cx="7315200" cy="682752"/>
          </a:xfrm>
        </p:grpSpPr>
        <p:sp>
          <p:nvSpPr>
            <p:cNvPr name="Freeform 28" id="28"/>
            <p:cNvSpPr/>
            <p:nvPr/>
          </p:nvSpPr>
          <p:spPr>
            <a:xfrm flipH="false" flipV="false" rot="0">
              <a:off x="0" y="0"/>
              <a:ext cx="7315200" cy="682752"/>
            </a:xfrm>
            <a:custGeom>
              <a:avLst/>
              <a:gdLst/>
              <a:ahLst/>
              <a:cxnLst/>
              <a:rect r="r" b="b" t="t" l="l"/>
              <a:pathLst>
                <a:path h="682752" w="7315200">
                  <a:moveTo>
                    <a:pt x="0" y="0"/>
                  </a:moveTo>
                  <a:lnTo>
                    <a:pt x="7315200" y="0"/>
                  </a:lnTo>
                  <a:lnTo>
                    <a:pt x="7315200" y="682752"/>
                  </a:lnTo>
                  <a:lnTo>
                    <a:pt x="0" y="682752"/>
                  </a:lnTo>
                  <a:close/>
                </a:path>
              </a:pathLst>
            </a:custGeom>
            <a:blipFill>
              <a:blip r:embed="rId3">
                <a:alphaModFix amt="0"/>
              </a:blip>
              <a:stretch>
                <a:fillRect l="0" t="-158768" r="0" b="-158768"/>
              </a:stretch>
            </a:blipFill>
          </p:spPr>
        </p:sp>
        <p:sp>
          <p:nvSpPr>
            <p:cNvPr name="TextBox 29" id="29"/>
            <p:cNvSpPr txBox="true"/>
            <p:nvPr/>
          </p:nvSpPr>
          <p:spPr>
            <a:xfrm>
              <a:off x="0" y="0"/>
              <a:ext cx="7315200" cy="682752"/>
            </a:xfrm>
            <a:prstGeom prst="rect">
              <a:avLst/>
            </a:prstGeom>
          </p:spPr>
          <p:txBody>
            <a:bodyPr anchor="ctr" rtlCol="false" tIns="0" lIns="0" bIns="0" rIns="0"/>
            <a:lstStyle/>
            <a:p>
              <a:pPr algn="l">
                <a:lnSpc>
                  <a:spcPts val="2520"/>
                </a:lnSpc>
              </a:pPr>
              <a:r>
                <a:rPr lang="en-US" sz="2100" b="true">
                  <a:solidFill>
                    <a:srgbClr val="2C4A6E"/>
                  </a:solidFill>
                  <a:latin typeface="EB Garamond Semi-Bold"/>
                  <a:ea typeface="EB Garamond Semi-Bold"/>
                  <a:cs typeface="EB Garamond Semi-Bold"/>
                  <a:sym typeface="EB Garamond Semi-Bold"/>
                </a:rPr>
                <a:t>Ailleurs dans le pays</a:t>
              </a:r>
            </a:p>
          </p:txBody>
        </p:sp>
      </p:grpSp>
      <p:grpSp>
        <p:nvGrpSpPr>
          <p:cNvPr name="Group 30" id="30"/>
          <p:cNvGrpSpPr/>
          <p:nvPr/>
        </p:nvGrpSpPr>
        <p:grpSpPr>
          <a:xfrm rot="0">
            <a:off x="15179040" y="2779776"/>
            <a:ext cx="1828800" cy="512064"/>
            <a:chOff x="0" y="0"/>
            <a:chExt cx="2438400" cy="682752"/>
          </a:xfrm>
        </p:grpSpPr>
        <p:sp>
          <p:nvSpPr>
            <p:cNvPr name="Freeform 31" id="31"/>
            <p:cNvSpPr/>
            <p:nvPr/>
          </p:nvSpPr>
          <p:spPr>
            <a:xfrm flipH="false" flipV="false" rot="0">
              <a:off x="0" y="0"/>
              <a:ext cx="2438400" cy="682752"/>
            </a:xfrm>
            <a:custGeom>
              <a:avLst/>
              <a:gdLst/>
              <a:ahLst/>
              <a:cxnLst/>
              <a:rect r="r" b="b" t="t" l="l"/>
              <a:pathLst>
                <a:path h="682752" w="2438400">
                  <a:moveTo>
                    <a:pt x="0" y="0"/>
                  </a:moveTo>
                  <a:lnTo>
                    <a:pt x="2438400" y="0"/>
                  </a:lnTo>
                  <a:lnTo>
                    <a:pt x="2438400" y="682752"/>
                  </a:lnTo>
                  <a:lnTo>
                    <a:pt x="0" y="682752"/>
                  </a:lnTo>
                  <a:close/>
                </a:path>
              </a:pathLst>
            </a:custGeom>
            <a:blipFill>
              <a:blip r:embed="rId3">
                <a:alphaModFix amt="0"/>
              </a:blip>
              <a:stretch>
                <a:fillRect l="0" t="-19589" r="0" b="-19589"/>
              </a:stretch>
            </a:blipFill>
          </p:spPr>
        </p:sp>
        <p:sp>
          <p:nvSpPr>
            <p:cNvPr name="TextBox 32" id="32"/>
            <p:cNvSpPr txBox="true"/>
            <p:nvPr/>
          </p:nvSpPr>
          <p:spPr>
            <a:xfrm>
              <a:off x="0" y="0"/>
              <a:ext cx="2438400" cy="682752"/>
            </a:xfrm>
            <a:prstGeom prst="rect">
              <a:avLst/>
            </a:prstGeom>
          </p:spPr>
          <p:txBody>
            <a:bodyPr anchor="ctr" rtlCol="false" tIns="0" lIns="0" bIns="0" rIns="0"/>
            <a:lstStyle/>
            <a:p>
              <a:pPr algn="r">
                <a:lnSpc>
                  <a:spcPts val="2520"/>
                </a:lnSpc>
              </a:pPr>
              <a:r>
                <a:rPr lang="en-US" sz="2100" b="true">
                  <a:solidFill>
                    <a:srgbClr val="C0614E"/>
                  </a:solidFill>
                  <a:latin typeface="EB Garamond Semi-Bold"/>
                  <a:ea typeface="EB Garamond Semi-Bold"/>
                  <a:cs typeface="EB Garamond Semi-Bold"/>
                  <a:sym typeface="EB Garamond Semi-Bold"/>
                </a:rPr>
                <a:t>68 % (17)</a:t>
              </a:r>
            </a:p>
          </p:txBody>
        </p:sp>
      </p:grpSp>
      <p:grpSp>
        <p:nvGrpSpPr>
          <p:cNvPr name="Group 33" id="33"/>
          <p:cNvGrpSpPr/>
          <p:nvPr/>
        </p:nvGrpSpPr>
        <p:grpSpPr>
          <a:xfrm rot="0">
            <a:off x="9912096" y="3328416"/>
            <a:ext cx="5486400" cy="512064"/>
            <a:chOff x="0" y="0"/>
            <a:chExt cx="7315200" cy="682752"/>
          </a:xfrm>
        </p:grpSpPr>
        <p:sp>
          <p:nvSpPr>
            <p:cNvPr name="Freeform 34" id="34"/>
            <p:cNvSpPr/>
            <p:nvPr/>
          </p:nvSpPr>
          <p:spPr>
            <a:xfrm flipH="false" flipV="false" rot="0">
              <a:off x="0" y="0"/>
              <a:ext cx="7315200" cy="682752"/>
            </a:xfrm>
            <a:custGeom>
              <a:avLst/>
              <a:gdLst/>
              <a:ahLst/>
              <a:cxnLst/>
              <a:rect r="r" b="b" t="t" l="l"/>
              <a:pathLst>
                <a:path h="682752" w="7315200">
                  <a:moveTo>
                    <a:pt x="0" y="0"/>
                  </a:moveTo>
                  <a:lnTo>
                    <a:pt x="7315200" y="0"/>
                  </a:lnTo>
                  <a:lnTo>
                    <a:pt x="7315200" y="682752"/>
                  </a:lnTo>
                  <a:lnTo>
                    <a:pt x="0" y="682752"/>
                  </a:lnTo>
                  <a:close/>
                </a:path>
              </a:pathLst>
            </a:custGeom>
            <a:blipFill>
              <a:blip r:embed="rId3">
                <a:alphaModFix amt="0"/>
              </a:blip>
              <a:stretch>
                <a:fillRect l="0" t="-158768" r="0" b="-158768"/>
              </a:stretch>
            </a:blipFill>
          </p:spPr>
        </p:sp>
        <p:sp>
          <p:nvSpPr>
            <p:cNvPr name="TextBox 35" id="35"/>
            <p:cNvSpPr txBox="true"/>
            <p:nvPr/>
          </p:nvSpPr>
          <p:spPr>
            <a:xfrm>
              <a:off x="0" y="0"/>
              <a:ext cx="7315200" cy="682752"/>
            </a:xfrm>
            <a:prstGeom prst="rect">
              <a:avLst/>
            </a:prstGeom>
          </p:spPr>
          <p:txBody>
            <a:bodyPr anchor="ctr" rtlCol="false" tIns="0" lIns="0" bIns="0" rIns="0"/>
            <a:lstStyle/>
            <a:p>
              <a:pPr algn="l">
                <a:lnSpc>
                  <a:spcPts val="2520"/>
                </a:lnSpc>
              </a:pPr>
              <a:r>
                <a:rPr lang="en-US" sz="2100">
                  <a:solidFill>
                    <a:srgbClr val="364E64"/>
                  </a:solidFill>
                  <a:latin typeface="EB Garamond"/>
                  <a:ea typeface="EB Garamond"/>
                  <a:cs typeface="EB Garamond"/>
                  <a:sym typeface="EB Garamond"/>
                </a:rPr>
                <a:t>Ailleurs au Sahel</a:t>
              </a:r>
            </a:p>
          </p:txBody>
        </p:sp>
      </p:grpSp>
      <p:grpSp>
        <p:nvGrpSpPr>
          <p:cNvPr name="Group 36" id="36"/>
          <p:cNvGrpSpPr/>
          <p:nvPr/>
        </p:nvGrpSpPr>
        <p:grpSpPr>
          <a:xfrm rot="0">
            <a:off x="15179040" y="3328416"/>
            <a:ext cx="1828800" cy="512064"/>
            <a:chOff x="0" y="0"/>
            <a:chExt cx="2438400" cy="682752"/>
          </a:xfrm>
        </p:grpSpPr>
        <p:sp>
          <p:nvSpPr>
            <p:cNvPr name="Freeform 37" id="37"/>
            <p:cNvSpPr/>
            <p:nvPr/>
          </p:nvSpPr>
          <p:spPr>
            <a:xfrm flipH="false" flipV="false" rot="0">
              <a:off x="0" y="0"/>
              <a:ext cx="2438400" cy="682752"/>
            </a:xfrm>
            <a:custGeom>
              <a:avLst/>
              <a:gdLst/>
              <a:ahLst/>
              <a:cxnLst/>
              <a:rect r="r" b="b" t="t" l="l"/>
              <a:pathLst>
                <a:path h="682752" w="2438400">
                  <a:moveTo>
                    <a:pt x="0" y="0"/>
                  </a:moveTo>
                  <a:lnTo>
                    <a:pt x="2438400" y="0"/>
                  </a:lnTo>
                  <a:lnTo>
                    <a:pt x="2438400" y="682752"/>
                  </a:lnTo>
                  <a:lnTo>
                    <a:pt x="0" y="682752"/>
                  </a:lnTo>
                  <a:close/>
                </a:path>
              </a:pathLst>
            </a:custGeom>
            <a:blipFill>
              <a:blip r:embed="rId3">
                <a:alphaModFix amt="0"/>
              </a:blip>
              <a:stretch>
                <a:fillRect l="0" t="-19589" r="0" b="-19589"/>
              </a:stretch>
            </a:blipFill>
          </p:spPr>
        </p:sp>
        <p:sp>
          <p:nvSpPr>
            <p:cNvPr name="TextBox 38" id="38"/>
            <p:cNvSpPr txBox="true"/>
            <p:nvPr/>
          </p:nvSpPr>
          <p:spPr>
            <a:xfrm>
              <a:off x="0" y="0"/>
              <a:ext cx="2438400" cy="682752"/>
            </a:xfrm>
            <a:prstGeom prst="rect">
              <a:avLst/>
            </a:prstGeom>
          </p:spPr>
          <p:txBody>
            <a:bodyPr anchor="ctr" rtlCol="false" tIns="0" lIns="0" bIns="0" rIns="0"/>
            <a:lstStyle/>
            <a:p>
              <a:pPr algn="r">
                <a:lnSpc>
                  <a:spcPts val="2520"/>
                </a:lnSpc>
              </a:pPr>
              <a:r>
                <a:rPr lang="en-US" sz="2100">
                  <a:solidFill>
                    <a:srgbClr val="7B8FA1"/>
                  </a:solidFill>
                  <a:latin typeface="EB Garamond"/>
                  <a:ea typeface="EB Garamond"/>
                  <a:cs typeface="EB Garamond"/>
                  <a:sym typeface="EB Garamond"/>
                </a:rPr>
                <a:t>12 % (3)</a:t>
              </a:r>
            </a:p>
          </p:txBody>
        </p:sp>
      </p:grpSp>
      <p:grpSp>
        <p:nvGrpSpPr>
          <p:cNvPr name="Group 39" id="39"/>
          <p:cNvGrpSpPr/>
          <p:nvPr/>
        </p:nvGrpSpPr>
        <p:grpSpPr>
          <a:xfrm rot="0">
            <a:off x="9912096" y="3877056"/>
            <a:ext cx="5486400" cy="512064"/>
            <a:chOff x="0" y="0"/>
            <a:chExt cx="7315200" cy="682752"/>
          </a:xfrm>
        </p:grpSpPr>
        <p:sp>
          <p:nvSpPr>
            <p:cNvPr name="Freeform 40" id="40"/>
            <p:cNvSpPr/>
            <p:nvPr/>
          </p:nvSpPr>
          <p:spPr>
            <a:xfrm flipH="false" flipV="false" rot="0">
              <a:off x="0" y="0"/>
              <a:ext cx="7315200" cy="682752"/>
            </a:xfrm>
            <a:custGeom>
              <a:avLst/>
              <a:gdLst/>
              <a:ahLst/>
              <a:cxnLst/>
              <a:rect r="r" b="b" t="t" l="l"/>
              <a:pathLst>
                <a:path h="682752" w="7315200">
                  <a:moveTo>
                    <a:pt x="0" y="0"/>
                  </a:moveTo>
                  <a:lnTo>
                    <a:pt x="7315200" y="0"/>
                  </a:lnTo>
                  <a:lnTo>
                    <a:pt x="7315200" y="682752"/>
                  </a:lnTo>
                  <a:lnTo>
                    <a:pt x="0" y="682752"/>
                  </a:lnTo>
                  <a:close/>
                </a:path>
              </a:pathLst>
            </a:custGeom>
            <a:blipFill>
              <a:blip r:embed="rId3">
                <a:alphaModFix amt="0"/>
              </a:blip>
              <a:stretch>
                <a:fillRect l="0" t="-158768" r="0" b="-158768"/>
              </a:stretch>
            </a:blipFill>
          </p:spPr>
        </p:sp>
        <p:sp>
          <p:nvSpPr>
            <p:cNvPr name="TextBox 41" id="41"/>
            <p:cNvSpPr txBox="true"/>
            <p:nvPr/>
          </p:nvSpPr>
          <p:spPr>
            <a:xfrm>
              <a:off x="0" y="0"/>
              <a:ext cx="7315200" cy="682752"/>
            </a:xfrm>
            <a:prstGeom prst="rect">
              <a:avLst/>
            </a:prstGeom>
          </p:spPr>
          <p:txBody>
            <a:bodyPr anchor="ctr" rtlCol="false" tIns="0" lIns="0" bIns="0" rIns="0"/>
            <a:lstStyle/>
            <a:p>
              <a:pPr algn="l">
                <a:lnSpc>
                  <a:spcPts val="2520"/>
                </a:lnSpc>
              </a:pPr>
              <a:r>
                <a:rPr lang="en-US" sz="2100">
                  <a:solidFill>
                    <a:srgbClr val="364E64"/>
                  </a:solidFill>
                  <a:latin typeface="EB Garamond"/>
                  <a:ea typeface="EB Garamond"/>
                  <a:cs typeface="EB Garamond"/>
                  <a:sym typeface="EB Garamond"/>
                </a:rPr>
                <a:t>Afrique Centrale</a:t>
              </a:r>
            </a:p>
          </p:txBody>
        </p:sp>
      </p:grpSp>
      <p:grpSp>
        <p:nvGrpSpPr>
          <p:cNvPr name="Group 42" id="42"/>
          <p:cNvGrpSpPr/>
          <p:nvPr/>
        </p:nvGrpSpPr>
        <p:grpSpPr>
          <a:xfrm rot="0">
            <a:off x="15179040" y="3877056"/>
            <a:ext cx="1828800" cy="512064"/>
            <a:chOff x="0" y="0"/>
            <a:chExt cx="2438400" cy="682752"/>
          </a:xfrm>
        </p:grpSpPr>
        <p:sp>
          <p:nvSpPr>
            <p:cNvPr name="Freeform 43" id="43"/>
            <p:cNvSpPr/>
            <p:nvPr/>
          </p:nvSpPr>
          <p:spPr>
            <a:xfrm flipH="false" flipV="false" rot="0">
              <a:off x="0" y="0"/>
              <a:ext cx="2438400" cy="682752"/>
            </a:xfrm>
            <a:custGeom>
              <a:avLst/>
              <a:gdLst/>
              <a:ahLst/>
              <a:cxnLst/>
              <a:rect r="r" b="b" t="t" l="l"/>
              <a:pathLst>
                <a:path h="682752" w="2438400">
                  <a:moveTo>
                    <a:pt x="0" y="0"/>
                  </a:moveTo>
                  <a:lnTo>
                    <a:pt x="2438400" y="0"/>
                  </a:lnTo>
                  <a:lnTo>
                    <a:pt x="2438400" y="682752"/>
                  </a:lnTo>
                  <a:lnTo>
                    <a:pt x="0" y="682752"/>
                  </a:lnTo>
                  <a:close/>
                </a:path>
              </a:pathLst>
            </a:custGeom>
            <a:blipFill>
              <a:blip r:embed="rId3">
                <a:alphaModFix amt="0"/>
              </a:blip>
              <a:stretch>
                <a:fillRect l="0" t="-19589" r="0" b="-19589"/>
              </a:stretch>
            </a:blipFill>
          </p:spPr>
        </p:sp>
        <p:sp>
          <p:nvSpPr>
            <p:cNvPr name="TextBox 44" id="44"/>
            <p:cNvSpPr txBox="true"/>
            <p:nvPr/>
          </p:nvSpPr>
          <p:spPr>
            <a:xfrm>
              <a:off x="0" y="0"/>
              <a:ext cx="2438400" cy="682752"/>
            </a:xfrm>
            <a:prstGeom prst="rect">
              <a:avLst/>
            </a:prstGeom>
          </p:spPr>
          <p:txBody>
            <a:bodyPr anchor="ctr" rtlCol="false" tIns="0" lIns="0" bIns="0" rIns="0"/>
            <a:lstStyle/>
            <a:p>
              <a:pPr algn="r">
                <a:lnSpc>
                  <a:spcPts val="2520"/>
                </a:lnSpc>
              </a:pPr>
              <a:r>
                <a:rPr lang="en-US" sz="2100">
                  <a:solidFill>
                    <a:srgbClr val="7B8FA1"/>
                  </a:solidFill>
                  <a:latin typeface="EB Garamond"/>
                  <a:ea typeface="EB Garamond"/>
                  <a:cs typeface="EB Garamond"/>
                  <a:sym typeface="EB Garamond"/>
                </a:rPr>
                <a:t>12 % (3)</a:t>
              </a:r>
            </a:p>
          </p:txBody>
        </p:sp>
      </p:grpSp>
      <p:grpSp>
        <p:nvGrpSpPr>
          <p:cNvPr name="Group 45" id="45"/>
          <p:cNvGrpSpPr/>
          <p:nvPr/>
        </p:nvGrpSpPr>
        <p:grpSpPr>
          <a:xfrm rot="0">
            <a:off x="9912096" y="4425696"/>
            <a:ext cx="5486400" cy="512064"/>
            <a:chOff x="0" y="0"/>
            <a:chExt cx="7315200" cy="682752"/>
          </a:xfrm>
        </p:grpSpPr>
        <p:sp>
          <p:nvSpPr>
            <p:cNvPr name="Freeform 46" id="46"/>
            <p:cNvSpPr/>
            <p:nvPr/>
          </p:nvSpPr>
          <p:spPr>
            <a:xfrm flipH="false" flipV="false" rot="0">
              <a:off x="0" y="0"/>
              <a:ext cx="7315200" cy="682752"/>
            </a:xfrm>
            <a:custGeom>
              <a:avLst/>
              <a:gdLst/>
              <a:ahLst/>
              <a:cxnLst/>
              <a:rect r="r" b="b" t="t" l="l"/>
              <a:pathLst>
                <a:path h="682752" w="7315200">
                  <a:moveTo>
                    <a:pt x="0" y="0"/>
                  </a:moveTo>
                  <a:lnTo>
                    <a:pt x="7315200" y="0"/>
                  </a:lnTo>
                  <a:lnTo>
                    <a:pt x="7315200" y="682752"/>
                  </a:lnTo>
                  <a:lnTo>
                    <a:pt x="0" y="682752"/>
                  </a:lnTo>
                  <a:close/>
                </a:path>
              </a:pathLst>
            </a:custGeom>
            <a:blipFill>
              <a:blip r:embed="rId3">
                <a:alphaModFix amt="0"/>
              </a:blip>
              <a:stretch>
                <a:fillRect l="0" t="-158768" r="0" b="-158768"/>
              </a:stretch>
            </a:blipFill>
          </p:spPr>
        </p:sp>
        <p:sp>
          <p:nvSpPr>
            <p:cNvPr name="TextBox 47" id="47"/>
            <p:cNvSpPr txBox="true"/>
            <p:nvPr/>
          </p:nvSpPr>
          <p:spPr>
            <a:xfrm>
              <a:off x="0" y="0"/>
              <a:ext cx="7315200" cy="682752"/>
            </a:xfrm>
            <a:prstGeom prst="rect">
              <a:avLst/>
            </a:prstGeom>
          </p:spPr>
          <p:txBody>
            <a:bodyPr anchor="ctr" rtlCol="false" tIns="0" lIns="0" bIns="0" rIns="0"/>
            <a:lstStyle/>
            <a:p>
              <a:pPr algn="l">
                <a:lnSpc>
                  <a:spcPts val="2520"/>
                </a:lnSpc>
              </a:pPr>
              <a:r>
                <a:rPr lang="en-US" sz="2100">
                  <a:solidFill>
                    <a:srgbClr val="364E64"/>
                  </a:solidFill>
                  <a:latin typeface="EB Garamond"/>
                  <a:ea typeface="EB Garamond"/>
                  <a:cs typeface="EB Garamond"/>
                  <a:sym typeface="EB Garamond"/>
                </a:rPr>
                <a:t>Pays côtiers</a:t>
              </a:r>
            </a:p>
          </p:txBody>
        </p:sp>
      </p:grpSp>
      <p:grpSp>
        <p:nvGrpSpPr>
          <p:cNvPr name="Group 48" id="48"/>
          <p:cNvGrpSpPr/>
          <p:nvPr/>
        </p:nvGrpSpPr>
        <p:grpSpPr>
          <a:xfrm rot="0">
            <a:off x="15179040" y="4425696"/>
            <a:ext cx="1828800" cy="512064"/>
            <a:chOff x="0" y="0"/>
            <a:chExt cx="2438400" cy="682752"/>
          </a:xfrm>
        </p:grpSpPr>
        <p:sp>
          <p:nvSpPr>
            <p:cNvPr name="Freeform 49" id="49"/>
            <p:cNvSpPr/>
            <p:nvPr/>
          </p:nvSpPr>
          <p:spPr>
            <a:xfrm flipH="false" flipV="false" rot="0">
              <a:off x="0" y="0"/>
              <a:ext cx="2438400" cy="682752"/>
            </a:xfrm>
            <a:custGeom>
              <a:avLst/>
              <a:gdLst/>
              <a:ahLst/>
              <a:cxnLst/>
              <a:rect r="r" b="b" t="t" l="l"/>
              <a:pathLst>
                <a:path h="682752" w="2438400">
                  <a:moveTo>
                    <a:pt x="0" y="0"/>
                  </a:moveTo>
                  <a:lnTo>
                    <a:pt x="2438400" y="0"/>
                  </a:lnTo>
                  <a:lnTo>
                    <a:pt x="2438400" y="682752"/>
                  </a:lnTo>
                  <a:lnTo>
                    <a:pt x="0" y="682752"/>
                  </a:lnTo>
                  <a:close/>
                </a:path>
              </a:pathLst>
            </a:custGeom>
            <a:blipFill>
              <a:blip r:embed="rId3">
                <a:alphaModFix amt="0"/>
              </a:blip>
              <a:stretch>
                <a:fillRect l="0" t="-19589" r="0" b="-19589"/>
              </a:stretch>
            </a:blipFill>
          </p:spPr>
        </p:sp>
        <p:sp>
          <p:nvSpPr>
            <p:cNvPr name="TextBox 50" id="50"/>
            <p:cNvSpPr txBox="true"/>
            <p:nvPr/>
          </p:nvSpPr>
          <p:spPr>
            <a:xfrm>
              <a:off x="0" y="0"/>
              <a:ext cx="2438400" cy="682752"/>
            </a:xfrm>
            <a:prstGeom prst="rect">
              <a:avLst/>
            </a:prstGeom>
          </p:spPr>
          <p:txBody>
            <a:bodyPr anchor="ctr" rtlCol="false" tIns="0" lIns="0" bIns="0" rIns="0"/>
            <a:lstStyle/>
            <a:p>
              <a:pPr algn="r">
                <a:lnSpc>
                  <a:spcPts val="2520"/>
                </a:lnSpc>
              </a:pPr>
              <a:r>
                <a:rPr lang="en-US" sz="2100">
                  <a:solidFill>
                    <a:srgbClr val="7B8FA1"/>
                  </a:solidFill>
                  <a:latin typeface="EB Garamond"/>
                  <a:ea typeface="EB Garamond"/>
                  <a:cs typeface="EB Garamond"/>
                  <a:sym typeface="EB Garamond"/>
                </a:rPr>
                <a:t>4 % (1)</a:t>
              </a:r>
            </a:p>
          </p:txBody>
        </p:sp>
      </p:grpSp>
      <p:grpSp>
        <p:nvGrpSpPr>
          <p:cNvPr name="Group 51" id="51"/>
          <p:cNvGrpSpPr/>
          <p:nvPr/>
        </p:nvGrpSpPr>
        <p:grpSpPr>
          <a:xfrm rot="0">
            <a:off x="9581512" y="5807069"/>
            <a:ext cx="8076562" cy="3748792"/>
            <a:chOff x="0" y="0"/>
            <a:chExt cx="10768749" cy="4998390"/>
          </a:xfrm>
        </p:grpSpPr>
        <p:grpSp>
          <p:nvGrpSpPr>
            <p:cNvPr name="Group 52" id="52"/>
            <p:cNvGrpSpPr/>
            <p:nvPr/>
          </p:nvGrpSpPr>
          <p:grpSpPr>
            <a:xfrm rot="0">
              <a:off x="0" y="2552"/>
              <a:ext cx="10768749" cy="4994836"/>
              <a:chOff x="0" y="0"/>
              <a:chExt cx="10756049" cy="4988945"/>
            </a:xfrm>
          </p:grpSpPr>
          <p:sp>
            <p:nvSpPr>
              <p:cNvPr name="Freeform 53" id="53"/>
              <p:cNvSpPr/>
              <p:nvPr/>
            </p:nvSpPr>
            <p:spPr>
              <a:xfrm flipH="false" flipV="false" rot="0">
                <a:off x="13589" y="10255"/>
                <a:ext cx="10728833" cy="4968502"/>
              </a:xfrm>
              <a:custGeom>
                <a:avLst/>
                <a:gdLst/>
                <a:ahLst/>
                <a:cxnLst/>
                <a:rect r="r" b="b" t="t" l="l"/>
                <a:pathLst>
                  <a:path h="4968502" w="10728833">
                    <a:moveTo>
                      <a:pt x="0" y="184019"/>
                    </a:moveTo>
                    <a:cubicBezTo>
                      <a:pt x="0" y="82425"/>
                      <a:pt x="109347" y="0"/>
                      <a:pt x="244221" y="0"/>
                    </a:cubicBezTo>
                    <a:lnTo>
                      <a:pt x="10484612" y="0"/>
                    </a:lnTo>
                    <a:cubicBezTo>
                      <a:pt x="10619486" y="0"/>
                      <a:pt x="10728833" y="82425"/>
                      <a:pt x="10728833" y="184019"/>
                    </a:cubicBezTo>
                    <a:lnTo>
                      <a:pt x="10728833" y="4784483"/>
                    </a:lnTo>
                    <a:cubicBezTo>
                      <a:pt x="10728833" y="4886077"/>
                      <a:pt x="10619486" y="4968502"/>
                      <a:pt x="10484612" y="4968502"/>
                    </a:cubicBezTo>
                    <a:lnTo>
                      <a:pt x="244221" y="4968502"/>
                    </a:lnTo>
                    <a:cubicBezTo>
                      <a:pt x="109347" y="4968502"/>
                      <a:pt x="0" y="4886077"/>
                      <a:pt x="0" y="4784483"/>
                    </a:cubicBezTo>
                    <a:close/>
                  </a:path>
                </a:pathLst>
              </a:custGeom>
              <a:solidFill>
                <a:srgbClr val="FFFFFF"/>
              </a:solidFill>
            </p:spPr>
          </p:sp>
          <p:sp>
            <p:nvSpPr>
              <p:cNvPr name="Freeform 54" id="54"/>
              <p:cNvSpPr/>
              <p:nvPr/>
            </p:nvSpPr>
            <p:spPr>
              <a:xfrm flipH="false" flipV="false" rot="0">
                <a:off x="0" y="0"/>
                <a:ext cx="10756011" cy="4989033"/>
              </a:xfrm>
              <a:custGeom>
                <a:avLst/>
                <a:gdLst/>
                <a:ahLst/>
                <a:cxnLst/>
                <a:rect r="r" b="b" t="t" l="l"/>
                <a:pathLst>
                  <a:path h="4989033" w="10756011">
                    <a:moveTo>
                      <a:pt x="0" y="194274"/>
                    </a:moveTo>
                    <a:cubicBezTo>
                      <a:pt x="0" y="86930"/>
                      <a:pt x="115443" y="0"/>
                      <a:pt x="257810" y="0"/>
                    </a:cubicBezTo>
                    <a:lnTo>
                      <a:pt x="10498201" y="0"/>
                    </a:lnTo>
                    <a:lnTo>
                      <a:pt x="10498201" y="10255"/>
                    </a:lnTo>
                    <a:lnTo>
                      <a:pt x="10498201" y="0"/>
                    </a:lnTo>
                    <a:cubicBezTo>
                      <a:pt x="10640568" y="0"/>
                      <a:pt x="10756011" y="86930"/>
                      <a:pt x="10756011" y="194274"/>
                    </a:cubicBezTo>
                    <a:lnTo>
                      <a:pt x="10742422" y="194274"/>
                    </a:lnTo>
                    <a:lnTo>
                      <a:pt x="10756011" y="194274"/>
                    </a:lnTo>
                    <a:lnTo>
                      <a:pt x="10756011" y="4794738"/>
                    </a:lnTo>
                    <a:lnTo>
                      <a:pt x="10742422" y="4794738"/>
                    </a:lnTo>
                    <a:lnTo>
                      <a:pt x="10756011" y="4794738"/>
                    </a:lnTo>
                    <a:cubicBezTo>
                      <a:pt x="10756011" y="4902083"/>
                      <a:pt x="10640568" y="4989033"/>
                      <a:pt x="10498201" y="4989033"/>
                    </a:cubicBezTo>
                    <a:lnTo>
                      <a:pt x="10498201" y="4978757"/>
                    </a:lnTo>
                    <a:lnTo>
                      <a:pt x="10498201" y="4989033"/>
                    </a:lnTo>
                    <a:lnTo>
                      <a:pt x="257810" y="4989033"/>
                    </a:lnTo>
                    <a:lnTo>
                      <a:pt x="257810" y="4978757"/>
                    </a:lnTo>
                    <a:lnTo>
                      <a:pt x="257810" y="4989033"/>
                    </a:lnTo>
                    <a:cubicBezTo>
                      <a:pt x="115443" y="4988916"/>
                      <a:pt x="0" y="4901986"/>
                      <a:pt x="0" y="4794738"/>
                    </a:cubicBezTo>
                    <a:lnTo>
                      <a:pt x="0" y="194274"/>
                    </a:lnTo>
                    <a:lnTo>
                      <a:pt x="13589" y="194274"/>
                    </a:lnTo>
                    <a:lnTo>
                      <a:pt x="0" y="194274"/>
                    </a:lnTo>
                    <a:moveTo>
                      <a:pt x="27051" y="194274"/>
                    </a:moveTo>
                    <a:lnTo>
                      <a:pt x="27051" y="4794738"/>
                    </a:lnTo>
                    <a:lnTo>
                      <a:pt x="13589" y="4794738"/>
                    </a:lnTo>
                    <a:lnTo>
                      <a:pt x="27051" y="4794738"/>
                    </a:lnTo>
                    <a:cubicBezTo>
                      <a:pt x="27051" y="4890677"/>
                      <a:pt x="130302" y="4968501"/>
                      <a:pt x="257810" y="4968501"/>
                    </a:cubicBezTo>
                    <a:lnTo>
                      <a:pt x="10498201" y="4968501"/>
                    </a:lnTo>
                    <a:cubicBezTo>
                      <a:pt x="10625582" y="4968501"/>
                      <a:pt x="10728960" y="4890677"/>
                      <a:pt x="10728960" y="4794738"/>
                    </a:cubicBezTo>
                    <a:lnTo>
                      <a:pt x="10728960" y="194274"/>
                    </a:lnTo>
                    <a:cubicBezTo>
                      <a:pt x="10728960" y="98335"/>
                      <a:pt x="10625709" y="20510"/>
                      <a:pt x="10498201" y="20510"/>
                    </a:cubicBezTo>
                    <a:lnTo>
                      <a:pt x="257810" y="20510"/>
                    </a:lnTo>
                    <a:lnTo>
                      <a:pt x="257810" y="10255"/>
                    </a:lnTo>
                    <a:lnTo>
                      <a:pt x="257810" y="20415"/>
                    </a:lnTo>
                    <a:cubicBezTo>
                      <a:pt x="130429" y="20415"/>
                      <a:pt x="27051" y="98239"/>
                      <a:pt x="27051" y="194178"/>
                    </a:cubicBezTo>
                    <a:close/>
                  </a:path>
                </a:pathLst>
              </a:custGeom>
              <a:solidFill>
                <a:srgbClr val="BDC8D5"/>
              </a:solidFill>
            </p:spPr>
          </p:sp>
        </p:grpSp>
        <p:grpSp>
          <p:nvGrpSpPr>
            <p:cNvPr name="Group 55" id="55"/>
            <p:cNvGrpSpPr/>
            <p:nvPr/>
          </p:nvGrpSpPr>
          <p:grpSpPr>
            <a:xfrm rot="0">
              <a:off x="0" y="0"/>
              <a:ext cx="204736" cy="4998390"/>
              <a:chOff x="0" y="0"/>
              <a:chExt cx="204559" cy="4994063"/>
            </a:xfrm>
          </p:grpSpPr>
          <p:sp>
            <p:nvSpPr>
              <p:cNvPr name="Freeform 56" id="56"/>
              <p:cNvSpPr/>
              <p:nvPr/>
            </p:nvSpPr>
            <p:spPr>
              <a:xfrm flipH="false" flipV="false" rot="0">
                <a:off x="16891" y="12747"/>
                <a:ext cx="170688" cy="4968502"/>
              </a:xfrm>
              <a:custGeom>
                <a:avLst/>
                <a:gdLst/>
                <a:ahLst/>
                <a:cxnLst/>
                <a:rect r="r" b="b" t="t" l="l"/>
                <a:pathLst>
                  <a:path h="4968502" w="170688">
                    <a:moveTo>
                      <a:pt x="0" y="0"/>
                    </a:moveTo>
                    <a:lnTo>
                      <a:pt x="170688" y="0"/>
                    </a:lnTo>
                    <a:lnTo>
                      <a:pt x="170688" y="4968502"/>
                    </a:lnTo>
                    <a:lnTo>
                      <a:pt x="0" y="4968502"/>
                    </a:lnTo>
                    <a:close/>
                  </a:path>
                </a:pathLst>
              </a:custGeom>
              <a:solidFill>
                <a:srgbClr val="C0614E"/>
              </a:solidFill>
            </p:spPr>
          </p:sp>
          <p:sp>
            <p:nvSpPr>
              <p:cNvPr name="Freeform 57" id="57"/>
              <p:cNvSpPr/>
              <p:nvPr/>
            </p:nvSpPr>
            <p:spPr>
              <a:xfrm flipH="false" flipV="false" rot="0">
                <a:off x="0" y="0"/>
                <a:ext cx="204470" cy="4993996"/>
              </a:xfrm>
              <a:custGeom>
                <a:avLst/>
                <a:gdLst/>
                <a:ahLst/>
                <a:cxnLst/>
                <a:rect r="r" b="b" t="t" l="l"/>
                <a:pathLst>
                  <a:path h="4993996" w="204470">
                    <a:moveTo>
                      <a:pt x="16891" y="0"/>
                    </a:moveTo>
                    <a:lnTo>
                      <a:pt x="187579" y="0"/>
                    </a:lnTo>
                    <a:cubicBezTo>
                      <a:pt x="196977" y="0"/>
                      <a:pt x="204470" y="5751"/>
                      <a:pt x="204470" y="12747"/>
                    </a:cubicBezTo>
                    <a:lnTo>
                      <a:pt x="204470" y="4981249"/>
                    </a:lnTo>
                    <a:cubicBezTo>
                      <a:pt x="204470" y="4988342"/>
                      <a:pt x="196850" y="4993996"/>
                      <a:pt x="187579" y="4993996"/>
                    </a:cubicBezTo>
                    <a:lnTo>
                      <a:pt x="16891" y="4993996"/>
                    </a:lnTo>
                    <a:cubicBezTo>
                      <a:pt x="7493" y="4993996"/>
                      <a:pt x="0" y="4988246"/>
                      <a:pt x="0" y="4981249"/>
                    </a:cubicBezTo>
                    <a:lnTo>
                      <a:pt x="0" y="12747"/>
                    </a:lnTo>
                    <a:cubicBezTo>
                      <a:pt x="0" y="5751"/>
                      <a:pt x="7620" y="0"/>
                      <a:pt x="16891" y="0"/>
                    </a:cubicBezTo>
                    <a:moveTo>
                      <a:pt x="16891" y="25590"/>
                    </a:moveTo>
                    <a:lnTo>
                      <a:pt x="16891" y="12747"/>
                    </a:lnTo>
                    <a:lnTo>
                      <a:pt x="33909" y="12747"/>
                    </a:lnTo>
                    <a:lnTo>
                      <a:pt x="33909" y="4981249"/>
                    </a:lnTo>
                    <a:lnTo>
                      <a:pt x="16891" y="4981249"/>
                    </a:lnTo>
                    <a:lnTo>
                      <a:pt x="16891" y="4968502"/>
                    </a:lnTo>
                    <a:lnTo>
                      <a:pt x="187579" y="4968502"/>
                    </a:lnTo>
                    <a:lnTo>
                      <a:pt x="187579" y="4981249"/>
                    </a:lnTo>
                    <a:lnTo>
                      <a:pt x="170688" y="4981249"/>
                    </a:lnTo>
                    <a:lnTo>
                      <a:pt x="170688" y="12747"/>
                    </a:lnTo>
                    <a:lnTo>
                      <a:pt x="187579" y="12747"/>
                    </a:lnTo>
                    <a:lnTo>
                      <a:pt x="187579" y="25590"/>
                    </a:lnTo>
                    <a:lnTo>
                      <a:pt x="16891" y="25590"/>
                    </a:lnTo>
                    <a:close/>
                  </a:path>
                </a:pathLst>
              </a:custGeom>
              <a:solidFill>
                <a:srgbClr val="C0614E"/>
              </a:solidFill>
            </p:spPr>
          </p:sp>
        </p:grpSp>
        <p:grpSp>
          <p:nvGrpSpPr>
            <p:cNvPr name="Group 58" id="58"/>
            <p:cNvGrpSpPr/>
            <p:nvPr/>
          </p:nvGrpSpPr>
          <p:grpSpPr>
            <a:xfrm rot="0">
              <a:off x="480641" y="178421"/>
              <a:ext cx="9762050" cy="589496"/>
              <a:chOff x="0" y="0"/>
              <a:chExt cx="9753600" cy="588986"/>
            </a:xfrm>
          </p:grpSpPr>
          <p:sp>
            <p:nvSpPr>
              <p:cNvPr name="Freeform 59" id="59"/>
              <p:cNvSpPr/>
              <p:nvPr/>
            </p:nvSpPr>
            <p:spPr>
              <a:xfrm flipH="false" flipV="false" rot="0">
                <a:off x="0" y="0"/>
                <a:ext cx="9753600" cy="588986"/>
              </a:xfrm>
              <a:custGeom>
                <a:avLst/>
                <a:gdLst/>
                <a:ahLst/>
                <a:cxnLst/>
                <a:rect r="r" b="b" t="t" l="l"/>
                <a:pathLst>
                  <a:path h="588986" w="9753600">
                    <a:moveTo>
                      <a:pt x="0" y="0"/>
                    </a:moveTo>
                    <a:lnTo>
                      <a:pt x="9753600" y="0"/>
                    </a:lnTo>
                    <a:lnTo>
                      <a:pt x="9753600" y="588986"/>
                    </a:lnTo>
                    <a:lnTo>
                      <a:pt x="0" y="588986"/>
                    </a:lnTo>
                    <a:close/>
                  </a:path>
                </a:pathLst>
              </a:custGeom>
              <a:blipFill>
                <a:blip r:embed="rId3">
                  <a:alphaModFix amt="0"/>
                </a:blip>
                <a:stretch>
                  <a:fillRect l="0" t="-256432" r="0" b="-288911"/>
                </a:stretch>
              </a:blipFill>
            </p:spPr>
          </p:sp>
          <p:sp>
            <p:nvSpPr>
              <p:cNvPr name="TextBox 60" id="60"/>
              <p:cNvSpPr txBox="true"/>
              <p:nvPr/>
            </p:nvSpPr>
            <p:spPr>
              <a:xfrm>
                <a:off x="0" y="-47625"/>
                <a:ext cx="9753600" cy="636611"/>
              </a:xfrm>
              <a:prstGeom prst="rect">
                <a:avLst/>
              </a:prstGeom>
            </p:spPr>
            <p:txBody>
              <a:bodyPr anchor="ctr" rtlCol="false" tIns="0" lIns="0" bIns="0" rIns="0"/>
              <a:lstStyle/>
              <a:p>
                <a:pPr algn="l">
                  <a:lnSpc>
                    <a:spcPts val="2639"/>
                  </a:lnSpc>
                </a:pPr>
                <a:r>
                  <a:rPr lang="en-US" sz="2199" b="true">
                    <a:solidFill>
                      <a:srgbClr val="1C2E40"/>
                    </a:solidFill>
                    <a:latin typeface="Calibri (MS) Bold"/>
                    <a:ea typeface="Calibri (MS) Bold"/>
                    <a:cs typeface="Calibri (MS) Bold"/>
                    <a:sym typeface="Calibri (MS) Bold"/>
                  </a:rPr>
                  <a:t>Corrélation intensité ~ viabilité (UBT/EA)</a:t>
                </a:r>
              </a:p>
            </p:txBody>
          </p:sp>
        </p:grpSp>
        <p:grpSp>
          <p:nvGrpSpPr>
            <p:cNvPr name="Group 61" id="61"/>
            <p:cNvGrpSpPr/>
            <p:nvPr/>
          </p:nvGrpSpPr>
          <p:grpSpPr>
            <a:xfrm rot="0">
              <a:off x="480641" y="763148"/>
              <a:ext cx="3660769" cy="887552"/>
              <a:chOff x="0" y="0"/>
              <a:chExt cx="3657600" cy="886783"/>
            </a:xfrm>
          </p:grpSpPr>
          <p:sp>
            <p:nvSpPr>
              <p:cNvPr name="Freeform 62" id="62"/>
              <p:cNvSpPr/>
              <p:nvPr/>
            </p:nvSpPr>
            <p:spPr>
              <a:xfrm flipH="false" flipV="false" rot="0">
                <a:off x="0" y="0"/>
                <a:ext cx="3657600" cy="886783"/>
              </a:xfrm>
              <a:custGeom>
                <a:avLst/>
                <a:gdLst/>
                <a:ahLst/>
                <a:cxnLst/>
                <a:rect r="r" b="b" t="t" l="l"/>
                <a:pathLst>
                  <a:path h="886783" w="3657600">
                    <a:moveTo>
                      <a:pt x="0" y="0"/>
                    </a:moveTo>
                    <a:lnTo>
                      <a:pt x="3657600" y="0"/>
                    </a:lnTo>
                    <a:lnTo>
                      <a:pt x="3657600" y="886783"/>
                    </a:lnTo>
                    <a:lnTo>
                      <a:pt x="0" y="886783"/>
                    </a:lnTo>
                    <a:close/>
                  </a:path>
                </a:pathLst>
              </a:custGeom>
              <a:blipFill>
                <a:blip r:embed="rId3">
                  <a:alphaModFix amt="0"/>
                </a:blip>
                <a:stretch>
                  <a:fillRect l="0" t="-36371" r="0" b="-24362"/>
                </a:stretch>
              </a:blipFill>
            </p:spPr>
          </p:sp>
          <p:sp>
            <p:nvSpPr>
              <p:cNvPr name="TextBox 63" id="63"/>
              <p:cNvSpPr txBox="true"/>
              <p:nvPr/>
            </p:nvSpPr>
            <p:spPr>
              <a:xfrm>
                <a:off x="0" y="-38100"/>
                <a:ext cx="3657600" cy="924883"/>
              </a:xfrm>
              <a:prstGeom prst="rect">
                <a:avLst/>
              </a:prstGeom>
            </p:spPr>
            <p:txBody>
              <a:bodyPr anchor="ctr" rtlCol="false" tIns="0" lIns="0" bIns="0" rIns="0"/>
              <a:lstStyle/>
              <a:p>
                <a:pPr algn="ctr">
                  <a:lnSpc>
                    <a:spcPts val="2279"/>
                  </a:lnSpc>
                </a:pPr>
                <a:r>
                  <a:rPr lang="en-US" sz="1899" b="true">
                    <a:solidFill>
                      <a:srgbClr val="1C2E40"/>
                    </a:solidFill>
                    <a:latin typeface="Calibri (MS) Bold"/>
                    <a:ea typeface="Calibri (MS) Bold"/>
                    <a:cs typeface="Calibri (MS) Bold"/>
                    <a:sym typeface="Calibri (MS) Bold"/>
                  </a:rPr>
                  <a:t>Coefficient de corrélation de PEARSON</a:t>
                </a:r>
              </a:p>
            </p:txBody>
          </p:sp>
        </p:grpSp>
        <p:grpSp>
          <p:nvGrpSpPr>
            <p:cNvPr name="Group 64" id="64"/>
            <p:cNvGrpSpPr/>
            <p:nvPr/>
          </p:nvGrpSpPr>
          <p:grpSpPr>
            <a:xfrm rot="0">
              <a:off x="956541" y="1574486"/>
              <a:ext cx="2708969" cy="506222"/>
              <a:chOff x="0" y="0"/>
              <a:chExt cx="1755648" cy="328076"/>
            </a:xfrm>
          </p:grpSpPr>
          <p:sp>
            <p:nvSpPr>
              <p:cNvPr name="Freeform 65" id="65"/>
              <p:cNvSpPr/>
              <p:nvPr/>
            </p:nvSpPr>
            <p:spPr>
              <a:xfrm flipH="false" flipV="false" rot="0">
                <a:off x="0" y="0"/>
                <a:ext cx="1755648" cy="328076"/>
              </a:xfrm>
              <a:custGeom>
                <a:avLst/>
                <a:gdLst/>
                <a:ahLst/>
                <a:cxnLst/>
                <a:rect r="r" b="b" t="t" l="l"/>
                <a:pathLst>
                  <a:path h="328076" w="1755648">
                    <a:moveTo>
                      <a:pt x="0" y="0"/>
                    </a:moveTo>
                    <a:lnTo>
                      <a:pt x="1755648" y="0"/>
                    </a:lnTo>
                    <a:lnTo>
                      <a:pt x="1755648" y="328076"/>
                    </a:lnTo>
                    <a:lnTo>
                      <a:pt x="0" y="328076"/>
                    </a:lnTo>
                    <a:close/>
                  </a:path>
                </a:pathLst>
              </a:custGeom>
              <a:blipFill>
                <a:blip r:embed="rId3">
                  <a:alphaModFix amt="0"/>
                </a:blip>
                <a:stretch>
                  <a:fillRect l="-7023" t="0" r="-7023" b="-137837"/>
                </a:stretch>
              </a:blipFill>
            </p:spPr>
          </p:sp>
          <p:sp>
            <p:nvSpPr>
              <p:cNvPr name="TextBox 66" id="66"/>
              <p:cNvSpPr txBox="true"/>
              <p:nvPr/>
            </p:nvSpPr>
            <p:spPr>
              <a:xfrm>
                <a:off x="0" y="-38100"/>
                <a:ext cx="1755648" cy="366176"/>
              </a:xfrm>
              <a:prstGeom prst="rect">
                <a:avLst/>
              </a:prstGeom>
            </p:spPr>
            <p:txBody>
              <a:bodyPr anchor="t" rtlCol="false" tIns="0" lIns="0" bIns="0" rIns="0"/>
              <a:lstStyle/>
              <a:p>
                <a:pPr algn="ctr">
                  <a:lnSpc>
                    <a:spcPts val="2279"/>
                  </a:lnSpc>
                </a:pPr>
                <a:r>
                  <a:rPr lang="en-US" sz="1899" b="true">
                    <a:solidFill>
                      <a:srgbClr val="C0614E"/>
                    </a:solidFill>
                    <a:latin typeface="Calibri (MS) Bold"/>
                    <a:ea typeface="Calibri (MS) Bold"/>
                    <a:cs typeface="Calibri (MS) Bold"/>
                    <a:sym typeface="Calibri (MS) Bold"/>
                  </a:rPr>
                  <a:t>0,19 %</a:t>
                </a:r>
              </a:p>
            </p:txBody>
          </p:sp>
        </p:grpSp>
        <p:grpSp>
          <p:nvGrpSpPr>
            <p:cNvPr name="Group 67" id="67"/>
            <p:cNvGrpSpPr/>
            <p:nvPr/>
          </p:nvGrpSpPr>
          <p:grpSpPr>
            <a:xfrm rot="0">
              <a:off x="480641" y="2253384"/>
              <a:ext cx="9541731" cy="63555"/>
              <a:chOff x="0" y="0"/>
              <a:chExt cx="9533471" cy="63500"/>
            </a:xfrm>
          </p:grpSpPr>
          <p:sp>
            <p:nvSpPr>
              <p:cNvPr name="Freeform 68" id="68"/>
              <p:cNvSpPr/>
              <p:nvPr/>
            </p:nvSpPr>
            <p:spPr>
              <a:xfrm flipH="false" flipV="false" rot="0">
                <a:off x="11811" y="0"/>
                <a:ext cx="9509760" cy="63538"/>
              </a:xfrm>
              <a:custGeom>
                <a:avLst/>
                <a:gdLst/>
                <a:ahLst/>
                <a:cxnLst/>
                <a:rect r="r" b="b" t="t" l="l"/>
                <a:pathLst>
                  <a:path h="63538" w="9509760">
                    <a:moveTo>
                      <a:pt x="0" y="0"/>
                    </a:moveTo>
                    <a:lnTo>
                      <a:pt x="9509760" y="0"/>
                    </a:lnTo>
                    <a:lnTo>
                      <a:pt x="9509760" y="63538"/>
                    </a:lnTo>
                    <a:lnTo>
                      <a:pt x="0" y="63538"/>
                    </a:lnTo>
                    <a:close/>
                  </a:path>
                </a:pathLst>
              </a:custGeom>
              <a:solidFill>
                <a:srgbClr val="BDC8D5"/>
              </a:solidFill>
            </p:spPr>
          </p:sp>
        </p:grpSp>
        <p:grpSp>
          <p:nvGrpSpPr>
            <p:cNvPr name="Group 69" id="69"/>
            <p:cNvGrpSpPr/>
            <p:nvPr/>
          </p:nvGrpSpPr>
          <p:grpSpPr>
            <a:xfrm rot="0">
              <a:off x="504373" y="2434203"/>
              <a:ext cx="9517999" cy="798140"/>
              <a:chOff x="0" y="0"/>
              <a:chExt cx="9509760" cy="797449"/>
            </a:xfrm>
          </p:grpSpPr>
          <p:sp>
            <p:nvSpPr>
              <p:cNvPr name="Freeform 70" id="70"/>
              <p:cNvSpPr/>
              <p:nvPr/>
            </p:nvSpPr>
            <p:spPr>
              <a:xfrm flipH="false" flipV="false" rot="0">
                <a:off x="0" y="0"/>
                <a:ext cx="9509760" cy="797449"/>
              </a:xfrm>
              <a:custGeom>
                <a:avLst/>
                <a:gdLst/>
                <a:ahLst/>
                <a:cxnLst/>
                <a:rect r="r" b="b" t="t" l="l"/>
                <a:pathLst>
                  <a:path h="797449" w="9509760">
                    <a:moveTo>
                      <a:pt x="0" y="0"/>
                    </a:moveTo>
                    <a:lnTo>
                      <a:pt x="9509760" y="0"/>
                    </a:lnTo>
                    <a:lnTo>
                      <a:pt x="9509760" y="797449"/>
                    </a:lnTo>
                    <a:lnTo>
                      <a:pt x="0" y="797449"/>
                    </a:lnTo>
                    <a:close/>
                  </a:path>
                </a:pathLst>
              </a:custGeom>
              <a:blipFill>
                <a:blip r:embed="rId3">
                  <a:alphaModFix amt="0"/>
                </a:blip>
                <a:stretch>
                  <a:fillRect l="0" t="-186497" r="0" b="-178229"/>
                </a:stretch>
              </a:blipFill>
            </p:spPr>
          </p:sp>
          <p:sp>
            <p:nvSpPr>
              <p:cNvPr name="TextBox 71" id="71"/>
              <p:cNvSpPr txBox="true"/>
              <p:nvPr/>
            </p:nvSpPr>
            <p:spPr>
              <a:xfrm>
                <a:off x="0" y="-38100"/>
                <a:ext cx="9509760" cy="835549"/>
              </a:xfrm>
              <a:prstGeom prst="rect">
                <a:avLst/>
              </a:prstGeom>
            </p:spPr>
            <p:txBody>
              <a:bodyPr anchor="ctr" rtlCol="false" tIns="0" lIns="0" bIns="0" rIns="0"/>
              <a:lstStyle/>
              <a:p>
                <a:pPr algn="l">
                  <a:lnSpc>
                    <a:spcPts val="2040"/>
                  </a:lnSpc>
                </a:pPr>
                <a:r>
                  <a:rPr lang="en-US" sz="1700" i="true">
                    <a:solidFill>
                      <a:srgbClr val="7B8FA1"/>
                    </a:solidFill>
                    <a:latin typeface="Calibri (MS) Italics"/>
                    <a:ea typeface="Calibri (MS) Italics"/>
                    <a:cs typeface="Calibri (MS) Italics"/>
                    <a:sym typeface="Calibri (MS) Italics"/>
                  </a:rPr>
                  <a:t>Donc la viabilité de l’élevage et l’intensité d’émigration sont faiblement corrélées bien que leur relation soit statistiquement significative.</a:t>
                </a:r>
              </a:p>
            </p:txBody>
          </p:sp>
        </p:grpSp>
        <p:grpSp>
          <p:nvGrpSpPr>
            <p:cNvPr name="Group 72" id="72"/>
            <p:cNvGrpSpPr/>
            <p:nvPr/>
          </p:nvGrpSpPr>
          <p:grpSpPr>
            <a:xfrm rot="0">
              <a:off x="5967430" y="1574486"/>
              <a:ext cx="2708969" cy="506222"/>
              <a:chOff x="0" y="0"/>
              <a:chExt cx="1755648" cy="328076"/>
            </a:xfrm>
          </p:grpSpPr>
          <p:sp>
            <p:nvSpPr>
              <p:cNvPr name="Freeform 73" id="73"/>
              <p:cNvSpPr/>
              <p:nvPr/>
            </p:nvSpPr>
            <p:spPr>
              <a:xfrm flipH="false" flipV="false" rot="0">
                <a:off x="0" y="0"/>
                <a:ext cx="1755648" cy="328076"/>
              </a:xfrm>
              <a:custGeom>
                <a:avLst/>
                <a:gdLst/>
                <a:ahLst/>
                <a:cxnLst/>
                <a:rect r="r" b="b" t="t" l="l"/>
                <a:pathLst>
                  <a:path h="328076" w="1755648">
                    <a:moveTo>
                      <a:pt x="0" y="0"/>
                    </a:moveTo>
                    <a:lnTo>
                      <a:pt x="1755648" y="0"/>
                    </a:lnTo>
                    <a:lnTo>
                      <a:pt x="1755648" y="328076"/>
                    </a:lnTo>
                    <a:lnTo>
                      <a:pt x="0" y="328076"/>
                    </a:lnTo>
                    <a:close/>
                  </a:path>
                </a:pathLst>
              </a:custGeom>
              <a:blipFill>
                <a:blip r:embed="rId3">
                  <a:alphaModFix amt="0"/>
                </a:blip>
                <a:stretch>
                  <a:fillRect l="-7023" t="0" r="-7023" b="-137837"/>
                </a:stretch>
              </a:blipFill>
            </p:spPr>
          </p:sp>
          <p:sp>
            <p:nvSpPr>
              <p:cNvPr name="TextBox 74" id="74"/>
              <p:cNvSpPr txBox="true"/>
              <p:nvPr/>
            </p:nvSpPr>
            <p:spPr>
              <a:xfrm>
                <a:off x="0" y="-38100"/>
                <a:ext cx="1755648" cy="366176"/>
              </a:xfrm>
              <a:prstGeom prst="rect">
                <a:avLst/>
              </a:prstGeom>
            </p:spPr>
            <p:txBody>
              <a:bodyPr anchor="t" rtlCol="false" tIns="0" lIns="0" bIns="0" rIns="0"/>
              <a:lstStyle/>
              <a:p>
                <a:pPr algn="ctr">
                  <a:lnSpc>
                    <a:spcPts val="2279"/>
                  </a:lnSpc>
                </a:pPr>
                <a:r>
                  <a:rPr lang="en-US" sz="1899" b="true">
                    <a:solidFill>
                      <a:srgbClr val="C0614E"/>
                    </a:solidFill>
                    <a:latin typeface="Calibri (MS) Bold"/>
                    <a:ea typeface="Calibri (MS) Bold"/>
                    <a:cs typeface="Calibri (MS) Bold"/>
                    <a:sym typeface="Calibri (MS) Bold"/>
                  </a:rPr>
                  <a:t>0,0 %</a:t>
                </a:r>
              </a:p>
            </p:txBody>
          </p:sp>
        </p:grpSp>
        <p:grpSp>
          <p:nvGrpSpPr>
            <p:cNvPr name="Group 75" id="75"/>
            <p:cNvGrpSpPr/>
            <p:nvPr/>
          </p:nvGrpSpPr>
          <p:grpSpPr>
            <a:xfrm rot="0">
              <a:off x="5491530" y="896841"/>
              <a:ext cx="3660769" cy="753858"/>
              <a:chOff x="0" y="0"/>
              <a:chExt cx="3657600" cy="753206"/>
            </a:xfrm>
          </p:grpSpPr>
          <p:sp>
            <p:nvSpPr>
              <p:cNvPr name="Freeform 76" id="76"/>
              <p:cNvSpPr/>
              <p:nvPr/>
            </p:nvSpPr>
            <p:spPr>
              <a:xfrm flipH="false" flipV="false" rot="0">
                <a:off x="0" y="0"/>
                <a:ext cx="3657600" cy="753206"/>
              </a:xfrm>
              <a:custGeom>
                <a:avLst/>
                <a:gdLst/>
                <a:ahLst/>
                <a:cxnLst/>
                <a:rect r="r" b="b" t="t" l="l"/>
                <a:pathLst>
                  <a:path h="753206" w="3657600">
                    <a:moveTo>
                      <a:pt x="0" y="0"/>
                    </a:moveTo>
                    <a:lnTo>
                      <a:pt x="3657600" y="0"/>
                    </a:lnTo>
                    <a:lnTo>
                      <a:pt x="3657600" y="753206"/>
                    </a:lnTo>
                    <a:lnTo>
                      <a:pt x="0" y="753206"/>
                    </a:lnTo>
                    <a:close/>
                  </a:path>
                </a:pathLst>
              </a:custGeom>
              <a:blipFill>
                <a:blip r:embed="rId3">
                  <a:alphaModFix amt="0"/>
                </a:blip>
                <a:stretch>
                  <a:fillRect l="0" t="-42822" r="0" b="-46418"/>
                </a:stretch>
              </a:blipFill>
            </p:spPr>
          </p:sp>
          <p:sp>
            <p:nvSpPr>
              <p:cNvPr name="TextBox 77" id="77"/>
              <p:cNvSpPr txBox="true"/>
              <p:nvPr/>
            </p:nvSpPr>
            <p:spPr>
              <a:xfrm>
                <a:off x="0" y="-38100"/>
                <a:ext cx="3657600" cy="791306"/>
              </a:xfrm>
              <a:prstGeom prst="rect">
                <a:avLst/>
              </a:prstGeom>
            </p:spPr>
            <p:txBody>
              <a:bodyPr anchor="ctr" rtlCol="false" tIns="0" lIns="0" bIns="0" rIns="0"/>
              <a:lstStyle/>
              <a:p>
                <a:pPr algn="ctr">
                  <a:lnSpc>
                    <a:spcPts val="2279"/>
                  </a:lnSpc>
                </a:pPr>
                <a:r>
                  <a:rPr lang="en-US" sz="1899" b="true">
                    <a:solidFill>
                      <a:srgbClr val="1C2E40"/>
                    </a:solidFill>
                    <a:latin typeface="Calibri (MS) Bold"/>
                    <a:ea typeface="Calibri (MS) Bold"/>
                    <a:cs typeface="Calibri (MS) Bold"/>
                    <a:sym typeface="Calibri (MS) Bold"/>
                  </a:rPr>
                  <a:t>P-VALUE</a:t>
                </a:r>
              </a:p>
            </p:txBody>
          </p:sp>
        </p:grpSp>
      </p:grpSp>
      <p:grpSp>
        <p:nvGrpSpPr>
          <p:cNvPr name="Group 78" id="78"/>
          <p:cNvGrpSpPr/>
          <p:nvPr/>
        </p:nvGrpSpPr>
        <p:grpSpPr>
          <a:xfrm rot="0">
            <a:off x="9912096" y="4937760"/>
            <a:ext cx="5486400" cy="512064"/>
            <a:chOff x="0" y="0"/>
            <a:chExt cx="7315200" cy="682752"/>
          </a:xfrm>
        </p:grpSpPr>
        <p:sp>
          <p:nvSpPr>
            <p:cNvPr name="Freeform 79" id="79"/>
            <p:cNvSpPr/>
            <p:nvPr/>
          </p:nvSpPr>
          <p:spPr>
            <a:xfrm flipH="false" flipV="false" rot="0">
              <a:off x="0" y="0"/>
              <a:ext cx="7315200" cy="682752"/>
            </a:xfrm>
            <a:custGeom>
              <a:avLst/>
              <a:gdLst/>
              <a:ahLst/>
              <a:cxnLst/>
              <a:rect r="r" b="b" t="t" l="l"/>
              <a:pathLst>
                <a:path h="682752" w="7315200">
                  <a:moveTo>
                    <a:pt x="0" y="0"/>
                  </a:moveTo>
                  <a:lnTo>
                    <a:pt x="7315200" y="0"/>
                  </a:lnTo>
                  <a:lnTo>
                    <a:pt x="7315200" y="682752"/>
                  </a:lnTo>
                  <a:lnTo>
                    <a:pt x="0" y="682752"/>
                  </a:lnTo>
                  <a:close/>
                </a:path>
              </a:pathLst>
            </a:custGeom>
            <a:blipFill>
              <a:blip r:embed="rId3">
                <a:alphaModFix amt="0"/>
              </a:blip>
              <a:stretch>
                <a:fillRect l="0" t="-158768" r="0" b="-158768"/>
              </a:stretch>
            </a:blipFill>
          </p:spPr>
        </p:sp>
        <p:sp>
          <p:nvSpPr>
            <p:cNvPr name="TextBox 80" id="80"/>
            <p:cNvSpPr txBox="true"/>
            <p:nvPr/>
          </p:nvSpPr>
          <p:spPr>
            <a:xfrm>
              <a:off x="0" y="0"/>
              <a:ext cx="7315200" cy="682752"/>
            </a:xfrm>
            <a:prstGeom prst="rect">
              <a:avLst/>
            </a:prstGeom>
          </p:spPr>
          <p:txBody>
            <a:bodyPr anchor="ctr" rtlCol="false" tIns="0" lIns="0" bIns="0" rIns="0"/>
            <a:lstStyle/>
            <a:p>
              <a:pPr algn="l">
                <a:lnSpc>
                  <a:spcPts val="2520"/>
                </a:lnSpc>
              </a:pPr>
              <a:r>
                <a:rPr lang="en-US" sz="2100">
                  <a:solidFill>
                    <a:srgbClr val="364E64"/>
                  </a:solidFill>
                  <a:latin typeface="EB Garamond"/>
                  <a:ea typeface="EB Garamond"/>
                  <a:cs typeface="EB Garamond"/>
                  <a:sym typeface="EB Garamond"/>
                </a:rPr>
                <a:t>Europe US</a:t>
              </a:r>
            </a:p>
          </p:txBody>
        </p:sp>
      </p:grpSp>
      <p:grpSp>
        <p:nvGrpSpPr>
          <p:cNvPr name="Group 81" id="81"/>
          <p:cNvGrpSpPr/>
          <p:nvPr/>
        </p:nvGrpSpPr>
        <p:grpSpPr>
          <a:xfrm rot="0">
            <a:off x="15179040" y="4937760"/>
            <a:ext cx="1828800" cy="512064"/>
            <a:chOff x="0" y="0"/>
            <a:chExt cx="2438400" cy="682752"/>
          </a:xfrm>
        </p:grpSpPr>
        <p:sp>
          <p:nvSpPr>
            <p:cNvPr name="Freeform 82" id="82"/>
            <p:cNvSpPr/>
            <p:nvPr/>
          </p:nvSpPr>
          <p:spPr>
            <a:xfrm flipH="false" flipV="false" rot="0">
              <a:off x="0" y="0"/>
              <a:ext cx="2438400" cy="682752"/>
            </a:xfrm>
            <a:custGeom>
              <a:avLst/>
              <a:gdLst/>
              <a:ahLst/>
              <a:cxnLst/>
              <a:rect r="r" b="b" t="t" l="l"/>
              <a:pathLst>
                <a:path h="682752" w="2438400">
                  <a:moveTo>
                    <a:pt x="0" y="0"/>
                  </a:moveTo>
                  <a:lnTo>
                    <a:pt x="2438400" y="0"/>
                  </a:lnTo>
                  <a:lnTo>
                    <a:pt x="2438400" y="682752"/>
                  </a:lnTo>
                  <a:lnTo>
                    <a:pt x="0" y="682752"/>
                  </a:lnTo>
                  <a:close/>
                </a:path>
              </a:pathLst>
            </a:custGeom>
            <a:blipFill>
              <a:blip r:embed="rId3">
                <a:alphaModFix amt="0"/>
              </a:blip>
              <a:stretch>
                <a:fillRect l="0" t="-19589" r="0" b="-19589"/>
              </a:stretch>
            </a:blipFill>
          </p:spPr>
        </p:sp>
        <p:sp>
          <p:nvSpPr>
            <p:cNvPr name="TextBox 83" id="83"/>
            <p:cNvSpPr txBox="true"/>
            <p:nvPr/>
          </p:nvSpPr>
          <p:spPr>
            <a:xfrm>
              <a:off x="0" y="0"/>
              <a:ext cx="2438400" cy="682752"/>
            </a:xfrm>
            <a:prstGeom prst="rect">
              <a:avLst/>
            </a:prstGeom>
          </p:spPr>
          <p:txBody>
            <a:bodyPr anchor="ctr" rtlCol="false" tIns="0" lIns="0" bIns="0" rIns="0"/>
            <a:lstStyle/>
            <a:p>
              <a:pPr algn="r">
                <a:lnSpc>
                  <a:spcPts val="2520"/>
                </a:lnSpc>
              </a:pPr>
              <a:r>
                <a:rPr lang="en-US" sz="2100">
                  <a:solidFill>
                    <a:srgbClr val="7B8FA1"/>
                  </a:solidFill>
                  <a:latin typeface="EB Garamond"/>
                  <a:ea typeface="EB Garamond"/>
                  <a:cs typeface="EB Garamond"/>
                  <a:sym typeface="EB Garamond"/>
                </a:rPr>
                <a:t>4 % (1)</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2C4A6E"/>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2C4A6E"/>
            </a:solidFill>
          </p:spPr>
        </p:sp>
      </p:grpSp>
      <p:grpSp>
        <p:nvGrpSpPr>
          <p:cNvPr name="Group 5" id="5"/>
          <p:cNvGrpSpPr/>
          <p:nvPr/>
        </p:nvGrpSpPr>
        <p:grpSpPr>
          <a:xfrm rot="0">
            <a:off x="822960" y="402336"/>
            <a:ext cx="16642080" cy="1118845"/>
            <a:chOff x="0" y="0"/>
            <a:chExt cx="22189440" cy="1491793"/>
          </a:xfrm>
        </p:grpSpPr>
        <p:sp>
          <p:nvSpPr>
            <p:cNvPr name="Freeform 6" id="6"/>
            <p:cNvSpPr/>
            <p:nvPr/>
          </p:nvSpPr>
          <p:spPr>
            <a:xfrm flipH="false" flipV="false" rot="0">
              <a:off x="0" y="0"/>
              <a:ext cx="22189439" cy="1491793"/>
            </a:xfrm>
            <a:custGeom>
              <a:avLst/>
              <a:gdLst/>
              <a:ahLst/>
              <a:cxnLst/>
              <a:rect r="r" b="b" t="t" l="l"/>
              <a:pathLst>
                <a:path h="1491793" w="22189439">
                  <a:moveTo>
                    <a:pt x="0" y="0"/>
                  </a:moveTo>
                  <a:lnTo>
                    <a:pt x="22189439" y="0"/>
                  </a:lnTo>
                  <a:lnTo>
                    <a:pt x="22189439" y="1491793"/>
                  </a:lnTo>
                  <a:lnTo>
                    <a:pt x="0" y="1491793"/>
                  </a:lnTo>
                  <a:close/>
                </a:path>
              </a:pathLst>
            </a:custGeom>
            <a:blipFill>
              <a:blip r:embed="rId3">
                <a:alphaModFix amt="0"/>
              </a:blip>
              <a:stretch>
                <a:fillRect l="0" t="-244877" r="0" b="-234777"/>
              </a:stretch>
            </a:blipFill>
          </p:spPr>
        </p:sp>
        <p:sp>
          <p:nvSpPr>
            <p:cNvPr name="TextBox 7" id="7"/>
            <p:cNvSpPr txBox="true"/>
            <p:nvPr/>
          </p:nvSpPr>
          <p:spPr>
            <a:xfrm>
              <a:off x="0" y="9525"/>
              <a:ext cx="22189440" cy="1482268"/>
            </a:xfrm>
            <a:prstGeom prst="rect">
              <a:avLst/>
            </a:prstGeom>
          </p:spPr>
          <p:txBody>
            <a:bodyPr anchor="ctr" rtlCol="false" tIns="0" lIns="0" bIns="0" rIns="0"/>
            <a:lstStyle/>
            <a:p>
              <a:pPr algn="l">
                <a:lnSpc>
                  <a:spcPts val="6480"/>
                </a:lnSpc>
              </a:pPr>
              <a:r>
                <a:rPr lang="en-US" sz="5400" b="true">
                  <a:solidFill>
                    <a:srgbClr val="1C2E40"/>
                  </a:solidFill>
                  <a:latin typeface="EB Garamond Semi-Bold"/>
                  <a:ea typeface="EB Garamond Semi-Bold"/>
                  <a:cs typeface="EB Garamond Semi-Bold"/>
                  <a:sym typeface="EB Garamond Semi-Bold"/>
                </a:rPr>
                <a:t>Synthèse des 4 sections analytiques</a:t>
              </a:r>
            </a:p>
          </p:txBody>
        </p:sp>
      </p:grpSp>
      <p:grpSp>
        <p:nvGrpSpPr>
          <p:cNvPr name="Group 8" id="8"/>
          <p:cNvGrpSpPr/>
          <p:nvPr/>
        </p:nvGrpSpPr>
        <p:grpSpPr>
          <a:xfrm rot="0">
            <a:off x="822960" y="1426464"/>
            <a:ext cx="16642080" cy="512064"/>
            <a:chOff x="0" y="0"/>
            <a:chExt cx="22189440" cy="682752"/>
          </a:xfrm>
        </p:grpSpPr>
        <p:sp>
          <p:nvSpPr>
            <p:cNvPr name="Freeform 9" id="9"/>
            <p:cNvSpPr/>
            <p:nvPr/>
          </p:nvSpPr>
          <p:spPr>
            <a:xfrm flipH="false" flipV="false" rot="0">
              <a:off x="0" y="0"/>
              <a:ext cx="22189439" cy="682752"/>
            </a:xfrm>
            <a:custGeom>
              <a:avLst/>
              <a:gdLst/>
              <a:ahLst/>
              <a:cxnLst/>
              <a:rect r="r" b="b" t="t" l="l"/>
              <a:pathLst>
                <a:path h="682752" w="22189439">
                  <a:moveTo>
                    <a:pt x="0" y="0"/>
                  </a:moveTo>
                  <a:lnTo>
                    <a:pt x="22189439" y="0"/>
                  </a:lnTo>
                  <a:lnTo>
                    <a:pt x="22189439" y="682752"/>
                  </a:lnTo>
                  <a:lnTo>
                    <a:pt x="0" y="682752"/>
                  </a:lnTo>
                  <a:close/>
                </a:path>
              </a:pathLst>
            </a:custGeom>
            <a:blipFill>
              <a:blip r:embed="rId3">
                <a:alphaModFix amt="0"/>
              </a:blip>
              <a:stretch>
                <a:fillRect l="0" t="-583263" r="0" b="-583263"/>
              </a:stretch>
            </a:blipFill>
          </p:spPr>
        </p:sp>
        <p:sp>
          <p:nvSpPr>
            <p:cNvPr name="TextBox 10" id="10"/>
            <p:cNvSpPr txBox="true"/>
            <p:nvPr/>
          </p:nvSpPr>
          <p:spPr>
            <a:xfrm>
              <a:off x="0" y="9525"/>
              <a:ext cx="22189440" cy="673227"/>
            </a:xfrm>
            <a:prstGeom prst="rect">
              <a:avLst/>
            </a:prstGeom>
          </p:spPr>
          <p:txBody>
            <a:bodyPr anchor="ctr" rtlCol="false" tIns="0" lIns="0" bIns="0" rIns="0"/>
            <a:lstStyle/>
            <a:p>
              <a:pPr algn="l">
                <a:lnSpc>
                  <a:spcPts val="2879"/>
                </a:lnSpc>
              </a:pPr>
              <a:r>
                <a:rPr lang="en-US" sz="2400" i="true">
                  <a:solidFill>
                    <a:srgbClr val="7B8FA1"/>
                  </a:solidFill>
                  <a:latin typeface="EB Garamond Italics"/>
                  <a:ea typeface="EB Garamond Italics"/>
                  <a:cs typeface="EB Garamond Italics"/>
                  <a:sym typeface="EB Garamond Italics"/>
                </a:rPr>
                <a:t>Points saillants · Limites identifiées · Variables à ajouter au modèle</a:t>
              </a:r>
            </a:p>
          </p:txBody>
        </p:sp>
      </p:grpSp>
      <p:grpSp>
        <p:nvGrpSpPr>
          <p:cNvPr name="Group 11" id="11"/>
          <p:cNvGrpSpPr/>
          <p:nvPr/>
        </p:nvGrpSpPr>
        <p:grpSpPr>
          <a:xfrm rot="0">
            <a:off x="629917" y="2001517"/>
            <a:ext cx="8249917" cy="4080253"/>
            <a:chOff x="0" y="0"/>
            <a:chExt cx="10999889" cy="5440337"/>
          </a:xfrm>
        </p:grpSpPr>
        <p:sp>
          <p:nvSpPr>
            <p:cNvPr name="Freeform 12" id="12"/>
            <p:cNvSpPr/>
            <p:nvPr/>
          </p:nvSpPr>
          <p:spPr>
            <a:xfrm flipH="false" flipV="false" rot="0">
              <a:off x="13589" y="13589"/>
              <a:ext cx="10972800" cy="5413121"/>
            </a:xfrm>
            <a:custGeom>
              <a:avLst/>
              <a:gdLst/>
              <a:ahLst/>
              <a:cxnLst/>
              <a:rect r="r" b="b" t="t" l="l"/>
              <a:pathLst>
                <a:path h="5413121" w="10972800">
                  <a:moveTo>
                    <a:pt x="0" y="243840"/>
                  </a:moveTo>
                  <a:cubicBezTo>
                    <a:pt x="0" y="109093"/>
                    <a:pt x="109474" y="0"/>
                    <a:pt x="244475" y="0"/>
                  </a:cubicBezTo>
                  <a:lnTo>
                    <a:pt x="10728325" y="0"/>
                  </a:lnTo>
                  <a:cubicBezTo>
                    <a:pt x="10863326" y="0"/>
                    <a:pt x="10972800" y="109220"/>
                    <a:pt x="10972800" y="243840"/>
                  </a:cubicBezTo>
                  <a:lnTo>
                    <a:pt x="10972800" y="5169281"/>
                  </a:lnTo>
                  <a:cubicBezTo>
                    <a:pt x="10972800" y="5304028"/>
                    <a:pt x="10863326" y="5413121"/>
                    <a:pt x="10728325" y="5413121"/>
                  </a:cubicBezTo>
                  <a:lnTo>
                    <a:pt x="244475" y="5413121"/>
                  </a:lnTo>
                  <a:cubicBezTo>
                    <a:pt x="109474" y="5413121"/>
                    <a:pt x="0" y="5303901"/>
                    <a:pt x="0" y="5169281"/>
                  </a:cubicBezTo>
                  <a:close/>
                </a:path>
              </a:pathLst>
            </a:custGeom>
            <a:solidFill>
              <a:srgbClr val="FFFFFF"/>
            </a:solidFill>
          </p:spPr>
        </p:sp>
        <p:sp>
          <p:nvSpPr>
            <p:cNvPr name="Freeform 13" id="13"/>
            <p:cNvSpPr/>
            <p:nvPr/>
          </p:nvSpPr>
          <p:spPr>
            <a:xfrm flipH="false" flipV="false" rot="0">
              <a:off x="0" y="0"/>
              <a:ext cx="10999978" cy="5440299"/>
            </a:xfrm>
            <a:custGeom>
              <a:avLst/>
              <a:gdLst/>
              <a:ahLst/>
              <a:cxnLst/>
              <a:rect r="r" b="b" t="t" l="l"/>
              <a:pathLst>
                <a:path h="5440299" w="10999978">
                  <a:moveTo>
                    <a:pt x="0" y="257429"/>
                  </a:moveTo>
                  <a:cubicBezTo>
                    <a:pt x="0" y="115189"/>
                    <a:pt x="115570" y="0"/>
                    <a:pt x="258064" y="0"/>
                  </a:cubicBezTo>
                  <a:lnTo>
                    <a:pt x="10741914" y="0"/>
                  </a:lnTo>
                  <a:lnTo>
                    <a:pt x="10741914" y="13589"/>
                  </a:lnTo>
                  <a:lnTo>
                    <a:pt x="10741914" y="0"/>
                  </a:lnTo>
                  <a:cubicBezTo>
                    <a:pt x="10884408" y="0"/>
                    <a:pt x="10999978" y="115189"/>
                    <a:pt x="10999978" y="257429"/>
                  </a:cubicBezTo>
                  <a:lnTo>
                    <a:pt x="10986389" y="257429"/>
                  </a:lnTo>
                  <a:lnTo>
                    <a:pt x="10999978" y="257429"/>
                  </a:lnTo>
                  <a:lnTo>
                    <a:pt x="10999978" y="5182870"/>
                  </a:lnTo>
                  <a:lnTo>
                    <a:pt x="10986389" y="5182870"/>
                  </a:lnTo>
                  <a:lnTo>
                    <a:pt x="10999978" y="5182870"/>
                  </a:lnTo>
                  <a:cubicBezTo>
                    <a:pt x="10999978" y="5325110"/>
                    <a:pt x="10884408" y="5440299"/>
                    <a:pt x="10741914" y="5440299"/>
                  </a:cubicBezTo>
                  <a:lnTo>
                    <a:pt x="10741914" y="5426710"/>
                  </a:lnTo>
                  <a:lnTo>
                    <a:pt x="10741914" y="5440299"/>
                  </a:lnTo>
                  <a:lnTo>
                    <a:pt x="258064" y="5440299"/>
                  </a:lnTo>
                  <a:lnTo>
                    <a:pt x="258064" y="5426710"/>
                  </a:lnTo>
                  <a:lnTo>
                    <a:pt x="258064" y="5440299"/>
                  </a:lnTo>
                  <a:cubicBezTo>
                    <a:pt x="115570" y="5440299"/>
                    <a:pt x="0" y="5325110"/>
                    <a:pt x="0" y="5182870"/>
                  </a:cubicBezTo>
                  <a:lnTo>
                    <a:pt x="0" y="257429"/>
                  </a:lnTo>
                  <a:lnTo>
                    <a:pt x="13589" y="257429"/>
                  </a:lnTo>
                  <a:lnTo>
                    <a:pt x="0" y="257429"/>
                  </a:lnTo>
                  <a:moveTo>
                    <a:pt x="27051" y="257429"/>
                  </a:moveTo>
                  <a:lnTo>
                    <a:pt x="27051" y="5182870"/>
                  </a:lnTo>
                  <a:lnTo>
                    <a:pt x="13589" y="5182870"/>
                  </a:lnTo>
                  <a:lnTo>
                    <a:pt x="27051" y="5182870"/>
                  </a:lnTo>
                  <a:cubicBezTo>
                    <a:pt x="27051" y="5309997"/>
                    <a:pt x="130429" y="5413248"/>
                    <a:pt x="257937" y="5413248"/>
                  </a:cubicBezTo>
                  <a:lnTo>
                    <a:pt x="10741787" y="5413248"/>
                  </a:lnTo>
                  <a:cubicBezTo>
                    <a:pt x="10869422" y="5413248"/>
                    <a:pt x="10972673" y="5310124"/>
                    <a:pt x="10972673" y="5182870"/>
                  </a:cubicBezTo>
                  <a:lnTo>
                    <a:pt x="10972673" y="257429"/>
                  </a:lnTo>
                  <a:cubicBezTo>
                    <a:pt x="10972673" y="130302"/>
                    <a:pt x="10869295" y="27051"/>
                    <a:pt x="10741787" y="27051"/>
                  </a:cubicBezTo>
                  <a:lnTo>
                    <a:pt x="258064" y="27051"/>
                  </a:lnTo>
                  <a:lnTo>
                    <a:pt x="258064" y="13589"/>
                  </a:lnTo>
                  <a:lnTo>
                    <a:pt x="258064" y="27051"/>
                  </a:lnTo>
                  <a:cubicBezTo>
                    <a:pt x="130429" y="27051"/>
                    <a:pt x="27178" y="130175"/>
                    <a:pt x="27178" y="257429"/>
                  </a:cubicBezTo>
                  <a:close/>
                </a:path>
              </a:pathLst>
            </a:custGeom>
            <a:solidFill>
              <a:srgbClr val="BDC8D5"/>
            </a:solidFill>
          </p:spPr>
        </p:sp>
      </p:grpSp>
      <p:grpSp>
        <p:nvGrpSpPr>
          <p:cNvPr name="Group 14" id="14"/>
          <p:cNvGrpSpPr/>
          <p:nvPr/>
        </p:nvGrpSpPr>
        <p:grpSpPr>
          <a:xfrm rot="0">
            <a:off x="627383" y="1998983"/>
            <a:ext cx="8255003" cy="153419"/>
            <a:chOff x="0" y="0"/>
            <a:chExt cx="11006671" cy="204559"/>
          </a:xfrm>
        </p:grpSpPr>
        <p:sp>
          <p:nvSpPr>
            <p:cNvPr name="Freeform 15" id="15"/>
            <p:cNvSpPr/>
            <p:nvPr/>
          </p:nvSpPr>
          <p:spPr>
            <a:xfrm flipH="false" flipV="false" rot="0">
              <a:off x="16891" y="16891"/>
              <a:ext cx="10972800" cy="170688"/>
            </a:xfrm>
            <a:custGeom>
              <a:avLst/>
              <a:gdLst/>
              <a:ahLst/>
              <a:cxnLst/>
              <a:rect r="r" b="b" t="t" l="l"/>
              <a:pathLst>
                <a:path h="170688" w="10972800">
                  <a:moveTo>
                    <a:pt x="0" y="0"/>
                  </a:moveTo>
                  <a:lnTo>
                    <a:pt x="10972800" y="0"/>
                  </a:lnTo>
                  <a:lnTo>
                    <a:pt x="10972800" y="170688"/>
                  </a:lnTo>
                  <a:lnTo>
                    <a:pt x="0" y="170688"/>
                  </a:lnTo>
                  <a:close/>
                </a:path>
              </a:pathLst>
            </a:custGeom>
            <a:solidFill>
              <a:srgbClr val="5B8DB8"/>
            </a:solidFill>
          </p:spPr>
        </p:sp>
        <p:sp>
          <p:nvSpPr>
            <p:cNvPr name="Freeform 16" id="16"/>
            <p:cNvSpPr/>
            <p:nvPr/>
          </p:nvSpPr>
          <p:spPr>
            <a:xfrm flipH="false" flipV="false" rot="0">
              <a:off x="0" y="0"/>
              <a:ext cx="11006582" cy="204472"/>
            </a:xfrm>
            <a:custGeom>
              <a:avLst/>
              <a:gdLst/>
              <a:ahLst/>
              <a:cxnLst/>
              <a:rect r="r" b="b" t="t" l="l"/>
              <a:pathLst>
                <a:path h="204472" w="11006582">
                  <a:moveTo>
                    <a:pt x="16891" y="0"/>
                  </a:moveTo>
                  <a:lnTo>
                    <a:pt x="10989691" y="0"/>
                  </a:lnTo>
                  <a:cubicBezTo>
                    <a:pt x="10999089" y="0"/>
                    <a:pt x="11006582" y="7620"/>
                    <a:pt x="11006582" y="16891"/>
                  </a:cubicBezTo>
                  <a:lnTo>
                    <a:pt x="11006582" y="187579"/>
                  </a:lnTo>
                  <a:cubicBezTo>
                    <a:pt x="11006582" y="196977"/>
                    <a:pt x="10998962" y="204470"/>
                    <a:pt x="10989691"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10989691" y="170688"/>
                  </a:lnTo>
                  <a:lnTo>
                    <a:pt x="10989691" y="187579"/>
                  </a:lnTo>
                  <a:lnTo>
                    <a:pt x="10972800" y="187579"/>
                  </a:lnTo>
                  <a:lnTo>
                    <a:pt x="10972800" y="16891"/>
                  </a:lnTo>
                  <a:lnTo>
                    <a:pt x="10989691" y="16891"/>
                  </a:lnTo>
                  <a:lnTo>
                    <a:pt x="10989691" y="33909"/>
                  </a:lnTo>
                  <a:lnTo>
                    <a:pt x="16891" y="33909"/>
                  </a:lnTo>
                  <a:close/>
                </a:path>
              </a:pathLst>
            </a:custGeom>
            <a:solidFill>
              <a:srgbClr val="5B8DB8"/>
            </a:solidFill>
          </p:spPr>
        </p:sp>
      </p:grpSp>
      <p:grpSp>
        <p:nvGrpSpPr>
          <p:cNvPr name="Group 17" id="17"/>
          <p:cNvGrpSpPr/>
          <p:nvPr/>
        </p:nvGrpSpPr>
        <p:grpSpPr>
          <a:xfrm rot="0">
            <a:off x="914400" y="2231136"/>
            <a:ext cx="1024128" cy="910946"/>
            <a:chOff x="0" y="0"/>
            <a:chExt cx="1365504" cy="1214594"/>
          </a:xfrm>
        </p:grpSpPr>
        <p:sp>
          <p:nvSpPr>
            <p:cNvPr name="Freeform 18" id="18"/>
            <p:cNvSpPr/>
            <p:nvPr/>
          </p:nvSpPr>
          <p:spPr>
            <a:xfrm flipH="false" flipV="false" rot="0">
              <a:off x="0" y="0"/>
              <a:ext cx="1365504" cy="1214594"/>
            </a:xfrm>
            <a:custGeom>
              <a:avLst/>
              <a:gdLst/>
              <a:ahLst/>
              <a:cxnLst/>
              <a:rect r="r" b="b" t="t" l="l"/>
              <a:pathLst>
                <a:path h="1214594" w="1365504">
                  <a:moveTo>
                    <a:pt x="0" y="0"/>
                  </a:moveTo>
                  <a:lnTo>
                    <a:pt x="1365504" y="0"/>
                  </a:lnTo>
                  <a:lnTo>
                    <a:pt x="1365504" y="1214594"/>
                  </a:lnTo>
                  <a:lnTo>
                    <a:pt x="0" y="1214594"/>
                  </a:lnTo>
                  <a:close/>
                </a:path>
              </a:pathLst>
            </a:custGeom>
            <a:blipFill>
              <a:blip r:embed="rId3">
                <a:alphaModFix amt="0"/>
              </a:blip>
              <a:stretch>
                <a:fillRect l="-46227" t="0" r="-46227" b="15681"/>
              </a:stretch>
            </a:blipFill>
          </p:spPr>
        </p:sp>
        <p:sp>
          <p:nvSpPr>
            <p:cNvPr name="TextBox 19" id="19"/>
            <p:cNvSpPr txBox="true"/>
            <p:nvPr/>
          </p:nvSpPr>
          <p:spPr>
            <a:xfrm>
              <a:off x="0" y="9525"/>
              <a:ext cx="1365504" cy="1205069"/>
            </a:xfrm>
            <a:prstGeom prst="rect">
              <a:avLst/>
            </a:prstGeom>
          </p:spPr>
          <p:txBody>
            <a:bodyPr anchor="ctr" rtlCol="false" tIns="0" lIns="0" bIns="0" rIns="0"/>
            <a:lstStyle/>
            <a:p>
              <a:pPr algn="l">
                <a:lnSpc>
                  <a:spcPts val="5280"/>
                </a:lnSpc>
              </a:pPr>
              <a:r>
                <a:rPr lang="en-US" sz="4400" b="true">
                  <a:solidFill>
                    <a:srgbClr val="5B8DB8"/>
                  </a:solidFill>
                  <a:latin typeface="EB Garamond Semi-Bold"/>
                  <a:ea typeface="EB Garamond Semi-Bold"/>
                  <a:cs typeface="EB Garamond Semi-Bold"/>
                  <a:sym typeface="EB Garamond Semi-Bold"/>
                </a:rPr>
                <a:t>01</a:t>
              </a:r>
            </a:p>
          </p:txBody>
        </p:sp>
      </p:grpSp>
      <p:grpSp>
        <p:nvGrpSpPr>
          <p:cNvPr name="Group 20" id="20"/>
          <p:cNvGrpSpPr/>
          <p:nvPr/>
        </p:nvGrpSpPr>
        <p:grpSpPr>
          <a:xfrm rot="0">
            <a:off x="1975104" y="2304288"/>
            <a:ext cx="6583680" cy="694944"/>
            <a:chOff x="0" y="0"/>
            <a:chExt cx="8778240" cy="926592"/>
          </a:xfrm>
        </p:grpSpPr>
        <p:sp>
          <p:nvSpPr>
            <p:cNvPr name="Freeform 21" id="21"/>
            <p:cNvSpPr/>
            <p:nvPr/>
          </p:nvSpPr>
          <p:spPr>
            <a:xfrm flipH="false" flipV="false" rot="0">
              <a:off x="0" y="0"/>
              <a:ext cx="8778240" cy="926592"/>
            </a:xfrm>
            <a:custGeom>
              <a:avLst/>
              <a:gdLst/>
              <a:ahLst/>
              <a:cxnLst/>
              <a:rect r="r" b="b" t="t" l="l"/>
              <a:pathLst>
                <a:path h="926592" w="8778240">
                  <a:moveTo>
                    <a:pt x="0" y="0"/>
                  </a:moveTo>
                  <a:lnTo>
                    <a:pt x="8778240" y="0"/>
                  </a:lnTo>
                  <a:lnTo>
                    <a:pt x="8778240" y="926592"/>
                  </a:lnTo>
                  <a:lnTo>
                    <a:pt x="0" y="926592"/>
                  </a:lnTo>
                  <a:close/>
                </a:path>
              </a:pathLst>
            </a:custGeom>
            <a:blipFill>
              <a:blip r:embed="rId3">
                <a:alphaModFix amt="0"/>
              </a:blip>
              <a:stretch>
                <a:fillRect l="0" t="-134595" r="0" b="-134595"/>
              </a:stretch>
            </a:blipFill>
          </p:spPr>
        </p:sp>
        <p:sp>
          <p:nvSpPr>
            <p:cNvPr name="TextBox 22" id="22"/>
            <p:cNvSpPr txBox="true"/>
            <p:nvPr/>
          </p:nvSpPr>
          <p:spPr>
            <a:xfrm>
              <a:off x="0" y="-9525"/>
              <a:ext cx="8778240" cy="936117"/>
            </a:xfrm>
            <a:prstGeom prst="rect">
              <a:avLst/>
            </a:prstGeom>
          </p:spPr>
          <p:txBody>
            <a:bodyPr anchor="ctr" rtlCol="false" tIns="0" lIns="0" bIns="0" rIns="0"/>
            <a:lstStyle/>
            <a:p>
              <a:pPr algn="l">
                <a:lnSpc>
                  <a:spcPts val="3600"/>
                </a:lnSpc>
              </a:pPr>
              <a:r>
                <a:rPr lang="en-US" sz="3000" b="true">
                  <a:solidFill>
                    <a:srgbClr val="1C2E40"/>
                  </a:solidFill>
                  <a:latin typeface="EB Garamond Semi-Bold"/>
                  <a:ea typeface="EB Garamond Semi-Bold"/>
                  <a:cs typeface="EB Garamond Semi-Bold"/>
                  <a:sym typeface="EB Garamond Semi-Bold"/>
                </a:rPr>
                <a:t>Nettoyage</a:t>
              </a:r>
            </a:p>
          </p:txBody>
        </p:sp>
      </p:grpSp>
      <p:grpSp>
        <p:nvGrpSpPr>
          <p:cNvPr name="Group 23" id="23"/>
          <p:cNvGrpSpPr/>
          <p:nvPr/>
        </p:nvGrpSpPr>
        <p:grpSpPr>
          <a:xfrm rot="0">
            <a:off x="1005840" y="3200400"/>
            <a:ext cx="7607808" cy="804672"/>
            <a:chOff x="0" y="0"/>
            <a:chExt cx="10143744" cy="1072896"/>
          </a:xfrm>
        </p:grpSpPr>
        <p:sp>
          <p:nvSpPr>
            <p:cNvPr name="Freeform 24" id="24"/>
            <p:cNvSpPr/>
            <p:nvPr/>
          </p:nvSpPr>
          <p:spPr>
            <a:xfrm flipH="false" flipV="false" rot="0">
              <a:off x="0" y="0"/>
              <a:ext cx="10143744" cy="1072896"/>
            </a:xfrm>
            <a:custGeom>
              <a:avLst/>
              <a:gdLst/>
              <a:ahLst/>
              <a:cxnLst/>
              <a:rect r="r" b="b" t="t" l="l"/>
              <a:pathLst>
                <a:path h="1072896" w="10143744">
                  <a:moveTo>
                    <a:pt x="0" y="0"/>
                  </a:moveTo>
                  <a:lnTo>
                    <a:pt x="10143744" y="0"/>
                  </a:lnTo>
                  <a:lnTo>
                    <a:pt x="10143744" y="1072896"/>
                  </a:lnTo>
                  <a:lnTo>
                    <a:pt x="0" y="1072896"/>
                  </a:lnTo>
                  <a:close/>
                </a:path>
              </a:pathLst>
            </a:custGeom>
            <a:blipFill>
              <a:blip r:embed="rId3">
                <a:alphaModFix amt="0"/>
              </a:blip>
              <a:stretch>
                <a:fillRect l="0" t="-134222" r="0" b="-134222"/>
              </a:stretch>
            </a:blipFill>
          </p:spPr>
        </p:sp>
        <p:sp>
          <p:nvSpPr>
            <p:cNvPr name="TextBox 25" id="25"/>
            <p:cNvSpPr txBox="true"/>
            <p:nvPr/>
          </p:nvSpPr>
          <p:spPr>
            <a:xfrm>
              <a:off x="0" y="0"/>
              <a:ext cx="10143744" cy="1072896"/>
            </a:xfrm>
            <a:prstGeom prst="rect">
              <a:avLst/>
            </a:prstGeom>
          </p:spPr>
          <p:txBody>
            <a:bodyPr anchor="ctr" rtlCol="false" tIns="0" lIns="0" bIns="0" rIns="0"/>
            <a:lstStyle/>
            <a:p>
              <a:pPr algn="l">
                <a:lnSpc>
                  <a:spcPts val="2520"/>
                </a:lnSpc>
              </a:pPr>
              <a:r>
                <a:rPr lang="en-US" sz="2100">
                  <a:solidFill>
                    <a:srgbClr val="364E64"/>
                  </a:solidFill>
                  <a:latin typeface="EB Garamond"/>
                  <a:ea typeface="EB Garamond"/>
                  <a:cs typeface="EB Garamond"/>
                  <a:sym typeface="EB Garamond"/>
                </a:rPr>
                <a:t>● 382 ménages, 5 pays — pipeline reproductible</a:t>
              </a:r>
            </a:p>
          </p:txBody>
        </p:sp>
      </p:grpSp>
      <p:grpSp>
        <p:nvGrpSpPr>
          <p:cNvPr name="Group 26" id="26"/>
          <p:cNvGrpSpPr/>
          <p:nvPr/>
        </p:nvGrpSpPr>
        <p:grpSpPr>
          <a:xfrm rot="0">
            <a:off x="1005840" y="4078224"/>
            <a:ext cx="7607808" cy="804672"/>
            <a:chOff x="0" y="0"/>
            <a:chExt cx="10143744" cy="1072896"/>
          </a:xfrm>
        </p:grpSpPr>
        <p:sp>
          <p:nvSpPr>
            <p:cNvPr name="Freeform 27" id="27"/>
            <p:cNvSpPr/>
            <p:nvPr/>
          </p:nvSpPr>
          <p:spPr>
            <a:xfrm flipH="false" flipV="false" rot="0">
              <a:off x="0" y="0"/>
              <a:ext cx="10143744" cy="1072896"/>
            </a:xfrm>
            <a:custGeom>
              <a:avLst/>
              <a:gdLst/>
              <a:ahLst/>
              <a:cxnLst/>
              <a:rect r="r" b="b" t="t" l="l"/>
              <a:pathLst>
                <a:path h="1072896" w="10143744">
                  <a:moveTo>
                    <a:pt x="0" y="0"/>
                  </a:moveTo>
                  <a:lnTo>
                    <a:pt x="10143744" y="0"/>
                  </a:lnTo>
                  <a:lnTo>
                    <a:pt x="10143744" y="1072896"/>
                  </a:lnTo>
                  <a:lnTo>
                    <a:pt x="0" y="1072896"/>
                  </a:lnTo>
                  <a:close/>
                </a:path>
              </a:pathLst>
            </a:custGeom>
            <a:blipFill>
              <a:blip r:embed="rId3">
                <a:alphaModFix amt="0"/>
              </a:blip>
              <a:stretch>
                <a:fillRect l="0" t="-134222" r="0" b="-134222"/>
              </a:stretch>
            </a:blipFill>
          </p:spPr>
        </p:sp>
        <p:sp>
          <p:nvSpPr>
            <p:cNvPr name="TextBox 28" id="28"/>
            <p:cNvSpPr txBox="true"/>
            <p:nvPr/>
          </p:nvSpPr>
          <p:spPr>
            <a:xfrm>
              <a:off x="0" y="0"/>
              <a:ext cx="10143744" cy="1072896"/>
            </a:xfrm>
            <a:prstGeom prst="rect">
              <a:avLst/>
            </a:prstGeom>
          </p:spPr>
          <p:txBody>
            <a:bodyPr anchor="ctr" rtlCol="false" tIns="0" lIns="0" bIns="0" rIns="0"/>
            <a:lstStyle/>
            <a:p>
              <a:pPr algn="l">
                <a:lnSpc>
                  <a:spcPts val="2520"/>
                </a:lnSpc>
              </a:pPr>
              <a:r>
                <a:rPr lang="en-US" sz="2100">
                  <a:solidFill>
                    <a:srgbClr val="364E64"/>
                  </a:solidFill>
                  <a:latin typeface="EB Garamond"/>
                  <a:ea typeface="EB Garamond"/>
                  <a:cs typeface="EB Garamond"/>
                  <a:sym typeface="EB Garamond"/>
                </a:rPr>
                <a:t>● 6 décisions discutables documentées, alternatives proposées</a:t>
              </a:r>
            </a:p>
          </p:txBody>
        </p:sp>
      </p:grpSp>
      <p:grpSp>
        <p:nvGrpSpPr>
          <p:cNvPr name="Group 29" id="29"/>
          <p:cNvGrpSpPr/>
          <p:nvPr/>
        </p:nvGrpSpPr>
        <p:grpSpPr>
          <a:xfrm rot="0">
            <a:off x="1005840" y="4956048"/>
            <a:ext cx="7607808" cy="804672"/>
            <a:chOff x="0" y="0"/>
            <a:chExt cx="10143744" cy="1072896"/>
          </a:xfrm>
        </p:grpSpPr>
        <p:sp>
          <p:nvSpPr>
            <p:cNvPr name="Freeform 30" id="30"/>
            <p:cNvSpPr/>
            <p:nvPr/>
          </p:nvSpPr>
          <p:spPr>
            <a:xfrm flipH="false" flipV="false" rot="0">
              <a:off x="0" y="0"/>
              <a:ext cx="10143744" cy="1072896"/>
            </a:xfrm>
            <a:custGeom>
              <a:avLst/>
              <a:gdLst/>
              <a:ahLst/>
              <a:cxnLst/>
              <a:rect r="r" b="b" t="t" l="l"/>
              <a:pathLst>
                <a:path h="1072896" w="10143744">
                  <a:moveTo>
                    <a:pt x="0" y="0"/>
                  </a:moveTo>
                  <a:lnTo>
                    <a:pt x="10143744" y="0"/>
                  </a:lnTo>
                  <a:lnTo>
                    <a:pt x="10143744" y="1072896"/>
                  </a:lnTo>
                  <a:lnTo>
                    <a:pt x="0" y="1072896"/>
                  </a:lnTo>
                  <a:close/>
                </a:path>
              </a:pathLst>
            </a:custGeom>
            <a:blipFill>
              <a:blip r:embed="rId3">
                <a:alphaModFix amt="0"/>
              </a:blip>
              <a:stretch>
                <a:fillRect l="0" t="-134222" r="0" b="-134222"/>
              </a:stretch>
            </a:blipFill>
          </p:spPr>
        </p:sp>
        <p:sp>
          <p:nvSpPr>
            <p:cNvPr name="TextBox 31" id="31"/>
            <p:cNvSpPr txBox="true"/>
            <p:nvPr/>
          </p:nvSpPr>
          <p:spPr>
            <a:xfrm>
              <a:off x="0" y="0"/>
              <a:ext cx="10143744" cy="1072896"/>
            </a:xfrm>
            <a:prstGeom prst="rect">
              <a:avLst/>
            </a:prstGeom>
          </p:spPr>
          <p:txBody>
            <a:bodyPr anchor="ctr" rtlCol="false" tIns="0" lIns="0" bIns="0" rIns="0"/>
            <a:lstStyle/>
            <a:p>
              <a:pPr algn="l">
                <a:lnSpc>
                  <a:spcPts val="2520"/>
                </a:lnSpc>
              </a:pPr>
              <a:r>
                <a:rPr lang="en-US" sz="2100">
                  <a:solidFill>
                    <a:srgbClr val="364E64"/>
                  </a:solidFill>
                  <a:latin typeface="EB Garamond"/>
                  <a:ea typeface="EB Garamond"/>
                  <a:cs typeface="EB Garamond"/>
                  <a:sym typeface="EB Garamond"/>
                </a:rPr>
                <a:t>● Limite principale : imputations silencieuses non flaggées</a:t>
              </a:r>
            </a:p>
          </p:txBody>
        </p:sp>
      </p:grpSp>
      <p:grpSp>
        <p:nvGrpSpPr>
          <p:cNvPr name="Group 32" id="32"/>
          <p:cNvGrpSpPr/>
          <p:nvPr/>
        </p:nvGrpSpPr>
        <p:grpSpPr>
          <a:xfrm rot="0">
            <a:off x="9499597" y="2001517"/>
            <a:ext cx="8249917" cy="4080253"/>
            <a:chOff x="0" y="0"/>
            <a:chExt cx="10999889" cy="5440337"/>
          </a:xfrm>
        </p:grpSpPr>
        <p:sp>
          <p:nvSpPr>
            <p:cNvPr name="Freeform 33" id="33"/>
            <p:cNvSpPr/>
            <p:nvPr/>
          </p:nvSpPr>
          <p:spPr>
            <a:xfrm flipH="false" flipV="false" rot="0">
              <a:off x="13589" y="13589"/>
              <a:ext cx="10972800" cy="5413121"/>
            </a:xfrm>
            <a:custGeom>
              <a:avLst/>
              <a:gdLst/>
              <a:ahLst/>
              <a:cxnLst/>
              <a:rect r="r" b="b" t="t" l="l"/>
              <a:pathLst>
                <a:path h="5413121" w="10972800">
                  <a:moveTo>
                    <a:pt x="0" y="243840"/>
                  </a:moveTo>
                  <a:cubicBezTo>
                    <a:pt x="0" y="109093"/>
                    <a:pt x="109474" y="0"/>
                    <a:pt x="244475" y="0"/>
                  </a:cubicBezTo>
                  <a:lnTo>
                    <a:pt x="10728325" y="0"/>
                  </a:lnTo>
                  <a:cubicBezTo>
                    <a:pt x="10863326" y="0"/>
                    <a:pt x="10972800" y="109220"/>
                    <a:pt x="10972800" y="243840"/>
                  </a:cubicBezTo>
                  <a:lnTo>
                    <a:pt x="10972800" y="5169281"/>
                  </a:lnTo>
                  <a:cubicBezTo>
                    <a:pt x="10972800" y="5304028"/>
                    <a:pt x="10863326" y="5413121"/>
                    <a:pt x="10728325" y="5413121"/>
                  </a:cubicBezTo>
                  <a:lnTo>
                    <a:pt x="244475" y="5413121"/>
                  </a:lnTo>
                  <a:cubicBezTo>
                    <a:pt x="109474" y="5413121"/>
                    <a:pt x="0" y="5303901"/>
                    <a:pt x="0" y="5169281"/>
                  </a:cubicBezTo>
                  <a:close/>
                </a:path>
              </a:pathLst>
            </a:custGeom>
            <a:solidFill>
              <a:srgbClr val="FFFFFF"/>
            </a:solidFill>
          </p:spPr>
        </p:sp>
        <p:sp>
          <p:nvSpPr>
            <p:cNvPr name="Freeform 34" id="34"/>
            <p:cNvSpPr/>
            <p:nvPr/>
          </p:nvSpPr>
          <p:spPr>
            <a:xfrm flipH="false" flipV="false" rot="0">
              <a:off x="0" y="0"/>
              <a:ext cx="10999978" cy="5440299"/>
            </a:xfrm>
            <a:custGeom>
              <a:avLst/>
              <a:gdLst/>
              <a:ahLst/>
              <a:cxnLst/>
              <a:rect r="r" b="b" t="t" l="l"/>
              <a:pathLst>
                <a:path h="5440299" w="10999978">
                  <a:moveTo>
                    <a:pt x="0" y="257429"/>
                  </a:moveTo>
                  <a:cubicBezTo>
                    <a:pt x="0" y="115189"/>
                    <a:pt x="115570" y="0"/>
                    <a:pt x="258064" y="0"/>
                  </a:cubicBezTo>
                  <a:lnTo>
                    <a:pt x="10741914" y="0"/>
                  </a:lnTo>
                  <a:lnTo>
                    <a:pt x="10741914" y="13589"/>
                  </a:lnTo>
                  <a:lnTo>
                    <a:pt x="10741914" y="0"/>
                  </a:lnTo>
                  <a:cubicBezTo>
                    <a:pt x="10884408" y="0"/>
                    <a:pt x="10999978" y="115189"/>
                    <a:pt x="10999978" y="257429"/>
                  </a:cubicBezTo>
                  <a:lnTo>
                    <a:pt x="10986389" y="257429"/>
                  </a:lnTo>
                  <a:lnTo>
                    <a:pt x="10999978" y="257429"/>
                  </a:lnTo>
                  <a:lnTo>
                    <a:pt x="10999978" y="5182870"/>
                  </a:lnTo>
                  <a:lnTo>
                    <a:pt x="10986389" y="5182870"/>
                  </a:lnTo>
                  <a:lnTo>
                    <a:pt x="10999978" y="5182870"/>
                  </a:lnTo>
                  <a:cubicBezTo>
                    <a:pt x="10999978" y="5325110"/>
                    <a:pt x="10884408" y="5440299"/>
                    <a:pt x="10741914" y="5440299"/>
                  </a:cubicBezTo>
                  <a:lnTo>
                    <a:pt x="10741914" y="5426710"/>
                  </a:lnTo>
                  <a:lnTo>
                    <a:pt x="10741914" y="5440299"/>
                  </a:lnTo>
                  <a:lnTo>
                    <a:pt x="258064" y="5440299"/>
                  </a:lnTo>
                  <a:lnTo>
                    <a:pt x="258064" y="5426710"/>
                  </a:lnTo>
                  <a:lnTo>
                    <a:pt x="258064" y="5440299"/>
                  </a:lnTo>
                  <a:cubicBezTo>
                    <a:pt x="115570" y="5440299"/>
                    <a:pt x="0" y="5325110"/>
                    <a:pt x="0" y="5182870"/>
                  </a:cubicBezTo>
                  <a:lnTo>
                    <a:pt x="0" y="257429"/>
                  </a:lnTo>
                  <a:lnTo>
                    <a:pt x="13589" y="257429"/>
                  </a:lnTo>
                  <a:lnTo>
                    <a:pt x="0" y="257429"/>
                  </a:lnTo>
                  <a:moveTo>
                    <a:pt x="27051" y="257429"/>
                  </a:moveTo>
                  <a:lnTo>
                    <a:pt x="27051" y="5182870"/>
                  </a:lnTo>
                  <a:lnTo>
                    <a:pt x="13589" y="5182870"/>
                  </a:lnTo>
                  <a:lnTo>
                    <a:pt x="27051" y="5182870"/>
                  </a:lnTo>
                  <a:cubicBezTo>
                    <a:pt x="27051" y="5309997"/>
                    <a:pt x="130429" y="5413248"/>
                    <a:pt x="257937" y="5413248"/>
                  </a:cubicBezTo>
                  <a:lnTo>
                    <a:pt x="10741787" y="5413248"/>
                  </a:lnTo>
                  <a:cubicBezTo>
                    <a:pt x="10869422" y="5413248"/>
                    <a:pt x="10972673" y="5310124"/>
                    <a:pt x="10972673" y="5182870"/>
                  </a:cubicBezTo>
                  <a:lnTo>
                    <a:pt x="10972673" y="257429"/>
                  </a:lnTo>
                  <a:cubicBezTo>
                    <a:pt x="10972673" y="130302"/>
                    <a:pt x="10869295" y="27051"/>
                    <a:pt x="10741787" y="27051"/>
                  </a:cubicBezTo>
                  <a:lnTo>
                    <a:pt x="258064" y="27051"/>
                  </a:lnTo>
                  <a:lnTo>
                    <a:pt x="258064" y="13589"/>
                  </a:lnTo>
                  <a:lnTo>
                    <a:pt x="258064" y="27051"/>
                  </a:lnTo>
                  <a:cubicBezTo>
                    <a:pt x="130429" y="27051"/>
                    <a:pt x="27178" y="130175"/>
                    <a:pt x="27178" y="257429"/>
                  </a:cubicBezTo>
                  <a:close/>
                </a:path>
              </a:pathLst>
            </a:custGeom>
            <a:solidFill>
              <a:srgbClr val="BDC8D5"/>
            </a:solidFill>
          </p:spPr>
        </p:sp>
      </p:grpSp>
      <p:grpSp>
        <p:nvGrpSpPr>
          <p:cNvPr name="Group 35" id="35"/>
          <p:cNvGrpSpPr/>
          <p:nvPr/>
        </p:nvGrpSpPr>
        <p:grpSpPr>
          <a:xfrm rot="0">
            <a:off x="9497063" y="1998983"/>
            <a:ext cx="8255003" cy="153419"/>
            <a:chOff x="0" y="0"/>
            <a:chExt cx="11006671" cy="204559"/>
          </a:xfrm>
        </p:grpSpPr>
        <p:sp>
          <p:nvSpPr>
            <p:cNvPr name="Freeform 36" id="36"/>
            <p:cNvSpPr/>
            <p:nvPr/>
          </p:nvSpPr>
          <p:spPr>
            <a:xfrm flipH="false" flipV="false" rot="0">
              <a:off x="16891" y="16891"/>
              <a:ext cx="10972800" cy="170688"/>
            </a:xfrm>
            <a:custGeom>
              <a:avLst/>
              <a:gdLst/>
              <a:ahLst/>
              <a:cxnLst/>
              <a:rect r="r" b="b" t="t" l="l"/>
              <a:pathLst>
                <a:path h="170688" w="10972800">
                  <a:moveTo>
                    <a:pt x="0" y="0"/>
                  </a:moveTo>
                  <a:lnTo>
                    <a:pt x="10972800" y="0"/>
                  </a:lnTo>
                  <a:lnTo>
                    <a:pt x="10972800" y="170688"/>
                  </a:lnTo>
                  <a:lnTo>
                    <a:pt x="0" y="170688"/>
                  </a:lnTo>
                  <a:close/>
                </a:path>
              </a:pathLst>
            </a:custGeom>
            <a:solidFill>
              <a:srgbClr val="3A7D5C"/>
            </a:solidFill>
          </p:spPr>
        </p:sp>
        <p:sp>
          <p:nvSpPr>
            <p:cNvPr name="Freeform 37" id="37"/>
            <p:cNvSpPr/>
            <p:nvPr/>
          </p:nvSpPr>
          <p:spPr>
            <a:xfrm flipH="false" flipV="false" rot="0">
              <a:off x="0" y="0"/>
              <a:ext cx="11006582" cy="204472"/>
            </a:xfrm>
            <a:custGeom>
              <a:avLst/>
              <a:gdLst/>
              <a:ahLst/>
              <a:cxnLst/>
              <a:rect r="r" b="b" t="t" l="l"/>
              <a:pathLst>
                <a:path h="204472" w="11006582">
                  <a:moveTo>
                    <a:pt x="16891" y="0"/>
                  </a:moveTo>
                  <a:lnTo>
                    <a:pt x="10989691" y="0"/>
                  </a:lnTo>
                  <a:cubicBezTo>
                    <a:pt x="10999089" y="0"/>
                    <a:pt x="11006582" y="7620"/>
                    <a:pt x="11006582" y="16891"/>
                  </a:cubicBezTo>
                  <a:lnTo>
                    <a:pt x="11006582" y="187579"/>
                  </a:lnTo>
                  <a:cubicBezTo>
                    <a:pt x="11006582" y="196977"/>
                    <a:pt x="10998962" y="204470"/>
                    <a:pt x="10989691"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10989691" y="170688"/>
                  </a:lnTo>
                  <a:lnTo>
                    <a:pt x="10989691" y="187579"/>
                  </a:lnTo>
                  <a:lnTo>
                    <a:pt x="10972800" y="187579"/>
                  </a:lnTo>
                  <a:lnTo>
                    <a:pt x="10972800" y="16891"/>
                  </a:lnTo>
                  <a:lnTo>
                    <a:pt x="10989691" y="16891"/>
                  </a:lnTo>
                  <a:lnTo>
                    <a:pt x="10989691" y="33909"/>
                  </a:lnTo>
                  <a:lnTo>
                    <a:pt x="16891" y="33909"/>
                  </a:lnTo>
                  <a:close/>
                </a:path>
              </a:pathLst>
            </a:custGeom>
            <a:solidFill>
              <a:srgbClr val="3A7D5C"/>
            </a:solidFill>
          </p:spPr>
        </p:sp>
      </p:grpSp>
      <p:grpSp>
        <p:nvGrpSpPr>
          <p:cNvPr name="Group 38" id="38"/>
          <p:cNvGrpSpPr/>
          <p:nvPr/>
        </p:nvGrpSpPr>
        <p:grpSpPr>
          <a:xfrm rot="0">
            <a:off x="9784080" y="2231136"/>
            <a:ext cx="1024128" cy="910946"/>
            <a:chOff x="0" y="0"/>
            <a:chExt cx="1365504" cy="1214594"/>
          </a:xfrm>
        </p:grpSpPr>
        <p:sp>
          <p:nvSpPr>
            <p:cNvPr name="Freeform 39" id="39"/>
            <p:cNvSpPr/>
            <p:nvPr/>
          </p:nvSpPr>
          <p:spPr>
            <a:xfrm flipH="false" flipV="false" rot="0">
              <a:off x="0" y="0"/>
              <a:ext cx="1365504" cy="1214594"/>
            </a:xfrm>
            <a:custGeom>
              <a:avLst/>
              <a:gdLst/>
              <a:ahLst/>
              <a:cxnLst/>
              <a:rect r="r" b="b" t="t" l="l"/>
              <a:pathLst>
                <a:path h="1214594" w="1365504">
                  <a:moveTo>
                    <a:pt x="0" y="0"/>
                  </a:moveTo>
                  <a:lnTo>
                    <a:pt x="1365504" y="0"/>
                  </a:lnTo>
                  <a:lnTo>
                    <a:pt x="1365504" y="1214594"/>
                  </a:lnTo>
                  <a:lnTo>
                    <a:pt x="0" y="1214594"/>
                  </a:lnTo>
                  <a:close/>
                </a:path>
              </a:pathLst>
            </a:custGeom>
            <a:blipFill>
              <a:blip r:embed="rId3">
                <a:alphaModFix amt="0"/>
              </a:blip>
              <a:stretch>
                <a:fillRect l="-46227" t="0" r="-46227" b="15681"/>
              </a:stretch>
            </a:blipFill>
          </p:spPr>
        </p:sp>
        <p:sp>
          <p:nvSpPr>
            <p:cNvPr name="TextBox 40" id="40"/>
            <p:cNvSpPr txBox="true"/>
            <p:nvPr/>
          </p:nvSpPr>
          <p:spPr>
            <a:xfrm>
              <a:off x="0" y="9525"/>
              <a:ext cx="1365504" cy="1205069"/>
            </a:xfrm>
            <a:prstGeom prst="rect">
              <a:avLst/>
            </a:prstGeom>
          </p:spPr>
          <p:txBody>
            <a:bodyPr anchor="ctr" rtlCol="false" tIns="0" lIns="0" bIns="0" rIns="0"/>
            <a:lstStyle/>
            <a:p>
              <a:pPr algn="l">
                <a:lnSpc>
                  <a:spcPts val="5280"/>
                </a:lnSpc>
              </a:pPr>
              <a:r>
                <a:rPr lang="en-US" sz="4400" b="true">
                  <a:solidFill>
                    <a:srgbClr val="3A7D5C"/>
                  </a:solidFill>
                  <a:latin typeface="EB Garamond Semi-Bold"/>
                  <a:ea typeface="EB Garamond Semi-Bold"/>
                  <a:cs typeface="EB Garamond Semi-Bold"/>
                  <a:sym typeface="EB Garamond Semi-Bold"/>
                </a:rPr>
                <a:t>02</a:t>
              </a:r>
            </a:p>
          </p:txBody>
        </p:sp>
      </p:grpSp>
      <p:grpSp>
        <p:nvGrpSpPr>
          <p:cNvPr name="Group 41" id="41"/>
          <p:cNvGrpSpPr/>
          <p:nvPr/>
        </p:nvGrpSpPr>
        <p:grpSpPr>
          <a:xfrm rot="0">
            <a:off x="10844784" y="2304288"/>
            <a:ext cx="6583680" cy="694944"/>
            <a:chOff x="0" y="0"/>
            <a:chExt cx="8778240" cy="926592"/>
          </a:xfrm>
        </p:grpSpPr>
        <p:sp>
          <p:nvSpPr>
            <p:cNvPr name="Freeform 42" id="42"/>
            <p:cNvSpPr/>
            <p:nvPr/>
          </p:nvSpPr>
          <p:spPr>
            <a:xfrm flipH="false" flipV="false" rot="0">
              <a:off x="0" y="0"/>
              <a:ext cx="8778240" cy="926592"/>
            </a:xfrm>
            <a:custGeom>
              <a:avLst/>
              <a:gdLst/>
              <a:ahLst/>
              <a:cxnLst/>
              <a:rect r="r" b="b" t="t" l="l"/>
              <a:pathLst>
                <a:path h="926592" w="8778240">
                  <a:moveTo>
                    <a:pt x="0" y="0"/>
                  </a:moveTo>
                  <a:lnTo>
                    <a:pt x="8778240" y="0"/>
                  </a:lnTo>
                  <a:lnTo>
                    <a:pt x="8778240" y="926592"/>
                  </a:lnTo>
                  <a:lnTo>
                    <a:pt x="0" y="926592"/>
                  </a:lnTo>
                  <a:close/>
                </a:path>
              </a:pathLst>
            </a:custGeom>
            <a:blipFill>
              <a:blip r:embed="rId3">
                <a:alphaModFix amt="0"/>
              </a:blip>
              <a:stretch>
                <a:fillRect l="0" t="-134595" r="0" b="-134595"/>
              </a:stretch>
            </a:blipFill>
          </p:spPr>
        </p:sp>
        <p:sp>
          <p:nvSpPr>
            <p:cNvPr name="TextBox 43" id="43"/>
            <p:cNvSpPr txBox="true"/>
            <p:nvPr/>
          </p:nvSpPr>
          <p:spPr>
            <a:xfrm>
              <a:off x="0" y="-9525"/>
              <a:ext cx="8778240" cy="936117"/>
            </a:xfrm>
            <a:prstGeom prst="rect">
              <a:avLst/>
            </a:prstGeom>
          </p:spPr>
          <p:txBody>
            <a:bodyPr anchor="ctr" rtlCol="false" tIns="0" lIns="0" bIns="0" rIns="0"/>
            <a:lstStyle/>
            <a:p>
              <a:pPr algn="l">
                <a:lnSpc>
                  <a:spcPts val="3600"/>
                </a:lnSpc>
              </a:pPr>
              <a:r>
                <a:rPr lang="en-US" sz="3000" b="true">
                  <a:solidFill>
                    <a:srgbClr val="1C2E40"/>
                  </a:solidFill>
                  <a:latin typeface="EB Garamond Semi-Bold"/>
                  <a:ea typeface="EB Garamond Semi-Bold"/>
                  <a:cs typeface="EB Garamond Semi-Bold"/>
                  <a:sym typeface="EB Garamond Semi-Bold"/>
                </a:rPr>
                <a:t>Subsistance</a:t>
              </a:r>
            </a:p>
          </p:txBody>
        </p:sp>
      </p:grpSp>
      <p:grpSp>
        <p:nvGrpSpPr>
          <p:cNvPr name="Group 44" id="44"/>
          <p:cNvGrpSpPr/>
          <p:nvPr/>
        </p:nvGrpSpPr>
        <p:grpSpPr>
          <a:xfrm rot="0">
            <a:off x="9875520" y="3200400"/>
            <a:ext cx="7607808" cy="804672"/>
            <a:chOff x="0" y="0"/>
            <a:chExt cx="10143744" cy="1072896"/>
          </a:xfrm>
        </p:grpSpPr>
        <p:sp>
          <p:nvSpPr>
            <p:cNvPr name="Freeform 45" id="45"/>
            <p:cNvSpPr/>
            <p:nvPr/>
          </p:nvSpPr>
          <p:spPr>
            <a:xfrm flipH="false" flipV="false" rot="0">
              <a:off x="0" y="0"/>
              <a:ext cx="10143744" cy="1072896"/>
            </a:xfrm>
            <a:custGeom>
              <a:avLst/>
              <a:gdLst/>
              <a:ahLst/>
              <a:cxnLst/>
              <a:rect r="r" b="b" t="t" l="l"/>
              <a:pathLst>
                <a:path h="1072896" w="10143744">
                  <a:moveTo>
                    <a:pt x="0" y="0"/>
                  </a:moveTo>
                  <a:lnTo>
                    <a:pt x="10143744" y="0"/>
                  </a:lnTo>
                  <a:lnTo>
                    <a:pt x="10143744" y="1072896"/>
                  </a:lnTo>
                  <a:lnTo>
                    <a:pt x="0" y="1072896"/>
                  </a:lnTo>
                  <a:close/>
                </a:path>
              </a:pathLst>
            </a:custGeom>
            <a:blipFill>
              <a:blip r:embed="rId3">
                <a:alphaModFix amt="0"/>
              </a:blip>
              <a:stretch>
                <a:fillRect l="0" t="-134222" r="0" b="-134222"/>
              </a:stretch>
            </a:blipFill>
          </p:spPr>
        </p:sp>
        <p:sp>
          <p:nvSpPr>
            <p:cNvPr name="TextBox 46" id="46"/>
            <p:cNvSpPr txBox="true"/>
            <p:nvPr/>
          </p:nvSpPr>
          <p:spPr>
            <a:xfrm>
              <a:off x="0" y="0"/>
              <a:ext cx="10143744" cy="1072896"/>
            </a:xfrm>
            <a:prstGeom prst="rect">
              <a:avLst/>
            </a:prstGeom>
          </p:spPr>
          <p:txBody>
            <a:bodyPr anchor="ctr" rtlCol="false" tIns="0" lIns="0" bIns="0" rIns="0"/>
            <a:lstStyle/>
            <a:p>
              <a:pPr algn="l">
                <a:lnSpc>
                  <a:spcPts val="2520"/>
                </a:lnSpc>
              </a:pPr>
              <a:r>
                <a:rPr lang="en-US" sz="2100">
                  <a:solidFill>
                    <a:srgbClr val="364E64"/>
                  </a:solidFill>
                  <a:latin typeface="EB Garamond"/>
                  <a:ea typeface="EB Garamond"/>
                  <a:cs typeface="EB Garamond"/>
                  <a:sym typeface="EB Garamond"/>
                </a:rPr>
                <a:t>● Burkina Faso : 100 % des ménages pratiquent l'agriculture</a:t>
              </a:r>
            </a:p>
          </p:txBody>
        </p:sp>
      </p:grpSp>
      <p:grpSp>
        <p:nvGrpSpPr>
          <p:cNvPr name="Group 47" id="47"/>
          <p:cNvGrpSpPr/>
          <p:nvPr/>
        </p:nvGrpSpPr>
        <p:grpSpPr>
          <a:xfrm rot="0">
            <a:off x="9875520" y="4078224"/>
            <a:ext cx="7607808" cy="804672"/>
            <a:chOff x="0" y="0"/>
            <a:chExt cx="10143744" cy="1072896"/>
          </a:xfrm>
        </p:grpSpPr>
        <p:sp>
          <p:nvSpPr>
            <p:cNvPr name="Freeform 48" id="48"/>
            <p:cNvSpPr/>
            <p:nvPr/>
          </p:nvSpPr>
          <p:spPr>
            <a:xfrm flipH="false" flipV="false" rot="0">
              <a:off x="0" y="0"/>
              <a:ext cx="10143744" cy="1072896"/>
            </a:xfrm>
            <a:custGeom>
              <a:avLst/>
              <a:gdLst/>
              <a:ahLst/>
              <a:cxnLst/>
              <a:rect r="r" b="b" t="t" l="l"/>
              <a:pathLst>
                <a:path h="1072896" w="10143744">
                  <a:moveTo>
                    <a:pt x="0" y="0"/>
                  </a:moveTo>
                  <a:lnTo>
                    <a:pt x="10143744" y="0"/>
                  </a:lnTo>
                  <a:lnTo>
                    <a:pt x="10143744" y="1072896"/>
                  </a:lnTo>
                  <a:lnTo>
                    <a:pt x="0" y="1072896"/>
                  </a:lnTo>
                  <a:close/>
                </a:path>
              </a:pathLst>
            </a:custGeom>
            <a:blipFill>
              <a:blip r:embed="rId3">
                <a:alphaModFix amt="0"/>
              </a:blip>
              <a:stretch>
                <a:fillRect l="0" t="-134222" r="0" b="-134222"/>
              </a:stretch>
            </a:blipFill>
          </p:spPr>
        </p:sp>
        <p:sp>
          <p:nvSpPr>
            <p:cNvPr name="TextBox 49" id="49"/>
            <p:cNvSpPr txBox="true"/>
            <p:nvPr/>
          </p:nvSpPr>
          <p:spPr>
            <a:xfrm>
              <a:off x="0" y="0"/>
              <a:ext cx="10143744" cy="1072896"/>
            </a:xfrm>
            <a:prstGeom prst="rect">
              <a:avLst/>
            </a:prstGeom>
          </p:spPr>
          <p:txBody>
            <a:bodyPr anchor="ctr" rtlCol="false" tIns="0" lIns="0" bIns="0" rIns="0"/>
            <a:lstStyle/>
            <a:p>
              <a:pPr algn="l">
                <a:lnSpc>
                  <a:spcPts val="2520"/>
                </a:lnSpc>
              </a:pPr>
              <a:r>
                <a:rPr lang="en-US" sz="2100">
                  <a:solidFill>
                    <a:srgbClr val="364E64"/>
                  </a:solidFill>
                  <a:latin typeface="EB Garamond"/>
                  <a:ea typeface="EB Garamond"/>
                  <a:cs typeface="EB Garamond"/>
                  <a:sym typeface="EB Garamond"/>
                </a:rPr>
                <a:t>● Mauritanie : viabilité maximale UBT/EA = 9,0</a:t>
              </a:r>
            </a:p>
          </p:txBody>
        </p:sp>
      </p:grpSp>
      <p:grpSp>
        <p:nvGrpSpPr>
          <p:cNvPr name="Group 50" id="50"/>
          <p:cNvGrpSpPr/>
          <p:nvPr/>
        </p:nvGrpSpPr>
        <p:grpSpPr>
          <a:xfrm rot="0">
            <a:off x="9875520" y="4956048"/>
            <a:ext cx="7607808" cy="804672"/>
            <a:chOff x="0" y="0"/>
            <a:chExt cx="10143744" cy="1072896"/>
          </a:xfrm>
        </p:grpSpPr>
        <p:sp>
          <p:nvSpPr>
            <p:cNvPr name="Freeform 51" id="51"/>
            <p:cNvSpPr/>
            <p:nvPr/>
          </p:nvSpPr>
          <p:spPr>
            <a:xfrm flipH="false" flipV="false" rot="0">
              <a:off x="0" y="0"/>
              <a:ext cx="10143744" cy="1072896"/>
            </a:xfrm>
            <a:custGeom>
              <a:avLst/>
              <a:gdLst/>
              <a:ahLst/>
              <a:cxnLst/>
              <a:rect r="r" b="b" t="t" l="l"/>
              <a:pathLst>
                <a:path h="1072896" w="10143744">
                  <a:moveTo>
                    <a:pt x="0" y="0"/>
                  </a:moveTo>
                  <a:lnTo>
                    <a:pt x="10143744" y="0"/>
                  </a:lnTo>
                  <a:lnTo>
                    <a:pt x="10143744" y="1072896"/>
                  </a:lnTo>
                  <a:lnTo>
                    <a:pt x="0" y="1072896"/>
                  </a:lnTo>
                  <a:close/>
                </a:path>
              </a:pathLst>
            </a:custGeom>
            <a:blipFill>
              <a:blip r:embed="rId3">
                <a:alphaModFix amt="0"/>
              </a:blip>
              <a:stretch>
                <a:fillRect l="0" t="-134222" r="0" b="-134222"/>
              </a:stretch>
            </a:blipFill>
          </p:spPr>
        </p:sp>
        <p:sp>
          <p:nvSpPr>
            <p:cNvPr name="TextBox 52" id="52"/>
            <p:cNvSpPr txBox="true"/>
            <p:nvPr/>
          </p:nvSpPr>
          <p:spPr>
            <a:xfrm>
              <a:off x="0" y="0"/>
              <a:ext cx="10143744" cy="1072896"/>
            </a:xfrm>
            <a:prstGeom prst="rect">
              <a:avLst/>
            </a:prstGeom>
          </p:spPr>
          <p:txBody>
            <a:bodyPr anchor="ctr" rtlCol="false" tIns="0" lIns="0" bIns="0" rIns="0"/>
            <a:lstStyle/>
            <a:p>
              <a:pPr algn="l">
                <a:lnSpc>
                  <a:spcPts val="2520"/>
                </a:lnSpc>
              </a:pPr>
              <a:r>
                <a:rPr lang="en-US" sz="2100">
                  <a:solidFill>
                    <a:srgbClr val="364E64"/>
                  </a:solidFill>
                  <a:latin typeface="EB Garamond"/>
                  <a:ea typeface="EB Garamond"/>
                  <a:cs typeface="EB Garamond"/>
                  <a:sym typeface="EB Garamond"/>
                </a:rPr>
                <a:t>● Niger : autosuffisance max (7,6 mois) mais viabilité faible (3,26)</a:t>
              </a:r>
            </a:p>
          </p:txBody>
        </p:sp>
      </p:grpSp>
      <p:grpSp>
        <p:nvGrpSpPr>
          <p:cNvPr name="Group 53" id="53"/>
          <p:cNvGrpSpPr/>
          <p:nvPr/>
        </p:nvGrpSpPr>
        <p:grpSpPr>
          <a:xfrm rot="0">
            <a:off x="627383" y="6424679"/>
            <a:ext cx="8255003" cy="3359401"/>
            <a:chOff x="0" y="0"/>
            <a:chExt cx="11006671" cy="4479201"/>
          </a:xfrm>
        </p:grpSpPr>
        <p:grpSp>
          <p:nvGrpSpPr>
            <p:cNvPr name="Group 54" id="54"/>
            <p:cNvGrpSpPr/>
            <p:nvPr/>
          </p:nvGrpSpPr>
          <p:grpSpPr>
            <a:xfrm rot="0">
              <a:off x="3378" y="2780"/>
              <a:ext cx="10999889" cy="4476421"/>
              <a:chOff x="0" y="0"/>
              <a:chExt cx="10999889" cy="4476421"/>
            </a:xfrm>
          </p:grpSpPr>
          <p:sp>
            <p:nvSpPr>
              <p:cNvPr name="Freeform 55" id="55"/>
              <p:cNvSpPr/>
              <p:nvPr/>
            </p:nvSpPr>
            <p:spPr>
              <a:xfrm flipH="false" flipV="false" rot="0">
                <a:off x="13589" y="11181"/>
                <a:ext cx="10972800" cy="4454028"/>
              </a:xfrm>
              <a:custGeom>
                <a:avLst/>
                <a:gdLst/>
                <a:ahLst/>
                <a:cxnLst/>
                <a:rect r="r" b="b" t="t" l="l"/>
                <a:pathLst>
                  <a:path h="4454028" w="10972800">
                    <a:moveTo>
                      <a:pt x="0" y="200637"/>
                    </a:moveTo>
                    <a:cubicBezTo>
                      <a:pt x="0" y="89764"/>
                      <a:pt x="109474" y="0"/>
                      <a:pt x="244475" y="0"/>
                    </a:cubicBezTo>
                    <a:lnTo>
                      <a:pt x="10728325" y="0"/>
                    </a:lnTo>
                    <a:cubicBezTo>
                      <a:pt x="10863326" y="0"/>
                      <a:pt x="10972800" y="89869"/>
                      <a:pt x="10972800" y="200637"/>
                    </a:cubicBezTo>
                    <a:lnTo>
                      <a:pt x="10972800" y="4253391"/>
                    </a:lnTo>
                    <a:cubicBezTo>
                      <a:pt x="10972800" y="4364264"/>
                      <a:pt x="10863326" y="4454028"/>
                      <a:pt x="10728325" y="4454028"/>
                    </a:cubicBezTo>
                    <a:lnTo>
                      <a:pt x="244475" y="4454028"/>
                    </a:lnTo>
                    <a:cubicBezTo>
                      <a:pt x="109474" y="4454028"/>
                      <a:pt x="0" y="4364159"/>
                      <a:pt x="0" y="4253391"/>
                    </a:cubicBezTo>
                    <a:close/>
                  </a:path>
                </a:pathLst>
              </a:custGeom>
              <a:solidFill>
                <a:srgbClr val="FFFFFF"/>
              </a:solidFill>
            </p:spPr>
          </p:sp>
          <p:sp>
            <p:nvSpPr>
              <p:cNvPr name="Freeform 56" id="56"/>
              <p:cNvSpPr/>
              <p:nvPr/>
            </p:nvSpPr>
            <p:spPr>
              <a:xfrm flipH="false" flipV="false" rot="0">
                <a:off x="0" y="0"/>
                <a:ext cx="10999978" cy="4476390"/>
              </a:xfrm>
              <a:custGeom>
                <a:avLst/>
                <a:gdLst/>
                <a:ahLst/>
                <a:cxnLst/>
                <a:rect r="r" b="b" t="t" l="l"/>
                <a:pathLst>
                  <a:path h="4476390" w="10999978">
                    <a:moveTo>
                      <a:pt x="0" y="211818"/>
                    </a:moveTo>
                    <a:cubicBezTo>
                      <a:pt x="0" y="94780"/>
                      <a:pt x="115570" y="0"/>
                      <a:pt x="258064" y="0"/>
                    </a:cubicBezTo>
                    <a:lnTo>
                      <a:pt x="10741914" y="0"/>
                    </a:lnTo>
                    <a:lnTo>
                      <a:pt x="10741914" y="11181"/>
                    </a:lnTo>
                    <a:lnTo>
                      <a:pt x="10741914" y="0"/>
                    </a:lnTo>
                    <a:cubicBezTo>
                      <a:pt x="10884408" y="0"/>
                      <a:pt x="10999978" y="94780"/>
                      <a:pt x="10999978" y="211818"/>
                    </a:cubicBezTo>
                    <a:lnTo>
                      <a:pt x="10986389" y="211818"/>
                    </a:lnTo>
                    <a:lnTo>
                      <a:pt x="10999978" y="211818"/>
                    </a:lnTo>
                    <a:lnTo>
                      <a:pt x="10999978" y="4264572"/>
                    </a:lnTo>
                    <a:lnTo>
                      <a:pt x="10986389" y="4264572"/>
                    </a:lnTo>
                    <a:lnTo>
                      <a:pt x="10999978" y="4264572"/>
                    </a:lnTo>
                    <a:cubicBezTo>
                      <a:pt x="10999978" y="4381610"/>
                      <a:pt x="10884408" y="4476390"/>
                      <a:pt x="10741914" y="4476390"/>
                    </a:cubicBezTo>
                    <a:lnTo>
                      <a:pt x="10741914" y="4465209"/>
                    </a:lnTo>
                    <a:lnTo>
                      <a:pt x="10741914" y="4476390"/>
                    </a:lnTo>
                    <a:lnTo>
                      <a:pt x="258064" y="4476390"/>
                    </a:lnTo>
                    <a:lnTo>
                      <a:pt x="258064" y="4465209"/>
                    </a:lnTo>
                    <a:lnTo>
                      <a:pt x="258064" y="4476390"/>
                    </a:lnTo>
                    <a:cubicBezTo>
                      <a:pt x="115570" y="4476390"/>
                      <a:pt x="0" y="4381610"/>
                      <a:pt x="0" y="4264572"/>
                    </a:cubicBezTo>
                    <a:lnTo>
                      <a:pt x="0" y="211818"/>
                    </a:lnTo>
                    <a:lnTo>
                      <a:pt x="13589" y="211818"/>
                    </a:lnTo>
                    <a:lnTo>
                      <a:pt x="0" y="211818"/>
                    </a:lnTo>
                    <a:moveTo>
                      <a:pt x="27051" y="211818"/>
                    </a:moveTo>
                    <a:lnTo>
                      <a:pt x="27051" y="4264572"/>
                    </a:lnTo>
                    <a:lnTo>
                      <a:pt x="13589" y="4264572"/>
                    </a:lnTo>
                    <a:lnTo>
                      <a:pt x="27051" y="4264572"/>
                    </a:lnTo>
                    <a:cubicBezTo>
                      <a:pt x="27051" y="4369175"/>
                      <a:pt x="130429" y="4454132"/>
                      <a:pt x="257937" y="4454132"/>
                    </a:cubicBezTo>
                    <a:lnTo>
                      <a:pt x="10741787" y="4454132"/>
                    </a:lnTo>
                    <a:cubicBezTo>
                      <a:pt x="10869422" y="4454132"/>
                      <a:pt x="10972673" y="4369279"/>
                      <a:pt x="10972673" y="4264572"/>
                    </a:cubicBezTo>
                    <a:lnTo>
                      <a:pt x="10972673" y="211818"/>
                    </a:lnTo>
                    <a:cubicBezTo>
                      <a:pt x="10972673" y="107215"/>
                      <a:pt x="10869295" y="22258"/>
                      <a:pt x="10741787" y="22258"/>
                    </a:cubicBezTo>
                    <a:lnTo>
                      <a:pt x="258064" y="22258"/>
                    </a:lnTo>
                    <a:lnTo>
                      <a:pt x="258064" y="11181"/>
                    </a:lnTo>
                    <a:lnTo>
                      <a:pt x="258064" y="22258"/>
                    </a:lnTo>
                    <a:cubicBezTo>
                      <a:pt x="130429" y="22258"/>
                      <a:pt x="27178" y="107111"/>
                      <a:pt x="27178" y="211818"/>
                    </a:cubicBezTo>
                    <a:close/>
                  </a:path>
                </a:pathLst>
              </a:custGeom>
              <a:solidFill>
                <a:srgbClr val="BDC8D5"/>
              </a:solidFill>
            </p:spPr>
          </p:sp>
        </p:grpSp>
        <p:grpSp>
          <p:nvGrpSpPr>
            <p:cNvPr name="Group 57" id="57"/>
            <p:cNvGrpSpPr/>
            <p:nvPr/>
          </p:nvGrpSpPr>
          <p:grpSpPr>
            <a:xfrm rot="0">
              <a:off x="0" y="0"/>
              <a:ext cx="11006671" cy="168315"/>
              <a:chOff x="0" y="0"/>
              <a:chExt cx="11006671" cy="168315"/>
            </a:xfrm>
          </p:grpSpPr>
          <p:sp>
            <p:nvSpPr>
              <p:cNvPr name="Freeform 58" id="58"/>
              <p:cNvSpPr/>
              <p:nvPr/>
            </p:nvSpPr>
            <p:spPr>
              <a:xfrm flipH="false" flipV="false" rot="0">
                <a:off x="16891" y="13898"/>
                <a:ext cx="10972800" cy="140446"/>
              </a:xfrm>
              <a:custGeom>
                <a:avLst/>
                <a:gdLst/>
                <a:ahLst/>
                <a:cxnLst/>
                <a:rect r="r" b="b" t="t" l="l"/>
                <a:pathLst>
                  <a:path h="140446" w="10972800">
                    <a:moveTo>
                      <a:pt x="0" y="0"/>
                    </a:moveTo>
                    <a:lnTo>
                      <a:pt x="10972800" y="0"/>
                    </a:lnTo>
                    <a:lnTo>
                      <a:pt x="10972800" y="140446"/>
                    </a:lnTo>
                    <a:lnTo>
                      <a:pt x="0" y="140446"/>
                    </a:lnTo>
                    <a:close/>
                  </a:path>
                </a:pathLst>
              </a:custGeom>
              <a:solidFill>
                <a:srgbClr val="C89A3E"/>
              </a:solidFill>
            </p:spPr>
          </p:sp>
          <p:sp>
            <p:nvSpPr>
              <p:cNvPr name="Freeform 59" id="59"/>
              <p:cNvSpPr/>
              <p:nvPr/>
            </p:nvSpPr>
            <p:spPr>
              <a:xfrm flipH="false" flipV="false" rot="0">
                <a:off x="0" y="0"/>
                <a:ext cx="11006582" cy="168244"/>
              </a:xfrm>
              <a:custGeom>
                <a:avLst/>
                <a:gdLst/>
                <a:ahLst/>
                <a:cxnLst/>
                <a:rect r="r" b="b" t="t" l="l"/>
                <a:pathLst>
                  <a:path h="168244" w="11006582">
                    <a:moveTo>
                      <a:pt x="16891" y="0"/>
                    </a:moveTo>
                    <a:lnTo>
                      <a:pt x="10989691" y="0"/>
                    </a:lnTo>
                    <a:cubicBezTo>
                      <a:pt x="10999089" y="0"/>
                      <a:pt x="11006582" y="6270"/>
                      <a:pt x="11006582" y="13898"/>
                    </a:cubicBezTo>
                    <a:lnTo>
                      <a:pt x="11006582" y="154344"/>
                    </a:lnTo>
                    <a:cubicBezTo>
                      <a:pt x="11006582" y="162077"/>
                      <a:pt x="10998962" y="168242"/>
                      <a:pt x="10989691" y="168242"/>
                    </a:cubicBezTo>
                    <a:lnTo>
                      <a:pt x="16891" y="168242"/>
                    </a:lnTo>
                    <a:cubicBezTo>
                      <a:pt x="7620" y="168353"/>
                      <a:pt x="0" y="162077"/>
                      <a:pt x="0" y="154344"/>
                    </a:cubicBezTo>
                    <a:lnTo>
                      <a:pt x="0" y="13898"/>
                    </a:lnTo>
                    <a:cubicBezTo>
                      <a:pt x="0" y="6270"/>
                      <a:pt x="7620" y="0"/>
                      <a:pt x="16891" y="0"/>
                    </a:cubicBezTo>
                    <a:moveTo>
                      <a:pt x="16891" y="27901"/>
                    </a:moveTo>
                    <a:lnTo>
                      <a:pt x="16891" y="13898"/>
                    </a:lnTo>
                    <a:lnTo>
                      <a:pt x="33909" y="13898"/>
                    </a:lnTo>
                    <a:lnTo>
                      <a:pt x="33909" y="154344"/>
                    </a:lnTo>
                    <a:lnTo>
                      <a:pt x="16891" y="154344"/>
                    </a:lnTo>
                    <a:lnTo>
                      <a:pt x="16891" y="140446"/>
                    </a:lnTo>
                    <a:lnTo>
                      <a:pt x="10989691" y="140446"/>
                    </a:lnTo>
                    <a:lnTo>
                      <a:pt x="10989691" y="154344"/>
                    </a:lnTo>
                    <a:lnTo>
                      <a:pt x="10972800" y="154344"/>
                    </a:lnTo>
                    <a:lnTo>
                      <a:pt x="10972800" y="13898"/>
                    </a:lnTo>
                    <a:lnTo>
                      <a:pt x="10989691" y="13898"/>
                    </a:lnTo>
                    <a:lnTo>
                      <a:pt x="10989691" y="27901"/>
                    </a:lnTo>
                    <a:lnTo>
                      <a:pt x="16891" y="27901"/>
                    </a:lnTo>
                    <a:close/>
                  </a:path>
                </a:pathLst>
              </a:custGeom>
              <a:solidFill>
                <a:srgbClr val="C89A3E"/>
              </a:solidFill>
            </p:spPr>
          </p:sp>
        </p:grpSp>
        <p:grpSp>
          <p:nvGrpSpPr>
            <p:cNvPr name="Group 60" id="60"/>
            <p:cNvGrpSpPr/>
            <p:nvPr/>
          </p:nvGrpSpPr>
          <p:grpSpPr>
            <a:xfrm rot="0">
              <a:off x="382689" y="0"/>
              <a:ext cx="1365504" cy="1178223"/>
              <a:chOff x="0" y="0"/>
              <a:chExt cx="1365504" cy="1178223"/>
            </a:xfrm>
          </p:grpSpPr>
          <p:sp>
            <p:nvSpPr>
              <p:cNvPr name="Freeform 61" id="61"/>
              <p:cNvSpPr/>
              <p:nvPr/>
            </p:nvSpPr>
            <p:spPr>
              <a:xfrm flipH="false" flipV="false" rot="0">
                <a:off x="0" y="0"/>
                <a:ext cx="1365504" cy="1178223"/>
              </a:xfrm>
              <a:custGeom>
                <a:avLst/>
                <a:gdLst/>
                <a:ahLst/>
                <a:cxnLst/>
                <a:rect r="r" b="b" t="t" l="l"/>
                <a:pathLst>
                  <a:path h="1178223" w="1365504">
                    <a:moveTo>
                      <a:pt x="0" y="0"/>
                    </a:moveTo>
                    <a:lnTo>
                      <a:pt x="1365504" y="0"/>
                    </a:lnTo>
                    <a:lnTo>
                      <a:pt x="1365504" y="1178223"/>
                    </a:lnTo>
                    <a:lnTo>
                      <a:pt x="0" y="1178223"/>
                    </a:lnTo>
                    <a:close/>
                  </a:path>
                </a:pathLst>
              </a:custGeom>
              <a:blipFill>
                <a:blip r:embed="rId3">
                  <a:alphaModFix amt="0"/>
                </a:blip>
                <a:stretch>
                  <a:fillRect l="-46227" t="0" r="-46227" b="13078"/>
                </a:stretch>
              </a:blipFill>
            </p:spPr>
          </p:sp>
          <p:sp>
            <p:nvSpPr>
              <p:cNvPr name="TextBox 62" id="62"/>
              <p:cNvSpPr txBox="true"/>
              <p:nvPr/>
            </p:nvSpPr>
            <p:spPr>
              <a:xfrm>
                <a:off x="0" y="-76200"/>
                <a:ext cx="1365504" cy="1254423"/>
              </a:xfrm>
              <a:prstGeom prst="rect">
                <a:avLst/>
              </a:prstGeom>
            </p:spPr>
            <p:txBody>
              <a:bodyPr anchor="ctr" rtlCol="false" tIns="0" lIns="0" bIns="0" rIns="0"/>
              <a:lstStyle/>
              <a:p>
                <a:pPr algn="l">
                  <a:lnSpc>
                    <a:spcPts val="5280"/>
                  </a:lnSpc>
                </a:pPr>
                <a:r>
                  <a:rPr lang="en-US" sz="4400" b="true">
                    <a:solidFill>
                      <a:srgbClr val="C89A3E"/>
                    </a:solidFill>
                    <a:latin typeface="Calibri (MS) Bold"/>
                    <a:ea typeface="Calibri (MS) Bold"/>
                    <a:cs typeface="Calibri (MS) Bold"/>
                    <a:sym typeface="Calibri (MS) Bold"/>
                  </a:rPr>
                  <a:t>03</a:t>
                </a:r>
              </a:p>
            </p:txBody>
          </p:sp>
        </p:grpSp>
        <p:grpSp>
          <p:nvGrpSpPr>
            <p:cNvPr name="Group 63" id="63"/>
            <p:cNvGrpSpPr/>
            <p:nvPr/>
          </p:nvGrpSpPr>
          <p:grpSpPr>
            <a:xfrm rot="0">
              <a:off x="1796961" y="290570"/>
              <a:ext cx="8778240" cy="806797"/>
              <a:chOff x="0" y="0"/>
              <a:chExt cx="8778240" cy="806797"/>
            </a:xfrm>
          </p:grpSpPr>
          <p:sp>
            <p:nvSpPr>
              <p:cNvPr name="Freeform 64" id="64"/>
              <p:cNvSpPr/>
              <p:nvPr/>
            </p:nvSpPr>
            <p:spPr>
              <a:xfrm flipH="false" flipV="false" rot="0">
                <a:off x="0" y="0"/>
                <a:ext cx="8778240" cy="806797"/>
              </a:xfrm>
              <a:custGeom>
                <a:avLst/>
                <a:gdLst/>
                <a:ahLst/>
                <a:cxnLst/>
                <a:rect r="r" b="b" t="t" l="l"/>
                <a:pathLst>
                  <a:path h="806797" w="8778240">
                    <a:moveTo>
                      <a:pt x="0" y="0"/>
                    </a:moveTo>
                    <a:lnTo>
                      <a:pt x="8778240" y="0"/>
                    </a:lnTo>
                    <a:lnTo>
                      <a:pt x="8778240" y="806797"/>
                    </a:lnTo>
                    <a:lnTo>
                      <a:pt x="0" y="806797"/>
                    </a:lnTo>
                    <a:close/>
                  </a:path>
                </a:pathLst>
              </a:custGeom>
              <a:blipFill>
                <a:blip r:embed="rId3">
                  <a:alphaModFix amt="0"/>
                </a:blip>
                <a:stretch>
                  <a:fillRect l="0" t="-154580" r="0" b="-169428"/>
                </a:stretch>
              </a:blipFill>
            </p:spPr>
          </p:sp>
          <p:sp>
            <p:nvSpPr>
              <p:cNvPr name="TextBox 65" id="65"/>
              <p:cNvSpPr txBox="true"/>
              <p:nvPr/>
            </p:nvSpPr>
            <p:spPr>
              <a:xfrm>
                <a:off x="0" y="-66675"/>
                <a:ext cx="8778240" cy="873472"/>
              </a:xfrm>
              <a:prstGeom prst="rect">
                <a:avLst/>
              </a:prstGeom>
            </p:spPr>
            <p:txBody>
              <a:bodyPr anchor="ctr" rtlCol="false" tIns="0" lIns="0" bIns="0" rIns="0"/>
              <a:lstStyle/>
              <a:p>
                <a:pPr algn="l">
                  <a:lnSpc>
                    <a:spcPts val="3600"/>
                  </a:lnSpc>
                </a:pPr>
                <a:r>
                  <a:rPr lang="en-US" sz="3000" b="true">
                    <a:solidFill>
                      <a:srgbClr val="1C2E40"/>
                    </a:solidFill>
                    <a:latin typeface="Calibri (MS) Bold"/>
                    <a:ea typeface="Calibri (MS) Bold"/>
                    <a:cs typeface="Calibri (MS) Bold"/>
                    <a:sym typeface="Calibri (MS) Bold"/>
                  </a:rPr>
                  <a:t>Ventes de bétail</a:t>
                </a:r>
              </a:p>
            </p:txBody>
          </p:sp>
        </p:grpSp>
        <p:grpSp>
          <p:nvGrpSpPr>
            <p:cNvPr name="Group 66" id="66"/>
            <p:cNvGrpSpPr/>
            <p:nvPr/>
          </p:nvGrpSpPr>
          <p:grpSpPr>
            <a:xfrm rot="0">
              <a:off x="504609" y="1318067"/>
              <a:ext cx="10143744" cy="882801"/>
              <a:chOff x="0" y="0"/>
              <a:chExt cx="10143744" cy="882801"/>
            </a:xfrm>
          </p:grpSpPr>
          <p:sp>
            <p:nvSpPr>
              <p:cNvPr name="Freeform 67" id="67"/>
              <p:cNvSpPr/>
              <p:nvPr/>
            </p:nvSpPr>
            <p:spPr>
              <a:xfrm flipH="false" flipV="false" rot="0">
                <a:off x="0" y="0"/>
                <a:ext cx="10143744" cy="882801"/>
              </a:xfrm>
              <a:custGeom>
                <a:avLst/>
                <a:gdLst/>
                <a:ahLst/>
                <a:cxnLst/>
                <a:rect r="r" b="b" t="t" l="l"/>
                <a:pathLst>
                  <a:path h="882801" w="10143744">
                    <a:moveTo>
                      <a:pt x="0" y="0"/>
                    </a:moveTo>
                    <a:lnTo>
                      <a:pt x="10143744" y="0"/>
                    </a:lnTo>
                    <a:lnTo>
                      <a:pt x="10143744" y="882801"/>
                    </a:lnTo>
                    <a:lnTo>
                      <a:pt x="0" y="882801"/>
                    </a:lnTo>
                    <a:close/>
                  </a:path>
                </a:pathLst>
              </a:custGeom>
              <a:blipFill>
                <a:blip r:embed="rId3">
                  <a:alphaModFix amt="0"/>
                </a:blip>
                <a:stretch>
                  <a:fillRect l="0" t="-163124" r="0" b="-184657"/>
                </a:stretch>
              </a:blipFill>
            </p:spPr>
          </p:sp>
          <p:sp>
            <p:nvSpPr>
              <p:cNvPr name="TextBox 68" id="68"/>
              <p:cNvSpPr txBox="true"/>
              <p:nvPr/>
            </p:nvSpPr>
            <p:spPr>
              <a:xfrm>
                <a:off x="0" y="-47625"/>
                <a:ext cx="10143744" cy="930426"/>
              </a:xfrm>
              <a:prstGeom prst="rect">
                <a:avLst/>
              </a:prstGeom>
            </p:spPr>
            <p:txBody>
              <a:bodyPr anchor="ctr" rtlCol="false" tIns="0" lIns="0" bIns="0" rIns="0"/>
              <a:lstStyle/>
              <a:p>
                <a:pPr algn="l">
                  <a:lnSpc>
                    <a:spcPts val="2520"/>
                  </a:lnSpc>
                </a:pPr>
                <a:r>
                  <a:rPr lang="en-US" sz="2100">
                    <a:solidFill>
                      <a:srgbClr val="364E64"/>
                    </a:solidFill>
                    <a:latin typeface="Calibri (MS)"/>
                    <a:ea typeface="Calibri (MS)"/>
                    <a:cs typeface="Calibri (MS)"/>
                    <a:sym typeface="Calibri (MS)"/>
                  </a:rPr>
                  <a:t>● Mali : plus grand marché, prix moyen le plus élevé</a:t>
                </a:r>
              </a:p>
            </p:txBody>
          </p:sp>
        </p:grpSp>
        <p:grpSp>
          <p:nvGrpSpPr>
            <p:cNvPr name="Group 69" id="69"/>
            <p:cNvGrpSpPr/>
            <p:nvPr/>
          </p:nvGrpSpPr>
          <p:grpSpPr>
            <a:xfrm rot="0">
              <a:off x="504609" y="2281123"/>
              <a:ext cx="10143744" cy="882801"/>
              <a:chOff x="0" y="0"/>
              <a:chExt cx="10143744" cy="882801"/>
            </a:xfrm>
          </p:grpSpPr>
          <p:sp>
            <p:nvSpPr>
              <p:cNvPr name="Freeform 70" id="70"/>
              <p:cNvSpPr/>
              <p:nvPr/>
            </p:nvSpPr>
            <p:spPr>
              <a:xfrm flipH="false" flipV="false" rot="0">
                <a:off x="0" y="0"/>
                <a:ext cx="10143744" cy="882801"/>
              </a:xfrm>
              <a:custGeom>
                <a:avLst/>
                <a:gdLst/>
                <a:ahLst/>
                <a:cxnLst/>
                <a:rect r="r" b="b" t="t" l="l"/>
                <a:pathLst>
                  <a:path h="882801" w="10143744">
                    <a:moveTo>
                      <a:pt x="0" y="0"/>
                    </a:moveTo>
                    <a:lnTo>
                      <a:pt x="10143744" y="0"/>
                    </a:lnTo>
                    <a:lnTo>
                      <a:pt x="10143744" y="882801"/>
                    </a:lnTo>
                    <a:lnTo>
                      <a:pt x="0" y="882801"/>
                    </a:lnTo>
                    <a:close/>
                  </a:path>
                </a:pathLst>
              </a:custGeom>
              <a:blipFill>
                <a:blip r:embed="rId3">
                  <a:alphaModFix amt="0"/>
                </a:blip>
                <a:stretch>
                  <a:fillRect l="0" t="-163124" r="0" b="-184657"/>
                </a:stretch>
              </a:blipFill>
            </p:spPr>
          </p:sp>
          <p:sp>
            <p:nvSpPr>
              <p:cNvPr name="TextBox 71" id="71"/>
              <p:cNvSpPr txBox="true"/>
              <p:nvPr/>
            </p:nvSpPr>
            <p:spPr>
              <a:xfrm>
                <a:off x="0" y="-47625"/>
                <a:ext cx="10143744" cy="930426"/>
              </a:xfrm>
              <a:prstGeom prst="rect">
                <a:avLst/>
              </a:prstGeom>
            </p:spPr>
            <p:txBody>
              <a:bodyPr anchor="ctr" rtlCol="false" tIns="0" lIns="0" bIns="0" rIns="0"/>
              <a:lstStyle/>
              <a:p>
                <a:pPr algn="l">
                  <a:lnSpc>
                    <a:spcPts val="2520"/>
                  </a:lnSpc>
                </a:pPr>
                <a:r>
                  <a:rPr lang="en-US" sz="2100">
                    <a:solidFill>
                      <a:srgbClr val="364E64"/>
                    </a:solidFill>
                    <a:latin typeface="Calibri (MS)"/>
                    <a:ea typeface="Calibri (MS)"/>
                    <a:cs typeface="Calibri (MS)"/>
                    <a:sym typeface="Calibri (MS)"/>
                  </a:rPr>
                  <a:t>● Mâles valorisés ~32 000 FCFA de plus que les femelles</a:t>
                </a:r>
              </a:p>
            </p:txBody>
          </p:sp>
        </p:grpSp>
        <p:grpSp>
          <p:nvGrpSpPr>
            <p:cNvPr name="Group 72" id="72"/>
            <p:cNvGrpSpPr/>
            <p:nvPr/>
          </p:nvGrpSpPr>
          <p:grpSpPr>
            <a:xfrm rot="0">
              <a:off x="504609" y="3244178"/>
              <a:ext cx="10143744" cy="882801"/>
              <a:chOff x="0" y="0"/>
              <a:chExt cx="10143744" cy="882801"/>
            </a:xfrm>
          </p:grpSpPr>
          <p:sp>
            <p:nvSpPr>
              <p:cNvPr name="Freeform 73" id="73"/>
              <p:cNvSpPr/>
              <p:nvPr/>
            </p:nvSpPr>
            <p:spPr>
              <a:xfrm flipH="false" flipV="false" rot="0">
                <a:off x="0" y="0"/>
                <a:ext cx="10143744" cy="882801"/>
              </a:xfrm>
              <a:custGeom>
                <a:avLst/>
                <a:gdLst/>
                <a:ahLst/>
                <a:cxnLst/>
                <a:rect r="r" b="b" t="t" l="l"/>
                <a:pathLst>
                  <a:path h="882801" w="10143744">
                    <a:moveTo>
                      <a:pt x="0" y="0"/>
                    </a:moveTo>
                    <a:lnTo>
                      <a:pt x="10143744" y="0"/>
                    </a:lnTo>
                    <a:lnTo>
                      <a:pt x="10143744" y="882801"/>
                    </a:lnTo>
                    <a:lnTo>
                      <a:pt x="0" y="882801"/>
                    </a:lnTo>
                    <a:close/>
                  </a:path>
                </a:pathLst>
              </a:custGeom>
              <a:blipFill>
                <a:blip r:embed="rId3">
                  <a:alphaModFix amt="0"/>
                </a:blip>
                <a:stretch>
                  <a:fillRect l="0" t="-163124" r="0" b="-184657"/>
                </a:stretch>
              </a:blipFill>
            </p:spPr>
          </p:sp>
          <p:sp>
            <p:nvSpPr>
              <p:cNvPr name="TextBox 74" id="74"/>
              <p:cNvSpPr txBox="true"/>
              <p:nvPr/>
            </p:nvSpPr>
            <p:spPr>
              <a:xfrm>
                <a:off x="0" y="-47625"/>
                <a:ext cx="10143744" cy="930426"/>
              </a:xfrm>
              <a:prstGeom prst="rect">
                <a:avLst/>
              </a:prstGeom>
            </p:spPr>
            <p:txBody>
              <a:bodyPr anchor="ctr" rtlCol="false" tIns="0" lIns="0" bIns="0" rIns="0"/>
              <a:lstStyle/>
              <a:p>
                <a:pPr algn="l">
                  <a:lnSpc>
                    <a:spcPts val="2520"/>
                  </a:lnSpc>
                </a:pPr>
                <a:r>
                  <a:rPr lang="en-US" sz="2100">
                    <a:solidFill>
                      <a:srgbClr val="364E64"/>
                    </a:solidFill>
                    <a:latin typeface="Calibri (MS)"/>
                    <a:ea typeface="Calibri (MS)"/>
                    <a:cs typeface="Calibri (MS)"/>
                    <a:sym typeface="Calibri (MS)"/>
                  </a:rPr>
                  <a:t>● R² = 0,13 → espèce et condition corporelle absentes du modèle</a:t>
                </a:r>
              </a:p>
            </p:txBody>
          </p:sp>
        </p:grpSp>
      </p:grpSp>
      <p:grpSp>
        <p:nvGrpSpPr>
          <p:cNvPr name="Group 75" id="75"/>
          <p:cNvGrpSpPr/>
          <p:nvPr/>
        </p:nvGrpSpPr>
        <p:grpSpPr>
          <a:xfrm rot="0">
            <a:off x="9497063" y="6424679"/>
            <a:ext cx="8255003" cy="3359401"/>
            <a:chOff x="0" y="0"/>
            <a:chExt cx="11006671" cy="4479201"/>
          </a:xfrm>
        </p:grpSpPr>
        <p:grpSp>
          <p:nvGrpSpPr>
            <p:cNvPr name="Group 76" id="76"/>
            <p:cNvGrpSpPr/>
            <p:nvPr/>
          </p:nvGrpSpPr>
          <p:grpSpPr>
            <a:xfrm rot="0">
              <a:off x="3378" y="2780"/>
              <a:ext cx="10999889" cy="4476421"/>
              <a:chOff x="0" y="0"/>
              <a:chExt cx="10999889" cy="4476421"/>
            </a:xfrm>
          </p:grpSpPr>
          <p:sp>
            <p:nvSpPr>
              <p:cNvPr name="Freeform 77" id="77"/>
              <p:cNvSpPr/>
              <p:nvPr/>
            </p:nvSpPr>
            <p:spPr>
              <a:xfrm flipH="false" flipV="false" rot="0">
                <a:off x="13589" y="11181"/>
                <a:ext cx="10972800" cy="4454028"/>
              </a:xfrm>
              <a:custGeom>
                <a:avLst/>
                <a:gdLst/>
                <a:ahLst/>
                <a:cxnLst/>
                <a:rect r="r" b="b" t="t" l="l"/>
                <a:pathLst>
                  <a:path h="4454028" w="10972800">
                    <a:moveTo>
                      <a:pt x="0" y="200637"/>
                    </a:moveTo>
                    <a:cubicBezTo>
                      <a:pt x="0" y="89764"/>
                      <a:pt x="109474" y="0"/>
                      <a:pt x="244475" y="0"/>
                    </a:cubicBezTo>
                    <a:lnTo>
                      <a:pt x="10728325" y="0"/>
                    </a:lnTo>
                    <a:cubicBezTo>
                      <a:pt x="10863326" y="0"/>
                      <a:pt x="10972800" y="89869"/>
                      <a:pt x="10972800" y="200637"/>
                    </a:cubicBezTo>
                    <a:lnTo>
                      <a:pt x="10972800" y="4253391"/>
                    </a:lnTo>
                    <a:cubicBezTo>
                      <a:pt x="10972800" y="4364264"/>
                      <a:pt x="10863326" y="4454028"/>
                      <a:pt x="10728325" y="4454028"/>
                    </a:cubicBezTo>
                    <a:lnTo>
                      <a:pt x="244475" y="4454028"/>
                    </a:lnTo>
                    <a:cubicBezTo>
                      <a:pt x="109474" y="4454028"/>
                      <a:pt x="0" y="4364159"/>
                      <a:pt x="0" y="4253391"/>
                    </a:cubicBezTo>
                    <a:close/>
                  </a:path>
                </a:pathLst>
              </a:custGeom>
              <a:solidFill>
                <a:srgbClr val="FFFFFF"/>
              </a:solidFill>
            </p:spPr>
          </p:sp>
          <p:sp>
            <p:nvSpPr>
              <p:cNvPr name="Freeform 78" id="78"/>
              <p:cNvSpPr/>
              <p:nvPr/>
            </p:nvSpPr>
            <p:spPr>
              <a:xfrm flipH="false" flipV="false" rot="0">
                <a:off x="0" y="0"/>
                <a:ext cx="10999978" cy="4476390"/>
              </a:xfrm>
              <a:custGeom>
                <a:avLst/>
                <a:gdLst/>
                <a:ahLst/>
                <a:cxnLst/>
                <a:rect r="r" b="b" t="t" l="l"/>
                <a:pathLst>
                  <a:path h="4476390" w="10999978">
                    <a:moveTo>
                      <a:pt x="0" y="211818"/>
                    </a:moveTo>
                    <a:cubicBezTo>
                      <a:pt x="0" y="94780"/>
                      <a:pt x="115570" y="0"/>
                      <a:pt x="258064" y="0"/>
                    </a:cubicBezTo>
                    <a:lnTo>
                      <a:pt x="10741914" y="0"/>
                    </a:lnTo>
                    <a:lnTo>
                      <a:pt x="10741914" y="11181"/>
                    </a:lnTo>
                    <a:lnTo>
                      <a:pt x="10741914" y="0"/>
                    </a:lnTo>
                    <a:cubicBezTo>
                      <a:pt x="10884408" y="0"/>
                      <a:pt x="10999978" y="94780"/>
                      <a:pt x="10999978" y="211818"/>
                    </a:cubicBezTo>
                    <a:lnTo>
                      <a:pt x="10986389" y="211818"/>
                    </a:lnTo>
                    <a:lnTo>
                      <a:pt x="10999978" y="211818"/>
                    </a:lnTo>
                    <a:lnTo>
                      <a:pt x="10999978" y="4264572"/>
                    </a:lnTo>
                    <a:lnTo>
                      <a:pt x="10986389" y="4264572"/>
                    </a:lnTo>
                    <a:lnTo>
                      <a:pt x="10999978" y="4264572"/>
                    </a:lnTo>
                    <a:cubicBezTo>
                      <a:pt x="10999978" y="4381610"/>
                      <a:pt x="10884408" y="4476390"/>
                      <a:pt x="10741914" y="4476390"/>
                    </a:cubicBezTo>
                    <a:lnTo>
                      <a:pt x="10741914" y="4465209"/>
                    </a:lnTo>
                    <a:lnTo>
                      <a:pt x="10741914" y="4476390"/>
                    </a:lnTo>
                    <a:lnTo>
                      <a:pt x="258064" y="4476390"/>
                    </a:lnTo>
                    <a:lnTo>
                      <a:pt x="258064" y="4465209"/>
                    </a:lnTo>
                    <a:lnTo>
                      <a:pt x="258064" y="4476390"/>
                    </a:lnTo>
                    <a:cubicBezTo>
                      <a:pt x="115570" y="4476390"/>
                      <a:pt x="0" y="4381610"/>
                      <a:pt x="0" y="4264572"/>
                    </a:cubicBezTo>
                    <a:lnTo>
                      <a:pt x="0" y="211818"/>
                    </a:lnTo>
                    <a:lnTo>
                      <a:pt x="13589" y="211818"/>
                    </a:lnTo>
                    <a:lnTo>
                      <a:pt x="0" y="211818"/>
                    </a:lnTo>
                    <a:moveTo>
                      <a:pt x="27051" y="211818"/>
                    </a:moveTo>
                    <a:lnTo>
                      <a:pt x="27051" y="4264572"/>
                    </a:lnTo>
                    <a:lnTo>
                      <a:pt x="13589" y="4264572"/>
                    </a:lnTo>
                    <a:lnTo>
                      <a:pt x="27051" y="4264572"/>
                    </a:lnTo>
                    <a:cubicBezTo>
                      <a:pt x="27051" y="4369175"/>
                      <a:pt x="130429" y="4454132"/>
                      <a:pt x="257937" y="4454132"/>
                    </a:cubicBezTo>
                    <a:lnTo>
                      <a:pt x="10741787" y="4454132"/>
                    </a:lnTo>
                    <a:cubicBezTo>
                      <a:pt x="10869422" y="4454132"/>
                      <a:pt x="10972673" y="4369279"/>
                      <a:pt x="10972673" y="4264572"/>
                    </a:cubicBezTo>
                    <a:lnTo>
                      <a:pt x="10972673" y="211818"/>
                    </a:lnTo>
                    <a:cubicBezTo>
                      <a:pt x="10972673" y="107215"/>
                      <a:pt x="10869295" y="22258"/>
                      <a:pt x="10741787" y="22258"/>
                    </a:cubicBezTo>
                    <a:lnTo>
                      <a:pt x="258064" y="22258"/>
                    </a:lnTo>
                    <a:lnTo>
                      <a:pt x="258064" y="11181"/>
                    </a:lnTo>
                    <a:lnTo>
                      <a:pt x="258064" y="22258"/>
                    </a:lnTo>
                    <a:cubicBezTo>
                      <a:pt x="130429" y="22258"/>
                      <a:pt x="27178" y="107111"/>
                      <a:pt x="27178" y="211818"/>
                    </a:cubicBezTo>
                    <a:close/>
                  </a:path>
                </a:pathLst>
              </a:custGeom>
              <a:solidFill>
                <a:srgbClr val="BDC8D5"/>
              </a:solidFill>
            </p:spPr>
          </p:sp>
        </p:grpSp>
        <p:grpSp>
          <p:nvGrpSpPr>
            <p:cNvPr name="Group 79" id="79"/>
            <p:cNvGrpSpPr/>
            <p:nvPr/>
          </p:nvGrpSpPr>
          <p:grpSpPr>
            <a:xfrm rot="0">
              <a:off x="0" y="0"/>
              <a:ext cx="11006671" cy="168315"/>
              <a:chOff x="0" y="0"/>
              <a:chExt cx="11006671" cy="168315"/>
            </a:xfrm>
          </p:grpSpPr>
          <p:sp>
            <p:nvSpPr>
              <p:cNvPr name="Freeform 80" id="80"/>
              <p:cNvSpPr/>
              <p:nvPr/>
            </p:nvSpPr>
            <p:spPr>
              <a:xfrm flipH="false" flipV="false" rot="0">
                <a:off x="16891" y="13898"/>
                <a:ext cx="10972800" cy="140446"/>
              </a:xfrm>
              <a:custGeom>
                <a:avLst/>
                <a:gdLst/>
                <a:ahLst/>
                <a:cxnLst/>
                <a:rect r="r" b="b" t="t" l="l"/>
                <a:pathLst>
                  <a:path h="140446" w="10972800">
                    <a:moveTo>
                      <a:pt x="0" y="0"/>
                    </a:moveTo>
                    <a:lnTo>
                      <a:pt x="10972800" y="0"/>
                    </a:lnTo>
                    <a:lnTo>
                      <a:pt x="10972800" y="140446"/>
                    </a:lnTo>
                    <a:lnTo>
                      <a:pt x="0" y="140446"/>
                    </a:lnTo>
                    <a:close/>
                  </a:path>
                </a:pathLst>
              </a:custGeom>
              <a:solidFill>
                <a:srgbClr val="C0614E"/>
              </a:solidFill>
            </p:spPr>
          </p:sp>
          <p:sp>
            <p:nvSpPr>
              <p:cNvPr name="Freeform 81" id="81"/>
              <p:cNvSpPr/>
              <p:nvPr/>
            </p:nvSpPr>
            <p:spPr>
              <a:xfrm flipH="false" flipV="false" rot="0">
                <a:off x="0" y="0"/>
                <a:ext cx="11006582" cy="168244"/>
              </a:xfrm>
              <a:custGeom>
                <a:avLst/>
                <a:gdLst/>
                <a:ahLst/>
                <a:cxnLst/>
                <a:rect r="r" b="b" t="t" l="l"/>
                <a:pathLst>
                  <a:path h="168244" w="11006582">
                    <a:moveTo>
                      <a:pt x="16891" y="0"/>
                    </a:moveTo>
                    <a:lnTo>
                      <a:pt x="10989691" y="0"/>
                    </a:lnTo>
                    <a:cubicBezTo>
                      <a:pt x="10999089" y="0"/>
                      <a:pt x="11006582" y="6270"/>
                      <a:pt x="11006582" y="13898"/>
                    </a:cubicBezTo>
                    <a:lnTo>
                      <a:pt x="11006582" y="154344"/>
                    </a:lnTo>
                    <a:cubicBezTo>
                      <a:pt x="11006582" y="162077"/>
                      <a:pt x="10998962" y="168242"/>
                      <a:pt x="10989691" y="168242"/>
                    </a:cubicBezTo>
                    <a:lnTo>
                      <a:pt x="16891" y="168242"/>
                    </a:lnTo>
                    <a:cubicBezTo>
                      <a:pt x="7620" y="168353"/>
                      <a:pt x="0" y="162077"/>
                      <a:pt x="0" y="154344"/>
                    </a:cubicBezTo>
                    <a:lnTo>
                      <a:pt x="0" y="13898"/>
                    </a:lnTo>
                    <a:cubicBezTo>
                      <a:pt x="0" y="6270"/>
                      <a:pt x="7620" y="0"/>
                      <a:pt x="16891" y="0"/>
                    </a:cubicBezTo>
                    <a:moveTo>
                      <a:pt x="16891" y="27901"/>
                    </a:moveTo>
                    <a:lnTo>
                      <a:pt x="16891" y="13898"/>
                    </a:lnTo>
                    <a:lnTo>
                      <a:pt x="33909" y="13898"/>
                    </a:lnTo>
                    <a:lnTo>
                      <a:pt x="33909" y="154344"/>
                    </a:lnTo>
                    <a:lnTo>
                      <a:pt x="16891" y="154344"/>
                    </a:lnTo>
                    <a:lnTo>
                      <a:pt x="16891" y="140446"/>
                    </a:lnTo>
                    <a:lnTo>
                      <a:pt x="10989691" y="140446"/>
                    </a:lnTo>
                    <a:lnTo>
                      <a:pt x="10989691" y="154344"/>
                    </a:lnTo>
                    <a:lnTo>
                      <a:pt x="10972800" y="154344"/>
                    </a:lnTo>
                    <a:lnTo>
                      <a:pt x="10972800" y="13898"/>
                    </a:lnTo>
                    <a:lnTo>
                      <a:pt x="10989691" y="13898"/>
                    </a:lnTo>
                    <a:lnTo>
                      <a:pt x="10989691" y="27901"/>
                    </a:lnTo>
                    <a:lnTo>
                      <a:pt x="16891" y="27901"/>
                    </a:lnTo>
                    <a:close/>
                  </a:path>
                </a:pathLst>
              </a:custGeom>
              <a:solidFill>
                <a:srgbClr val="C0614E"/>
              </a:solidFill>
            </p:spPr>
          </p:sp>
        </p:grpSp>
        <p:grpSp>
          <p:nvGrpSpPr>
            <p:cNvPr name="Group 82" id="82"/>
            <p:cNvGrpSpPr/>
            <p:nvPr/>
          </p:nvGrpSpPr>
          <p:grpSpPr>
            <a:xfrm rot="0">
              <a:off x="382689" y="0"/>
              <a:ext cx="1365504" cy="1178223"/>
              <a:chOff x="0" y="0"/>
              <a:chExt cx="1365504" cy="1178223"/>
            </a:xfrm>
          </p:grpSpPr>
          <p:sp>
            <p:nvSpPr>
              <p:cNvPr name="Freeform 83" id="83"/>
              <p:cNvSpPr/>
              <p:nvPr/>
            </p:nvSpPr>
            <p:spPr>
              <a:xfrm flipH="false" flipV="false" rot="0">
                <a:off x="0" y="0"/>
                <a:ext cx="1365504" cy="1178223"/>
              </a:xfrm>
              <a:custGeom>
                <a:avLst/>
                <a:gdLst/>
                <a:ahLst/>
                <a:cxnLst/>
                <a:rect r="r" b="b" t="t" l="l"/>
                <a:pathLst>
                  <a:path h="1178223" w="1365504">
                    <a:moveTo>
                      <a:pt x="0" y="0"/>
                    </a:moveTo>
                    <a:lnTo>
                      <a:pt x="1365504" y="0"/>
                    </a:lnTo>
                    <a:lnTo>
                      <a:pt x="1365504" y="1178223"/>
                    </a:lnTo>
                    <a:lnTo>
                      <a:pt x="0" y="1178223"/>
                    </a:lnTo>
                    <a:close/>
                  </a:path>
                </a:pathLst>
              </a:custGeom>
              <a:blipFill>
                <a:blip r:embed="rId3">
                  <a:alphaModFix amt="0"/>
                </a:blip>
                <a:stretch>
                  <a:fillRect l="-46227" t="0" r="-46227" b="13078"/>
                </a:stretch>
              </a:blipFill>
            </p:spPr>
          </p:sp>
          <p:sp>
            <p:nvSpPr>
              <p:cNvPr name="TextBox 84" id="84"/>
              <p:cNvSpPr txBox="true"/>
              <p:nvPr/>
            </p:nvSpPr>
            <p:spPr>
              <a:xfrm>
                <a:off x="0" y="-76200"/>
                <a:ext cx="1365504" cy="1254423"/>
              </a:xfrm>
              <a:prstGeom prst="rect">
                <a:avLst/>
              </a:prstGeom>
            </p:spPr>
            <p:txBody>
              <a:bodyPr anchor="ctr" rtlCol="false" tIns="0" lIns="0" bIns="0" rIns="0"/>
              <a:lstStyle/>
              <a:p>
                <a:pPr algn="l">
                  <a:lnSpc>
                    <a:spcPts val="5280"/>
                  </a:lnSpc>
                </a:pPr>
                <a:r>
                  <a:rPr lang="en-US" sz="4400" b="true">
                    <a:solidFill>
                      <a:srgbClr val="C0614E"/>
                    </a:solidFill>
                    <a:latin typeface="Calibri (MS) Bold"/>
                    <a:ea typeface="Calibri (MS) Bold"/>
                    <a:cs typeface="Calibri (MS) Bold"/>
                    <a:sym typeface="Calibri (MS) Bold"/>
                  </a:rPr>
                  <a:t>04</a:t>
                </a:r>
              </a:p>
            </p:txBody>
          </p:sp>
        </p:grpSp>
        <p:grpSp>
          <p:nvGrpSpPr>
            <p:cNvPr name="Group 85" id="85"/>
            <p:cNvGrpSpPr/>
            <p:nvPr/>
          </p:nvGrpSpPr>
          <p:grpSpPr>
            <a:xfrm rot="0">
              <a:off x="1796961" y="290570"/>
              <a:ext cx="8778240" cy="806797"/>
              <a:chOff x="0" y="0"/>
              <a:chExt cx="8778240" cy="806797"/>
            </a:xfrm>
          </p:grpSpPr>
          <p:sp>
            <p:nvSpPr>
              <p:cNvPr name="Freeform 86" id="86"/>
              <p:cNvSpPr/>
              <p:nvPr/>
            </p:nvSpPr>
            <p:spPr>
              <a:xfrm flipH="false" flipV="false" rot="0">
                <a:off x="0" y="0"/>
                <a:ext cx="8778240" cy="806797"/>
              </a:xfrm>
              <a:custGeom>
                <a:avLst/>
                <a:gdLst/>
                <a:ahLst/>
                <a:cxnLst/>
                <a:rect r="r" b="b" t="t" l="l"/>
                <a:pathLst>
                  <a:path h="806797" w="8778240">
                    <a:moveTo>
                      <a:pt x="0" y="0"/>
                    </a:moveTo>
                    <a:lnTo>
                      <a:pt x="8778240" y="0"/>
                    </a:lnTo>
                    <a:lnTo>
                      <a:pt x="8778240" y="806797"/>
                    </a:lnTo>
                    <a:lnTo>
                      <a:pt x="0" y="806797"/>
                    </a:lnTo>
                    <a:close/>
                  </a:path>
                </a:pathLst>
              </a:custGeom>
              <a:blipFill>
                <a:blip r:embed="rId3">
                  <a:alphaModFix amt="0"/>
                </a:blip>
                <a:stretch>
                  <a:fillRect l="0" t="-154580" r="0" b="-169428"/>
                </a:stretch>
              </a:blipFill>
            </p:spPr>
          </p:sp>
          <p:sp>
            <p:nvSpPr>
              <p:cNvPr name="TextBox 87" id="87"/>
              <p:cNvSpPr txBox="true"/>
              <p:nvPr/>
            </p:nvSpPr>
            <p:spPr>
              <a:xfrm>
                <a:off x="0" y="-66675"/>
                <a:ext cx="8778240" cy="873472"/>
              </a:xfrm>
              <a:prstGeom prst="rect">
                <a:avLst/>
              </a:prstGeom>
            </p:spPr>
            <p:txBody>
              <a:bodyPr anchor="ctr" rtlCol="false" tIns="0" lIns="0" bIns="0" rIns="0"/>
              <a:lstStyle/>
              <a:p>
                <a:pPr algn="l">
                  <a:lnSpc>
                    <a:spcPts val="3600"/>
                  </a:lnSpc>
                </a:pPr>
                <a:r>
                  <a:rPr lang="en-US" sz="3000" b="true">
                    <a:solidFill>
                      <a:srgbClr val="1C2E40"/>
                    </a:solidFill>
                    <a:latin typeface="Calibri (MS) Bold"/>
                    <a:ea typeface="Calibri (MS) Bold"/>
                    <a:cs typeface="Calibri (MS) Bold"/>
                    <a:sym typeface="Calibri (MS) Bold"/>
                  </a:rPr>
                  <a:t>Émigration</a:t>
                </a:r>
              </a:p>
            </p:txBody>
          </p:sp>
        </p:grpSp>
        <p:grpSp>
          <p:nvGrpSpPr>
            <p:cNvPr name="Group 88" id="88"/>
            <p:cNvGrpSpPr/>
            <p:nvPr/>
          </p:nvGrpSpPr>
          <p:grpSpPr>
            <a:xfrm rot="0">
              <a:off x="504609" y="1318067"/>
              <a:ext cx="10143744" cy="882801"/>
              <a:chOff x="0" y="0"/>
              <a:chExt cx="10143744" cy="882801"/>
            </a:xfrm>
          </p:grpSpPr>
          <p:sp>
            <p:nvSpPr>
              <p:cNvPr name="Freeform 89" id="89"/>
              <p:cNvSpPr/>
              <p:nvPr/>
            </p:nvSpPr>
            <p:spPr>
              <a:xfrm flipH="false" flipV="false" rot="0">
                <a:off x="0" y="0"/>
                <a:ext cx="10143744" cy="882801"/>
              </a:xfrm>
              <a:custGeom>
                <a:avLst/>
                <a:gdLst/>
                <a:ahLst/>
                <a:cxnLst/>
                <a:rect r="r" b="b" t="t" l="l"/>
                <a:pathLst>
                  <a:path h="882801" w="10143744">
                    <a:moveTo>
                      <a:pt x="0" y="0"/>
                    </a:moveTo>
                    <a:lnTo>
                      <a:pt x="10143744" y="0"/>
                    </a:lnTo>
                    <a:lnTo>
                      <a:pt x="10143744" y="882801"/>
                    </a:lnTo>
                    <a:lnTo>
                      <a:pt x="0" y="882801"/>
                    </a:lnTo>
                    <a:close/>
                  </a:path>
                </a:pathLst>
              </a:custGeom>
              <a:blipFill>
                <a:blip r:embed="rId3">
                  <a:alphaModFix amt="0"/>
                </a:blip>
                <a:stretch>
                  <a:fillRect l="0" t="-163124" r="0" b="-184657"/>
                </a:stretch>
              </a:blipFill>
            </p:spPr>
          </p:sp>
          <p:sp>
            <p:nvSpPr>
              <p:cNvPr name="TextBox 90" id="90"/>
              <p:cNvSpPr txBox="true"/>
              <p:nvPr/>
            </p:nvSpPr>
            <p:spPr>
              <a:xfrm>
                <a:off x="0" y="-47625"/>
                <a:ext cx="10143744" cy="930426"/>
              </a:xfrm>
              <a:prstGeom prst="rect">
                <a:avLst/>
              </a:prstGeom>
            </p:spPr>
            <p:txBody>
              <a:bodyPr anchor="ctr" rtlCol="false" tIns="0" lIns="0" bIns="0" rIns="0"/>
              <a:lstStyle/>
              <a:p>
                <a:pPr algn="l">
                  <a:lnSpc>
                    <a:spcPts val="2520"/>
                  </a:lnSpc>
                </a:pPr>
                <a:r>
                  <a:rPr lang="en-US" sz="2100">
                    <a:solidFill>
                      <a:srgbClr val="364E64"/>
                    </a:solidFill>
                    <a:latin typeface="Calibri (MS)"/>
                    <a:ea typeface="Calibri (MS)"/>
                    <a:cs typeface="Calibri (MS)"/>
                    <a:sym typeface="Calibri (MS)"/>
                  </a:rPr>
                  <a:t>● 338 migrants, majorité reste dans le pays ou au Sahel</a:t>
                </a:r>
              </a:p>
            </p:txBody>
          </p:sp>
        </p:grpSp>
        <p:grpSp>
          <p:nvGrpSpPr>
            <p:cNvPr name="Group 91" id="91"/>
            <p:cNvGrpSpPr/>
            <p:nvPr/>
          </p:nvGrpSpPr>
          <p:grpSpPr>
            <a:xfrm rot="0">
              <a:off x="504609" y="2281123"/>
              <a:ext cx="10143744" cy="882801"/>
              <a:chOff x="0" y="0"/>
              <a:chExt cx="10143744" cy="882801"/>
            </a:xfrm>
          </p:grpSpPr>
          <p:sp>
            <p:nvSpPr>
              <p:cNvPr name="Freeform 92" id="92"/>
              <p:cNvSpPr/>
              <p:nvPr/>
            </p:nvSpPr>
            <p:spPr>
              <a:xfrm flipH="false" flipV="false" rot="0">
                <a:off x="0" y="0"/>
                <a:ext cx="10143744" cy="882801"/>
              </a:xfrm>
              <a:custGeom>
                <a:avLst/>
                <a:gdLst/>
                <a:ahLst/>
                <a:cxnLst/>
                <a:rect r="r" b="b" t="t" l="l"/>
                <a:pathLst>
                  <a:path h="882801" w="10143744">
                    <a:moveTo>
                      <a:pt x="0" y="0"/>
                    </a:moveTo>
                    <a:lnTo>
                      <a:pt x="10143744" y="0"/>
                    </a:lnTo>
                    <a:lnTo>
                      <a:pt x="10143744" y="882801"/>
                    </a:lnTo>
                    <a:lnTo>
                      <a:pt x="0" y="882801"/>
                    </a:lnTo>
                    <a:close/>
                  </a:path>
                </a:pathLst>
              </a:custGeom>
              <a:blipFill>
                <a:blip r:embed="rId3">
                  <a:alphaModFix amt="0"/>
                </a:blip>
                <a:stretch>
                  <a:fillRect l="0" t="-163124" r="0" b="-184657"/>
                </a:stretch>
              </a:blipFill>
            </p:spPr>
          </p:sp>
          <p:sp>
            <p:nvSpPr>
              <p:cNvPr name="TextBox 93" id="93"/>
              <p:cNvSpPr txBox="true"/>
              <p:nvPr/>
            </p:nvSpPr>
            <p:spPr>
              <a:xfrm>
                <a:off x="0" y="-47625"/>
                <a:ext cx="10143744" cy="930426"/>
              </a:xfrm>
              <a:prstGeom prst="rect">
                <a:avLst/>
              </a:prstGeom>
            </p:spPr>
            <p:txBody>
              <a:bodyPr anchor="ctr" rtlCol="false" tIns="0" lIns="0" bIns="0" rIns="0"/>
              <a:lstStyle/>
              <a:p>
                <a:pPr algn="l">
                  <a:lnSpc>
                    <a:spcPts val="2520"/>
                  </a:lnSpc>
                </a:pPr>
                <a:r>
                  <a:rPr lang="en-US" sz="2100">
                    <a:solidFill>
                      <a:srgbClr val="364E64"/>
                    </a:solidFill>
                    <a:latin typeface="Calibri (MS)"/>
                    <a:ea typeface="Calibri (MS)"/>
                    <a:cs typeface="Calibri (MS)"/>
                    <a:sym typeface="Calibri (MS)"/>
                  </a:rPr>
                  <a:t>● Niger et Mauritanie : intensité la plus forte (&gt;7,9 %)</a:t>
                </a:r>
              </a:p>
            </p:txBody>
          </p:sp>
        </p:grpSp>
        <p:grpSp>
          <p:nvGrpSpPr>
            <p:cNvPr name="Group 94" id="94"/>
            <p:cNvGrpSpPr/>
            <p:nvPr/>
          </p:nvGrpSpPr>
          <p:grpSpPr>
            <a:xfrm rot="0">
              <a:off x="504609" y="3244178"/>
              <a:ext cx="10143744" cy="882801"/>
              <a:chOff x="0" y="0"/>
              <a:chExt cx="10143744" cy="882801"/>
            </a:xfrm>
          </p:grpSpPr>
          <p:sp>
            <p:nvSpPr>
              <p:cNvPr name="Freeform 95" id="95"/>
              <p:cNvSpPr/>
              <p:nvPr/>
            </p:nvSpPr>
            <p:spPr>
              <a:xfrm flipH="false" flipV="false" rot="0">
                <a:off x="0" y="0"/>
                <a:ext cx="10143744" cy="882801"/>
              </a:xfrm>
              <a:custGeom>
                <a:avLst/>
                <a:gdLst/>
                <a:ahLst/>
                <a:cxnLst/>
                <a:rect r="r" b="b" t="t" l="l"/>
                <a:pathLst>
                  <a:path h="882801" w="10143744">
                    <a:moveTo>
                      <a:pt x="0" y="0"/>
                    </a:moveTo>
                    <a:lnTo>
                      <a:pt x="10143744" y="0"/>
                    </a:lnTo>
                    <a:lnTo>
                      <a:pt x="10143744" y="882801"/>
                    </a:lnTo>
                    <a:lnTo>
                      <a:pt x="0" y="882801"/>
                    </a:lnTo>
                    <a:close/>
                  </a:path>
                </a:pathLst>
              </a:custGeom>
              <a:blipFill>
                <a:blip r:embed="rId3">
                  <a:alphaModFix amt="0"/>
                </a:blip>
                <a:stretch>
                  <a:fillRect l="0" t="-163124" r="0" b="-184657"/>
                </a:stretch>
              </a:blipFill>
            </p:spPr>
          </p:sp>
          <p:sp>
            <p:nvSpPr>
              <p:cNvPr name="TextBox 96" id="96"/>
              <p:cNvSpPr txBox="true"/>
              <p:nvPr/>
            </p:nvSpPr>
            <p:spPr>
              <a:xfrm>
                <a:off x="0" y="-47625"/>
                <a:ext cx="10143744" cy="930426"/>
              </a:xfrm>
              <a:prstGeom prst="rect">
                <a:avLst/>
              </a:prstGeom>
            </p:spPr>
            <p:txBody>
              <a:bodyPr anchor="ctr" rtlCol="false" tIns="0" lIns="0" bIns="0" rIns="0"/>
              <a:lstStyle/>
              <a:p>
                <a:pPr algn="l">
                  <a:lnSpc>
                    <a:spcPts val="2520"/>
                  </a:lnSpc>
                </a:pPr>
                <a:r>
                  <a:rPr lang="en-US" sz="2100">
                    <a:solidFill>
                      <a:srgbClr val="364E64"/>
                    </a:solidFill>
                    <a:latin typeface="Calibri (MS)"/>
                    <a:ea typeface="Calibri (MS)"/>
                    <a:cs typeface="Calibri (MS)"/>
                    <a:sym typeface="Calibri (MS)"/>
                  </a:rPr>
                  <a:t>● r(intensité, viabilité) = 0,19, relation statistiquement significative</a:t>
                </a:r>
              </a:p>
            </p:txBody>
          </p:sp>
        </p:gr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3A7D5C"/>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3A7D5C"/>
            </a:solidFill>
          </p:spPr>
        </p:sp>
      </p:grpSp>
      <p:grpSp>
        <p:nvGrpSpPr>
          <p:cNvPr name="Group 5" id="5"/>
          <p:cNvGrpSpPr/>
          <p:nvPr/>
        </p:nvGrpSpPr>
        <p:grpSpPr>
          <a:xfrm rot="0">
            <a:off x="822960" y="402336"/>
            <a:ext cx="16642080" cy="1118845"/>
            <a:chOff x="0" y="0"/>
            <a:chExt cx="22189440" cy="1491793"/>
          </a:xfrm>
        </p:grpSpPr>
        <p:sp>
          <p:nvSpPr>
            <p:cNvPr name="Freeform 6" id="6"/>
            <p:cNvSpPr/>
            <p:nvPr/>
          </p:nvSpPr>
          <p:spPr>
            <a:xfrm flipH="false" flipV="false" rot="0">
              <a:off x="0" y="0"/>
              <a:ext cx="22189439" cy="1491793"/>
            </a:xfrm>
            <a:custGeom>
              <a:avLst/>
              <a:gdLst/>
              <a:ahLst/>
              <a:cxnLst/>
              <a:rect r="r" b="b" t="t" l="l"/>
              <a:pathLst>
                <a:path h="1491793" w="22189439">
                  <a:moveTo>
                    <a:pt x="0" y="0"/>
                  </a:moveTo>
                  <a:lnTo>
                    <a:pt x="22189439" y="0"/>
                  </a:lnTo>
                  <a:lnTo>
                    <a:pt x="22189439" y="1491793"/>
                  </a:lnTo>
                  <a:lnTo>
                    <a:pt x="0" y="1491793"/>
                  </a:lnTo>
                  <a:close/>
                </a:path>
              </a:pathLst>
            </a:custGeom>
            <a:blipFill>
              <a:blip r:embed="rId3">
                <a:alphaModFix amt="0"/>
              </a:blip>
              <a:stretch>
                <a:fillRect l="0" t="-244877" r="0" b="-234777"/>
              </a:stretch>
            </a:blipFill>
          </p:spPr>
        </p:sp>
        <p:sp>
          <p:nvSpPr>
            <p:cNvPr name="TextBox 7" id="7"/>
            <p:cNvSpPr txBox="true"/>
            <p:nvPr/>
          </p:nvSpPr>
          <p:spPr>
            <a:xfrm>
              <a:off x="0" y="9525"/>
              <a:ext cx="22189440" cy="1482268"/>
            </a:xfrm>
            <a:prstGeom prst="rect">
              <a:avLst/>
            </a:prstGeom>
          </p:spPr>
          <p:txBody>
            <a:bodyPr anchor="ctr" rtlCol="false" tIns="0" lIns="0" bIns="0" rIns="0"/>
            <a:lstStyle/>
            <a:p>
              <a:pPr algn="l">
                <a:lnSpc>
                  <a:spcPts val="6480"/>
                </a:lnSpc>
              </a:pPr>
              <a:r>
                <a:rPr lang="en-US" sz="5400" b="true">
                  <a:solidFill>
                    <a:srgbClr val="1C2E40"/>
                  </a:solidFill>
                  <a:latin typeface="EB Garamond Semi-Bold"/>
                  <a:ea typeface="EB Garamond Semi-Bold"/>
                  <a:cs typeface="EB Garamond Semi-Bold"/>
                  <a:sym typeface="EB Garamond Semi-Bold"/>
                </a:rPr>
                <a:t>Ce que l'IA a bien fait</a:t>
              </a:r>
            </a:p>
          </p:txBody>
        </p:sp>
      </p:grpSp>
      <p:grpSp>
        <p:nvGrpSpPr>
          <p:cNvPr name="Group 8" id="8"/>
          <p:cNvGrpSpPr/>
          <p:nvPr/>
        </p:nvGrpSpPr>
        <p:grpSpPr>
          <a:xfrm rot="0">
            <a:off x="822960" y="1426464"/>
            <a:ext cx="16642080" cy="512064"/>
            <a:chOff x="0" y="0"/>
            <a:chExt cx="22189440" cy="682752"/>
          </a:xfrm>
        </p:grpSpPr>
        <p:sp>
          <p:nvSpPr>
            <p:cNvPr name="Freeform 9" id="9"/>
            <p:cNvSpPr/>
            <p:nvPr/>
          </p:nvSpPr>
          <p:spPr>
            <a:xfrm flipH="false" flipV="false" rot="0">
              <a:off x="0" y="0"/>
              <a:ext cx="22189439" cy="682752"/>
            </a:xfrm>
            <a:custGeom>
              <a:avLst/>
              <a:gdLst/>
              <a:ahLst/>
              <a:cxnLst/>
              <a:rect r="r" b="b" t="t" l="l"/>
              <a:pathLst>
                <a:path h="682752" w="22189439">
                  <a:moveTo>
                    <a:pt x="0" y="0"/>
                  </a:moveTo>
                  <a:lnTo>
                    <a:pt x="22189439" y="0"/>
                  </a:lnTo>
                  <a:lnTo>
                    <a:pt x="22189439" y="682752"/>
                  </a:lnTo>
                  <a:lnTo>
                    <a:pt x="0" y="682752"/>
                  </a:lnTo>
                  <a:close/>
                </a:path>
              </a:pathLst>
            </a:custGeom>
            <a:blipFill>
              <a:blip r:embed="rId3">
                <a:alphaModFix amt="0"/>
              </a:blip>
              <a:stretch>
                <a:fillRect l="0" t="-583263" r="0" b="-583263"/>
              </a:stretch>
            </a:blipFill>
          </p:spPr>
        </p:sp>
        <p:sp>
          <p:nvSpPr>
            <p:cNvPr name="TextBox 10" id="10"/>
            <p:cNvSpPr txBox="true"/>
            <p:nvPr/>
          </p:nvSpPr>
          <p:spPr>
            <a:xfrm>
              <a:off x="0" y="9525"/>
              <a:ext cx="22189440" cy="673227"/>
            </a:xfrm>
            <a:prstGeom prst="rect">
              <a:avLst/>
            </a:prstGeom>
          </p:spPr>
          <p:txBody>
            <a:bodyPr anchor="ctr" rtlCol="false" tIns="0" lIns="0" bIns="0" rIns="0"/>
            <a:lstStyle/>
            <a:p>
              <a:pPr algn="l">
                <a:lnSpc>
                  <a:spcPts val="2879"/>
                </a:lnSpc>
              </a:pPr>
              <a:r>
                <a:rPr lang="en-US" sz="2400" i="true">
                  <a:solidFill>
                    <a:srgbClr val="7B8FA1"/>
                  </a:solidFill>
                  <a:latin typeface="EB Garamond Italics"/>
                  <a:ea typeface="EB Garamond Italics"/>
                  <a:cs typeface="EB Garamond Italics"/>
                  <a:sym typeface="EB Garamond Italics"/>
                </a:rPr>
                <a:t>Forces identifiées tout au long du projet — Source : journal de prompts</a:t>
              </a:r>
            </a:p>
          </p:txBody>
        </p:sp>
      </p:grpSp>
      <p:grpSp>
        <p:nvGrpSpPr>
          <p:cNvPr name="Group 11" id="11"/>
          <p:cNvGrpSpPr/>
          <p:nvPr/>
        </p:nvGrpSpPr>
        <p:grpSpPr>
          <a:xfrm rot="0">
            <a:off x="629917" y="2001517"/>
            <a:ext cx="8249917" cy="4007101"/>
            <a:chOff x="0" y="0"/>
            <a:chExt cx="10999889" cy="5342801"/>
          </a:xfrm>
        </p:grpSpPr>
        <p:sp>
          <p:nvSpPr>
            <p:cNvPr name="Freeform 12" id="12"/>
            <p:cNvSpPr/>
            <p:nvPr/>
          </p:nvSpPr>
          <p:spPr>
            <a:xfrm flipH="false" flipV="false" rot="0">
              <a:off x="13589" y="13589"/>
              <a:ext cx="10972800" cy="5315712"/>
            </a:xfrm>
            <a:custGeom>
              <a:avLst/>
              <a:gdLst/>
              <a:ahLst/>
              <a:cxnLst/>
              <a:rect r="r" b="b" t="t" l="l"/>
              <a:pathLst>
                <a:path h="5315712" w="10972800">
                  <a:moveTo>
                    <a:pt x="0" y="243840"/>
                  </a:moveTo>
                  <a:cubicBezTo>
                    <a:pt x="0" y="109220"/>
                    <a:pt x="109474" y="0"/>
                    <a:pt x="244475" y="0"/>
                  </a:cubicBezTo>
                  <a:lnTo>
                    <a:pt x="10728325" y="0"/>
                  </a:lnTo>
                  <a:cubicBezTo>
                    <a:pt x="10863326" y="0"/>
                    <a:pt x="10972800" y="109220"/>
                    <a:pt x="10972800" y="243840"/>
                  </a:cubicBezTo>
                  <a:lnTo>
                    <a:pt x="10972800" y="5071872"/>
                  </a:lnTo>
                  <a:cubicBezTo>
                    <a:pt x="10972800" y="5206492"/>
                    <a:pt x="10863326" y="5315712"/>
                    <a:pt x="10728325" y="5315712"/>
                  </a:cubicBezTo>
                  <a:lnTo>
                    <a:pt x="244475" y="5315712"/>
                  </a:lnTo>
                  <a:cubicBezTo>
                    <a:pt x="109474" y="5315712"/>
                    <a:pt x="0" y="5206492"/>
                    <a:pt x="0" y="5071872"/>
                  </a:cubicBezTo>
                  <a:close/>
                </a:path>
              </a:pathLst>
            </a:custGeom>
            <a:solidFill>
              <a:srgbClr val="FFFFFF"/>
            </a:solidFill>
          </p:spPr>
        </p:sp>
        <p:sp>
          <p:nvSpPr>
            <p:cNvPr name="Freeform 13" id="13"/>
            <p:cNvSpPr/>
            <p:nvPr/>
          </p:nvSpPr>
          <p:spPr>
            <a:xfrm flipH="false" flipV="false" rot="0">
              <a:off x="0" y="0"/>
              <a:ext cx="10999978" cy="5342890"/>
            </a:xfrm>
            <a:custGeom>
              <a:avLst/>
              <a:gdLst/>
              <a:ahLst/>
              <a:cxnLst/>
              <a:rect r="r" b="b" t="t" l="l"/>
              <a:pathLst>
                <a:path h="5342890" w="10999978">
                  <a:moveTo>
                    <a:pt x="0" y="257429"/>
                  </a:moveTo>
                  <a:cubicBezTo>
                    <a:pt x="0" y="115189"/>
                    <a:pt x="115570" y="0"/>
                    <a:pt x="258064" y="0"/>
                  </a:cubicBezTo>
                  <a:lnTo>
                    <a:pt x="10741914" y="0"/>
                  </a:lnTo>
                  <a:lnTo>
                    <a:pt x="10741914" y="13589"/>
                  </a:lnTo>
                  <a:lnTo>
                    <a:pt x="10741914" y="0"/>
                  </a:lnTo>
                  <a:cubicBezTo>
                    <a:pt x="10884408" y="0"/>
                    <a:pt x="10999978" y="115189"/>
                    <a:pt x="10999978" y="257429"/>
                  </a:cubicBezTo>
                  <a:lnTo>
                    <a:pt x="10986389" y="257429"/>
                  </a:lnTo>
                  <a:lnTo>
                    <a:pt x="10999978" y="257429"/>
                  </a:lnTo>
                  <a:lnTo>
                    <a:pt x="10999978" y="5085461"/>
                  </a:lnTo>
                  <a:lnTo>
                    <a:pt x="10986389" y="5085461"/>
                  </a:lnTo>
                  <a:lnTo>
                    <a:pt x="10999978" y="5085461"/>
                  </a:lnTo>
                  <a:cubicBezTo>
                    <a:pt x="10999978" y="5227701"/>
                    <a:pt x="10884408" y="5342890"/>
                    <a:pt x="10741914" y="5342890"/>
                  </a:cubicBezTo>
                  <a:lnTo>
                    <a:pt x="10741914" y="5329301"/>
                  </a:lnTo>
                  <a:lnTo>
                    <a:pt x="10741914" y="5342890"/>
                  </a:lnTo>
                  <a:lnTo>
                    <a:pt x="258064" y="5342890"/>
                  </a:lnTo>
                  <a:lnTo>
                    <a:pt x="258064" y="5329301"/>
                  </a:lnTo>
                  <a:lnTo>
                    <a:pt x="258064" y="5342890"/>
                  </a:lnTo>
                  <a:cubicBezTo>
                    <a:pt x="115570" y="5342763"/>
                    <a:pt x="0" y="5227574"/>
                    <a:pt x="0" y="5085461"/>
                  </a:cubicBezTo>
                  <a:lnTo>
                    <a:pt x="0" y="257429"/>
                  </a:lnTo>
                  <a:lnTo>
                    <a:pt x="13589" y="257429"/>
                  </a:lnTo>
                  <a:lnTo>
                    <a:pt x="0" y="257429"/>
                  </a:lnTo>
                  <a:moveTo>
                    <a:pt x="27051" y="257429"/>
                  </a:moveTo>
                  <a:lnTo>
                    <a:pt x="27051" y="5085461"/>
                  </a:lnTo>
                  <a:lnTo>
                    <a:pt x="13589" y="5085461"/>
                  </a:lnTo>
                  <a:lnTo>
                    <a:pt x="27051" y="5085461"/>
                  </a:lnTo>
                  <a:cubicBezTo>
                    <a:pt x="27051" y="5212588"/>
                    <a:pt x="130429" y="5315712"/>
                    <a:pt x="257937" y="5315712"/>
                  </a:cubicBezTo>
                  <a:lnTo>
                    <a:pt x="10741787" y="5315712"/>
                  </a:lnTo>
                  <a:cubicBezTo>
                    <a:pt x="10869295" y="5315712"/>
                    <a:pt x="10972673" y="5212588"/>
                    <a:pt x="10972673" y="5085461"/>
                  </a:cubicBezTo>
                  <a:lnTo>
                    <a:pt x="10972673" y="257429"/>
                  </a:lnTo>
                  <a:cubicBezTo>
                    <a:pt x="10972673" y="130302"/>
                    <a:pt x="10869295" y="27178"/>
                    <a:pt x="10741787" y="27178"/>
                  </a:cubicBezTo>
                  <a:lnTo>
                    <a:pt x="258064" y="27178"/>
                  </a:lnTo>
                  <a:lnTo>
                    <a:pt x="258064" y="13589"/>
                  </a:lnTo>
                  <a:lnTo>
                    <a:pt x="258064" y="27051"/>
                  </a:lnTo>
                  <a:cubicBezTo>
                    <a:pt x="130556" y="27051"/>
                    <a:pt x="27178" y="130175"/>
                    <a:pt x="27178" y="257302"/>
                  </a:cubicBezTo>
                  <a:close/>
                </a:path>
              </a:pathLst>
            </a:custGeom>
            <a:solidFill>
              <a:srgbClr val="BDC8D5"/>
            </a:solidFill>
          </p:spPr>
        </p:sp>
      </p:grpSp>
      <p:grpSp>
        <p:nvGrpSpPr>
          <p:cNvPr name="Group 14" id="14"/>
          <p:cNvGrpSpPr/>
          <p:nvPr/>
        </p:nvGrpSpPr>
        <p:grpSpPr>
          <a:xfrm rot="0">
            <a:off x="627383" y="1998983"/>
            <a:ext cx="153419" cy="4012187"/>
            <a:chOff x="0" y="0"/>
            <a:chExt cx="204559" cy="5349583"/>
          </a:xfrm>
        </p:grpSpPr>
        <p:sp>
          <p:nvSpPr>
            <p:cNvPr name="Freeform 15" id="15"/>
            <p:cNvSpPr/>
            <p:nvPr/>
          </p:nvSpPr>
          <p:spPr>
            <a:xfrm flipH="false" flipV="false" rot="0">
              <a:off x="16891" y="16891"/>
              <a:ext cx="170688" cy="5315712"/>
            </a:xfrm>
            <a:custGeom>
              <a:avLst/>
              <a:gdLst/>
              <a:ahLst/>
              <a:cxnLst/>
              <a:rect r="r" b="b" t="t" l="l"/>
              <a:pathLst>
                <a:path h="5315712" w="170688">
                  <a:moveTo>
                    <a:pt x="0" y="0"/>
                  </a:moveTo>
                  <a:lnTo>
                    <a:pt x="170688" y="0"/>
                  </a:lnTo>
                  <a:lnTo>
                    <a:pt x="170688" y="5315712"/>
                  </a:lnTo>
                  <a:lnTo>
                    <a:pt x="0" y="5315712"/>
                  </a:lnTo>
                  <a:close/>
                </a:path>
              </a:pathLst>
            </a:custGeom>
            <a:solidFill>
              <a:srgbClr val="2C4A6E"/>
            </a:solidFill>
          </p:spPr>
        </p:sp>
        <p:sp>
          <p:nvSpPr>
            <p:cNvPr name="Freeform 16" id="16"/>
            <p:cNvSpPr/>
            <p:nvPr/>
          </p:nvSpPr>
          <p:spPr>
            <a:xfrm flipH="false" flipV="false" rot="0">
              <a:off x="0" y="0"/>
              <a:ext cx="204470" cy="5349494"/>
            </a:xfrm>
            <a:custGeom>
              <a:avLst/>
              <a:gdLst/>
              <a:ahLst/>
              <a:cxnLst/>
              <a:rect r="r" b="b" t="t" l="l"/>
              <a:pathLst>
                <a:path h="5349494" w="204470">
                  <a:moveTo>
                    <a:pt x="16891" y="0"/>
                  </a:moveTo>
                  <a:lnTo>
                    <a:pt x="187579" y="0"/>
                  </a:lnTo>
                  <a:cubicBezTo>
                    <a:pt x="196977" y="0"/>
                    <a:pt x="204470" y="7620"/>
                    <a:pt x="204470" y="16891"/>
                  </a:cubicBezTo>
                  <a:lnTo>
                    <a:pt x="204470" y="5332603"/>
                  </a:lnTo>
                  <a:cubicBezTo>
                    <a:pt x="204470" y="5342001"/>
                    <a:pt x="196850" y="5349494"/>
                    <a:pt x="187579" y="5349494"/>
                  </a:cubicBezTo>
                  <a:lnTo>
                    <a:pt x="16891" y="5349494"/>
                  </a:lnTo>
                  <a:cubicBezTo>
                    <a:pt x="7493" y="5349494"/>
                    <a:pt x="0" y="5341874"/>
                    <a:pt x="0" y="5332603"/>
                  </a:cubicBezTo>
                  <a:lnTo>
                    <a:pt x="0" y="16891"/>
                  </a:lnTo>
                  <a:cubicBezTo>
                    <a:pt x="0" y="7620"/>
                    <a:pt x="7620" y="0"/>
                    <a:pt x="16891" y="0"/>
                  </a:cubicBezTo>
                  <a:moveTo>
                    <a:pt x="16891" y="33909"/>
                  </a:moveTo>
                  <a:lnTo>
                    <a:pt x="16891" y="16891"/>
                  </a:lnTo>
                  <a:lnTo>
                    <a:pt x="33909" y="16891"/>
                  </a:lnTo>
                  <a:lnTo>
                    <a:pt x="33909" y="5332603"/>
                  </a:lnTo>
                  <a:lnTo>
                    <a:pt x="16891" y="5332603"/>
                  </a:lnTo>
                  <a:lnTo>
                    <a:pt x="16891" y="5315712"/>
                  </a:lnTo>
                  <a:lnTo>
                    <a:pt x="187579" y="5315712"/>
                  </a:lnTo>
                  <a:lnTo>
                    <a:pt x="187579" y="5332603"/>
                  </a:lnTo>
                  <a:lnTo>
                    <a:pt x="170688" y="5332603"/>
                  </a:lnTo>
                  <a:lnTo>
                    <a:pt x="170688" y="16891"/>
                  </a:lnTo>
                  <a:lnTo>
                    <a:pt x="187579" y="16891"/>
                  </a:lnTo>
                  <a:lnTo>
                    <a:pt x="187579" y="33909"/>
                  </a:lnTo>
                  <a:lnTo>
                    <a:pt x="16891" y="33909"/>
                  </a:lnTo>
                  <a:close/>
                </a:path>
              </a:pathLst>
            </a:custGeom>
            <a:solidFill>
              <a:srgbClr val="2C4A6E"/>
            </a:solidFill>
          </p:spPr>
        </p:sp>
      </p:grpSp>
      <p:grpSp>
        <p:nvGrpSpPr>
          <p:cNvPr name="Group 17" id="17"/>
          <p:cNvGrpSpPr/>
          <p:nvPr/>
        </p:nvGrpSpPr>
        <p:grpSpPr>
          <a:xfrm rot="0">
            <a:off x="956567" y="2218439"/>
            <a:ext cx="683771" cy="683771"/>
            <a:chOff x="0" y="0"/>
            <a:chExt cx="911695" cy="911695"/>
          </a:xfrm>
        </p:grpSpPr>
        <p:sp>
          <p:nvSpPr>
            <p:cNvPr name="Freeform 18" id="18"/>
            <p:cNvSpPr/>
            <p:nvPr/>
          </p:nvSpPr>
          <p:spPr>
            <a:xfrm flipH="false" flipV="false" rot="0">
              <a:off x="16891" y="16891"/>
              <a:ext cx="877824" cy="877824"/>
            </a:xfrm>
            <a:custGeom>
              <a:avLst/>
              <a:gdLst/>
              <a:ahLst/>
              <a:cxnLst/>
              <a:rect r="r" b="b" t="t" l="l"/>
              <a:pathLst>
                <a:path h="877824" w="877824">
                  <a:moveTo>
                    <a:pt x="0" y="438912"/>
                  </a:moveTo>
                  <a:cubicBezTo>
                    <a:pt x="0" y="196469"/>
                    <a:pt x="196469" y="0"/>
                    <a:pt x="438912" y="0"/>
                  </a:cubicBezTo>
                  <a:cubicBezTo>
                    <a:pt x="681355" y="0"/>
                    <a:pt x="877824" y="196596"/>
                    <a:pt x="877824" y="438912"/>
                  </a:cubicBezTo>
                  <a:cubicBezTo>
                    <a:pt x="877824" y="681228"/>
                    <a:pt x="681355" y="877824"/>
                    <a:pt x="438912" y="877824"/>
                  </a:cubicBezTo>
                  <a:cubicBezTo>
                    <a:pt x="196469" y="877824"/>
                    <a:pt x="0" y="681355"/>
                    <a:pt x="0" y="438912"/>
                  </a:cubicBezTo>
                  <a:close/>
                </a:path>
              </a:pathLst>
            </a:custGeom>
            <a:solidFill>
              <a:srgbClr val="2C4A6E"/>
            </a:solidFill>
          </p:spPr>
        </p:sp>
        <p:sp>
          <p:nvSpPr>
            <p:cNvPr name="Freeform 19" id="19"/>
            <p:cNvSpPr/>
            <p:nvPr/>
          </p:nvSpPr>
          <p:spPr>
            <a:xfrm flipH="false" flipV="false" rot="0">
              <a:off x="0" y="0"/>
              <a:ext cx="911733" cy="911606"/>
            </a:xfrm>
            <a:custGeom>
              <a:avLst/>
              <a:gdLst/>
              <a:ahLst/>
              <a:cxnLst/>
              <a:rect r="r" b="b" t="t" l="l"/>
              <a:pathLst>
                <a:path h="911606" w="911733">
                  <a:moveTo>
                    <a:pt x="0" y="455803"/>
                  </a:moveTo>
                  <a:cubicBezTo>
                    <a:pt x="0" y="204089"/>
                    <a:pt x="204089" y="0"/>
                    <a:pt x="455803" y="0"/>
                  </a:cubicBezTo>
                  <a:lnTo>
                    <a:pt x="455803" y="16891"/>
                  </a:lnTo>
                  <a:lnTo>
                    <a:pt x="455803" y="0"/>
                  </a:lnTo>
                  <a:cubicBezTo>
                    <a:pt x="707644" y="0"/>
                    <a:pt x="911733" y="204089"/>
                    <a:pt x="911733" y="455803"/>
                  </a:cubicBezTo>
                  <a:cubicBezTo>
                    <a:pt x="911733" y="707517"/>
                    <a:pt x="707644" y="911606"/>
                    <a:pt x="455930" y="911606"/>
                  </a:cubicBezTo>
                  <a:lnTo>
                    <a:pt x="455930" y="894715"/>
                  </a:lnTo>
                  <a:lnTo>
                    <a:pt x="455930" y="911606"/>
                  </a:lnTo>
                  <a:cubicBezTo>
                    <a:pt x="204089" y="911733"/>
                    <a:pt x="0" y="707644"/>
                    <a:pt x="0" y="455803"/>
                  </a:cubicBezTo>
                  <a:lnTo>
                    <a:pt x="16891" y="455803"/>
                  </a:lnTo>
                  <a:lnTo>
                    <a:pt x="31242" y="464820"/>
                  </a:lnTo>
                  <a:cubicBezTo>
                    <a:pt x="27178" y="471170"/>
                    <a:pt x="19431" y="474218"/>
                    <a:pt x="12192" y="472059"/>
                  </a:cubicBezTo>
                  <a:cubicBezTo>
                    <a:pt x="4953" y="469900"/>
                    <a:pt x="0" y="463423"/>
                    <a:pt x="0" y="455803"/>
                  </a:cubicBezTo>
                  <a:moveTo>
                    <a:pt x="33909" y="455803"/>
                  </a:moveTo>
                  <a:lnTo>
                    <a:pt x="16891" y="455803"/>
                  </a:lnTo>
                  <a:lnTo>
                    <a:pt x="2540" y="446913"/>
                  </a:lnTo>
                  <a:cubicBezTo>
                    <a:pt x="6604" y="440563"/>
                    <a:pt x="14351" y="437515"/>
                    <a:pt x="21590" y="439674"/>
                  </a:cubicBezTo>
                  <a:cubicBezTo>
                    <a:pt x="28829" y="441833"/>
                    <a:pt x="33909" y="448437"/>
                    <a:pt x="33909" y="455930"/>
                  </a:cubicBezTo>
                  <a:cubicBezTo>
                    <a:pt x="33909" y="688975"/>
                    <a:pt x="222885" y="877951"/>
                    <a:pt x="455930" y="877951"/>
                  </a:cubicBezTo>
                  <a:cubicBezTo>
                    <a:pt x="688975" y="877951"/>
                    <a:pt x="877951" y="688975"/>
                    <a:pt x="877951" y="455930"/>
                  </a:cubicBezTo>
                  <a:lnTo>
                    <a:pt x="894842" y="455930"/>
                  </a:lnTo>
                  <a:lnTo>
                    <a:pt x="877951" y="455930"/>
                  </a:lnTo>
                  <a:cubicBezTo>
                    <a:pt x="877951" y="222885"/>
                    <a:pt x="688975" y="33909"/>
                    <a:pt x="455930" y="33909"/>
                  </a:cubicBezTo>
                  <a:lnTo>
                    <a:pt x="455930" y="16891"/>
                  </a:lnTo>
                  <a:lnTo>
                    <a:pt x="455930" y="33909"/>
                  </a:lnTo>
                  <a:cubicBezTo>
                    <a:pt x="222758" y="33909"/>
                    <a:pt x="33909" y="222758"/>
                    <a:pt x="33909" y="455803"/>
                  </a:cubicBezTo>
                  <a:close/>
                </a:path>
              </a:pathLst>
            </a:custGeom>
            <a:solidFill>
              <a:srgbClr val="2C4A6E"/>
            </a:solidFill>
          </p:spPr>
        </p:sp>
      </p:grpSp>
      <p:grpSp>
        <p:nvGrpSpPr>
          <p:cNvPr name="Group 20" id="20"/>
          <p:cNvGrpSpPr/>
          <p:nvPr/>
        </p:nvGrpSpPr>
        <p:grpSpPr>
          <a:xfrm rot="0">
            <a:off x="969264" y="2231136"/>
            <a:ext cx="658368" cy="658368"/>
            <a:chOff x="0" y="0"/>
            <a:chExt cx="877824" cy="877824"/>
          </a:xfrm>
        </p:grpSpPr>
        <p:sp>
          <p:nvSpPr>
            <p:cNvPr name="Freeform 21" id="21"/>
            <p:cNvSpPr/>
            <p:nvPr/>
          </p:nvSpPr>
          <p:spPr>
            <a:xfrm flipH="false" flipV="false" rot="0">
              <a:off x="0" y="0"/>
              <a:ext cx="877824" cy="877824"/>
            </a:xfrm>
            <a:custGeom>
              <a:avLst/>
              <a:gdLst/>
              <a:ahLst/>
              <a:cxnLst/>
              <a:rect r="r" b="b" t="t" l="l"/>
              <a:pathLst>
                <a:path h="877824" w="877824">
                  <a:moveTo>
                    <a:pt x="0" y="0"/>
                  </a:moveTo>
                  <a:lnTo>
                    <a:pt x="877824" y="0"/>
                  </a:lnTo>
                  <a:lnTo>
                    <a:pt x="877824" y="877824"/>
                  </a:lnTo>
                  <a:lnTo>
                    <a:pt x="0" y="877824"/>
                  </a:lnTo>
                  <a:close/>
                </a:path>
              </a:pathLst>
            </a:custGeom>
            <a:blipFill>
              <a:blip r:embed="rId3">
                <a:alphaModFix amt="0"/>
              </a:blip>
              <a:stretch>
                <a:fillRect l="-78303" t="0" r="-78303" b="0"/>
              </a:stretch>
            </a:blipFill>
          </p:spPr>
        </p:sp>
        <p:sp>
          <p:nvSpPr>
            <p:cNvPr name="TextBox 22" id="22"/>
            <p:cNvSpPr txBox="true"/>
            <p:nvPr/>
          </p:nvSpPr>
          <p:spPr>
            <a:xfrm>
              <a:off x="0" y="0"/>
              <a:ext cx="877824" cy="877824"/>
            </a:xfrm>
            <a:prstGeom prst="rect">
              <a:avLst/>
            </a:prstGeom>
          </p:spPr>
          <p:txBody>
            <a:bodyPr anchor="ctr" rtlCol="false" tIns="0" lIns="0" bIns="0" rIns="0"/>
            <a:lstStyle/>
            <a:p>
              <a:pPr algn="ctr">
                <a:lnSpc>
                  <a:spcPts val="3120"/>
                </a:lnSpc>
              </a:pPr>
              <a:r>
                <a:rPr lang="en-US" sz="2600" b="true">
                  <a:solidFill>
                    <a:srgbClr val="FFFFFF"/>
                  </a:solidFill>
                  <a:latin typeface="EB Garamond Semi-Bold"/>
                  <a:ea typeface="EB Garamond Semi-Bold"/>
                  <a:cs typeface="EB Garamond Semi-Bold"/>
                  <a:sym typeface="EB Garamond Semi-Bold"/>
                </a:rPr>
                <a:t>✔</a:t>
              </a:r>
            </a:p>
          </p:txBody>
        </p:sp>
      </p:grpSp>
      <p:grpSp>
        <p:nvGrpSpPr>
          <p:cNvPr name="Group 23" id="23"/>
          <p:cNvGrpSpPr/>
          <p:nvPr/>
        </p:nvGrpSpPr>
        <p:grpSpPr>
          <a:xfrm rot="0">
            <a:off x="1828800" y="2267712"/>
            <a:ext cx="6766560" cy="621792"/>
            <a:chOff x="0" y="0"/>
            <a:chExt cx="9022080" cy="829056"/>
          </a:xfrm>
        </p:grpSpPr>
        <p:sp>
          <p:nvSpPr>
            <p:cNvPr name="Freeform 24" id="24"/>
            <p:cNvSpPr/>
            <p:nvPr/>
          </p:nvSpPr>
          <p:spPr>
            <a:xfrm flipH="false" flipV="false" rot="0">
              <a:off x="0" y="0"/>
              <a:ext cx="9022080" cy="829056"/>
            </a:xfrm>
            <a:custGeom>
              <a:avLst/>
              <a:gdLst/>
              <a:ahLst/>
              <a:cxnLst/>
              <a:rect r="r" b="b" t="t" l="l"/>
              <a:pathLst>
                <a:path h="829056" w="9022080">
                  <a:moveTo>
                    <a:pt x="0" y="0"/>
                  </a:moveTo>
                  <a:lnTo>
                    <a:pt x="9022080" y="0"/>
                  </a:lnTo>
                  <a:lnTo>
                    <a:pt x="9022080" y="829056"/>
                  </a:lnTo>
                  <a:lnTo>
                    <a:pt x="0" y="829056"/>
                  </a:lnTo>
                  <a:close/>
                </a:path>
              </a:pathLst>
            </a:custGeom>
            <a:blipFill>
              <a:blip r:embed="rId3">
                <a:alphaModFix amt="0"/>
              </a:blip>
              <a:stretch>
                <a:fillRect l="0" t="-162043" r="0" b="-162043"/>
              </a:stretch>
            </a:blipFill>
          </p:spPr>
        </p:sp>
        <p:sp>
          <p:nvSpPr>
            <p:cNvPr name="TextBox 25" id="25"/>
            <p:cNvSpPr txBox="true"/>
            <p:nvPr/>
          </p:nvSpPr>
          <p:spPr>
            <a:xfrm>
              <a:off x="0" y="0"/>
              <a:ext cx="9022080" cy="829056"/>
            </a:xfrm>
            <a:prstGeom prst="rect">
              <a:avLst/>
            </a:prstGeom>
          </p:spPr>
          <p:txBody>
            <a:bodyPr anchor="ctr" rtlCol="false" tIns="0" lIns="0" bIns="0" rIns="0"/>
            <a:lstStyle/>
            <a:p>
              <a:pPr algn="l">
                <a:lnSpc>
                  <a:spcPts val="3120"/>
                </a:lnSpc>
              </a:pPr>
              <a:r>
                <a:rPr lang="en-US" sz="2600" b="true">
                  <a:solidFill>
                    <a:srgbClr val="1C2E40"/>
                  </a:solidFill>
                  <a:latin typeface="EB Garamond Semi-Bold"/>
                  <a:ea typeface="EB Garamond Semi-Bold"/>
                  <a:cs typeface="EB Garamond Semi-Bold"/>
                  <a:sym typeface="EB Garamond Semi-Bold"/>
                </a:rPr>
                <a:t>Compréhension du code</a:t>
              </a:r>
            </a:p>
          </p:txBody>
        </p:sp>
      </p:grpSp>
      <p:grpSp>
        <p:nvGrpSpPr>
          <p:cNvPr name="Group 26" id="26"/>
          <p:cNvGrpSpPr/>
          <p:nvPr/>
        </p:nvGrpSpPr>
        <p:grpSpPr>
          <a:xfrm rot="0">
            <a:off x="987552" y="3482597"/>
            <a:ext cx="7607808" cy="838200"/>
            <a:chOff x="0" y="0"/>
            <a:chExt cx="10143744" cy="1117600"/>
          </a:xfrm>
        </p:grpSpPr>
        <p:sp>
          <p:nvSpPr>
            <p:cNvPr name="Freeform 27" id="27"/>
            <p:cNvSpPr/>
            <p:nvPr/>
          </p:nvSpPr>
          <p:spPr>
            <a:xfrm flipH="false" flipV="false" rot="0">
              <a:off x="0" y="0"/>
              <a:ext cx="10143744" cy="1117600"/>
            </a:xfrm>
            <a:custGeom>
              <a:avLst/>
              <a:gdLst/>
              <a:ahLst/>
              <a:cxnLst/>
              <a:rect r="r" b="b" t="t" l="l"/>
              <a:pathLst>
                <a:path h="1117600" w="10143744">
                  <a:moveTo>
                    <a:pt x="0" y="0"/>
                  </a:moveTo>
                  <a:lnTo>
                    <a:pt x="10143744" y="0"/>
                  </a:lnTo>
                  <a:lnTo>
                    <a:pt x="10143744" y="1117600"/>
                  </a:lnTo>
                  <a:lnTo>
                    <a:pt x="0" y="1117600"/>
                  </a:lnTo>
                  <a:close/>
                </a:path>
              </a:pathLst>
            </a:custGeom>
            <a:blipFill>
              <a:blip r:embed="rId3">
                <a:alphaModFix amt="0"/>
              </a:blip>
              <a:stretch>
                <a:fillRect l="0" t="-126671" r="0" b="-127035"/>
              </a:stretch>
            </a:blipFill>
          </p:spPr>
        </p:sp>
        <p:sp>
          <p:nvSpPr>
            <p:cNvPr name="TextBox 28" id="28"/>
            <p:cNvSpPr txBox="true"/>
            <p:nvPr/>
          </p:nvSpPr>
          <p:spPr>
            <a:xfrm>
              <a:off x="0" y="-9525"/>
              <a:ext cx="10143744" cy="1127125"/>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Structure des 4 blocs identifiée, rôle de chaque opération bien expliqué</a:t>
              </a:r>
            </a:p>
          </p:txBody>
        </p:sp>
      </p:grpSp>
      <p:grpSp>
        <p:nvGrpSpPr>
          <p:cNvPr name="Group 29" id="29"/>
          <p:cNvGrpSpPr/>
          <p:nvPr/>
        </p:nvGrpSpPr>
        <p:grpSpPr>
          <a:xfrm rot="0">
            <a:off x="1028700" y="4407408"/>
            <a:ext cx="7607808" cy="841248"/>
            <a:chOff x="0" y="0"/>
            <a:chExt cx="10143744" cy="1121664"/>
          </a:xfrm>
        </p:grpSpPr>
        <p:sp>
          <p:nvSpPr>
            <p:cNvPr name="Freeform 30" id="30"/>
            <p:cNvSpPr/>
            <p:nvPr/>
          </p:nvSpPr>
          <p:spPr>
            <a:xfrm flipH="false" flipV="false" rot="0">
              <a:off x="0" y="0"/>
              <a:ext cx="10143744" cy="1121664"/>
            </a:xfrm>
            <a:custGeom>
              <a:avLst/>
              <a:gdLst/>
              <a:ahLst/>
              <a:cxnLst/>
              <a:rect r="r" b="b" t="t" l="l"/>
              <a:pathLst>
                <a:path h="1121664" w="10143744">
                  <a:moveTo>
                    <a:pt x="0" y="0"/>
                  </a:moveTo>
                  <a:lnTo>
                    <a:pt x="10143744" y="0"/>
                  </a:lnTo>
                  <a:lnTo>
                    <a:pt x="10143744" y="1121664"/>
                  </a:lnTo>
                  <a:lnTo>
                    <a:pt x="0" y="1121664"/>
                  </a:lnTo>
                  <a:close/>
                </a:path>
              </a:pathLst>
            </a:custGeom>
            <a:blipFill>
              <a:blip r:embed="rId3">
                <a:alphaModFix amt="0"/>
              </a:blip>
              <a:stretch>
                <a:fillRect l="0" t="-126212" r="0" b="-126212"/>
              </a:stretch>
            </a:blipFill>
          </p:spPr>
        </p:sp>
        <p:sp>
          <p:nvSpPr>
            <p:cNvPr name="TextBox 31" id="31"/>
            <p:cNvSpPr txBox="true"/>
            <p:nvPr/>
          </p:nvSpPr>
          <p:spPr>
            <a:xfrm>
              <a:off x="0" y="-9525"/>
              <a:ext cx="10143744" cy="1131189"/>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Lien entre reshape wide→long et les analyses aval bien expliqué</a:t>
              </a:r>
            </a:p>
          </p:txBody>
        </p:sp>
      </p:grpSp>
      <p:grpSp>
        <p:nvGrpSpPr>
          <p:cNvPr name="Group 32" id="32"/>
          <p:cNvGrpSpPr/>
          <p:nvPr/>
        </p:nvGrpSpPr>
        <p:grpSpPr>
          <a:xfrm rot="0">
            <a:off x="9499597" y="2001517"/>
            <a:ext cx="8249917" cy="4007101"/>
            <a:chOff x="0" y="0"/>
            <a:chExt cx="10999889" cy="5342801"/>
          </a:xfrm>
        </p:grpSpPr>
        <p:sp>
          <p:nvSpPr>
            <p:cNvPr name="Freeform 33" id="33"/>
            <p:cNvSpPr/>
            <p:nvPr/>
          </p:nvSpPr>
          <p:spPr>
            <a:xfrm flipH="false" flipV="false" rot="0">
              <a:off x="13589" y="13589"/>
              <a:ext cx="10972800" cy="5315712"/>
            </a:xfrm>
            <a:custGeom>
              <a:avLst/>
              <a:gdLst/>
              <a:ahLst/>
              <a:cxnLst/>
              <a:rect r="r" b="b" t="t" l="l"/>
              <a:pathLst>
                <a:path h="5315712" w="10972800">
                  <a:moveTo>
                    <a:pt x="0" y="243840"/>
                  </a:moveTo>
                  <a:cubicBezTo>
                    <a:pt x="0" y="109220"/>
                    <a:pt x="109474" y="0"/>
                    <a:pt x="244475" y="0"/>
                  </a:cubicBezTo>
                  <a:lnTo>
                    <a:pt x="10728325" y="0"/>
                  </a:lnTo>
                  <a:cubicBezTo>
                    <a:pt x="10863326" y="0"/>
                    <a:pt x="10972800" y="109220"/>
                    <a:pt x="10972800" y="243840"/>
                  </a:cubicBezTo>
                  <a:lnTo>
                    <a:pt x="10972800" y="5071872"/>
                  </a:lnTo>
                  <a:cubicBezTo>
                    <a:pt x="10972800" y="5206492"/>
                    <a:pt x="10863326" y="5315712"/>
                    <a:pt x="10728325" y="5315712"/>
                  </a:cubicBezTo>
                  <a:lnTo>
                    <a:pt x="244475" y="5315712"/>
                  </a:lnTo>
                  <a:cubicBezTo>
                    <a:pt x="109474" y="5315712"/>
                    <a:pt x="0" y="5206492"/>
                    <a:pt x="0" y="5071872"/>
                  </a:cubicBezTo>
                  <a:close/>
                </a:path>
              </a:pathLst>
            </a:custGeom>
            <a:solidFill>
              <a:srgbClr val="FFFFFF"/>
            </a:solidFill>
          </p:spPr>
        </p:sp>
        <p:sp>
          <p:nvSpPr>
            <p:cNvPr name="Freeform 34" id="34"/>
            <p:cNvSpPr/>
            <p:nvPr/>
          </p:nvSpPr>
          <p:spPr>
            <a:xfrm flipH="false" flipV="false" rot="0">
              <a:off x="0" y="0"/>
              <a:ext cx="10999978" cy="5342890"/>
            </a:xfrm>
            <a:custGeom>
              <a:avLst/>
              <a:gdLst/>
              <a:ahLst/>
              <a:cxnLst/>
              <a:rect r="r" b="b" t="t" l="l"/>
              <a:pathLst>
                <a:path h="5342890" w="10999978">
                  <a:moveTo>
                    <a:pt x="0" y="257429"/>
                  </a:moveTo>
                  <a:cubicBezTo>
                    <a:pt x="0" y="115189"/>
                    <a:pt x="115570" y="0"/>
                    <a:pt x="258064" y="0"/>
                  </a:cubicBezTo>
                  <a:lnTo>
                    <a:pt x="10741914" y="0"/>
                  </a:lnTo>
                  <a:lnTo>
                    <a:pt x="10741914" y="13589"/>
                  </a:lnTo>
                  <a:lnTo>
                    <a:pt x="10741914" y="0"/>
                  </a:lnTo>
                  <a:cubicBezTo>
                    <a:pt x="10884408" y="0"/>
                    <a:pt x="10999978" y="115189"/>
                    <a:pt x="10999978" y="257429"/>
                  </a:cubicBezTo>
                  <a:lnTo>
                    <a:pt x="10986389" y="257429"/>
                  </a:lnTo>
                  <a:lnTo>
                    <a:pt x="10999978" y="257429"/>
                  </a:lnTo>
                  <a:lnTo>
                    <a:pt x="10999978" y="5085461"/>
                  </a:lnTo>
                  <a:lnTo>
                    <a:pt x="10986389" y="5085461"/>
                  </a:lnTo>
                  <a:lnTo>
                    <a:pt x="10999978" y="5085461"/>
                  </a:lnTo>
                  <a:cubicBezTo>
                    <a:pt x="10999978" y="5227701"/>
                    <a:pt x="10884408" y="5342890"/>
                    <a:pt x="10741914" y="5342890"/>
                  </a:cubicBezTo>
                  <a:lnTo>
                    <a:pt x="10741914" y="5329301"/>
                  </a:lnTo>
                  <a:lnTo>
                    <a:pt x="10741914" y="5342890"/>
                  </a:lnTo>
                  <a:lnTo>
                    <a:pt x="258064" y="5342890"/>
                  </a:lnTo>
                  <a:lnTo>
                    <a:pt x="258064" y="5329301"/>
                  </a:lnTo>
                  <a:lnTo>
                    <a:pt x="258064" y="5342890"/>
                  </a:lnTo>
                  <a:cubicBezTo>
                    <a:pt x="115570" y="5342763"/>
                    <a:pt x="0" y="5227574"/>
                    <a:pt x="0" y="5085461"/>
                  </a:cubicBezTo>
                  <a:lnTo>
                    <a:pt x="0" y="257429"/>
                  </a:lnTo>
                  <a:lnTo>
                    <a:pt x="13589" y="257429"/>
                  </a:lnTo>
                  <a:lnTo>
                    <a:pt x="0" y="257429"/>
                  </a:lnTo>
                  <a:moveTo>
                    <a:pt x="27051" y="257429"/>
                  </a:moveTo>
                  <a:lnTo>
                    <a:pt x="27051" y="5085461"/>
                  </a:lnTo>
                  <a:lnTo>
                    <a:pt x="13589" y="5085461"/>
                  </a:lnTo>
                  <a:lnTo>
                    <a:pt x="27051" y="5085461"/>
                  </a:lnTo>
                  <a:cubicBezTo>
                    <a:pt x="27051" y="5212588"/>
                    <a:pt x="130429" y="5315712"/>
                    <a:pt x="257937" y="5315712"/>
                  </a:cubicBezTo>
                  <a:lnTo>
                    <a:pt x="10741787" y="5315712"/>
                  </a:lnTo>
                  <a:cubicBezTo>
                    <a:pt x="10869295" y="5315712"/>
                    <a:pt x="10972673" y="5212588"/>
                    <a:pt x="10972673" y="5085461"/>
                  </a:cubicBezTo>
                  <a:lnTo>
                    <a:pt x="10972673" y="257429"/>
                  </a:lnTo>
                  <a:cubicBezTo>
                    <a:pt x="10972673" y="130302"/>
                    <a:pt x="10869295" y="27178"/>
                    <a:pt x="10741787" y="27178"/>
                  </a:cubicBezTo>
                  <a:lnTo>
                    <a:pt x="258064" y="27178"/>
                  </a:lnTo>
                  <a:lnTo>
                    <a:pt x="258064" y="13589"/>
                  </a:lnTo>
                  <a:lnTo>
                    <a:pt x="258064" y="27051"/>
                  </a:lnTo>
                  <a:cubicBezTo>
                    <a:pt x="130556" y="27051"/>
                    <a:pt x="27178" y="130175"/>
                    <a:pt x="27178" y="257302"/>
                  </a:cubicBezTo>
                  <a:close/>
                </a:path>
              </a:pathLst>
            </a:custGeom>
            <a:solidFill>
              <a:srgbClr val="BDC8D5"/>
            </a:solidFill>
          </p:spPr>
        </p:sp>
      </p:grpSp>
      <p:grpSp>
        <p:nvGrpSpPr>
          <p:cNvPr name="Group 35" id="35"/>
          <p:cNvGrpSpPr/>
          <p:nvPr/>
        </p:nvGrpSpPr>
        <p:grpSpPr>
          <a:xfrm rot="0">
            <a:off x="9497063" y="1998983"/>
            <a:ext cx="153419" cy="4012187"/>
            <a:chOff x="0" y="0"/>
            <a:chExt cx="204559" cy="5349583"/>
          </a:xfrm>
        </p:grpSpPr>
        <p:sp>
          <p:nvSpPr>
            <p:cNvPr name="Freeform 36" id="36"/>
            <p:cNvSpPr/>
            <p:nvPr/>
          </p:nvSpPr>
          <p:spPr>
            <a:xfrm flipH="false" flipV="false" rot="0">
              <a:off x="16891" y="16891"/>
              <a:ext cx="170688" cy="5315712"/>
            </a:xfrm>
            <a:custGeom>
              <a:avLst/>
              <a:gdLst/>
              <a:ahLst/>
              <a:cxnLst/>
              <a:rect r="r" b="b" t="t" l="l"/>
              <a:pathLst>
                <a:path h="5315712" w="170688">
                  <a:moveTo>
                    <a:pt x="0" y="0"/>
                  </a:moveTo>
                  <a:lnTo>
                    <a:pt x="170688" y="0"/>
                  </a:lnTo>
                  <a:lnTo>
                    <a:pt x="170688" y="5315712"/>
                  </a:lnTo>
                  <a:lnTo>
                    <a:pt x="0" y="5315712"/>
                  </a:lnTo>
                  <a:close/>
                </a:path>
              </a:pathLst>
            </a:custGeom>
            <a:solidFill>
              <a:srgbClr val="5B8DB8"/>
            </a:solidFill>
          </p:spPr>
        </p:sp>
        <p:sp>
          <p:nvSpPr>
            <p:cNvPr name="Freeform 37" id="37"/>
            <p:cNvSpPr/>
            <p:nvPr/>
          </p:nvSpPr>
          <p:spPr>
            <a:xfrm flipH="false" flipV="false" rot="0">
              <a:off x="0" y="0"/>
              <a:ext cx="204470" cy="5349494"/>
            </a:xfrm>
            <a:custGeom>
              <a:avLst/>
              <a:gdLst/>
              <a:ahLst/>
              <a:cxnLst/>
              <a:rect r="r" b="b" t="t" l="l"/>
              <a:pathLst>
                <a:path h="5349494" w="204470">
                  <a:moveTo>
                    <a:pt x="16891" y="0"/>
                  </a:moveTo>
                  <a:lnTo>
                    <a:pt x="187579" y="0"/>
                  </a:lnTo>
                  <a:cubicBezTo>
                    <a:pt x="196977" y="0"/>
                    <a:pt x="204470" y="7620"/>
                    <a:pt x="204470" y="16891"/>
                  </a:cubicBezTo>
                  <a:lnTo>
                    <a:pt x="204470" y="5332603"/>
                  </a:lnTo>
                  <a:cubicBezTo>
                    <a:pt x="204470" y="5342001"/>
                    <a:pt x="196850" y="5349494"/>
                    <a:pt x="187579" y="5349494"/>
                  </a:cubicBezTo>
                  <a:lnTo>
                    <a:pt x="16891" y="5349494"/>
                  </a:lnTo>
                  <a:cubicBezTo>
                    <a:pt x="7493" y="5349494"/>
                    <a:pt x="0" y="5341874"/>
                    <a:pt x="0" y="5332603"/>
                  </a:cubicBezTo>
                  <a:lnTo>
                    <a:pt x="0" y="16891"/>
                  </a:lnTo>
                  <a:cubicBezTo>
                    <a:pt x="0" y="7620"/>
                    <a:pt x="7620" y="0"/>
                    <a:pt x="16891" y="0"/>
                  </a:cubicBezTo>
                  <a:moveTo>
                    <a:pt x="16891" y="33909"/>
                  </a:moveTo>
                  <a:lnTo>
                    <a:pt x="16891" y="16891"/>
                  </a:lnTo>
                  <a:lnTo>
                    <a:pt x="33909" y="16891"/>
                  </a:lnTo>
                  <a:lnTo>
                    <a:pt x="33909" y="5332603"/>
                  </a:lnTo>
                  <a:lnTo>
                    <a:pt x="16891" y="5332603"/>
                  </a:lnTo>
                  <a:lnTo>
                    <a:pt x="16891" y="5315712"/>
                  </a:lnTo>
                  <a:lnTo>
                    <a:pt x="187579" y="5315712"/>
                  </a:lnTo>
                  <a:lnTo>
                    <a:pt x="187579" y="5332603"/>
                  </a:lnTo>
                  <a:lnTo>
                    <a:pt x="170688" y="5332603"/>
                  </a:lnTo>
                  <a:lnTo>
                    <a:pt x="170688" y="16891"/>
                  </a:lnTo>
                  <a:lnTo>
                    <a:pt x="187579" y="16891"/>
                  </a:lnTo>
                  <a:lnTo>
                    <a:pt x="187579" y="33909"/>
                  </a:lnTo>
                  <a:lnTo>
                    <a:pt x="16891" y="33909"/>
                  </a:lnTo>
                  <a:close/>
                </a:path>
              </a:pathLst>
            </a:custGeom>
            <a:solidFill>
              <a:srgbClr val="5B8DB8"/>
            </a:solidFill>
          </p:spPr>
        </p:sp>
      </p:grpSp>
      <p:grpSp>
        <p:nvGrpSpPr>
          <p:cNvPr name="Group 38" id="38"/>
          <p:cNvGrpSpPr/>
          <p:nvPr/>
        </p:nvGrpSpPr>
        <p:grpSpPr>
          <a:xfrm rot="0">
            <a:off x="9826247" y="2218439"/>
            <a:ext cx="683771" cy="683771"/>
            <a:chOff x="0" y="0"/>
            <a:chExt cx="911695" cy="911695"/>
          </a:xfrm>
        </p:grpSpPr>
        <p:sp>
          <p:nvSpPr>
            <p:cNvPr name="Freeform 39" id="39"/>
            <p:cNvSpPr/>
            <p:nvPr/>
          </p:nvSpPr>
          <p:spPr>
            <a:xfrm flipH="false" flipV="false" rot="0">
              <a:off x="16891" y="16891"/>
              <a:ext cx="877824" cy="877824"/>
            </a:xfrm>
            <a:custGeom>
              <a:avLst/>
              <a:gdLst/>
              <a:ahLst/>
              <a:cxnLst/>
              <a:rect r="r" b="b" t="t" l="l"/>
              <a:pathLst>
                <a:path h="877824" w="877824">
                  <a:moveTo>
                    <a:pt x="0" y="438912"/>
                  </a:moveTo>
                  <a:cubicBezTo>
                    <a:pt x="0" y="196469"/>
                    <a:pt x="196469" y="0"/>
                    <a:pt x="438912" y="0"/>
                  </a:cubicBezTo>
                  <a:cubicBezTo>
                    <a:pt x="681355" y="0"/>
                    <a:pt x="877824" y="196596"/>
                    <a:pt x="877824" y="438912"/>
                  </a:cubicBezTo>
                  <a:cubicBezTo>
                    <a:pt x="877824" y="681228"/>
                    <a:pt x="681355" y="877824"/>
                    <a:pt x="438912" y="877824"/>
                  </a:cubicBezTo>
                  <a:cubicBezTo>
                    <a:pt x="196469" y="877824"/>
                    <a:pt x="0" y="681355"/>
                    <a:pt x="0" y="438912"/>
                  </a:cubicBezTo>
                  <a:close/>
                </a:path>
              </a:pathLst>
            </a:custGeom>
            <a:solidFill>
              <a:srgbClr val="5B8DB8"/>
            </a:solidFill>
          </p:spPr>
        </p:sp>
        <p:sp>
          <p:nvSpPr>
            <p:cNvPr name="Freeform 40" id="40"/>
            <p:cNvSpPr/>
            <p:nvPr/>
          </p:nvSpPr>
          <p:spPr>
            <a:xfrm flipH="false" flipV="false" rot="0">
              <a:off x="0" y="0"/>
              <a:ext cx="911733" cy="911606"/>
            </a:xfrm>
            <a:custGeom>
              <a:avLst/>
              <a:gdLst/>
              <a:ahLst/>
              <a:cxnLst/>
              <a:rect r="r" b="b" t="t" l="l"/>
              <a:pathLst>
                <a:path h="911606" w="911733">
                  <a:moveTo>
                    <a:pt x="0" y="455803"/>
                  </a:moveTo>
                  <a:cubicBezTo>
                    <a:pt x="0" y="204089"/>
                    <a:pt x="204089" y="0"/>
                    <a:pt x="455803" y="0"/>
                  </a:cubicBezTo>
                  <a:lnTo>
                    <a:pt x="455803" y="16891"/>
                  </a:lnTo>
                  <a:lnTo>
                    <a:pt x="455803" y="0"/>
                  </a:lnTo>
                  <a:cubicBezTo>
                    <a:pt x="707644" y="0"/>
                    <a:pt x="911733" y="204089"/>
                    <a:pt x="911733" y="455803"/>
                  </a:cubicBezTo>
                  <a:cubicBezTo>
                    <a:pt x="911733" y="707517"/>
                    <a:pt x="707644" y="911606"/>
                    <a:pt x="455930" y="911606"/>
                  </a:cubicBezTo>
                  <a:lnTo>
                    <a:pt x="455930" y="894715"/>
                  </a:lnTo>
                  <a:lnTo>
                    <a:pt x="455930" y="911606"/>
                  </a:lnTo>
                  <a:cubicBezTo>
                    <a:pt x="204089" y="911733"/>
                    <a:pt x="0" y="707644"/>
                    <a:pt x="0" y="455803"/>
                  </a:cubicBezTo>
                  <a:lnTo>
                    <a:pt x="16891" y="455803"/>
                  </a:lnTo>
                  <a:lnTo>
                    <a:pt x="31242" y="464820"/>
                  </a:lnTo>
                  <a:cubicBezTo>
                    <a:pt x="27178" y="471170"/>
                    <a:pt x="19431" y="474218"/>
                    <a:pt x="12192" y="472059"/>
                  </a:cubicBezTo>
                  <a:cubicBezTo>
                    <a:pt x="4953" y="469900"/>
                    <a:pt x="0" y="463423"/>
                    <a:pt x="0" y="455803"/>
                  </a:cubicBezTo>
                  <a:moveTo>
                    <a:pt x="33909" y="455803"/>
                  </a:moveTo>
                  <a:lnTo>
                    <a:pt x="16891" y="455803"/>
                  </a:lnTo>
                  <a:lnTo>
                    <a:pt x="2540" y="446913"/>
                  </a:lnTo>
                  <a:cubicBezTo>
                    <a:pt x="6604" y="440563"/>
                    <a:pt x="14351" y="437515"/>
                    <a:pt x="21590" y="439674"/>
                  </a:cubicBezTo>
                  <a:cubicBezTo>
                    <a:pt x="28829" y="441833"/>
                    <a:pt x="33909" y="448437"/>
                    <a:pt x="33909" y="455930"/>
                  </a:cubicBezTo>
                  <a:cubicBezTo>
                    <a:pt x="33909" y="688975"/>
                    <a:pt x="222885" y="877951"/>
                    <a:pt x="455930" y="877951"/>
                  </a:cubicBezTo>
                  <a:cubicBezTo>
                    <a:pt x="688975" y="877951"/>
                    <a:pt x="877951" y="688975"/>
                    <a:pt x="877951" y="455930"/>
                  </a:cubicBezTo>
                  <a:lnTo>
                    <a:pt x="894842" y="455930"/>
                  </a:lnTo>
                  <a:lnTo>
                    <a:pt x="877951" y="455930"/>
                  </a:lnTo>
                  <a:cubicBezTo>
                    <a:pt x="877951" y="222885"/>
                    <a:pt x="688975" y="33909"/>
                    <a:pt x="455930" y="33909"/>
                  </a:cubicBezTo>
                  <a:lnTo>
                    <a:pt x="455930" y="16891"/>
                  </a:lnTo>
                  <a:lnTo>
                    <a:pt x="455930" y="33909"/>
                  </a:lnTo>
                  <a:cubicBezTo>
                    <a:pt x="222758" y="33909"/>
                    <a:pt x="33909" y="222758"/>
                    <a:pt x="33909" y="455803"/>
                  </a:cubicBezTo>
                  <a:close/>
                </a:path>
              </a:pathLst>
            </a:custGeom>
            <a:solidFill>
              <a:srgbClr val="5B8DB8"/>
            </a:solidFill>
          </p:spPr>
        </p:sp>
      </p:grpSp>
      <p:grpSp>
        <p:nvGrpSpPr>
          <p:cNvPr name="Group 41" id="41"/>
          <p:cNvGrpSpPr/>
          <p:nvPr/>
        </p:nvGrpSpPr>
        <p:grpSpPr>
          <a:xfrm rot="0">
            <a:off x="9838944" y="2231136"/>
            <a:ext cx="658368" cy="658368"/>
            <a:chOff x="0" y="0"/>
            <a:chExt cx="877824" cy="877824"/>
          </a:xfrm>
        </p:grpSpPr>
        <p:sp>
          <p:nvSpPr>
            <p:cNvPr name="Freeform 42" id="42"/>
            <p:cNvSpPr/>
            <p:nvPr/>
          </p:nvSpPr>
          <p:spPr>
            <a:xfrm flipH="false" flipV="false" rot="0">
              <a:off x="0" y="0"/>
              <a:ext cx="877824" cy="877824"/>
            </a:xfrm>
            <a:custGeom>
              <a:avLst/>
              <a:gdLst/>
              <a:ahLst/>
              <a:cxnLst/>
              <a:rect r="r" b="b" t="t" l="l"/>
              <a:pathLst>
                <a:path h="877824" w="877824">
                  <a:moveTo>
                    <a:pt x="0" y="0"/>
                  </a:moveTo>
                  <a:lnTo>
                    <a:pt x="877824" y="0"/>
                  </a:lnTo>
                  <a:lnTo>
                    <a:pt x="877824" y="877824"/>
                  </a:lnTo>
                  <a:lnTo>
                    <a:pt x="0" y="877824"/>
                  </a:lnTo>
                  <a:close/>
                </a:path>
              </a:pathLst>
            </a:custGeom>
            <a:blipFill>
              <a:blip r:embed="rId3">
                <a:alphaModFix amt="0"/>
              </a:blip>
              <a:stretch>
                <a:fillRect l="-78303" t="0" r="-78303" b="0"/>
              </a:stretch>
            </a:blipFill>
          </p:spPr>
        </p:sp>
        <p:sp>
          <p:nvSpPr>
            <p:cNvPr name="TextBox 43" id="43"/>
            <p:cNvSpPr txBox="true"/>
            <p:nvPr/>
          </p:nvSpPr>
          <p:spPr>
            <a:xfrm>
              <a:off x="0" y="0"/>
              <a:ext cx="877824" cy="877824"/>
            </a:xfrm>
            <a:prstGeom prst="rect">
              <a:avLst/>
            </a:prstGeom>
          </p:spPr>
          <p:txBody>
            <a:bodyPr anchor="ctr" rtlCol="false" tIns="0" lIns="0" bIns="0" rIns="0"/>
            <a:lstStyle/>
            <a:p>
              <a:pPr algn="ctr">
                <a:lnSpc>
                  <a:spcPts val="3120"/>
                </a:lnSpc>
              </a:pPr>
              <a:r>
                <a:rPr lang="en-US" sz="2600" b="true">
                  <a:solidFill>
                    <a:srgbClr val="FFFFFF"/>
                  </a:solidFill>
                  <a:latin typeface="EB Garamond Semi-Bold"/>
                  <a:ea typeface="EB Garamond Semi-Bold"/>
                  <a:cs typeface="EB Garamond Semi-Bold"/>
                  <a:sym typeface="EB Garamond Semi-Bold"/>
                </a:rPr>
                <a:t>✔</a:t>
              </a:r>
            </a:p>
          </p:txBody>
        </p:sp>
      </p:grpSp>
      <p:grpSp>
        <p:nvGrpSpPr>
          <p:cNvPr name="Group 44" id="44"/>
          <p:cNvGrpSpPr/>
          <p:nvPr/>
        </p:nvGrpSpPr>
        <p:grpSpPr>
          <a:xfrm rot="0">
            <a:off x="10698480" y="2267712"/>
            <a:ext cx="6766560" cy="621792"/>
            <a:chOff x="0" y="0"/>
            <a:chExt cx="9022080" cy="829056"/>
          </a:xfrm>
        </p:grpSpPr>
        <p:sp>
          <p:nvSpPr>
            <p:cNvPr name="Freeform 45" id="45"/>
            <p:cNvSpPr/>
            <p:nvPr/>
          </p:nvSpPr>
          <p:spPr>
            <a:xfrm flipH="false" flipV="false" rot="0">
              <a:off x="0" y="0"/>
              <a:ext cx="9022080" cy="829056"/>
            </a:xfrm>
            <a:custGeom>
              <a:avLst/>
              <a:gdLst/>
              <a:ahLst/>
              <a:cxnLst/>
              <a:rect r="r" b="b" t="t" l="l"/>
              <a:pathLst>
                <a:path h="829056" w="9022080">
                  <a:moveTo>
                    <a:pt x="0" y="0"/>
                  </a:moveTo>
                  <a:lnTo>
                    <a:pt x="9022080" y="0"/>
                  </a:lnTo>
                  <a:lnTo>
                    <a:pt x="9022080" y="829056"/>
                  </a:lnTo>
                  <a:lnTo>
                    <a:pt x="0" y="829056"/>
                  </a:lnTo>
                  <a:close/>
                </a:path>
              </a:pathLst>
            </a:custGeom>
            <a:blipFill>
              <a:blip r:embed="rId3">
                <a:alphaModFix amt="0"/>
              </a:blip>
              <a:stretch>
                <a:fillRect l="0" t="-162043" r="0" b="-162043"/>
              </a:stretch>
            </a:blipFill>
          </p:spPr>
        </p:sp>
        <p:sp>
          <p:nvSpPr>
            <p:cNvPr name="TextBox 46" id="46"/>
            <p:cNvSpPr txBox="true"/>
            <p:nvPr/>
          </p:nvSpPr>
          <p:spPr>
            <a:xfrm>
              <a:off x="0" y="0"/>
              <a:ext cx="9022080" cy="829056"/>
            </a:xfrm>
            <a:prstGeom prst="rect">
              <a:avLst/>
            </a:prstGeom>
          </p:spPr>
          <p:txBody>
            <a:bodyPr anchor="ctr" rtlCol="false" tIns="0" lIns="0" bIns="0" rIns="0"/>
            <a:lstStyle/>
            <a:p>
              <a:pPr algn="l">
                <a:lnSpc>
                  <a:spcPts val="3120"/>
                </a:lnSpc>
              </a:pPr>
              <a:r>
                <a:rPr lang="en-US" sz="2600" b="true">
                  <a:solidFill>
                    <a:srgbClr val="1C2E40"/>
                  </a:solidFill>
                  <a:latin typeface="EB Garamond Semi-Bold"/>
                  <a:ea typeface="EB Garamond Semi-Bold"/>
                  <a:cs typeface="EB Garamond Semi-Bold"/>
                  <a:sym typeface="EB Garamond Semi-Bold"/>
                </a:rPr>
                <a:t>Critiques spontanées</a:t>
              </a:r>
            </a:p>
          </p:txBody>
        </p:sp>
      </p:grpSp>
      <p:grpSp>
        <p:nvGrpSpPr>
          <p:cNvPr name="Group 47" id="47"/>
          <p:cNvGrpSpPr/>
          <p:nvPr/>
        </p:nvGrpSpPr>
        <p:grpSpPr>
          <a:xfrm rot="0">
            <a:off x="9860032" y="3023873"/>
            <a:ext cx="7607808" cy="841248"/>
            <a:chOff x="0" y="0"/>
            <a:chExt cx="10143744" cy="1121664"/>
          </a:xfrm>
        </p:grpSpPr>
        <p:sp>
          <p:nvSpPr>
            <p:cNvPr name="Freeform 48" id="48"/>
            <p:cNvSpPr/>
            <p:nvPr/>
          </p:nvSpPr>
          <p:spPr>
            <a:xfrm flipH="false" flipV="false" rot="0">
              <a:off x="0" y="0"/>
              <a:ext cx="10143744" cy="1121664"/>
            </a:xfrm>
            <a:custGeom>
              <a:avLst/>
              <a:gdLst/>
              <a:ahLst/>
              <a:cxnLst/>
              <a:rect r="r" b="b" t="t" l="l"/>
              <a:pathLst>
                <a:path h="1121664" w="10143744">
                  <a:moveTo>
                    <a:pt x="0" y="0"/>
                  </a:moveTo>
                  <a:lnTo>
                    <a:pt x="10143744" y="0"/>
                  </a:lnTo>
                  <a:lnTo>
                    <a:pt x="10143744" y="1121664"/>
                  </a:lnTo>
                  <a:lnTo>
                    <a:pt x="0" y="1121664"/>
                  </a:lnTo>
                  <a:close/>
                </a:path>
              </a:pathLst>
            </a:custGeom>
            <a:blipFill>
              <a:blip r:embed="rId3">
                <a:alphaModFix amt="0"/>
              </a:blip>
              <a:stretch>
                <a:fillRect l="0" t="-126212" r="0" b="-126212"/>
              </a:stretch>
            </a:blipFill>
          </p:spPr>
        </p:sp>
        <p:sp>
          <p:nvSpPr>
            <p:cNvPr name="TextBox 49" id="49"/>
            <p:cNvSpPr txBox="true"/>
            <p:nvPr/>
          </p:nvSpPr>
          <p:spPr>
            <a:xfrm>
              <a:off x="0" y="-9525"/>
              <a:ext cx="10143744" cy="1131189"/>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Danger de duplicates drop force signalé d'emblée sans qu'on le demande</a:t>
              </a:r>
            </a:p>
          </p:txBody>
        </p:sp>
      </p:grpSp>
      <p:grpSp>
        <p:nvGrpSpPr>
          <p:cNvPr name="Group 50" id="50"/>
          <p:cNvGrpSpPr/>
          <p:nvPr/>
        </p:nvGrpSpPr>
        <p:grpSpPr>
          <a:xfrm rot="0">
            <a:off x="9898132" y="3986784"/>
            <a:ext cx="7607808" cy="841248"/>
            <a:chOff x="0" y="0"/>
            <a:chExt cx="10143744" cy="1121664"/>
          </a:xfrm>
        </p:grpSpPr>
        <p:sp>
          <p:nvSpPr>
            <p:cNvPr name="Freeform 51" id="51"/>
            <p:cNvSpPr/>
            <p:nvPr/>
          </p:nvSpPr>
          <p:spPr>
            <a:xfrm flipH="false" flipV="false" rot="0">
              <a:off x="0" y="0"/>
              <a:ext cx="10143744" cy="1121664"/>
            </a:xfrm>
            <a:custGeom>
              <a:avLst/>
              <a:gdLst/>
              <a:ahLst/>
              <a:cxnLst/>
              <a:rect r="r" b="b" t="t" l="l"/>
              <a:pathLst>
                <a:path h="1121664" w="10143744">
                  <a:moveTo>
                    <a:pt x="0" y="0"/>
                  </a:moveTo>
                  <a:lnTo>
                    <a:pt x="10143744" y="0"/>
                  </a:lnTo>
                  <a:lnTo>
                    <a:pt x="10143744" y="1121664"/>
                  </a:lnTo>
                  <a:lnTo>
                    <a:pt x="0" y="1121664"/>
                  </a:lnTo>
                  <a:close/>
                </a:path>
              </a:pathLst>
            </a:custGeom>
            <a:blipFill>
              <a:blip r:embed="rId3">
                <a:alphaModFix amt="0"/>
              </a:blip>
              <a:stretch>
                <a:fillRect l="0" t="-126212" r="0" b="-126212"/>
              </a:stretch>
            </a:blipFill>
          </p:spPr>
        </p:sp>
        <p:sp>
          <p:nvSpPr>
            <p:cNvPr name="TextBox 52" id="52"/>
            <p:cNvSpPr txBox="true"/>
            <p:nvPr/>
          </p:nvSpPr>
          <p:spPr>
            <a:xfrm>
              <a:off x="0" y="-9525"/>
              <a:ext cx="10143744" cy="1131189"/>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Hétérogénéité de la variable soudure selon les pays soulevée spontanément</a:t>
              </a:r>
            </a:p>
          </p:txBody>
        </p:sp>
      </p:grpSp>
      <p:grpSp>
        <p:nvGrpSpPr>
          <p:cNvPr name="Group 53" id="53"/>
          <p:cNvGrpSpPr/>
          <p:nvPr/>
        </p:nvGrpSpPr>
        <p:grpSpPr>
          <a:xfrm rot="0">
            <a:off x="9860032" y="4951857"/>
            <a:ext cx="7607808" cy="841248"/>
            <a:chOff x="0" y="0"/>
            <a:chExt cx="10143744" cy="1121664"/>
          </a:xfrm>
        </p:grpSpPr>
        <p:sp>
          <p:nvSpPr>
            <p:cNvPr name="Freeform 54" id="54"/>
            <p:cNvSpPr/>
            <p:nvPr/>
          </p:nvSpPr>
          <p:spPr>
            <a:xfrm flipH="false" flipV="false" rot="0">
              <a:off x="0" y="0"/>
              <a:ext cx="10143744" cy="1121664"/>
            </a:xfrm>
            <a:custGeom>
              <a:avLst/>
              <a:gdLst/>
              <a:ahLst/>
              <a:cxnLst/>
              <a:rect r="r" b="b" t="t" l="l"/>
              <a:pathLst>
                <a:path h="1121664" w="10143744">
                  <a:moveTo>
                    <a:pt x="0" y="0"/>
                  </a:moveTo>
                  <a:lnTo>
                    <a:pt x="10143744" y="0"/>
                  </a:lnTo>
                  <a:lnTo>
                    <a:pt x="10143744" y="1121664"/>
                  </a:lnTo>
                  <a:lnTo>
                    <a:pt x="0" y="1121664"/>
                  </a:lnTo>
                  <a:close/>
                </a:path>
              </a:pathLst>
            </a:custGeom>
            <a:blipFill>
              <a:blip r:embed="rId3">
                <a:alphaModFix amt="0"/>
              </a:blip>
              <a:stretch>
                <a:fillRect l="0" t="-126212" r="0" b="-126212"/>
              </a:stretch>
            </a:blipFill>
          </p:spPr>
        </p:sp>
        <p:sp>
          <p:nvSpPr>
            <p:cNvPr name="TextBox 55" id="55"/>
            <p:cNvSpPr txBox="true"/>
            <p:nvPr/>
          </p:nvSpPr>
          <p:spPr>
            <a:xfrm>
              <a:off x="0" y="-9525"/>
              <a:ext cx="10143744" cy="1131189"/>
            </a:xfrm>
            <a:prstGeom prst="rect">
              <a:avLst/>
            </a:prstGeom>
          </p:spPr>
          <p:txBody>
            <a:bodyPr anchor="ctr" rtlCol="false" tIns="0" lIns="0" bIns="0" rIns="0"/>
            <a:lstStyle/>
            <a:p>
              <a:pPr algn="l">
                <a:lnSpc>
                  <a:spcPts val="2400"/>
                </a:lnSpc>
              </a:pPr>
              <a:r>
                <a:rPr lang="en-US" sz="2000">
                  <a:solidFill>
                    <a:srgbClr val="364E64"/>
                  </a:solidFill>
                  <a:latin typeface="EB Garamond"/>
                  <a:ea typeface="EB Garamond"/>
                  <a:cs typeface="EB Garamond"/>
                  <a:sym typeface="EB Garamond"/>
                </a:rPr>
                <a:t>·  Logique ET vs OU expliquée clairement </a:t>
              </a:r>
            </a:p>
          </p:txBody>
        </p:sp>
      </p:grpSp>
      <p:grpSp>
        <p:nvGrpSpPr>
          <p:cNvPr name="Group 56" id="56"/>
          <p:cNvGrpSpPr/>
          <p:nvPr/>
        </p:nvGrpSpPr>
        <p:grpSpPr>
          <a:xfrm rot="0">
            <a:off x="627383" y="6278375"/>
            <a:ext cx="8252450" cy="3637694"/>
            <a:chOff x="0" y="0"/>
            <a:chExt cx="11003267" cy="4850258"/>
          </a:xfrm>
        </p:grpSpPr>
        <p:grpSp>
          <p:nvGrpSpPr>
            <p:cNvPr name="Group 57" id="57"/>
            <p:cNvGrpSpPr/>
            <p:nvPr/>
          </p:nvGrpSpPr>
          <p:grpSpPr>
            <a:xfrm rot="0">
              <a:off x="3378" y="3063"/>
              <a:ext cx="10999889" cy="4844109"/>
              <a:chOff x="0" y="0"/>
              <a:chExt cx="10999889" cy="4844109"/>
            </a:xfrm>
          </p:grpSpPr>
          <p:sp>
            <p:nvSpPr>
              <p:cNvPr name="Freeform 58" id="58"/>
              <p:cNvSpPr/>
              <p:nvPr/>
            </p:nvSpPr>
            <p:spPr>
              <a:xfrm flipH="false" flipV="false" rot="0">
                <a:off x="13589" y="12321"/>
                <a:ext cx="10972800" cy="4819549"/>
              </a:xfrm>
              <a:custGeom>
                <a:avLst/>
                <a:gdLst/>
                <a:ahLst/>
                <a:cxnLst/>
                <a:rect r="r" b="b" t="t" l="l"/>
                <a:pathLst>
                  <a:path h="4819549" w="10972800">
                    <a:moveTo>
                      <a:pt x="0" y="221080"/>
                    </a:moveTo>
                    <a:cubicBezTo>
                      <a:pt x="0" y="99025"/>
                      <a:pt x="109474" y="0"/>
                      <a:pt x="244475" y="0"/>
                    </a:cubicBezTo>
                    <a:lnTo>
                      <a:pt x="10728325" y="0"/>
                    </a:lnTo>
                    <a:cubicBezTo>
                      <a:pt x="10863326" y="0"/>
                      <a:pt x="10972800" y="99025"/>
                      <a:pt x="10972800" y="221080"/>
                    </a:cubicBezTo>
                    <a:lnTo>
                      <a:pt x="10972800" y="4598468"/>
                    </a:lnTo>
                    <a:cubicBezTo>
                      <a:pt x="10972800" y="4720523"/>
                      <a:pt x="10863326" y="4819548"/>
                      <a:pt x="10728325" y="4819548"/>
                    </a:cubicBezTo>
                    <a:lnTo>
                      <a:pt x="244475" y="4819548"/>
                    </a:lnTo>
                    <a:cubicBezTo>
                      <a:pt x="109474" y="4819548"/>
                      <a:pt x="0" y="4720523"/>
                      <a:pt x="0" y="4598468"/>
                    </a:cubicBezTo>
                    <a:close/>
                  </a:path>
                </a:pathLst>
              </a:custGeom>
              <a:solidFill>
                <a:srgbClr val="FFFFFF"/>
              </a:solidFill>
            </p:spPr>
          </p:sp>
          <p:sp>
            <p:nvSpPr>
              <p:cNvPr name="Freeform 59" id="59"/>
              <p:cNvSpPr/>
              <p:nvPr/>
            </p:nvSpPr>
            <p:spPr>
              <a:xfrm flipH="false" flipV="false" rot="0">
                <a:off x="0" y="0"/>
                <a:ext cx="10999978" cy="4844198"/>
              </a:xfrm>
              <a:custGeom>
                <a:avLst/>
                <a:gdLst/>
                <a:ahLst/>
                <a:cxnLst/>
                <a:rect r="r" b="b" t="t" l="l"/>
                <a:pathLst>
                  <a:path h="4844198" w="10999978">
                    <a:moveTo>
                      <a:pt x="0" y="233401"/>
                    </a:moveTo>
                    <a:cubicBezTo>
                      <a:pt x="0" y="104437"/>
                      <a:pt x="115570" y="0"/>
                      <a:pt x="258064" y="0"/>
                    </a:cubicBezTo>
                    <a:lnTo>
                      <a:pt x="10741914" y="0"/>
                    </a:lnTo>
                    <a:lnTo>
                      <a:pt x="10741914" y="12321"/>
                    </a:lnTo>
                    <a:lnTo>
                      <a:pt x="10741914" y="0"/>
                    </a:lnTo>
                    <a:cubicBezTo>
                      <a:pt x="10884408" y="0"/>
                      <a:pt x="10999978" y="104437"/>
                      <a:pt x="10999978" y="233401"/>
                    </a:cubicBezTo>
                    <a:lnTo>
                      <a:pt x="10986389" y="233401"/>
                    </a:lnTo>
                    <a:lnTo>
                      <a:pt x="10999978" y="233401"/>
                    </a:lnTo>
                    <a:lnTo>
                      <a:pt x="10999978" y="4610789"/>
                    </a:lnTo>
                    <a:lnTo>
                      <a:pt x="10986389" y="4610789"/>
                    </a:lnTo>
                    <a:lnTo>
                      <a:pt x="10999978" y="4610789"/>
                    </a:lnTo>
                    <a:cubicBezTo>
                      <a:pt x="10999978" y="4739753"/>
                      <a:pt x="10884408" y="4844198"/>
                      <a:pt x="10741914" y="4844198"/>
                    </a:cubicBezTo>
                    <a:lnTo>
                      <a:pt x="10741914" y="4831869"/>
                    </a:lnTo>
                    <a:lnTo>
                      <a:pt x="10741914" y="4844198"/>
                    </a:lnTo>
                    <a:lnTo>
                      <a:pt x="258064" y="4844198"/>
                    </a:lnTo>
                    <a:lnTo>
                      <a:pt x="258064" y="4831869"/>
                    </a:lnTo>
                    <a:lnTo>
                      <a:pt x="258064" y="4844198"/>
                    </a:lnTo>
                    <a:cubicBezTo>
                      <a:pt x="115570" y="4844075"/>
                      <a:pt x="0" y="4739637"/>
                      <a:pt x="0" y="4610789"/>
                    </a:cubicBezTo>
                    <a:lnTo>
                      <a:pt x="0" y="233401"/>
                    </a:lnTo>
                    <a:lnTo>
                      <a:pt x="13589" y="233401"/>
                    </a:lnTo>
                    <a:lnTo>
                      <a:pt x="0" y="233401"/>
                    </a:lnTo>
                    <a:moveTo>
                      <a:pt x="27051" y="233401"/>
                    </a:moveTo>
                    <a:lnTo>
                      <a:pt x="27051" y="4610789"/>
                    </a:lnTo>
                    <a:lnTo>
                      <a:pt x="13589" y="4610789"/>
                    </a:lnTo>
                    <a:lnTo>
                      <a:pt x="27051" y="4610789"/>
                    </a:lnTo>
                    <a:cubicBezTo>
                      <a:pt x="27051" y="4726050"/>
                      <a:pt x="130429" y="4819549"/>
                      <a:pt x="257937" y="4819549"/>
                    </a:cubicBezTo>
                    <a:lnTo>
                      <a:pt x="10741787" y="4819549"/>
                    </a:lnTo>
                    <a:cubicBezTo>
                      <a:pt x="10869295" y="4819549"/>
                      <a:pt x="10972673" y="4726050"/>
                      <a:pt x="10972673" y="4610789"/>
                    </a:cubicBezTo>
                    <a:lnTo>
                      <a:pt x="10972673" y="233401"/>
                    </a:lnTo>
                    <a:cubicBezTo>
                      <a:pt x="10972673" y="118140"/>
                      <a:pt x="10869295" y="24641"/>
                      <a:pt x="10741787" y="24641"/>
                    </a:cubicBezTo>
                    <a:lnTo>
                      <a:pt x="258064" y="24641"/>
                    </a:lnTo>
                    <a:lnTo>
                      <a:pt x="258064" y="12321"/>
                    </a:lnTo>
                    <a:lnTo>
                      <a:pt x="258064" y="24526"/>
                    </a:lnTo>
                    <a:cubicBezTo>
                      <a:pt x="130556" y="24526"/>
                      <a:pt x="27178" y="118025"/>
                      <a:pt x="27178" y="233286"/>
                    </a:cubicBezTo>
                    <a:close/>
                  </a:path>
                </a:pathLst>
              </a:custGeom>
              <a:solidFill>
                <a:srgbClr val="BDC8D5"/>
              </a:solidFill>
            </p:spPr>
          </p:sp>
        </p:grpSp>
        <p:grpSp>
          <p:nvGrpSpPr>
            <p:cNvPr name="Group 60" id="60"/>
            <p:cNvGrpSpPr/>
            <p:nvPr/>
          </p:nvGrpSpPr>
          <p:grpSpPr>
            <a:xfrm rot="0">
              <a:off x="0" y="0"/>
              <a:ext cx="204559" cy="4850258"/>
              <a:chOff x="0" y="0"/>
              <a:chExt cx="204559" cy="4850258"/>
            </a:xfrm>
          </p:grpSpPr>
          <p:sp>
            <p:nvSpPr>
              <p:cNvPr name="Freeform 61" id="61"/>
              <p:cNvSpPr/>
              <p:nvPr/>
            </p:nvSpPr>
            <p:spPr>
              <a:xfrm flipH="false" flipV="false" rot="0">
                <a:off x="16891" y="15314"/>
                <a:ext cx="170688" cy="4819549"/>
              </a:xfrm>
              <a:custGeom>
                <a:avLst/>
                <a:gdLst/>
                <a:ahLst/>
                <a:cxnLst/>
                <a:rect r="r" b="b" t="t" l="l"/>
                <a:pathLst>
                  <a:path h="4819549" w="170688">
                    <a:moveTo>
                      <a:pt x="0" y="0"/>
                    </a:moveTo>
                    <a:lnTo>
                      <a:pt x="170688" y="0"/>
                    </a:lnTo>
                    <a:lnTo>
                      <a:pt x="170688" y="4819549"/>
                    </a:lnTo>
                    <a:lnTo>
                      <a:pt x="0" y="4819549"/>
                    </a:lnTo>
                    <a:close/>
                  </a:path>
                </a:pathLst>
              </a:custGeom>
              <a:solidFill>
                <a:srgbClr val="3A7D5C"/>
              </a:solidFill>
            </p:spPr>
          </p:sp>
          <p:sp>
            <p:nvSpPr>
              <p:cNvPr name="Freeform 62" id="62"/>
              <p:cNvSpPr/>
              <p:nvPr/>
            </p:nvSpPr>
            <p:spPr>
              <a:xfrm flipH="false" flipV="false" rot="0">
                <a:off x="0" y="0"/>
                <a:ext cx="204470" cy="4850178"/>
              </a:xfrm>
              <a:custGeom>
                <a:avLst/>
                <a:gdLst/>
                <a:ahLst/>
                <a:cxnLst/>
                <a:rect r="r" b="b" t="t" l="l"/>
                <a:pathLst>
                  <a:path h="4850178" w="204470">
                    <a:moveTo>
                      <a:pt x="16891" y="0"/>
                    </a:moveTo>
                    <a:lnTo>
                      <a:pt x="187579" y="0"/>
                    </a:lnTo>
                    <a:cubicBezTo>
                      <a:pt x="196977" y="0"/>
                      <a:pt x="204470" y="6909"/>
                      <a:pt x="204470" y="15314"/>
                    </a:cubicBezTo>
                    <a:lnTo>
                      <a:pt x="204470" y="4834863"/>
                    </a:lnTo>
                    <a:cubicBezTo>
                      <a:pt x="204470" y="4843384"/>
                      <a:pt x="196850" y="4850178"/>
                      <a:pt x="187579" y="4850178"/>
                    </a:cubicBezTo>
                    <a:lnTo>
                      <a:pt x="16891" y="4850178"/>
                    </a:lnTo>
                    <a:cubicBezTo>
                      <a:pt x="7493" y="4850178"/>
                      <a:pt x="0" y="4843269"/>
                      <a:pt x="0" y="4834863"/>
                    </a:cubicBezTo>
                    <a:lnTo>
                      <a:pt x="0" y="15314"/>
                    </a:lnTo>
                    <a:cubicBezTo>
                      <a:pt x="0" y="6909"/>
                      <a:pt x="7620" y="0"/>
                      <a:pt x="16891" y="0"/>
                    </a:cubicBezTo>
                    <a:moveTo>
                      <a:pt x="16891" y="30744"/>
                    </a:moveTo>
                    <a:lnTo>
                      <a:pt x="16891" y="15314"/>
                    </a:lnTo>
                    <a:lnTo>
                      <a:pt x="33909" y="15314"/>
                    </a:lnTo>
                    <a:lnTo>
                      <a:pt x="33909" y="4834863"/>
                    </a:lnTo>
                    <a:lnTo>
                      <a:pt x="16891" y="4834863"/>
                    </a:lnTo>
                    <a:lnTo>
                      <a:pt x="16891" y="4819549"/>
                    </a:lnTo>
                    <a:lnTo>
                      <a:pt x="187579" y="4819549"/>
                    </a:lnTo>
                    <a:lnTo>
                      <a:pt x="187579" y="4834863"/>
                    </a:lnTo>
                    <a:lnTo>
                      <a:pt x="170688" y="4834863"/>
                    </a:lnTo>
                    <a:lnTo>
                      <a:pt x="170688" y="15314"/>
                    </a:lnTo>
                    <a:lnTo>
                      <a:pt x="187579" y="15314"/>
                    </a:lnTo>
                    <a:lnTo>
                      <a:pt x="187579" y="30744"/>
                    </a:lnTo>
                    <a:lnTo>
                      <a:pt x="16891" y="30744"/>
                    </a:lnTo>
                    <a:close/>
                  </a:path>
                </a:pathLst>
              </a:custGeom>
              <a:solidFill>
                <a:srgbClr val="3A7D5C"/>
              </a:solidFill>
            </p:spPr>
          </p:sp>
        </p:grpSp>
        <p:grpSp>
          <p:nvGrpSpPr>
            <p:cNvPr name="Group 63" id="63"/>
            <p:cNvGrpSpPr/>
            <p:nvPr/>
          </p:nvGrpSpPr>
          <p:grpSpPr>
            <a:xfrm rot="0">
              <a:off x="438912" y="265296"/>
              <a:ext cx="911695" cy="826598"/>
              <a:chOff x="0" y="0"/>
              <a:chExt cx="911695" cy="826598"/>
            </a:xfrm>
          </p:grpSpPr>
          <p:sp>
            <p:nvSpPr>
              <p:cNvPr name="Freeform 64" id="64"/>
              <p:cNvSpPr/>
              <p:nvPr/>
            </p:nvSpPr>
            <p:spPr>
              <a:xfrm flipH="false" flipV="false" rot="0">
                <a:off x="16891" y="15314"/>
                <a:ext cx="877824" cy="795889"/>
              </a:xfrm>
              <a:custGeom>
                <a:avLst/>
                <a:gdLst/>
                <a:ahLst/>
                <a:cxnLst/>
                <a:rect r="r" b="b" t="t" l="l"/>
                <a:pathLst>
                  <a:path h="795889" w="877824">
                    <a:moveTo>
                      <a:pt x="0" y="397945"/>
                    </a:moveTo>
                    <a:cubicBezTo>
                      <a:pt x="0" y="178131"/>
                      <a:pt x="196469" y="0"/>
                      <a:pt x="438912" y="0"/>
                    </a:cubicBezTo>
                    <a:cubicBezTo>
                      <a:pt x="681355" y="0"/>
                      <a:pt x="877824" y="178246"/>
                      <a:pt x="877824" y="397945"/>
                    </a:cubicBezTo>
                    <a:cubicBezTo>
                      <a:pt x="877824" y="617643"/>
                      <a:pt x="681355" y="795889"/>
                      <a:pt x="438912" y="795889"/>
                    </a:cubicBezTo>
                    <a:cubicBezTo>
                      <a:pt x="196469" y="795889"/>
                      <a:pt x="0" y="617758"/>
                      <a:pt x="0" y="397945"/>
                    </a:cubicBezTo>
                    <a:close/>
                  </a:path>
                </a:pathLst>
              </a:custGeom>
              <a:solidFill>
                <a:srgbClr val="3A7D5C"/>
              </a:solidFill>
            </p:spPr>
          </p:sp>
          <p:sp>
            <p:nvSpPr>
              <p:cNvPr name="Freeform 65" id="65"/>
              <p:cNvSpPr/>
              <p:nvPr/>
            </p:nvSpPr>
            <p:spPr>
              <a:xfrm flipH="false" flipV="false" rot="0">
                <a:off x="0" y="0"/>
                <a:ext cx="911733" cy="826518"/>
              </a:xfrm>
              <a:custGeom>
                <a:avLst/>
                <a:gdLst/>
                <a:ahLst/>
                <a:cxnLst/>
                <a:rect r="r" b="b" t="t" l="l"/>
                <a:pathLst>
                  <a:path h="826518" w="911733">
                    <a:moveTo>
                      <a:pt x="0" y="413259"/>
                    </a:moveTo>
                    <a:cubicBezTo>
                      <a:pt x="0" y="185040"/>
                      <a:pt x="204089" y="0"/>
                      <a:pt x="455803" y="0"/>
                    </a:cubicBezTo>
                    <a:lnTo>
                      <a:pt x="455803" y="15314"/>
                    </a:lnTo>
                    <a:lnTo>
                      <a:pt x="455803" y="0"/>
                    </a:lnTo>
                    <a:cubicBezTo>
                      <a:pt x="707644" y="0"/>
                      <a:pt x="911733" y="185040"/>
                      <a:pt x="911733" y="413259"/>
                    </a:cubicBezTo>
                    <a:cubicBezTo>
                      <a:pt x="911733" y="641478"/>
                      <a:pt x="707644" y="826518"/>
                      <a:pt x="455930" y="826518"/>
                    </a:cubicBezTo>
                    <a:lnTo>
                      <a:pt x="455930" y="811203"/>
                    </a:lnTo>
                    <a:lnTo>
                      <a:pt x="455930" y="826518"/>
                    </a:lnTo>
                    <a:cubicBezTo>
                      <a:pt x="204089" y="826636"/>
                      <a:pt x="0" y="641593"/>
                      <a:pt x="0" y="413259"/>
                    </a:cubicBezTo>
                    <a:lnTo>
                      <a:pt x="16891" y="413259"/>
                    </a:lnTo>
                    <a:lnTo>
                      <a:pt x="31242" y="421434"/>
                    </a:lnTo>
                    <a:cubicBezTo>
                      <a:pt x="27178" y="427191"/>
                      <a:pt x="19431" y="429955"/>
                      <a:pt x="12192" y="427997"/>
                    </a:cubicBezTo>
                    <a:cubicBezTo>
                      <a:pt x="4953" y="426040"/>
                      <a:pt x="0" y="420168"/>
                      <a:pt x="0" y="413259"/>
                    </a:cubicBezTo>
                    <a:moveTo>
                      <a:pt x="33909" y="413259"/>
                    </a:moveTo>
                    <a:lnTo>
                      <a:pt x="16891" y="413259"/>
                    </a:lnTo>
                    <a:lnTo>
                      <a:pt x="2540" y="405199"/>
                    </a:lnTo>
                    <a:cubicBezTo>
                      <a:pt x="6604" y="399441"/>
                      <a:pt x="14351" y="396678"/>
                      <a:pt x="21590" y="398635"/>
                    </a:cubicBezTo>
                    <a:cubicBezTo>
                      <a:pt x="28829" y="400593"/>
                      <a:pt x="33909" y="406580"/>
                      <a:pt x="33909" y="413374"/>
                    </a:cubicBezTo>
                    <a:cubicBezTo>
                      <a:pt x="33909" y="624667"/>
                      <a:pt x="222885" y="796004"/>
                      <a:pt x="455930" y="796004"/>
                    </a:cubicBezTo>
                    <a:cubicBezTo>
                      <a:pt x="688975" y="796004"/>
                      <a:pt x="877951" y="624667"/>
                      <a:pt x="877951" y="413374"/>
                    </a:cubicBezTo>
                    <a:lnTo>
                      <a:pt x="894842" y="413374"/>
                    </a:lnTo>
                    <a:lnTo>
                      <a:pt x="877951" y="413374"/>
                    </a:lnTo>
                    <a:cubicBezTo>
                      <a:pt x="877951" y="202081"/>
                      <a:pt x="688975" y="30744"/>
                      <a:pt x="455930" y="30744"/>
                    </a:cubicBezTo>
                    <a:lnTo>
                      <a:pt x="455930" y="15314"/>
                    </a:lnTo>
                    <a:lnTo>
                      <a:pt x="455930" y="30744"/>
                    </a:lnTo>
                    <a:cubicBezTo>
                      <a:pt x="222758" y="30744"/>
                      <a:pt x="33909" y="201966"/>
                      <a:pt x="33909" y="413259"/>
                    </a:cubicBezTo>
                    <a:close/>
                  </a:path>
                </a:pathLst>
              </a:custGeom>
              <a:solidFill>
                <a:srgbClr val="3A7D5C"/>
              </a:solidFill>
            </p:spPr>
          </p:sp>
        </p:grpSp>
        <p:grpSp>
          <p:nvGrpSpPr>
            <p:cNvPr name="Group 66" id="66"/>
            <p:cNvGrpSpPr/>
            <p:nvPr/>
          </p:nvGrpSpPr>
          <p:grpSpPr>
            <a:xfrm rot="0">
              <a:off x="455841" y="280645"/>
              <a:ext cx="877824" cy="795889"/>
              <a:chOff x="0" y="0"/>
              <a:chExt cx="877824" cy="795889"/>
            </a:xfrm>
          </p:grpSpPr>
          <p:sp>
            <p:nvSpPr>
              <p:cNvPr name="Freeform 67" id="67"/>
              <p:cNvSpPr/>
              <p:nvPr/>
            </p:nvSpPr>
            <p:spPr>
              <a:xfrm flipH="false" flipV="false" rot="0">
                <a:off x="0" y="0"/>
                <a:ext cx="877824" cy="795889"/>
              </a:xfrm>
              <a:custGeom>
                <a:avLst/>
                <a:gdLst/>
                <a:ahLst/>
                <a:cxnLst/>
                <a:rect r="r" b="b" t="t" l="l"/>
                <a:pathLst>
                  <a:path h="795889" w="877824">
                    <a:moveTo>
                      <a:pt x="0" y="0"/>
                    </a:moveTo>
                    <a:lnTo>
                      <a:pt x="877824" y="0"/>
                    </a:lnTo>
                    <a:lnTo>
                      <a:pt x="877824" y="795889"/>
                    </a:lnTo>
                    <a:lnTo>
                      <a:pt x="0" y="795889"/>
                    </a:lnTo>
                    <a:close/>
                  </a:path>
                </a:pathLst>
              </a:custGeom>
              <a:blipFill>
                <a:blip r:embed="rId3">
                  <a:alphaModFix amt="0"/>
                </a:blip>
                <a:stretch>
                  <a:fillRect l="-78303" t="0" r="-78303" b="-10294"/>
                </a:stretch>
              </a:blipFill>
            </p:spPr>
          </p:sp>
          <p:sp>
            <p:nvSpPr>
              <p:cNvPr name="TextBox 68" id="68"/>
              <p:cNvSpPr txBox="true"/>
              <p:nvPr/>
            </p:nvSpPr>
            <p:spPr>
              <a:xfrm>
                <a:off x="0" y="-57150"/>
                <a:ext cx="877824" cy="853039"/>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a:t>
                </a:r>
              </a:p>
            </p:txBody>
          </p:sp>
        </p:grpSp>
        <p:grpSp>
          <p:nvGrpSpPr>
            <p:cNvPr name="Group 69" id="69"/>
            <p:cNvGrpSpPr/>
            <p:nvPr/>
          </p:nvGrpSpPr>
          <p:grpSpPr>
            <a:xfrm rot="0">
              <a:off x="1601889" y="324861"/>
              <a:ext cx="9022080" cy="751673"/>
              <a:chOff x="0" y="0"/>
              <a:chExt cx="9022080" cy="751673"/>
            </a:xfrm>
          </p:grpSpPr>
          <p:sp>
            <p:nvSpPr>
              <p:cNvPr name="Freeform 70" id="70"/>
              <p:cNvSpPr/>
              <p:nvPr/>
            </p:nvSpPr>
            <p:spPr>
              <a:xfrm flipH="false" flipV="false" rot="0">
                <a:off x="0" y="0"/>
                <a:ext cx="9022080" cy="751673"/>
              </a:xfrm>
              <a:custGeom>
                <a:avLst/>
                <a:gdLst/>
                <a:ahLst/>
                <a:cxnLst/>
                <a:rect r="r" b="b" t="t" l="l"/>
                <a:pathLst>
                  <a:path h="751673" w="9022080">
                    <a:moveTo>
                      <a:pt x="0" y="0"/>
                    </a:moveTo>
                    <a:lnTo>
                      <a:pt x="9022080" y="0"/>
                    </a:lnTo>
                    <a:lnTo>
                      <a:pt x="9022080" y="751673"/>
                    </a:lnTo>
                    <a:lnTo>
                      <a:pt x="0" y="751673"/>
                    </a:lnTo>
                    <a:close/>
                  </a:path>
                </a:pathLst>
              </a:custGeom>
              <a:blipFill>
                <a:blip r:embed="rId3">
                  <a:alphaModFix amt="0"/>
                </a:blip>
                <a:stretch>
                  <a:fillRect l="0" t="-178725" r="0" b="-189019"/>
                </a:stretch>
              </a:blipFill>
            </p:spPr>
          </p:sp>
          <p:sp>
            <p:nvSpPr>
              <p:cNvPr name="TextBox 71" id="71"/>
              <p:cNvSpPr txBox="true"/>
              <p:nvPr/>
            </p:nvSpPr>
            <p:spPr>
              <a:xfrm>
                <a:off x="0" y="-57150"/>
                <a:ext cx="9022080" cy="808823"/>
              </a:xfrm>
              <a:prstGeom prst="rect">
                <a:avLst/>
              </a:prstGeom>
            </p:spPr>
            <p:txBody>
              <a:bodyPr anchor="ctr" rtlCol="false" tIns="0" lIns="0" bIns="0" rIns="0"/>
              <a:lstStyle/>
              <a:p>
                <a:pPr algn="l">
                  <a:lnSpc>
                    <a:spcPts val="3120"/>
                  </a:lnSpc>
                </a:pPr>
                <a:r>
                  <a:rPr lang="en-US" sz="2600" b="true">
                    <a:solidFill>
                      <a:srgbClr val="1C2E40"/>
                    </a:solidFill>
                    <a:latin typeface="Calibri (MS) Bold"/>
                    <a:ea typeface="Calibri (MS) Bold"/>
                    <a:cs typeface="Calibri (MS) Bold"/>
                    <a:sym typeface="Calibri (MS) Bold"/>
                  </a:rPr>
                  <a:t>Alternatives concrètes</a:t>
                </a:r>
              </a:p>
            </p:txBody>
          </p:sp>
        </p:grpSp>
        <p:grpSp>
          <p:nvGrpSpPr>
            <p:cNvPr name="Group 72" id="72"/>
            <p:cNvGrpSpPr/>
            <p:nvPr/>
          </p:nvGrpSpPr>
          <p:grpSpPr>
            <a:xfrm rot="0">
              <a:off x="431451" y="1679139"/>
              <a:ext cx="10143744" cy="1016969"/>
              <a:chOff x="0" y="0"/>
              <a:chExt cx="10143744" cy="1016969"/>
            </a:xfrm>
          </p:grpSpPr>
          <p:sp>
            <p:nvSpPr>
              <p:cNvPr name="Freeform 73" id="73"/>
              <p:cNvSpPr/>
              <p:nvPr/>
            </p:nvSpPr>
            <p:spPr>
              <a:xfrm flipH="false" flipV="false" rot="0">
                <a:off x="0" y="0"/>
                <a:ext cx="10143744" cy="1016969"/>
              </a:xfrm>
              <a:custGeom>
                <a:avLst/>
                <a:gdLst/>
                <a:ahLst/>
                <a:cxnLst/>
                <a:rect r="r" b="b" t="t" l="l"/>
                <a:pathLst>
                  <a:path h="1016969" w="10143744">
                    <a:moveTo>
                      <a:pt x="0" y="0"/>
                    </a:moveTo>
                    <a:lnTo>
                      <a:pt x="10143744" y="0"/>
                    </a:lnTo>
                    <a:lnTo>
                      <a:pt x="10143744" y="1016969"/>
                    </a:lnTo>
                    <a:lnTo>
                      <a:pt x="0" y="1016969"/>
                    </a:lnTo>
                    <a:close/>
                  </a:path>
                </a:pathLst>
              </a:custGeom>
              <a:blipFill>
                <a:blip r:embed="rId3">
                  <a:alphaModFix amt="0"/>
                </a:blip>
                <a:stretch>
                  <a:fillRect l="0" t="-139205" r="0" b="-149500"/>
                </a:stretch>
              </a:blipFill>
            </p:spPr>
          </p:sp>
          <p:sp>
            <p:nvSpPr>
              <p:cNvPr name="TextBox 74" id="74"/>
              <p:cNvSpPr txBox="true"/>
              <p:nvPr/>
            </p:nvSpPr>
            <p:spPr>
              <a:xfrm>
                <a:off x="0" y="-38100"/>
                <a:ext cx="10143744" cy="1055069"/>
              </a:xfrm>
              <a:prstGeom prst="rect">
                <a:avLst/>
              </a:prstGeom>
            </p:spPr>
            <p:txBody>
              <a:bodyPr anchor="ctr" rtlCol="false" tIns="0" lIns="0" bIns="0" rIns="0"/>
              <a:lstStyle/>
              <a:p>
                <a:pPr algn="l">
                  <a:lnSpc>
                    <a:spcPts val="2400"/>
                  </a:lnSpc>
                </a:pPr>
                <a:r>
                  <a:rPr lang="en-US" sz="2000">
                    <a:solidFill>
                      <a:srgbClr val="364E64"/>
                    </a:solidFill>
                    <a:latin typeface="Calibri (MS)"/>
                    <a:ea typeface="Calibri (MS)"/>
                    <a:cs typeface="Calibri (MS)"/>
                    <a:sym typeface="Calibri (MS)"/>
                  </a:rPr>
                  <a:t>·  Médiane conditionnelle proposée en remplacement de la moyenne</a:t>
                </a:r>
              </a:p>
            </p:txBody>
          </p:sp>
        </p:grpSp>
        <p:grpSp>
          <p:nvGrpSpPr>
            <p:cNvPr name="Group 75" id="75"/>
            <p:cNvGrpSpPr/>
            <p:nvPr/>
          </p:nvGrpSpPr>
          <p:grpSpPr>
            <a:xfrm rot="0">
              <a:off x="431451" y="2901828"/>
              <a:ext cx="10143744" cy="1016969"/>
              <a:chOff x="0" y="0"/>
              <a:chExt cx="10143744" cy="1016969"/>
            </a:xfrm>
          </p:grpSpPr>
          <p:sp>
            <p:nvSpPr>
              <p:cNvPr name="Freeform 76" id="76"/>
              <p:cNvSpPr/>
              <p:nvPr/>
            </p:nvSpPr>
            <p:spPr>
              <a:xfrm flipH="false" flipV="false" rot="0">
                <a:off x="0" y="0"/>
                <a:ext cx="10143744" cy="1016969"/>
              </a:xfrm>
              <a:custGeom>
                <a:avLst/>
                <a:gdLst/>
                <a:ahLst/>
                <a:cxnLst/>
                <a:rect r="r" b="b" t="t" l="l"/>
                <a:pathLst>
                  <a:path h="1016969" w="10143744">
                    <a:moveTo>
                      <a:pt x="0" y="0"/>
                    </a:moveTo>
                    <a:lnTo>
                      <a:pt x="10143744" y="0"/>
                    </a:lnTo>
                    <a:lnTo>
                      <a:pt x="10143744" y="1016969"/>
                    </a:lnTo>
                    <a:lnTo>
                      <a:pt x="0" y="1016969"/>
                    </a:lnTo>
                    <a:close/>
                  </a:path>
                </a:pathLst>
              </a:custGeom>
              <a:blipFill>
                <a:blip r:embed="rId3">
                  <a:alphaModFix amt="0"/>
                </a:blip>
                <a:stretch>
                  <a:fillRect l="0" t="-139205" r="0" b="-149500"/>
                </a:stretch>
              </a:blipFill>
            </p:spPr>
          </p:sp>
          <p:sp>
            <p:nvSpPr>
              <p:cNvPr name="TextBox 77" id="77"/>
              <p:cNvSpPr txBox="true"/>
              <p:nvPr/>
            </p:nvSpPr>
            <p:spPr>
              <a:xfrm>
                <a:off x="0" y="-38100"/>
                <a:ext cx="10143744" cy="1055069"/>
              </a:xfrm>
              <a:prstGeom prst="rect">
                <a:avLst/>
              </a:prstGeom>
            </p:spPr>
            <p:txBody>
              <a:bodyPr anchor="ctr" rtlCol="false" tIns="0" lIns="0" bIns="0" rIns="0"/>
              <a:lstStyle/>
              <a:p>
                <a:pPr algn="l">
                  <a:lnSpc>
                    <a:spcPts val="2400"/>
                  </a:lnSpc>
                </a:pPr>
                <a:r>
                  <a:rPr lang="en-US" sz="2000">
                    <a:solidFill>
                      <a:srgbClr val="364E64"/>
                    </a:solidFill>
                    <a:latin typeface="Calibri (MS)"/>
                    <a:ea typeface="Calibri (MS)"/>
                    <a:cs typeface="Calibri (MS)"/>
                    <a:sym typeface="Calibri (MS)"/>
                  </a:rPr>
                  <a:t>·  Coefficient EA : variantes FAO 0,5 et Oxford Poverty Index présentées</a:t>
                </a:r>
              </a:p>
            </p:txBody>
          </p:sp>
        </p:grpSp>
      </p:grpSp>
      <p:grpSp>
        <p:nvGrpSpPr>
          <p:cNvPr name="Group 78" id="78"/>
          <p:cNvGrpSpPr/>
          <p:nvPr/>
        </p:nvGrpSpPr>
        <p:grpSpPr>
          <a:xfrm rot="0">
            <a:off x="9497063" y="6278375"/>
            <a:ext cx="8252450" cy="3637694"/>
            <a:chOff x="0" y="0"/>
            <a:chExt cx="11003267" cy="4850258"/>
          </a:xfrm>
        </p:grpSpPr>
        <p:grpSp>
          <p:nvGrpSpPr>
            <p:cNvPr name="Group 79" id="79"/>
            <p:cNvGrpSpPr/>
            <p:nvPr/>
          </p:nvGrpSpPr>
          <p:grpSpPr>
            <a:xfrm rot="0">
              <a:off x="3378" y="3063"/>
              <a:ext cx="10999889" cy="4844109"/>
              <a:chOff x="0" y="0"/>
              <a:chExt cx="10999889" cy="4844109"/>
            </a:xfrm>
          </p:grpSpPr>
          <p:sp>
            <p:nvSpPr>
              <p:cNvPr name="Freeform 80" id="80"/>
              <p:cNvSpPr/>
              <p:nvPr/>
            </p:nvSpPr>
            <p:spPr>
              <a:xfrm flipH="false" flipV="false" rot="0">
                <a:off x="13589" y="12321"/>
                <a:ext cx="10972800" cy="4819549"/>
              </a:xfrm>
              <a:custGeom>
                <a:avLst/>
                <a:gdLst/>
                <a:ahLst/>
                <a:cxnLst/>
                <a:rect r="r" b="b" t="t" l="l"/>
                <a:pathLst>
                  <a:path h="4819549" w="10972800">
                    <a:moveTo>
                      <a:pt x="0" y="221080"/>
                    </a:moveTo>
                    <a:cubicBezTo>
                      <a:pt x="0" y="99025"/>
                      <a:pt x="109474" y="0"/>
                      <a:pt x="244475" y="0"/>
                    </a:cubicBezTo>
                    <a:lnTo>
                      <a:pt x="10728325" y="0"/>
                    </a:lnTo>
                    <a:cubicBezTo>
                      <a:pt x="10863326" y="0"/>
                      <a:pt x="10972800" y="99025"/>
                      <a:pt x="10972800" y="221080"/>
                    </a:cubicBezTo>
                    <a:lnTo>
                      <a:pt x="10972800" y="4598468"/>
                    </a:lnTo>
                    <a:cubicBezTo>
                      <a:pt x="10972800" y="4720523"/>
                      <a:pt x="10863326" y="4819548"/>
                      <a:pt x="10728325" y="4819548"/>
                    </a:cubicBezTo>
                    <a:lnTo>
                      <a:pt x="244475" y="4819548"/>
                    </a:lnTo>
                    <a:cubicBezTo>
                      <a:pt x="109474" y="4819548"/>
                      <a:pt x="0" y="4720523"/>
                      <a:pt x="0" y="4598468"/>
                    </a:cubicBezTo>
                    <a:close/>
                  </a:path>
                </a:pathLst>
              </a:custGeom>
              <a:solidFill>
                <a:srgbClr val="FFFFFF"/>
              </a:solidFill>
            </p:spPr>
          </p:sp>
          <p:sp>
            <p:nvSpPr>
              <p:cNvPr name="Freeform 81" id="81"/>
              <p:cNvSpPr/>
              <p:nvPr/>
            </p:nvSpPr>
            <p:spPr>
              <a:xfrm flipH="false" flipV="false" rot="0">
                <a:off x="0" y="0"/>
                <a:ext cx="10999978" cy="4844198"/>
              </a:xfrm>
              <a:custGeom>
                <a:avLst/>
                <a:gdLst/>
                <a:ahLst/>
                <a:cxnLst/>
                <a:rect r="r" b="b" t="t" l="l"/>
                <a:pathLst>
                  <a:path h="4844198" w="10999978">
                    <a:moveTo>
                      <a:pt x="0" y="233401"/>
                    </a:moveTo>
                    <a:cubicBezTo>
                      <a:pt x="0" y="104437"/>
                      <a:pt x="115570" y="0"/>
                      <a:pt x="258064" y="0"/>
                    </a:cubicBezTo>
                    <a:lnTo>
                      <a:pt x="10741914" y="0"/>
                    </a:lnTo>
                    <a:lnTo>
                      <a:pt x="10741914" y="12321"/>
                    </a:lnTo>
                    <a:lnTo>
                      <a:pt x="10741914" y="0"/>
                    </a:lnTo>
                    <a:cubicBezTo>
                      <a:pt x="10884408" y="0"/>
                      <a:pt x="10999978" y="104437"/>
                      <a:pt x="10999978" y="233401"/>
                    </a:cubicBezTo>
                    <a:lnTo>
                      <a:pt x="10986389" y="233401"/>
                    </a:lnTo>
                    <a:lnTo>
                      <a:pt x="10999978" y="233401"/>
                    </a:lnTo>
                    <a:lnTo>
                      <a:pt x="10999978" y="4610789"/>
                    </a:lnTo>
                    <a:lnTo>
                      <a:pt x="10986389" y="4610789"/>
                    </a:lnTo>
                    <a:lnTo>
                      <a:pt x="10999978" y="4610789"/>
                    </a:lnTo>
                    <a:cubicBezTo>
                      <a:pt x="10999978" y="4739753"/>
                      <a:pt x="10884408" y="4844198"/>
                      <a:pt x="10741914" y="4844198"/>
                    </a:cubicBezTo>
                    <a:lnTo>
                      <a:pt x="10741914" y="4831869"/>
                    </a:lnTo>
                    <a:lnTo>
                      <a:pt x="10741914" y="4844198"/>
                    </a:lnTo>
                    <a:lnTo>
                      <a:pt x="258064" y="4844198"/>
                    </a:lnTo>
                    <a:lnTo>
                      <a:pt x="258064" y="4831869"/>
                    </a:lnTo>
                    <a:lnTo>
                      <a:pt x="258064" y="4844198"/>
                    </a:lnTo>
                    <a:cubicBezTo>
                      <a:pt x="115570" y="4844075"/>
                      <a:pt x="0" y="4739637"/>
                      <a:pt x="0" y="4610789"/>
                    </a:cubicBezTo>
                    <a:lnTo>
                      <a:pt x="0" y="233401"/>
                    </a:lnTo>
                    <a:lnTo>
                      <a:pt x="13589" y="233401"/>
                    </a:lnTo>
                    <a:lnTo>
                      <a:pt x="0" y="233401"/>
                    </a:lnTo>
                    <a:moveTo>
                      <a:pt x="27051" y="233401"/>
                    </a:moveTo>
                    <a:lnTo>
                      <a:pt x="27051" y="4610789"/>
                    </a:lnTo>
                    <a:lnTo>
                      <a:pt x="13589" y="4610789"/>
                    </a:lnTo>
                    <a:lnTo>
                      <a:pt x="27051" y="4610789"/>
                    </a:lnTo>
                    <a:cubicBezTo>
                      <a:pt x="27051" y="4726050"/>
                      <a:pt x="130429" y="4819549"/>
                      <a:pt x="257937" y="4819549"/>
                    </a:cubicBezTo>
                    <a:lnTo>
                      <a:pt x="10741787" y="4819549"/>
                    </a:lnTo>
                    <a:cubicBezTo>
                      <a:pt x="10869295" y="4819549"/>
                      <a:pt x="10972673" y="4726050"/>
                      <a:pt x="10972673" y="4610789"/>
                    </a:cubicBezTo>
                    <a:lnTo>
                      <a:pt x="10972673" y="233401"/>
                    </a:lnTo>
                    <a:cubicBezTo>
                      <a:pt x="10972673" y="118140"/>
                      <a:pt x="10869295" y="24641"/>
                      <a:pt x="10741787" y="24641"/>
                    </a:cubicBezTo>
                    <a:lnTo>
                      <a:pt x="258064" y="24641"/>
                    </a:lnTo>
                    <a:lnTo>
                      <a:pt x="258064" y="12321"/>
                    </a:lnTo>
                    <a:lnTo>
                      <a:pt x="258064" y="24526"/>
                    </a:lnTo>
                    <a:cubicBezTo>
                      <a:pt x="130556" y="24526"/>
                      <a:pt x="27178" y="118025"/>
                      <a:pt x="27178" y="233286"/>
                    </a:cubicBezTo>
                    <a:close/>
                  </a:path>
                </a:pathLst>
              </a:custGeom>
              <a:solidFill>
                <a:srgbClr val="BDC8D5"/>
              </a:solidFill>
            </p:spPr>
          </p:sp>
        </p:grpSp>
        <p:grpSp>
          <p:nvGrpSpPr>
            <p:cNvPr name="Group 82" id="82"/>
            <p:cNvGrpSpPr/>
            <p:nvPr/>
          </p:nvGrpSpPr>
          <p:grpSpPr>
            <a:xfrm rot="0">
              <a:off x="0" y="0"/>
              <a:ext cx="204559" cy="4850258"/>
              <a:chOff x="0" y="0"/>
              <a:chExt cx="204559" cy="4850258"/>
            </a:xfrm>
          </p:grpSpPr>
          <p:sp>
            <p:nvSpPr>
              <p:cNvPr name="Freeform 83" id="83"/>
              <p:cNvSpPr/>
              <p:nvPr/>
            </p:nvSpPr>
            <p:spPr>
              <a:xfrm flipH="false" flipV="false" rot="0">
                <a:off x="16891" y="15314"/>
                <a:ext cx="170688" cy="4819549"/>
              </a:xfrm>
              <a:custGeom>
                <a:avLst/>
                <a:gdLst/>
                <a:ahLst/>
                <a:cxnLst/>
                <a:rect r="r" b="b" t="t" l="l"/>
                <a:pathLst>
                  <a:path h="4819549" w="170688">
                    <a:moveTo>
                      <a:pt x="0" y="0"/>
                    </a:moveTo>
                    <a:lnTo>
                      <a:pt x="170688" y="0"/>
                    </a:lnTo>
                    <a:lnTo>
                      <a:pt x="170688" y="4819549"/>
                    </a:lnTo>
                    <a:lnTo>
                      <a:pt x="0" y="4819549"/>
                    </a:lnTo>
                    <a:close/>
                  </a:path>
                </a:pathLst>
              </a:custGeom>
              <a:solidFill>
                <a:srgbClr val="C89A3E"/>
              </a:solidFill>
            </p:spPr>
          </p:sp>
          <p:sp>
            <p:nvSpPr>
              <p:cNvPr name="Freeform 84" id="84"/>
              <p:cNvSpPr/>
              <p:nvPr/>
            </p:nvSpPr>
            <p:spPr>
              <a:xfrm flipH="false" flipV="false" rot="0">
                <a:off x="0" y="0"/>
                <a:ext cx="204470" cy="4850178"/>
              </a:xfrm>
              <a:custGeom>
                <a:avLst/>
                <a:gdLst/>
                <a:ahLst/>
                <a:cxnLst/>
                <a:rect r="r" b="b" t="t" l="l"/>
                <a:pathLst>
                  <a:path h="4850178" w="204470">
                    <a:moveTo>
                      <a:pt x="16891" y="0"/>
                    </a:moveTo>
                    <a:lnTo>
                      <a:pt x="187579" y="0"/>
                    </a:lnTo>
                    <a:cubicBezTo>
                      <a:pt x="196977" y="0"/>
                      <a:pt x="204470" y="6909"/>
                      <a:pt x="204470" y="15314"/>
                    </a:cubicBezTo>
                    <a:lnTo>
                      <a:pt x="204470" y="4834863"/>
                    </a:lnTo>
                    <a:cubicBezTo>
                      <a:pt x="204470" y="4843384"/>
                      <a:pt x="196850" y="4850178"/>
                      <a:pt x="187579" y="4850178"/>
                    </a:cubicBezTo>
                    <a:lnTo>
                      <a:pt x="16891" y="4850178"/>
                    </a:lnTo>
                    <a:cubicBezTo>
                      <a:pt x="7493" y="4850178"/>
                      <a:pt x="0" y="4843269"/>
                      <a:pt x="0" y="4834863"/>
                    </a:cubicBezTo>
                    <a:lnTo>
                      <a:pt x="0" y="15314"/>
                    </a:lnTo>
                    <a:cubicBezTo>
                      <a:pt x="0" y="6909"/>
                      <a:pt x="7620" y="0"/>
                      <a:pt x="16891" y="0"/>
                    </a:cubicBezTo>
                    <a:moveTo>
                      <a:pt x="16891" y="30744"/>
                    </a:moveTo>
                    <a:lnTo>
                      <a:pt x="16891" y="15314"/>
                    </a:lnTo>
                    <a:lnTo>
                      <a:pt x="33909" y="15314"/>
                    </a:lnTo>
                    <a:lnTo>
                      <a:pt x="33909" y="4834863"/>
                    </a:lnTo>
                    <a:lnTo>
                      <a:pt x="16891" y="4834863"/>
                    </a:lnTo>
                    <a:lnTo>
                      <a:pt x="16891" y="4819549"/>
                    </a:lnTo>
                    <a:lnTo>
                      <a:pt x="187579" y="4819549"/>
                    </a:lnTo>
                    <a:lnTo>
                      <a:pt x="187579" y="4834863"/>
                    </a:lnTo>
                    <a:lnTo>
                      <a:pt x="170688" y="4834863"/>
                    </a:lnTo>
                    <a:lnTo>
                      <a:pt x="170688" y="15314"/>
                    </a:lnTo>
                    <a:lnTo>
                      <a:pt x="187579" y="15314"/>
                    </a:lnTo>
                    <a:lnTo>
                      <a:pt x="187579" y="30744"/>
                    </a:lnTo>
                    <a:lnTo>
                      <a:pt x="16891" y="30744"/>
                    </a:lnTo>
                    <a:close/>
                  </a:path>
                </a:pathLst>
              </a:custGeom>
              <a:solidFill>
                <a:srgbClr val="C89A3E"/>
              </a:solidFill>
            </p:spPr>
          </p:sp>
        </p:grpSp>
        <p:grpSp>
          <p:nvGrpSpPr>
            <p:cNvPr name="Group 85" id="85"/>
            <p:cNvGrpSpPr/>
            <p:nvPr/>
          </p:nvGrpSpPr>
          <p:grpSpPr>
            <a:xfrm rot="0">
              <a:off x="438912" y="265296"/>
              <a:ext cx="911695" cy="826598"/>
              <a:chOff x="0" y="0"/>
              <a:chExt cx="911695" cy="826598"/>
            </a:xfrm>
          </p:grpSpPr>
          <p:sp>
            <p:nvSpPr>
              <p:cNvPr name="Freeform 86" id="86"/>
              <p:cNvSpPr/>
              <p:nvPr/>
            </p:nvSpPr>
            <p:spPr>
              <a:xfrm flipH="false" flipV="false" rot="0">
                <a:off x="16891" y="15314"/>
                <a:ext cx="877824" cy="795889"/>
              </a:xfrm>
              <a:custGeom>
                <a:avLst/>
                <a:gdLst/>
                <a:ahLst/>
                <a:cxnLst/>
                <a:rect r="r" b="b" t="t" l="l"/>
                <a:pathLst>
                  <a:path h="795889" w="877824">
                    <a:moveTo>
                      <a:pt x="0" y="397945"/>
                    </a:moveTo>
                    <a:cubicBezTo>
                      <a:pt x="0" y="178131"/>
                      <a:pt x="196469" y="0"/>
                      <a:pt x="438912" y="0"/>
                    </a:cubicBezTo>
                    <a:cubicBezTo>
                      <a:pt x="681355" y="0"/>
                      <a:pt x="877824" y="178246"/>
                      <a:pt x="877824" y="397945"/>
                    </a:cubicBezTo>
                    <a:cubicBezTo>
                      <a:pt x="877824" y="617643"/>
                      <a:pt x="681355" y="795889"/>
                      <a:pt x="438912" y="795889"/>
                    </a:cubicBezTo>
                    <a:cubicBezTo>
                      <a:pt x="196469" y="795889"/>
                      <a:pt x="0" y="617758"/>
                      <a:pt x="0" y="397945"/>
                    </a:cubicBezTo>
                    <a:close/>
                  </a:path>
                </a:pathLst>
              </a:custGeom>
              <a:solidFill>
                <a:srgbClr val="C89A3E"/>
              </a:solidFill>
            </p:spPr>
          </p:sp>
          <p:sp>
            <p:nvSpPr>
              <p:cNvPr name="Freeform 87" id="87"/>
              <p:cNvSpPr/>
              <p:nvPr/>
            </p:nvSpPr>
            <p:spPr>
              <a:xfrm flipH="false" flipV="false" rot="0">
                <a:off x="0" y="0"/>
                <a:ext cx="911733" cy="826518"/>
              </a:xfrm>
              <a:custGeom>
                <a:avLst/>
                <a:gdLst/>
                <a:ahLst/>
                <a:cxnLst/>
                <a:rect r="r" b="b" t="t" l="l"/>
                <a:pathLst>
                  <a:path h="826518" w="911733">
                    <a:moveTo>
                      <a:pt x="0" y="413259"/>
                    </a:moveTo>
                    <a:cubicBezTo>
                      <a:pt x="0" y="185040"/>
                      <a:pt x="204089" y="0"/>
                      <a:pt x="455803" y="0"/>
                    </a:cubicBezTo>
                    <a:lnTo>
                      <a:pt x="455803" y="15314"/>
                    </a:lnTo>
                    <a:lnTo>
                      <a:pt x="455803" y="0"/>
                    </a:lnTo>
                    <a:cubicBezTo>
                      <a:pt x="707644" y="0"/>
                      <a:pt x="911733" y="185040"/>
                      <a:pt x="911733" y="413259"/>
                    </a:cubicBezTo>
                    <a:cubicBezTo>
                      <a:pt x="911733" y="641478"/>
                      <a:pt x="707644" y="826518"/>
                      <a:pt x="455930" y="826518"/>
                    </a:cubicBezTo>
                    <a:lnTo>
                      <a:pt x="455930" y="811203"/>
                    </a:lnTo>
                    <a:lnTo>
                      <a:pt x="455930" y="826518"/>
                    </a:lnTo>
                    <a:cubicBezTo>
                      <a:pt x="204089" y="826636"/>
                      <a:pt x="0" y="641593"/>
                      <a:pt x="0" y="413259"/>
                    </a:cubicBezTo>
                    <a:lnTo>
                      <a:pt x="16891" y="413259"/>
                    </a:lnTo>
                    <a:lnTo>
                      <a:pt x="31242" y="421434"/>
                    </a:lnTo>
                    <a:cubicBezTo>
                      <a:pt x="27178" y="427191"/>
                      <a:pt x="19431" y="429955"/>
                      <a:pt x="12192" y="427997"/>
                    </a:cubicBezTo>
                    <a:cubicBezTo>
                      <a:pt x="4953" y="426040"/>
                      <a:pt x="0" y="420168"/>
                      <a:pt x="0" y="413259"/>
                    </a:cubicBezTo>
                    <a:moveTo>
                      <a:pt x="33909" y="413259"/>
                    </a:moveTo>
                    <a:lnTo>
                      <a:pt x="16891" y="413259"/>
                    </a:lnTo>
                    <a:lnTo>
                      <a:pt x="2540" y="405199"/>
                    </a:lnTo>
                    <a:cubicBezTo>
                      <a:pt x="6604" y="399441"/>
                      <a:pt x="14351" y="396678"/>
                      <a:pt x="21590" y="398635"/>
                    </a:cubicBezTo>
                    <a:cubicBezTo>
                      <a:pt x="28829" y="400593"/>
                      <a:pt x="33909" y="406580"/>
                      <a:pt x="33909" y="413374"/>
                    </a:cubicBezTo>
                    <a:cubicBezTo>
                      <a:pt x="33909" y="624667"/>
                      <a:pt x="222885" y="796004"/>
                      <a:pt x="455930" y="796004"/>
                    </a:cubicBezTo>
                    <a:cubicBezTo>
                      <a:pt x="688975" y="796004"/>
                      <a:pt x="877951" y="624667"/>
                      <a:pt x="877951" y="413374"/>
                    </a:cubicBezTo>
                    <a:lnTo>
                      <a:pt x="894842" y="413374"/>
                    </a:lnTo>
                    <a:lnTo>
                      <a:pt x="877951" y="413374"/>
                    </a:lnTo>
                    <a:cubicBezTo>
                      <a:pt x="877951" y="202081"/>
                      <a:pt x="688975" y="30744"/>
                      <a:pt x="455930" y="30744"/>
                    </a:cubicBezTo>
                    <a:lnTo>
                      <a:pt x="455930" y="15314"/>
                    </a:lnTo>
                    <a:lnTo>
                      <a:pt x="455930" y="30744"/>
                    </a:lnTo>
                    <a:cubicBezTo>
                      <a:pt x="222758" y="30744"/>
                      <a:pt x="33909" y="201966"/>
                      <a:pt x="33909" y="413259"/>
                    </a:cubicBezTo>
                    <a:close/>
                  </a:path>
                </a:pathLst>
              </a:custGeom>
              <a:solidFill>
                <a:srgbClr val="C89A3E"/>
              </a:solidFill>
            </p:spPr>
          </p:sp>
        </p:grpSp>
        <p:grpSp>
          <p:nvGrpSpPr>
            <p:cNvPr name="Group 88" id="88"/>
            <p:cNvGrpSpPr/>
            <p:nvPr/>
          </p:nvGrpSpPr>
          <p:grpSpPr>
            <a:xfrm rot="0">
              <a:off x="455841" y="280645"/>
              <a:ext cx="877824" cy="795889"/>
              <a:chOff x="0" y="0"/>
              <a:chExt cx="877824" cy="795889"/>
            </a:xfrm>
          </p:grpSpPr>
          <p:sp>
            <p:nvSpPr>
              <p:cNvPr name="Freeform 89" id="89"/>
              <p:cNvSpPr/>
              <p:nvPr/>
            </p:nvSpPr>
            <p:spPr>
              <a:xfrm flipH="false" flipV="false" rot="0">
                <a:off x="0" y="0"/>
                <a:ext cx="877824" cy="795889"/>
              </a:xfrm>
              <a:custGeom>
                <a:avLst/>
                <a:gdLst/>
                <a:ahLst/>
                <a:cxnLst/>
                <a:rect r="r" b="b" t="t" l="l"/>
                <a:pathLst>
                  <a:path h="795889" w="877824">
                    <a:moveTo>
                      <a:pt x="0" y="0"/>
                    </a:moveTo>
                    <a:lnTo>
                      <a:pt x="877824" y="0"/>
                    </a:lnTo>
                    <a:lnTo>
                      <a:pt x="877824" y="795889"/>
                    </a:lnTo>
                    <a:lnTo>
                      <a:pt x="0" y="795889"/>
                    </a:lnTo>
                    <a:close/>
                  </a:path>
                </a:pathLst>
              </a:custGeom>
              <a:blipFill>
                <a:blip r:embed="rId3">
                  <a:alphaModFix amt="0"/>
                </a:blip>
                <a:stretch>
                  <a:fillRect l="-78303" t="0" r="-78303" b="-10294"/>
                </a:stretch>
              </a:blipFill>
            </p:spPr>
          </p:sp>
          <p:sp>
            <p:nvSpPr>
              <p:cNvPr name="TextBox 90" id="90"/>
              <p:cNvSpPr txBox="true"/>
              <p:nvPr/>
            </p:nvSpPr>
            <p:spPr>
              <a:xfrm>
                <a:off x="0" y="-57150"/>
                <a:ext cx="877824" cy="853039"/>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a:t>
                </a:r>
              </a:p>
            </p:txBody>
          </p:sp>
        </p:grpSp>
        <p:grpSp>
          <p:nvGrpSpPr>
            <p:cNvPr name="Group 91" id="91"/>
            <p:cNvGrpSpPr/>
            <p:nvPr/>
          </p:nvGrpSpPr>
          <p:grpSpPr>
            <a:xfrm rot="0">
              <a:off x="1601889" y="324861"/>
              <a:ext cx="9022080" cy="751673"/>
              <a:chOff x="0" y="0"/>
              <a:chExt cx="9022080" cy="751673"/>
            </a:xfrm>
          </p:grpSpPr>
          <p:sp>
            <p:nvSpPr>
              <p:cNvPr name="Freeform 92" id="92"/>
              <p:cNvSpPr/>
              <p:nvPr/>
            </p:nvSpPr>
            <p:spPr>
              <a:xfrm flipH="false" flipV="false" rot="0">
                <a:off x="0" y="0"/>
                <a:ext cx="9022080" cy="751673"/>
              </a:xfrm>
              <a:custGeom>
                <a:avLst/>
                <a:gdLst/>
                <a:ahLst/>
                <a:cxnLst/>
                <a:rect r="r" b="b" t="t" l="l"/>
                <a:pathLst>
                  <a:path h="751673" w="9022080">
                    <a:moveTo>
                      <a:pt x="0" y="0"/>
                    </a:moveTo>
                    <a:lnTo>
                      <a:pt x="9022080" y="0"/>
                    </a:lnTo>
                    <a:lnTo>
                      <a:pt x="9022080" y="751673"/>
                    </a:lnTo>
                    <a:lnTo>
                      <a:pt x="0" y="751673"/>
                    </a:lnTo>
                    <a:close/>
                  </a:path>
                </a:pathLst>
              </a:custGeom>
              <a:blipFill>
                <a:blip r:embed="rId3">
                  <a:alphaModFix amt="0"/>
                </a:blip>
                <a:stretch>
                  <a:fillRect l="0" t="-178725" r="0" b="-189019"/>
                </a:stretch>
              </a:blipFill>
            </p:spPr>
          </p:sp>
          <p:sp>
            <p:nvSpPr>
              <p:cNvPr name="TextBox 93" id="93"/>
              <p:cNvSpPr txBox="true"/>
              <p:nvPr/>
            </p:nvSpPr>
            <p:spPr>
              <a:xfrm>
                <a:off x="0" y="-57150"/>
                <a:ext cx="9022080" cy="808823"/>
              </a:xfrm>
              <a:prstGeom prst="rect">
                <a:avLst/>
              </a:prstGeom>
            </p:spPr>
            <p:txBody>
              <a:bodyPr anchor="ctr" rtlCol="false" tIns="0" lIns="0" bIns="0" rIns="0"/>
              <a:lstStyle/>
              <a:p>
                <a:pPr algn="l">
                  <a:lnSpc>
                    <a:spcPts val="3120"/>
                  </a:lnSpc>
                </a:pPr>
                <a:r>
                  <a:rPr lang="en-US" sz="2600" b="true">
                    <a:solidFill>
                      <a:srgbClr val="1C2E40"/>
                    </a:solidFill>
                    <a:latin typeface="Calibri (MS) Bold"/>
                    <a:ea typeface="Calibri (MS) Bold"/>
                    <a:cs typeface="Calibri (MS) Bold"/>
                    <a:sym typeface="Calibri (MS) Bold"/>
                  </a:rPr>
                  <a:t>Configuration &amp; reproductibilité</a:t>
                </a:r>
              </a:p>
            </p:txBody>
          </p:sp>
        </p:grpSp>
        <p:grpSp>
          <p:nvGrpSpPr>
            <p:cNvPr name="Group 94" id="94"/>
            <p:cNvGrpSpPr/>
            <p:nvPr/>
          </p:nvGrpSpPr>
          <p:grpSpPr>
            <a:xfrm rot="0">
              <a:off x="455841" y="1297614"/>
              <a:ext cx="10143744" cy="1016969"/>
              <a:chOff x="0" y="0"/>
              <a:chExt cx="10143744" cy="1016969"/>
            </a:xfrm>
          </p:grpSpPr>
          <p:sp>
            <p:nvSpPr>
              <p:cNvPr name="Freeform 95" id="95"/>
              <p:cNvSpPr/>
              <p:nvPr/>
            </p:nvSpPr>
            <p:spPr>
              <a:xfrm flipH="false" flipV="false" rot="0">
                <a:off x="0" y="0"/>
                <a:ext cx="10143744" cy="1016969"/>
              </a:xfrm>
              <a:custGeom>
                <a:avLst/>
                <a:gdLst/>
                <a:ahLst/>
                <a:cxnLst/>
                <a:rect r="r" b="b" t="t" l="l"/>
                <a:pathLst>
                  <a:path h="1016969" w="10143744">
                    <a:moveTo>
                      <a:pt x="0" y="0"/>
                    </a:moveTo>
                    <a:lnTo>
                      <a:pt x="10143744" y="0"/>
                    </a:lnTo>
                    <a:lnTo>
                      <a:pt x="10143744" y="1016969"/>
                    </a:lnTo>
                    <a:lnTo>
                      <a:pt x="0" y="1016969"/>
                    </a:lnTo>
                    <a:close/>
                  </a:path>
                </a:pathLst>
              </a:custGeom>
              <a:blipFill>
                <a:blip r:embed="rId3">
                  <a:alphaModFix amt="0"/>
                </a:blip>
                <a:stretch>
                  <a:fillRect l="0" t="-139205" r="0" b="-149500"/>
                </a:stretch>
              </a:blipFill>
            </p:spPr>
          </p:sp>
          <p:sp>
            <p:nvSpPr>
              <p:cNvPr name="TextBox 96" id="96"/>
              <p:cNvSpPr txBox="true"/>
              <p:nvPr/>
            </p:nvSpPr>
            <p:spPr>
              <a:xfrm>
                <a:off x="0" y="-38100"/>
                <a:ext cx="10143744" cy="1055069"/>
              </a:xfrm>
              <a:prstGeom prst="rect">
                <a:avLst/>
              </a:prstGeom>
            </p:spPr>
            <p:txBody>
              <a:bodyPr anchor="ctr" rtlCol="false" tIns="0" lIns="0" bIns="0" rIns="0"/>
              <a:lstStyle/>
              <a:p>
                <a:pPr algn="l">
                  <a:lnSpc>
                    <a:spcPts val="2400"/>
                  </a:lnSpc>
                </a:pPr>
                <a:r>
                  <a:rPr lang="en-US" sz="2000">
                    <a:solidFill>
                      <a:srgbClr val="364E64"/>
                    </a:solidFill>
                    <a:latin typeface="Calibri (MS)"/>
                    <a:ea typeface="Calibri (MS)"/>
                    <a:cs typeface="Calibri (MS)"/>
                    <a:sym typeface="Calibri (MS)"/>
                  </a:rPr>
                  <a:t>·  Bloc global macros (root, inputfile, data, codes) ajouté après notre demande</a:t>
                </a:r>
              </a:p>
            </p:txBody>
          </p:sp>
        </p:grpSp>
        <p:grpSp>
          <p:nvGrpSpPr>
            <p:cNvPr name="Group 97" id="97"/>
            <p:cNvGrpSpPr/>
            <p:nvPr/>
          </p:nvGrpSpPr>
          <p:grpSpPr>
            <a:xfrm rot="0">
              <a:off x="483959" y="2924857"/>
              <a:ext cx="10143744" cy="1016969"/>
              <a:chOff x="0" y="0"/>
              <a:chExt cx="10143744" cy="1016969"/>
            </a:xfrm>
          </p:grpSpPr>
          <p:sp>
            <p:nvSpPr>
              <p:cNvPr name="Freeform 98" id="98"/>
              <p:cNvSpPr/>
              <p:nvPr/>
            </p:nvSpPr>
            <p:spPr>
              <a:xfrm flipH="false" flipV="false" rot="0">
                <a:off x="0" y="0"/>
                <a:ext cx="10143744" cy="1016969"/>
              </a:xfrm>
              <a:custGeom>
                <a:avLst/>
                <a:gdLst/>
                <a:ahLst/>
                <a:cxnLst/>
                <a:rect r="r" b="b" t="t" l="l"/>
                <a:pathLst>
                  <a:path h="1016969" w="10143744">
                    <a:moveTo>
                      <a:pt x="0" y="0"/>
                    </a:moveTo>
                    <a:lnTo>
                      <a:pt x="10143744" y="0"/>
                    </a:lnTo>
                    <a:lnTo>
                      <a:pt x="10143744" y="1016969"/>
                    </a:lnTo>
                    <a:lnTo>
                      <a:pt x="0" y="1016969"/>
                    </a:lnTo>
                    <a:close/>
                  </a:path>
                </a:pathLst>
              </a:custGeom>
              <a:blipFill>
                <a:blip r:embed="rId3">
                  <a:alphaModFix amt="0"/>
                </a:blip>
                <a:stretch>
                  <a:fillRect l="0" t="-139205" r="0" b="-149500"/>
                </a:stretch>
              </a:blipFill>
            </p:spPr>
          </p:sp>
          <p:sp>
            <p:nvSpPr>
              <p:cNvPr name="TextBox 99" id="99"/>
              <p:cNvSpPr txBox="true"/>
              <p:nvPr/>
            </p:nvSpPr>
            <p:spPr>
              <a:xfrm>
                <a:off x="0" y="-38100"/>
                <a:ext cx="10143744" cy="1055069"/>
              </a:xfrm>
              <a:prstGeom prst="rect">
                <a:avLst/>
              </a:prstGeom>
            </p:spPr>
            <p:txBody>
              <a:bodyPr anchor="ctr" rtlCol="false" tIns="0" lIns="0" bIns="0" rIns="0"/>
              <a:lstStyle/>
              <a:p>
                <a:pPr algn="l">
                  <a:lnSpc>
                    <a:spcPts val="2400"/>
                  </a:lnSpc>
                </a:pPr>
                <a:r>
                  <a:rPr lang="en-US" sz="2000">
                    <a:solidFill>
                      <a:srgbClr val="364E64"/>
                    </a:solidFill>
                    <a:latin typeface="Calibri (MS)"/>
                    <a:ea typeface="Calibri (MS)"/>
                    <a:cs typeface="Calibri (MS)"/>
                    <a:sym typeface="Calibri (MS)"/>
                  </a:rPr>
                  <a:t>·  Commandes Unix traduites en PowerShell Windows sans qu'on le demande</a:t>
                </a:r>
              </a:p>
            </p:txBody>
          </p:sp>
        </p:gr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C0614E"/>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C0614E"/>
            </a:solidFill>
          </p:spPr>
        </p:sp>
      </p:grpSp>
      <p:grpSp>
        <p:nvGrpSpPr>
          <p:cNvPr name="Group 5" id="5"/>
          <p:cNvGrpSpPr/>
          <p:nvPr/>
        </p:nvGrpSpPr>
        <p:grpSpPr>
          <a:xfrm rot="0">
            <a:off x="822960" y="402336"/>
            <a:ext cx="16642080" cy="1118845"/>
            <a:chOff x="0" y="0"/>
            <a:chExt cx="22189440" cy="1491793"/>
          </a:xfrm>
        </p:grpSpPr>
        <p:sp>
          <p:nvSpPr>
            <p:cNvPr name="Freeform 6" id="6"/>
            <p:cNvSpPr/>
            <p:nvPr/>
          </p:nvSpPr>
          <p:spPr>
            <a:xfrm flipH="false" flipV="false" rot="0">
              <a:off x="0" y="0"/>
              <a:ext cx="22189439" cy="1491793"/>
            </a:xfrm>
            <a:custGeom>
              <a:avLst/>
              <a:gdLst/>
              <a:ahLst/>
              <a:cxnLst/>
              <a:rect r="r" b="b" t="t" l="l"/>
              <a:pathLst>
                <a:path h="1491793" w="22189439">
                  <a:moveTo>
                    <a:pt x="0" y="0"/>
                  </a:moveTo>
                  <a:lnTo>
                    <a:pt x="22189439" y="0"/>
                  </a:lnTo>
                  <a:lnTo>
                    <a:pt x="22189439" y="1491793"/>
                  </a:lnTo>
                  <a:lnTo>
                    <a:pt x="0" y="1491793"/>
                  </a:lnTo>
                  <a:close/>
                </a:path>
              </a:pathLst>
            </a:custGeom>
            <a:blipFill>
              <a:blip r:embed="rId3">
                <a:alphaModFix amt="0"/>
              </a:blip>
              <a:stretch>
                <a:fillRect l="0" t="-244877" r="0" b="-234777"/>
              </a:stretch>
            </a:blipFill>
          </p:spPr>
        </p:sp>
        <p:sp>
          <p:nvSpPr>
            <p:cNvPr name="TextBox 7" id="7"/>
            <p:cNvSpPr txBox="true"/>
            <p:nvPr/>
          </p:nvSpPr>
          <p:spPr>
            <a:xfrm>
              <a:off x="0" y="9525"/>
              <a:ext cx="22189440" cy="1482268"/>
            </a:xfrm>
            <a:prstGeom prst="rect">
              <a:avLst/>
            </a:prstGeom>
          </p:spPr>
          <p:txBody>
            <a:bodyPr anchor="ctr" rtlCol="false" tIns="0" lIns="0" bIns="0" rIns="0"/>
            <a:lstStyle/>
            <a:p>
              <a:pPr algn="l">
                <a:lnSpc>
                  <a:spcPts val="6480"/>
                </a:lnSpc>
              </a:pPr>
              <a:r>
                <a:rPr lang="en-US" sz="5400" b="true">
                  <a:solidFill>
                    <a:srgbClr val="1C2E40"/>
                  </a:solidFill>
                  <a:latin typeface="EB Garamond Semi-Bold"/>
                  <a:ea typeface="EB Garamond Semi-Bold"/>
                  <a:cs typeface="EB Garamond Semi-Bold"/>
                  <a:sym typeface="EB Garamond Semi-Bold"/>
                </a:rPr>
                <a:t>Ce que l'IA a raté et comment on a corrigé</a:t>
              </a:r>
            </a:p>
          </p:txBody>
        </p:sp>
      </p:grpSp>
      <p:grpSp>
        <p:nvGrpSpPr>
          <p:cNvPr name="Group 8" id="8"/>
          <p:cNvGrpSpPr/>
          <p:nvPr/>
        </p:nvGrpSpPr>
        <p:grpSpPr>
          <a:xfrm rot="0">
            <a:off x="822960" y="1426464"/>
            <a:ext cx="16642080" cy="512064"/>
            <a:chOff x="0" y="0"/>
            <a:chExt cx="22189440" cy="682752"/>
          </a:xfrm>
        </p:grpSpPr>
        <p:sp>
          <p:nvSpPr>
            <p:cNvPr name="Freeform 9" id="9"/>
            <p:cNvSpPr/>
            <p:nvPr/>
          </p:nvSpPr>
          <p:spPr>
            <a:xfrm flipH="false" flipV="false" rot="0">
              <a:off x="0" y="0"/>
              <a:ext cx="22189439" cy="682752"/>
            </a:xfrm>
            <a:custGeom>
              <a:avLst/>
              <a:gdLst/>
              <a:ahLst/>
              <a:cxnLst/>
              <a:rect r="r" b="b" t="t" l="l"/>
              <a:pathLst>
                <a:path h="682752" w="22189439">
                  <a:moveTo>
                    <a:pt x="0" y="0"/>
                  </a:moveTo>
                  <a:lnTo>
                    <a:pt x="22189439" y="0"/>
                  </a:lnTo>
                  <a:lnTo>
                    <a:pt x="22189439" y="682752"/>
                  </a:lnTo>
                  <a:lnTo>
                    <a:pt x="0" y="682752"/>
                  </a:lnTo>
                  <a:close/>
                </a:path>
              </a:pathLst>
            </a:custGeom>
            <a:blipFill>
              <a:blip r:embed="rId3">
                <a:alphaModFix amt="0"/>
              </a:blip>
              <a:stretch>
                <a:fillRect l="0" t="-583263" r="0" b="-583263"/>
              </a:stretch>
            </a:blipFill>
          </p:spPr>
        </p:sp>
        <p:sp>
          <p:nvSpPr>
            <p:cNvPr name="TextBox 10" id="10"/>
            <p:cNvSpPr txBox="true"/>
            <p:nvPr/>
          </p:nvSpPr>
          <p:spPr>
            <a:xfrm>
              <a:off x="0" y="9525"/>
              <a:ext cx="22189440" cy="673227"/>
            </a:xfrm>
            <a:prstGeom prst="rect">
              <a:avLst/>
            </a:prstGeom>
          </p:spPr>
          <p:txBody>
            <a:bodyPr anchor="ctr" rtlCol="false" tIns="0" lIns="0" bIns="0" rIns="0"/>
            <a:lstStyle/>
            <a:p>
              <a:pPr algn="l">
                <a:lnSpc>
                  <a:spcPts val="2879"/>
                </a:lnSpc>
              </a:pPr>
              <a:r>
                <a:rPr lang="en-US" sz="2400" i="true">
                  <a:solidFill>
                    <a:srgbClr val="7B8FA1"/>
                  </a:solidFill>
                  <a:latin typeface="EB Garamond Italics"/>
                  <a:ea typeface="EB Garamond Italics"/>
                  <a:cs typeface="EB Garamond Italics"/>
                  <a:sym typeface="EB Garamond Italics"/>
                </a:rPr>
                <a:t>Erreurs factuelles · lacunes de code · réponses trop longues ou non adaptées</a:t>
              </a:r>
            </a:p>
          </p:txBody>
        </p:sp>
      </p:grpSp>
      <p:grpSp>
        <p:nvGrpSpPr>
          <p:cNvPr name="Group 11" id="11"/>
          <p:cNvGrpSpPr/>
          <p:nvPr/>
        </p:nvGrpSpPr>
        <p:grpSpPr>
          <a:xfrm rot="0">
            <a:off x="629917" y="2001517"/>
            <a:ext cx="8249917" cy="2690365"/>
            <a:chOff x="0" y="0"/>
            <a:chExt cx="10999889" cy="3587153"/>
          </a:xfrm>
        </p:grpSpPr>
        <p:sp>
          <p:nvSpPr>
            <p:cNvPr name="Freeform 12" id="12"/>
            <p:cNvSpPr/>
            <p:nvPr/>
          </p:nvSpPr>
          <p:spPr>
            <a:xfrm flipH="false" flipV="false" rot="0">
              <a:off x="13462" y="13589"/>
              <a:ext cx="10972927" cy="3560064"/>
            </a:xfrm>
            <a:custGeom>
              <a:avLst/>
              <a:gdLst/>
              <a:ahLst/>
              <a:cxnLst/>
              <a:rect r="r" b="b" t="t" l="l"/>
              <a:pathLst>
                <a:path h="3560064" w="10972927">
                  <a:moveTo>
                    <a:pt x="127" y="243840"/>
                  </a:moveTo>
                  <a:cubicBezTo>
                    <a:pt x="127" y="109220"/>
                    <a:pt x="109855" y="0"/>
                    <a:pt x="245237" y="0"/>
                  </a:cubicBezTo>
                  <a:lnTo>
                    <a:pt x="10727817" y="0"/>
                  </a:lnTo>
                  <a:cubicBezTo>
                    <a:pt x="10863200" y="0"/>
                    <a:pt x="10972927" y="109220"/>
                    <a:pt x="10972927" y="243840"/>
                  </a:cubicBezTo>
                  <a:lnTo>
                    <a:pt x="10972927" y="3316224"/>
                  </a:lnTo>
                  <a:cubicBezTo>
                    <a:pt x="10972927" y="3450844"/>
                    <a:pt x="10863199" y="3560064"/>
                    <a:pt x="10727817" y="3560064"/>
                  </a:cubicBezTo>
                  <a:lnTo>
                    <a:pt x="245110" y="3560064"/>
                  </a:lnTo>
                  <a:cubicBezTo>
                    <a:pt x="109728" y="3560064"/>
                    <a:pt x="0" y="3450844"/>
                    <a:pt x="0" y="3316224"/>
                  </a:cubicBezTo>
                  <a:close/>
                </a:path>
              </a:pathLst>
            </a:custGeom>
            <a:solidFill>
              <a:srgbClr val="FFFFFF"/>
            </a:solidFill>
          </p:spPr>
        </p:sp>
        <p:sp>
          <p:nvSpPr>
            <p:cNvPr name="Freeform 13" id="13"/>
            <p:cNvSpPr/>
            <p:nvPr/>
          </p:nvSpPr>
          <p:spPr>
            <a:xfrm flipH="false" flipV="false" rot="0">
              <a:off x="0" y="0"/>
              <a:ext cx="10999725" cy="3587242"/>
            </a:xfrm>
            <a:custGeom>
              <a:avLst/>
              <a:gdLst/>
              <a:ahLst/>
              <a:cxnLst/>
              <a:rect r="r" b="b" t="t" l="l"/>
              <a:pathLst>
                <a:path h="3587242" w="10999725">
                  <a:moveTo>
                    <a:pt x="0" y="257429"/>
                  </a:moveTo>
                  <a:cubicBezTo>
                    <a:pt x="0" y="115189"/>
                    <a:pt x="115824" y="0"/>
                    <a:pt x="258572" y="0"/>
                  </a:cubicBezTo>
                  <a:lnTo>
                    <a:pt x="10741152" y="0"/>
                  </a:lnTo>
                  <a:lnTo>
                    <a:pt x="10741152" y="13589"/>
                  </a:lnTo>
                  <a:lnTo>
                    <a:pt x="10741152" y="0"/>
                  </a:lnTo>
                  <a:cubicBezTo>
                    <a:pt x="10883900" y="0"/>
                    <a:pt x="10999725" y="115189"/>
                    <a:pt x="10999725" y="257429"/>
                  </a:cubicBezTo>
                  <a:lnTo>
                    <a:pt x="10986136" y="257429"/>
                  </a:lnTo>
                  <a:lnTo>
                    <a:pt x="10999725" y="257429"/>
                  </a:lnTo>
                  <a:lnTo>
                    <a:pt x="10999725" y="3329813"/>
                  </a:lnTo>
                  <a:lnTo>
                    <a:pt x="10986136" y="3329813"/>
                  </a:lnTo>
                  <a:lnTo>
                    <a:pt x="10999725" y="3329813"/>
                  </a:lnTo>
                  <a:cubicBezTo>
                    <a:pt x="10999725" y="3472053"/>
                    <a:pt x="10883900" y="3587242"/>
                    <a:pt x="10741152" y="3587242"/>
                  </a:cubicBezTo>
                  <a:lnTo>
                    <a:pt x="10741152" y="3573653"/>
                  </a:lnTo>
                  <a:lnTo>
                    <a:pt x="10741152" y="3587242"/>
                  </a:lnTo>
                  <a:lnTo>
                    <a:pt x="258572" y="3587242"/>
                  </a:lnTo>
                  <a:lnTo>
                    <a:pt x="258572" y="3573653"/>
                  </a:lnTo>
                  <a:lnTo>
                    <a:pt x="258572" y="3587242"/>
                  </a:lnTo>
                  <a:cubicBezTo>
                    <a:pt x="115824" y="3587115"/>
                    <a:pt x="0" y="3472053"/>
                    <a:pt x="0" y="3329813"/>
                  </a:cubicBezTo>
                  <a:lnTo>
                    <a:pt x="0" y="257429"/>
                  </a:lnTo>
                  <a:lnTo>
                    <a:pt x="13589" y="257429"/>
                  </a:lnTo>
                  <a:lnTo>
                    <a:pt x="0" y="257429"/>
                  </a:lnTo>
                  <a:moveTo>
                    <a:pt x="27051" y="257429"/>
                  </a:moveTo>
                  <a:lnTo>
                    <a:pt x="27051" y="3329813"/>
                  </a:lnTo>
                  <a:lnTo>
                    <a:pt x="13589" y="3329813"/>
                  </a:lnTo>
                  <a:lnTo>
                    <a:pt x="27051" y="3329813"/>
                  </a:lnTo>
                  <a:cubicBezTo>
                    <a:pt x="27051" y="3456940"/>
                    <a:pt x="130683" y="3560064"/>
                    <a:pt x="258572" y="3560064"/>
                  </a:cubicBezTo>
                  <a:lnTo>
                    <a:pt x="10741152" y="3560064"/>
                  </a:lnTo>
                  <a:cubicBezTo>
                    <a:pt x="10869041" y="3560064"/>
                    <a:pt x="10972674" y="3456940"/>
                    <a:pt x="10972674" y="3329813"/>
                  </a:cubicBezTo>
                  <a:lnTo>
                    <a:pt x="10972674" y="257429"/>
                  </a:lnTo>
                  <a:cubicBezTo>
                    <a:pt x="10972674" y="130302"/>
                    <a:pt x="10869041" y="27178"/>
                    <a:pt x="10741152" y="27178"/>
                  </a:cubicBezTo>
                  <a:lnTo>
                    <a:pt x="258572" y="27178"/>
                  </a:lnTo>
                  <a:lnTo>
                    <a:pt x="258572" y="13589"/>
                  </a:lnTo>
                  <a:lnTo>
                    <a:pt x="258572" y="27051"/>
                  </a:lnTo>
                  <a:cubicBezTo>
                    <a:pt x="130683" y="27051"/>
                    <a:pt x="27051" y="130175"/>
                    <a:pt x="27051" y="257302"/>
                  </a:cubicBezTo>
                  <a:close/>
                </a:path>
              </a:pathLst>
            </a:custGeom>
            <a:solidFill>
              <a:srgbClr val="BDC8D5"/>
            </a:solidFill>
          </p:spPr>
        </p:sp>
      </p:grpSp>
      <p:grpSp>
        <p:nvGrpSpPr>
          <p:cNvPr name="Group 14" id="14"/>
          <p:cNvGrpSpPr/>
          <p:nvPr/>
        </p:nvGrpSpPr>
        <p:grpSpPr>
          <a:xfrm rot="0">
            <a:off x="627383" y="1998983"/>
            <a:ext cx="153419" cy="2695451"/>
            <a:chOff x="0" y="0"/>
            <a:chExt cx="204559" cy="3593935"/>
          </a:xfrm>
        </p:grpSpPr>
        <p:sp>
          <p:nvSpPr>
            <p:cNvPr name="Freeform 15" id="15"/>
            <p:cNvSpPr/>
            <p:nvPr/>
          </p:nvSpPr>
          <p:spPr>
            <a:xfrm flipH="false" flipV="false" rot="0">
              <a:off x="16891" y="16891"/>
              <a:ext cx="170688" cy="3560064"/>
            </a:xfrm>
            <a:custGeom>
              <a:avLst/>
              <a:gdLst/>
              <a:ahLst/>
              <a:cxnLst/>
              <a:rect r="r" b="b" t="t" l="l"/>
              <a:pathLst>
                <a:path h="3560064" w="170688">
                  <a:moveTo>
                    <a:pt x="0" y="0"/>
                  </a:moveTo>
                  <a:lnTo>
                    <a:pt x="170688" y="0"/>
                  </a:lnTo>
                  <a:lnTo>
                    <a:pt x="170688" y="3560064"/>
                  </a:lnTo>
                  <a:lnTo>
                    <a:pt x="0" y="3560064"/>
                  </a:lnTo>
                  <a:close/>
                </a:path>
              </a:pathLst>
            </a:custGeom>
            <a:solidFill>
              <a:srgbClr val="C0392B"/>
            </a:solidFill>
          </p:spPr>
        </p:sp>
        <p:sp>
          <p:nvSpPr>
            <p:cNvPr name="Freeform 16" id="16"/>
            <p:cNvSpPr/>
            <p:nvPr/>
          </p:nvSpPr>
          <p:spPr>
            <a:xfrm flipH="false" flipV="false" rot="0">
              <a:off x="0" y="0"/>
              <a:ext cx="204470" cy="3593846"/>
            </a:xfrm>
            <a:custGeom>
              <a:avLst/>
              <a:gdLst/>
              <a:ahLst/>
              <a:cxnLst/>
              <a:rect r="r" b="b" t="t" l="l"/>
              <a:pathLst>
                <a:path h="3593846" w="204470">
                  <a:moveTo>
                    <a:pt x="16891" y="0"/>
                  </a:moveTo>
                  <a:lnTo>
                    <a:pt x="187579" y="0"/>
                  </a:lnTo>
                  <a:cubicBezTo>
                    <a:pt x="196977" y="0"/>
                    <a:pt x="204470" y="7620"/>
                    <a:pt x="204470" y="16891"/>
                  </a:cubicBezTo>
                  <a:lnTo>
                    <a:pt x="204470" y="3576955"/>
                  </a:lnTo>
                  <a:cubicBezTo>
                    <a:pt x="204470" y="3586353"/>
                    <a:pt x="196850" y="3593846"/>
                    <a:pt x="187579" y="3593846"/>
                  </a:cubicBezTo>
                  <a:lnTo>
                    <a:pt x="16891" y="3593846"/>
                  </a:lnTo>
                  <a:cubicBezTo>
                    <a:pt x="7493" y="3593846"/>
                    <a:pt x="0" y="3586226"/>
                    <a:pt x="0" y="3576955"/>
                  </a:cubicBezTo>
                  <a:lnTo>
                    <a:pt x="0" y="16891"/>
                  </a:lnTo>
                  <a:cubicBezTo>
                    <a:pt x="0" y="7620"/>
                    <a:pt x="7620" y="0"/>
                    <a:pt x="16891" y="0"/>
                  </a:cubicBezTo>
                  <a:moveTo>
                    <a:pt x="16891" y="33909"/>
                  </a:moveTo>
                  <a:lnTo>
                    <a:pt x="16891" y="16891"/>
                  </a:lnTo>
                  <a:lnTo>
                    <a:pt x="33909" y="16891"/>
                  </a:lnTo>
                  <a:lnTo>
                    <a:pt x="33909" y="3576955"/>
                  </a:lnTo>
                  <a:lnTo>
                    <a:pt x="16891" y="3576955"/>
                  </a:lnTo>
                  <a:lnTo>
                    <a:pt x="16891" y="3560064"/>
                  </a:lnTo>
                  <a:lnTo>
                    <a:pt x="187579" y="3560064"/>
                  </a:lnTo>
                  <a:lnTo>
                    <a:pt x="187579" y="3576955"/>
                  </a:lnTo>
                  <a:lnTo>
                    <a:pt x="170688" y="3576955"/>
                  </a:lnTo>
                  <a:lnTo>
                    <a:pt x="170688" y="16891"/>
                  </a:lnTo>
                  <a:lnTo>
                    <a:pt x="187579" y="16891"/>
                  </a:lnTo>
                  <a:lnTo>
                    <a:pt x="187579" y="33909"/>
                  </a:lnTo>
                  <a:lnTo>
                    <a:pt x="16891" y="33909"/>
                  </a:lnTo>
                  <a:close/>
                </a:path>
              </a:pathLst>
            </a:custGeom>
            <a:solidFill>
              <a:srgbClr val="C0392B"/>
            </a:solidFill>
          </p:spPr>
        </p:sp>
      </p:grpSp>
      <p:grpSp>
        <p:nvGrpSpPr>
          <p:cNvPr name="Group 17" id="17"/>
          <p:cNvGrpSpPr/>
          <p:nvPr/>
        </p:nvGrpSpPr>
        <p:grpSpPr>
          <a:xfrm rot="0">
            <a:off x="956567" y="2163575"/>
            <a:ext cx="4780283" cy="574043"/>
            <a:chOff x="0" y="0"/>
            <a:chExt cx="6373711" cy="765391"/>
          </a:xfrm>
        </p:grpSpPr>
        <p:sp>
          <p:nvSpPr>
            <p:cNvPr name="Freeform 18" id="18"/>
            <p:cNvSpPr/>
            <p:nvPr/>
          </p:nvSpPr>
          <p:spPr>
            <a:xfrm flipH="false" flipV="false" rot="0">
              <a:off x="16891" y="16891"/>
              <a:ext cx="6339967" cy="731520"/>
            </a:xfrm>
            <a:custGeom>
              <a:avLst/>
              <a:gdLst/>
              <a:ahLst/>
              <a:cxnLst/>
              <a:rect r="r" b="b" t="t" l="l"/>
              <a:pathLst>
                <a:path h="731520" w="6339967">
                  <a:moveTo>
                    <a:pt x="0" y="195072"/>
                  </a:moveTo>
                  <a:cubicBezTo>
                    <a:pt x="0" y="87376"/>
                    <a:pt x="90932" y="0"/>
                    <a:pt x="203073" y="0"/>
                  </a:cubicBezTo>
                  <a:lnTo>
                    <a:pt x="6136894" y="0"/>
                  </a:lnTo>
                  <a:cubicBezTo>
                    <a:pt x="6249035" y="0"/>
                    <a:pt x="6339967" y="87376"/>
                    <a:pt x="6339967" y="195072"/>
                  </a:cubicBezTo>
                  <a:lnTo>
                    <a:pt x="6339967" y="536448"/>
                  </a:lnTo>
                  <a:cubicBezTo>
                    <a:pt x="6339967" y="644144"/>
                    <a:pt x="6249035" y="731520"/>
                    <a:pt x="6136894" y="731520"/>
                  </a:cubicBezTo>
                  <a:lnTo>
                    <a:pt x="203073" y="731520"/>
                  </a:lnTo>
                  <a:cubicBezTo>
                    <a:pt x="90932" y="731520"/>
                    <a:pt x="0" y="644144"/>
                    <a:pt x="0" y="536448"/>
                  </a:cubicBezTo>
                  <a:close/>
                </a:path>
              </a:pathLst>
            </a:custGeom>
            <a:solidFill>
              <a:srgbClr val="C0392B"/>
            </a:solidFill>
          </p:spPr>
        </p:sp>
        <p:sp>
          <p:nvSpPr>
            <p:cNvPr name="Freeform 19" id="19"/>
            <p:cNvSpPr/>
            <p:nvPr/>
          </p:nvSpPr>
          <p:spPr>
            <a:xfrm flipH="false" flipV="false" rot="0">
              <a:off x="0" y="0"/>
              <a:ext cx="6373749" cy="765302"/>
            </a:xfrm>
            <a:custGeom>
              <a:avLst/>
              <a:gdLst/>
              <a:ahLst/>
              <a:cxnLst/>
              <a:rect r="r" b="b" t="t" l="l"/>
              <a:pathLst>
                <a:path h="765302" w="6373749">
                  <a:moveTo>
                    <a:pt x="0" y="211963"/>
                  </a:moveTo>
                  <a:cubicBezTo>
                    <a:pt x="0" y="94234"/>
                    <a:pt x="99060" y="0"/>
                    <a:pt x="219964" y="0"/>
                  </a:cubicBezTo>
                  <a:lnTo>
                    <a:pt x="6153785" y="0"/>
                  </a:lnTo>
                  <a:lnTo>
                    <a:pt x="6153785" y="16891"/>
                  </a:lnTo>
                  <a:lnTo>
                    <a:pt x="6153785" y="0"/>
                  </a:lnTo>
                  <a:cubicBezTo>
                    <a:pt x="6274562" y="0"/>
                    <a:pt x="6373749" y="94234"/>
                    <a:pt x="6373749" y="211963"/>
                  </a:cubicBezTo>
                  <a:lnTo>
                    <a:pt x="6356858" y="211963"/>
                  </a:lnTo>
                  <a:lnTo>
                    <a:pt x="6373749" y="211963"/>
                  </a:lnTo>
                  <a:lnTo>
                    <a:pt x="6373749" y="553339"/>
                  </a:lnTo>
                  <a:lnTo>
                    <a:pt x="6356858" y="553339"/>
                  </a:lnTo>
                  <a:lnTo>
                    <a:pt x="6373749" y="553339"/>
                  </a:lnTo>
                  <a:cubicBezTo>
                    <a:pt x="6373749" y="671068"/>
                    <a:pt x="6274689" y="765302"/>
                    <a:pt x="6153785" y="765302"/>
                  </a:cubicBezTo>
                  <a:lnTo>
                    <a:pt x="6153785" y="748411"/>
                  </a:lnTo>
                  <a:lnTo>
                    <a:pt x="6153785" y="765302"/>
                  </a:lnTo>
                  <a:lnTo>
                    <a:pt x="219964" y="765302"/>
                  </a:lnTo>
                  <a:lnTo>
                    <a:pt x="219964" y="748411"/>
                  </a:lnTo>
                  <a:lnTo>
                    <a:pt x="219964" y="765302"/>
                  </a:lnTo>
                  <a:cubicBezTo>
                    <a:pt x="99060" y="765429"/>
                    <a:pt x="0" y="671068"/>
                    <a:pt x="0" y="553339"/>
                  </a:cubicBezTo>
                  <a:lnTo>
                    <a:pt x="0" y="211963"/>
                  </a:lnTo>
                  <a:lnTo>
                    <a:pt x="16891" y="211963"/>
                  </a:lnTo>
                  <a:lnTo>
                    <a:pt x="0" y="211963"/>
                  </a:lnTo>
                  <a:moveTo>
                    <a:pt x="33909" y="211963"/>
                  </a:moveTo>
                  <a:lnTo>
                    <a:pt x="33909" y="553339"/>
                  </a:lnTo>
                  <a:lnTo>
                    <a:pt x="16891" y="553339"/>
                  </a:lnTo>
                  <a:lnTo>
                    <a:pt x="33909" y="553339"/>
                  </a:lnTo>
                  <a:cubicBezTo>
                    <a:pt x="33909" y="651129"/>
                    <a:pt x="116586" y="731520"/>
                    <a:pt x="219964" y="731520"/>
                  </a:cubicBezTo>
                  <a:lnTo>
                    <a:pt x="6153785" y="731520"/>
                  </a:lnTo>
                  <a:cubicBezTo>
                    <a:pt x="6257163" y="731520"/>
                    <a:pt x="6339840" y="651129"/>
                    <a:pt x="6339840" y="553339"/>
                  </a:cubicBezTo>
                  <a:lnTo>
                    <a:pt x="6339840" y="211963"/>
                  </a:lnTo>
                  <a:cubicBezTo>
                    <a:pt x="6339840" y="114173"/>
                    <a:pt x="6257163" y="33782"/>
                    <a:pt x="6153785" y="33782"/>
                  </a:cubicBezTo>
                  <a:lnTo>
                    <a:pt x="219964" y="33782"/>
                  </a:lnTo>
                  <a:lnTo>
                    <a:pt x="219964" y="16891"/>
                  </a:lnTo>
                  <a:lnTo>
                    <a:pt x="219964" y="33909"/>
                  </a:lnTo>
                  <a:cubicBezTo>
                    <a:pt x="116586" y="33909"/>
                    <a:pt x="33909" y="114300"/>
                    <a:pt x="33909" y="211963"/>
                  </a:cubicBezTo>
                  <a:close/>
                </a:path>
              </a:pathLst>
            </a:custGeom>
            <a:solidFill>
              <a:srgbClr val="C0392B"/>
            </a:solidFill>
          </p:spPr>
        </p:sp>
      </p:grpSp>
      <p:grpSp>
        <p:nvGrpSpPr>
          <p:cNvPr name="Group 20" id="20"/>
          <p:cNvGrpSpPr/>
          <p:nvPr/>
        </p:nvGrpSpPr>
        <p:grpSpPr>
          <a:xfrm rot="0">
            <a:off x="969264" y="2194560"/>
            <a:ext cx="4754880" cy="512064"/>
            <a:chOff x="0" y="0"/>
            <a:chExt cx="6339840" cy="682752"/>
          </a:xfrm>
        </p:grpSpPr>
        <p:sp>
          <p:nvSpPr>
            <p:cNvPr name="Freeform 21" id="21"/>
            <p:cNvSpPr/>
            <p:nvPr/>
          </p:nvSpPr>
          <p:spPr>
            <a:xfrm flipH="false" flipV="false" rot="0">
              <a:off x="0" y="0"/>
              <a:ext cx="6339840" cy="682752"/>
            </a:xfrm>
            <a:custGeom>
              <a:avLst/>
              <a:gdLst/>
              <a:ahLst/>
              <a:cxnLst/>
              <a:rect r="r" b="b" t="t" l="l"/>
              <a:pathLst>
                <a:path h="682752" w="6339840">
                  <a:moveTo>
                    <a:pt x="0" y="0"/>
                  </a:moveTo>
                  <a:lnTo>
                    <a:pt x="6339840" y="0"/>
                  </a:lnTo>
                  <a:lnTo>
                    <a:pt x="6339840" y="682752"/>
                  </a:lnTo>
                  <a:lnTo>
                    <a:pt x="0" y="682752"/>
                  </a:lnTo>
                  <a:close/>
                </a:path>
              </a:pathLst>
            </a:custGeom>
            <a:blipFill>
              <a:blip r:embed="rId3">
                <a:alphaModFix amt="0"/>
              </a:blip>
              <a:stretch>
                <a:fillRect l="0" t="-130932" r="0" b="-130932"/>
              </a:stretch>
            </a:blipFill>
          </p:spPr>
        </p:sp>
        <p:sp>
          <p:nvSpPr>
            <p:cNvPr name="TextBox 22" id="22"/>
            <p:cNvSpPr txBox="true"/>
            <p:nvPr/>
          </p:nvSpPr>
          <p:spPr>
            <a:xfrm>
              <a:off x="0" y="9525"/>
              <a:ext cx="6339840" cy="673227"/>
            </a:xfrm>
            <a:prstGeom prst="rect">
              <a:avLst/>
            </a:prstGeom>
          </p:spPr>
          <p:txBody>
            <a:bodyPr anchor="ctr" rtlCol="false" tIns="0" lIns="0" bIns="0" rIns="0"/>
            <a:lstStyle/>
            <a:p>
              <a:pPr algn="ctr">
                <a:lnSpc>
                  <a:spcPts val="2160"/>
                </a:lnSpc>
              </a:pPr>
              <a:r>
                <a:rPr lang="en-US" sz="1800" b="true">
                  <a:solidFill>
                    <a:srgbClr val="FFFFFF"/>
                  </a:solidFill>
                  <a:latin typeface="EB Garamond Semi-Bold"/>
                  <a:ea typeface="EB Garamond Semi-Bold"/>
                  <a:cs typeface="EB Garamond Semi-Bold"/>
                  <a:sym typeface="EB Garamond Semi-Bold"/>
                </a:rPr>
                <a:t>Erreur factuelle</a:t>
              </a:r>
            </a:p>
          </p:txBody>
        </p:sp>
      </p:grpSp>
      <p:grpSp>
        <p:nvGrpSpPr>
          <p:cNvPr name="Group 23" id="23"/>
          <p:cNvGrpSpPr/>
          <p:nvPr/>
        </p:nvGrpSpPr>
        <p:grpSpPr>
          <a:xfrm rot="0">
            <a:off x="969264" y="2834640"/>
            <a:ext cx="7589520" cy="877824"/>
            <a:chOff x="0" y="0"/>
            <a:chExt cx="10119360" cy="1170432"/>
          </a:xfrm>
        </p:grpSpPr>
        <p:sp>
          <p:nvSpPr>
            <p:cNvPr name="Freeform 24" id="24"/>
            <p:cNvSpPr/>
            <p:nvPr/>
          </p:nvSpPr>
          <p:spPr>
            <a:xfrm flipH="false" flipV="false" rot="0">
              <a:off x="0" y="0"/>
              <a:ext cx="10119360" cy="1170432"/>
            </a:xfrm>
            <a:custGeom>
              <a:avLst/>
              <a:gdLst/>
              <a:ahLst/>
              <a:cxnLst/>
              <a:rect r="r" b="b" t="t" l="l"/>
              <a:pathLst>
                <a:path h="1170432" w="10119360">
                  <a:moveTo>
                    <a:pt x="0" y="0"/>
                  </a:moveTo>
                  <a:lnTo>
                    <a:pt x="10119360" y="0"/>
                  </a:lnTo>
                  <a:lnTo>
                    <a:pt x="10119360" y="1170432"/>
                  </a:lnTo>
                  <a:lnTo>
                    <a:pt x="0" y="1170432"/>
                  </a:lnTo>
                  <a:close/>
                </a:path>
              </a:pathLst>
            </a:custGeom>
            <a:blipFill>
              <a:blip r:embed="rId3">
                <a:alphaModFix amt="0"/>
              </a:blip>
              <a:stretch>
                <a:fillRect l="0" t="-118464" r="0" b="-118464"/>
              </a:stretch>
            </a:blipFill>
          </p:spPr>
        </p:sp>
        <p:sp>
          <p:nvSpPr>
            <p:cNvPr name="TextBox 25" id="25"/>
            <p:cNvSpPr txBox="true"/>
            <p:nvPr/>
          </p:nvSpPr>
          <p:spPr>
            <a:xfrm>
              <a:off x="0" y="9525"/>
              <a:ext cx="10119360" cy="1160907"/>
            </a:xfrm>
            <a:prstGeom prst="rect">
              <a:avLst/>
            </a:prstGeom>
          </p:spPr>
          <p:txBody>
            <a:bodyPr anchor="ctr" rtlCol="false" tIns="0" lIns="0" bIns="0" rIns="0"/>
            <a:lstStyle/>
            <a:p>
              <a:pPr algn="l">
                <a:lnSpc>
                  <a:spcPts val="2280"/>
                </a:lnSpc>
              </a:pPr>
              <a:r>
                <a:rPr lang="en-US" sz="1900" i="true">
                  <a:solidFill>
                    <a:srgbClr val="364E64"/>
                  </a:solidFill>
                  <a:latin typeface="EB Garamond Italics"/>
                  <a:ea typeface="EB Garamond Italics"/>
                  <a:cs typeface="EB Garamond Italics"/>
                  <a:sym typeface="EB Garamond Italics"/>
                </a:rPr>
                <a:t>⚠  'sendré' identifié comme un patronyme peul — c'est en réalité un lieu/marché.</a:t>
              </a:r>
            </a:p>
          </p:txBody>
        </p:sp>
      </p:grpSp>
      <p:grpSp>
        <p:nvGrpSpPr>
          <p:cNvPr name="Group 26" id="26"/>
          <p:cNvGrpSpPr/>
          <p:nvPr/>
        </p:nvGrpSpPr>
        <p:grpSpPr>
          <a:xfrm rot="0">
            <a:off x="969264" y="3712464"/>
            <a:ext cx="7589520" cy="731520"/>
            <a:chOff x="0" y="0"/>
            <a:chExt cx="10119360" cy="975360"/>
          </a:xfrm>
        </p:grpSpPr>
        <p:sp>
          <p:nvSpPr>
            <p:cNvPr name="Freeform 27" id="27"/>
            <p:cNvSpPr/>
            <p:nvPr/>
          </p:nvSpPr>
          <p:spPr>
            <a:xfrm flipH="false" flipV="false" rot="0">
              <a:off x="0" y="0"/>
              <a:ext cx="10119360" cy="975360"/>
            </a:xfrm>
            <a:custGeom>
              <a:avLst/>
              <a:gdLst/>
              <a:ahLst/>
              <a:cxnLst/>
              <a:rect r="r" b="b" t="t" l="l"/>
              <a:pathLst>
                <a:path h="975360" w="10119360">
                  <a:moveTo>
                    <a:pt x="0" y="0"/>
                  </a:moveTo>
                  <a:lnTo>
                    <a:pt x="10119360" y="0"/>
                  </a:lnTo>
                  <a:lnTo>
                    <a:pt x="10119360" y="975360"/>
                  </a:lnTo>
                  <a:lnTo>
                    <a:pt x="0" y="975360"/>
                  </a:lnTo>
                  <a:close/>
                </a:path>
              </a:pathLst>
            </a:custGeom>
            <a:blipFill>
              <a:blip r:embed="rId3">
                <a:alphaModFix amt="0"/>
              </a:blip>
              <a:stretch>
                <a:fillRect l="0" t="-152157" r="0" b="-152157"/>
              </a:stretch>
            </a:blipFill>
          </p:spPr>
        </p:sp>
        <p:sp>
          <p:nvSpPr>
            <p:cNvPr name="TextBox 28" id="28"/>
            <p:cNvSpPr txBox="true"/>
            <p:nvPr/>
          </p:nvSpPr>
          <p:spPr>
            <a:xfrm>
              <a:off x="0" y="9525"/>
              <a:ext cx="10119360" cy="965835"/>
            </a:xfrm>
            <a:prstGeom prst="rect">
              <a:avLst/>
            </a:prstGeom>
          </p:spPr>
          <p:txBody>
            <a:bodyPr anchor="ctr" rtlCol="false" tIns="0" lIns="0" bIns="0" rIns="0"/>
            <a:lstStyle/>
            <a:p>
              <a:pPr algn="l">
                <a:lnSpc>
                  <a:spcPts val="2280"/>
                </a:lnSpc>
              </a:pPr>
              <a:r>
                <a:rPr lang="en-US" sz="1900" b="true">
                  <a:solidFill>
                    <a:srgbClr val="2A6A3A"/>
                  </a:solidFill>
                  <a:latin typeface="EB Garamond Semi-Bold"/>
                  <a:ea typeface="EB Garamond Semi-Bold"/>
                  <a:cs typeface="EB Garamond Semi-Bold"/>
                  <a:sym typeface="EB Garamond Semi-Bold"/>
                </a:rPr>
                <a:t>→ Correction : sendré re-identifié comme lieu. </a:t>
              </a:r>
            </a:p>
          </p:txBody>
        </p:sp>
      </p:grpSp>
      <p:grpSp>
        <p:nvGrpSpPr>
          <p:cNvPr name="Group 29" id="29"/>
          <p:cNvGrpSpPr/>
          <p:nvPr/>
        </p:nvGrpSpPr>
        <p:grpSpPr>
          <a:xfrm rot="0">
            <a:off x="9499597" y="1998983"/>
            <a:ext cx="8249917" cy="2690365"/>
            <a:chOff x="0" y="0"/>
            <a:chExt cx="10999889" cy="3587153"/>
          </a:xfrm>
        </p:grpSpPr>
        <p:sp>
          <p:nvSpPr>
            <p:cNvPr name="Freeform 30" id="30"/>
            <p:cNvSpPr/>
            <p:nvPr/>
          </p:nvSpPr>
          <p:spPr>
            <a:xfrm flipH="false" flipV="false" rot="0">
              <a:off x="13462" y="13589"/>
              <a:ext cx="10972927" cy="3560064"/>
            </a:xfrm>
            <a:custGeom>
              <a:avLst/>
              <a:gdLst/>
              <a:ahLst/>
              <a:cxnLst/>
              <a:rect r="r" b="b" t="t" l="l"/>
              <a:pathLst>
                <a:path h="3560064" w="10972927">
                  <a:moveTo>
                    <a:pt x="127" y="243840"/>
                  </a:moveTo>
                  <a:cubicBezTo>
                    <a:pt x="127" y="109220"/>
                    <a:pt x="109855" y="0"/>
                    <a:pt x="245237" y="0"/>
                  </a:cubicBezTo>
                  <a:lnTo>
                    <a:pt x="10727817" y="0"/>
                  </a:lnTo>
                  <a:cubicBezTo>
                    <a:pt x="10863200" y="0"/>
                    <a:pt x="10972927" y="109220"/>
                    <a:pt x="10972927" y="243840"/>
                  </a:cubicBezTo>
                  <a:lnTo>
                    <a:pt x="10972927" y="3316224"/>
                  </a:lnTo>
                  <a:cubicBezTo>
                    <a:pt x="10972927" y="3450844"/>
                    <a:pt x="10863199" y="3560064"/>
                    <a:pt x="10727817" y="3560064"/>
                  </a:cubicBezTo>
                  <a:lnTo>
                    <a:pt x="245110" y="3560064"/>
                  </a:lnTo>
                  <a:cubicBezTo>
                    <a:pt x="109728" y="3560064"/>
                    <a:pt x="0" y="3450844"/>
                    <a:pt x="0" y="3316224"/>
                  </a:cubicBezTo>
                  <a:close/>
                </a:path>
              </a:pathLst>
            </a:custGeom>
            <a:solidFill>
              <a:srgbClr val="FFFFFF"/>
            </a:solidFill>
          </p:spPr>
        </p:sp>
        <p:sp>
          <p:nvSpPr>
            <p:cNvPr name="Freeform 31" id="31"/>
            <p:cNvSpPr/>
            <p:nvPr/>
          </p:nvSpPr>
          <p:spPr>
            <a:xfrm flipH="false" flipV="false" rot="0">
              <a:off x="0" y="0"/>
              <a:ext cx="10999725" cy="3587242"/>
            </a:xfrm>
            <a:custGeom>
              <a:avLst/>
              <a:gdLst/>
              <a:ahLst/>
              <a:cxnLst/>
              <a:rect r="r" b="b" t="t" l="l"/>
              <a:pathLst>
                <a:path h="3587242" w="10999725">
                  <a:moveTo>
                    <a:pt x="0" y="257429"/>
                  </a:moveTo>
                  <a:cubicBezTo>
                    <a:pt x="0" y="115189"/>
                    <a:pt x="115824" y="0"/>
                    <a:pt x="258572" y="0"/>
                  </a:cubicBezTo>
                  <a:lnTo>
                    <a:pt x="10741152" y="0"/>
                  </a:lnTo>
                  <a:lnTo>
                    <a:pt x="10741152" y="13589"/>
                  </a:lnTo>
                  <a:lnTo>
                    <a:pt x="10741152" y="0"/>
                  </a:lnTo>
                  <a:cubicBezTo>
                    <a:pt x="10883900" y="0"/>
                    <a:pt x="10999725" y="115189"/>
                    <a:pt x="10999725" y="257429"/>
                  </a:cubicBezTo>
                  <a:lnTo>
                    <a:pt x="10986136" y="257429"/>
                  </a:lnTo>
                  <a:lnTo>
                    <a:pt x="10999725" y="257429"/>
                  </a:lnTo>
                  <a:lnTo>
                    <a:pt x="10999725" y="3329813"/>
                  </a:lnTo>
                  <a:lnTo>
                    <a:pt x="10986136" y="3329813"/>
                  </a:lnTo>
                  <a:lnTo>
                    <a:pt x="10999725" y="3329813"/>
                  </a:lnTo>
                  <a:cubicBezTo>
                    <a:pt x="10999725" y="3472053"/>
                    <a:pt x="10883900" y="3587242"/>
                    <a:pt x="10741152" y="3587242"/>
                  </a:cubicBezTo>
                  <a:lnTo>
                    <a:pt x="10741152" y="3573653"/>
                  </a:lnTo>
                  <a:lnTo>
                    <a:pt x="10741152" y="3587242"/>
                  </a:lnTo>
                  <a:lnTo>
                    <a:pt x="258572" y="3587242"/>
                  </a:lnTo>
                  <a:lnTo>
                    <a:pt x="258572" y="3573653"/>
                  </a:lnTo>
                  <a:lnTo>
                    <a:pt x="258572" y="3587242"/>
                  </a:lnTo>
                  <a:cubicBezTo>
                    <a:pt x="115824" y="3587115"/>
                    <a:pt x="0" y="3472053"/>
                    <a:pt x="0" y="3329813"/>
                  </a:cubicBezTo>
                  <a:lnTo>
                    <a:pt x="0" y="257429"/>
                  </a:lnTo>
                  <a:lnTo>
                    <a:pt x="13589" y="257429"/>
                  </a:lnTo>
                  <a:lnTo>
                    <a:pt x="0" y="257429"/>
                  </a:lnTo>
                  <a:moveTo>
                    <a:pt x="27051" y="257429"/>
                  </a:moveTo>
                  <a:lnTo>
                    <a:pt x="27051" y="3329813"/>
                  </a:lnTo>
                  <a:lnTo>
                    <a:pt x="13589" y="3329813"/>
                  </a:lnTo>
                  <a:lnTo>
                    <a:pt x="27051" y="3329813"/>
                  </a:lnTo>
                  <a:cubicBezTo>
                    <a:pt x="27051" y="3456940"/>
                    <a:pt x="130683" y="3560064"/>
                    <a:pt x="258572" y="3560064"/>
                  </a:cubicBezTo>
                  <a:lnTo>
                    <a:pt x="10741152" y="3560064"/>
                  </a:lnTo>
                  <a:cubicBezTo>
                    <a:pt x="10869041" y="3560064"/>
                    <a:pt x="10972674" y="3456940"/>
                    <a:pt x="10972674" y="3329813"/>
                  </a:cubicBezTo>
                  <a:lnTo>
                    <a:pt x="10972674" y="257429"/>
                  </a:lnTo>
                  <a:cubicBezTo>
                    <a:pt x="10972674" y="130302"/>
                    <a:pt x="10869041" y="27178"/>
                    <a:pt x="10741152" y="27178"/>
                  </a:cubicBezTo>
                  <a:lnTo>
                    <a:pt x="258572" y="27178"/>
                  </a:lnTo>
                  <a:lnTo>
                    <a:pt x="258572" y="13589"/>
                  </a:lnTo>
                  <a:lnTo>
                    <a:pt x="258572" y="27051"/>
                  </a:lnTo>
                  <a:cubicBezTo>
                    <a:pt x="130683" y="27051"/>
                    <a:pt x="27051" y="130175"/>
                    <a:pt x="27051" y="257302"/>
                  </a:cubicBezTo>
                  <a:close/>
                </a:path>
              </a:pathLst>
            </a:custGeom>
            <a:solidFill>
              <a:srgbClr val="BDC8D5"/>
            </a:solidFill>
          </p:spPr>
        </p:sp>
      </p:grpSp>
      <p:grpSp>
        <p:nvGrpSpPr>
          <p:cNvPr name="Group 32" id="32"/>
          <p:cNvGrpSpPr/>
          <p:nvPr/>
        </p:nvGrpSpPr>
        <p:grpSpPr>
          <a:xfrm rot="0">
            <a:off x="9422887" y="1993897"/>
            <a:ext cx="153419" cy="2695451"/>
            <a:chOff x="0" y="0"/>
            <a:chExt cx="204559" cy="3593935"/>
          </a:xfrm>
        </p:grpSpPr>
        <p:sp>
          <p:nvSpPr>
            <p:cNvPr name="Freeform 33" id="33"/>
            <p:cNvSpPr/>
            <p:nvPr/>
          </p:nvSpPr>
          <p:spPr>
            <a:xfrm flipH="false" flipV="false" rot="0">
              <a:off x="16891" y="16891"/>
              <a:ext cx="170688" cy="3560064"/>
            </a:xfrm>
            <a:custGeom>
              <a:avLst/>
              <a:gdLst/>
              <a:ahLst/>
              <a:cxnLst/>
              <a:rect r="r" b="b" t="t" l="l"/>
              <a:pathLst>
                <a:path h="3560064" w="170688">
                  <a:moveTo>
                    <a:pt x="0" y="0"/>
                  </a:moveTo>
                  <a:lnTo>
                    <a:pt x="170688" y="0"/>
                  </a:lnTo>
                  <a:lnTo>
                    <a:pt x="170688" y="3560064"/>
                  </a:lnTo>
                  <a:lnTo>
                    <a:pt x="0" y="3560064"/>
                  </a:lnTo>
                  <a:close/>
                </a:path>
              </a:pathLst>
            </a:custGeom>
            <a:solidFill>
              <a:srgbClr val="5B8DB8"/>
            </a:solidFill>
          </p:spPr>
        </p:sp>
        <p:sp>
          <p:nvSpPr>
            <p:cNvPr name="Freeform 34" id="34"/>
            <p:cNvSpPr/>
            <p:nvPr/>
          </p:nvSpPr>
          <p:spPr>
            <a:xfrm flipH="false" flipV="false" rot="0">
              <a:off x="0" y="0"/>
              <a:ext cx="204470" cy="3593846"/>
            </a:xfrm>
            <a:custGeom>
              <a:avLst/>
              <a:gdLst/>
              <a:ahLst/>
              <a:cxnLst/>
              <a:rect r="r" b="b" t="t" l="l"/>
              <a:pathLst>
                <a:path h="3593846" w="204470">
                  <a:moveTo>
                    <a:pt x="16891" y="0"/>
                  </a:moveTo>
                  <a:lnTo>
                    <a:pt x="187579" y="0"/>
                  </a:lnTo>
                  <a:cubicBezTo>
                    <a:pt x="196977" y="0"/>
                    <a:pt x="204470" y="7620"/>
                    <a:pt x="204470" y="16891"/>
                  </a:cubicBezTo>
                  <a:lnTo>
                    <a:pt x="204470" y="3576955"/>
                  </a:lnTo>
                  <a:cubicBezTo>
                    <a:pt x="204470" y="3586353"/>
                    <a:pt x="196850" y="3593846"/>
                    <a:pt x="187579" y="3593846"/>
                  </a:cubicBezTo>
                  <a:lnTo>
                    <a:pt x="16891" y="3593846"/>
                  </a:lnTo>
                  <a:cubicBezTo>
                    <a:pt x="7493" y="3593846"/>
                    <a:pt x="0" y="3586226"/>
                    <a:pt x="0" y="3576955"/>
                  </a:cubicBezTo>
                  <a:lnTo>
                    <a:pt x="0" y="16891"/>
                  </a:lnTo>
                  <a:cubicBezTo>
                    <a:pt x="0" y="7620"/>
                    <a:pt x="7620" y="0"/>
                    <a:pt x="16891" y="0"/>
                  </a:cubicBezTo>
                  <a:moveTo>
                    <a:pt x="16891" y="33909"/>
                  </a:moveTo>
                  <a:lnTo>
                    <a:pt x="16891" y="16891"/>
                  </a:lnTo>
                  <a:lnTo>
                    <a:pt x="33909" y="16891"/>
                  </a:lnTo>
                  <a:lnTo>
                    <a:pt x="33909" y="3576955"/>
                  </a:lnTo>
                  <a:lnTo>
                    <a:pt x="16891" y="3576955"/>
                  </a:lnTo>
                  <a:lnTo>
                    <a:pt x="16891" y="3560064"/>
                  </a:lnTo>
                  <a:lnTo>
                    <a:pt x="187579" y="3560064"/>
                  </a:lnTo>
                  <a:lnTo>
                    <a:pt x="187579" y="3576955"/>
                  </a:lnTo>
                  <a:lnTo>
                    <a:pt x="170688" y="3576955"/>
                  </a:lnTo>
                  <a:lnTo>
                    <a:pt x="170688" y="16891"/>
                  </a:lnTo>
                  <a:lnTo>
                    <a:pt x="187579" y="16891"/>
                  </a:lnTo>
                  <a:lnTo>
                    <a:pt x="187579" y="33909"/>
                  </a:lnTo>
                  <a:lnTo>
                    <a:pt x="16891" y="33909"/>
                  </a:lnTo>
                  <a:close/>
                </a:path>
              </a:pathLst>
            </a:custGeom>
            <a:solidFill>
              <a:srgbClr val="5B8DB8"/>
            </a:solidFill>
          </p:spPr>
        </p:sp>
      </p:grpSp>
      <p:grpSp>
        <p:nvGrpSpPr>
          <p:cNvPr name="Group 35" id="35"/>
          <p:cNvGrpSpPr/>
          <p:nvPr/>
        </p:nvGrpSpPr>
        <p:grpSpPr>
          <a:xfrm rot="0">
            <a:off x="10049187" y="2260597"/>
            <a:ext cx="4780283" cy="574043"/>
            <a:chOff x="0" y="0"/>
            <a:chExt cx="6373711" cy="765391"/>
          </a:xfrm>
        </p:grpSpPr>
        <p:sp>
          <p:nvSpPr>
            <p:cNvPr name="Freeform 36" id="36"/>
            <p:cNvSpPr/>
            <p:nvPr/>
          </p:nvSpPr>
          <p:spPr>
            <a:xfrm flipH="false" flipV="false" rot="0">
              <a:off x="16891" y="16891"/>
              <a:ext cx="6339967" cy="731520"/>
            </a:xfrm>
            <a:custGeom>
              <a:avLst/>
              <a:gdLst/>
              <a:ahLst/>
              <a:cxnLst/>
              <a:rect r="r" b="b" t="t" l="l"/>
              <a:pathLst>
                <a:path h="731520" w="6339967">
                  <a:moveTo>
                    <a:pt x="0" y="195072"/>
                  </a:moveTo>
                  <a:cubicBezTo>
                    <a:pt x="0" y="87376"/>
                    <a:pt x="90932" y="0"/>
                    <a:pt x="203073" y="0"/>
                  </a:cubicBezTo>
                  <a:lnTo>
                    <a:pt x="6136894" y="0"/>
                  </a:lnTo>
                  <a:cubicBezTo>
                    <a:pt x="6249035" y="0"/>
                    <a:pt x="6339967" y="87376"/>
                    <a:pt x="6339967" y="195072"/>
                  </a:cubicBezTo>
                  <a:lnTo>
                    <a:pt x="6339967" y="536448"/>
                  </a:lnTo>
                  <a:cubicBezTo>
                    <a:pt x="6339967" y="644144"/>
                    <a:pt x="6249035" y="731520"/>
                    <a:pt x="6136894" y="731520"/>
                  </a:cubicBezTo>
                  <a:lnTo>
                    <a:pt x="203073" y="731520"/>
                  </a:lnTo>
                  <a:cubicBezTo>
                    <a:pt x="90932" y="731520"/>
                    <a:pt x="0" y="644144"/>
                    <a:pt x="0" y="536448"/>
                  </a:cubicBezTo>
                  <a:close/>
                </a:path>
              </a:pathLst>
            </a:custGeom>
            <a:solidFill>
              <a:srgbClr val="5B8DB8"/>
            </a:solidFill>
          </p:spPr>
        </p:sp>
        <p:sp>
          <p:nvSpPr>
            <p:cNvPr name="Freeform 37" id="37"/>
            <p:cNvSpPr/>
            <p:nvPr/>
          </p:nvSpPr>
          <p:spPr>
            <a:xfrm flipH="false" flipV="false" rot="0">
              <a:off x="0" y="0"/>
              <a:ext cx="6373749" cy="765302"/>
            </a:xfrm>
            <a:custGeom>
              <a:avLst/>
              <a:gdLst/>
              <a:ahLst/>
              <a:cxnLst/>
              <a:rect r="r" b="b" t="t" l="l"/>
              <a:pathLst>
                <a:path h="765302" w="6373749">
                  <a:moveTo>
                    <a:pt x="0" y="211963"/>
                  </a:moveTo>
                  <a:cubicBezTo>
                    <a:pt x="0" y="94234"/>
                    <a:pt x="99060" y="0"/>
                    <a:pt x="219964" y="0"/>
                  </a:cubicBezTo>
                  <a:lnTo>
                    <a:pt x="6153785" y="0"/>
                  </a:lnTo>
                  <a:lnTo>
                    <a:pt x="6153785" y="16891"/>
                  </a:lnTo>
                  <a:lnTo>
                    <a:pt x="6153785" y="0"/>
                  </a:lnTo>
                  <a:cubicBezTo>
                    <a:pt x="6274562" y="0"/>
                    <a:pt x="6373749" y="94234"/>
                    <a:pt x="6373749" y="211963"/>
                  </a:cubicBezTo>
                  <a:lnTo>
                    <a:pt x="6356858" y="211963"/>
                  </a:lnTo>
                  <a:lnTo>
                    <a:pt x="6373749" y="211963"/>
                  </a:lnTo>
                  <a:lnTo>
                    <a:pt x="6373749" y="553339"/>
                  </a:lnTo>
                  <a:lnTo>
                    <a:pt x="6356858" y="553339"/>
                  </a:lnTo>
                  <a:lnTo>
                    <a:pt x="6373749" y="553339"/>
                  </a:lnTo>
                  <a:cubicBezTo>
                    <a:pt x="6373749" y="671068"/>
                    <a:pt x="6274689" y="765302"/>
                    <a:pt x="6153785" y="765302"/>
                  </a:cubicBezTo>
                  <a:lnTo>
                    <a:pt x="6153785" y="748411"/>
                  </a:lnTo>
                  <a:lnTo>
                    <a:pt x="6153785" y="765302"/>
                  </a:lnTo>
                  <a:lnTo>
                    <a:pt x="219964" y="765302"/>
                  </a:lnTo>
                  <a:lnTo>
                    <a:pt x="219964" y="748411"/>
                  </a:lnTo>
                  <a:lnTo>
                    <a:pt x="219964" y="765302"/>
                  </a:lnTo>
                  <a:cubicBezTo>
                    <a:pt x="99060" y="765429"/>
                    <a:pt x="0" y="671068"/>
                    <a:pt x="0" y="553339"/>
                  </a:cubicBezTo>
                  <a:lnTo>
                    <a:pt x="0" y="211963"/>
                  </a:lnTo>
                  <a:lnTo>
                    <a:pt x="16891" y="211963"/>
                  </a:lnTo>
                  <a:lnTo>
                    <a:pt x="0" y="211963"/>
                  </a:lnTo>
                  <a:moveTo>
                    <a:pt x="33909" y="211963"/>
                  </a:moveTo>
                  <a:lnTo>
                    <a:pt x="33909" y="553339"/>
                  </a:lnTo>
                  <a:lnTo>
                    <a:pt x="16891" y="553339"/>
                  </a:lnTo>
                  <a:lnTo>
                    <a:pt x="33909" y="553339"/>
                  </a:lnTo>
                  <a:cubicBezTo>
                    <a:pt x="33909" y="651129"/>
                    <a:pt x="116586" y="731520"/>
                    <a:pt x="219964" y="731520"/>
                  </a:cubicBezTo>
                  <a:lnTo>
                    <a:pt x="6153785" y="731520"/>
                  </a:lnTo>
                  <a:cubicBezTo>
                    <a:pt x="6257163" y="731520"/>
                    <a:pt x="6339840" y="651129"/>
                    <a:pt x="6339840" y="553339"/>
                  </a:cubicBezTo>
                  <a:lnTo>
                    <a:pt x="6339840" y="211963"/>
                  </a:lnTo>
                  <a:cubicBezTo>
                    <a:pt x="6339840" y="114173"/>
                    <a:pt x="6257163" y="33782"/>
                    <a:pt x="6153785" y="33782"/>
                  </a:cubicBezTo>
                  <a:lnTo>
                    <a:pt x="219964" y="33782"/>
                  </a:lnTo>
                  <a:lnTo>
                    <a:pt x="219964" y="16891"/>
                  </a:lnTo>
                  <a:lnTo>
                    <a:pt x="219964" y="33909"/>
                  </a:lnTo>
                  <a:cubicBezTo>
                    <a:pt x="116586" y="33909"/>
                    <a:pt x="33909" y="114300"/>
                    <a:pt x="33909" y="211963"/>
                  </a:cubicBezTo>
                  <a:close/>
                </a:path>
              </a:pathLst>
            </a:custGeom>
            <a:solidFill>
              <a:srgbClr val="5B8DB8"/>
            </a:solidFill>
          </p:spPr>
        </p:sp>
      </p:grpSp>
      <p:grpSp>
        <p:nvGrpSpPr>
          <p:cNvPr name="Group 38" id="38"/>
          <p:cNvGrpSpPr/>
          <p:nvPr/>
        </p:nvGrpSpPr>
        <p:grpSpPr>
          <a:xfrm rot="0">
            <a:off x="9851650" y="2322576"/>
            <a:ext cx="4754880" cy="512064"/>
            <a:chOff x="0" y="0"/>
            <a:chExt cx="6339840" cy="682752"/>
          </a:xfrm>
        </p:grpSpPr>
        <p:sp>
          <p:nvSpPr>
            <p:cNvPr name="Freeform 39" id="39"/>
            <p:cNvSpPr/>
            <p:nvPr/>
          </p:nvSpPr>
          <p:spPr>
            <a:xfrm flipH="false" flipV="false" rot="0">
              <a:off x="0" y="0"/>
              <a:ext cx="6339840" cy="682752"/>
            </a:xfrm>
            <a:custGeom>
              <a:avLst/>
              <a:gdLst/>
              <a:ahLst/>
              <a:cxnLst/>
              <a:rect r="r" b="b" t="t" l="l"/>
              <a:pathLst>
                <a:path h="682752" w="6339840">
                  <a:moveTo>
                    <a:pt x="0" y="0"/>
                  </a:moveTo>
                  <a:lnTo>
                    <a:pt x="6339840" y="0"/>
                  </a:lnTo>
                  <a:lnTo>
                    <a:pt x="6339840" y="682752"/>
                  </a:lnTo>
                  <a:lnTo>
                    <a:pt x="0" y="682752"/>
                  </a:lnTo>
                  <a:close/>
                </a:path>
              </a:pathLst>
            </a:custGeom>
            <a:blipFill>
              <a:blip r:embed="rId3">
                <a:alphaModFix amt="0"/>
              </a:blip>
              <a:stretch>
                <a:fillRect l="0" t="-130932" r="0" b="-130932"/>
              </a:stretch>
            </a:blipFill>
          </p:spPr>
        </p:sp>
        <p:sp>
          <p:nvSpPr>
            <p:cNvPr name="TextBox 40" id="40"/>
            <p:cNvSpPr txBox="true"/>
            <p:nvPr/>
          </p:nvSpPr>
          <p:spPr>
            <a:xfrm>
              <a:off x="0" y="9525"/>
              <a:ext cx="6339840" cy="673227"/>
            </a:xfrm>
            <a:prstGeom prst="rect">
              <a:avLst/>
            </a:prstGeom>
          </p:spPr>
          <p:txBody>
            <a:bodyPr anchor="ctr" rtlCol="false" tIns="0" lIns="0" bIns="0" rIns="0"/>
            <a:lstStyle/>
            <a:p>
              <a:pPr algn="ctr">
                <a:lnSpc>
                  <a:spcPts val="2160"/>
                </a:lnSpc>
              </a:pPr>
              <a:r>
                <a:rPr lang="en-US" sz="1800" b="true">
                  <a:solidFill>
                    <a:srgbClr val="FFFFFF"/>
                  </a:solidFill>
                  <a:latin typeface="EB Garamond Semi-Bold"/>
                  <a:ea typeface="EB Garamond Semi-Bold"/>
                  <a:cs typeface="EB Garamond Semi-Bold"/>
                  <a:sym typeface="EB Garamond Semi-Bold"/>
                </a:rPr>
                <a:t>Variables globales manquantes</a:t>
              </a:r>
            </a:p>
          </p:txBody>
        </p:sp>
      </p:grpSp>
      <p:grpSp>
        <p:nvGrpSpPr>
          <p:cNvPr name="Group 41" id="41"/>
          <p:cNvGrpSpPr/>
          <p:nvPr/>
        </p:nvGrpSpPr>
        <p:grpSpPr>
          <a:xfrm rot="0">
            <a:off x="9826247" y="2950721"/>
            <a:ext cx="7589520" cy="877824"/>
            <a:chOff x="0" y="0"/>
            <a:chExt cx="10119360" cy="1170432"/>
          </a:xfrm>
        </p:grpSpPr>
        <p:sp>
          <p:nvSpPr>
            <p:cNvPr name="Freeform 42" id="42"/>
            <p:cNvSpPr/>
            <p:nvPr/>
          </p:nvSpPr>
          <p:spPr>
            <a:xfrm flipH="false" flipV="false" rot="0">
              <a:off x="0" y="0"/>
              <a:ext cx="10119360" cy="1170432"/>
            </a:xfrm>
            <a:custGeom>
              <a:avLst/>
              <a:gdLst/>
              <a:ahLst/>
              <a:cxnLst/>
              <a:rect r="r" b="b" t="t" l="l"/>
              <a:pathLst>
                <a:path h="1170432" w="10119360">
                  <a:moveTo>
                    <a:pt x="0" y="0"/>
                  </a:moveTo>
                  <a:lnTo>
                    <a:pt x="10119360" y="0"/>
                  </a:lnTo>
                  <a:lnTo>
                    <a:pt x="10119360" y="1170432"/>
                  </a:lnTo>
                  <a:lnTo>
                    <a:pt x="0" y="1170432"/>
                  </a:lnTo>
                  <a:close/>
                </a:path>
              </a:pathLst>
            </a:custGeom>
            <a:blipFill>
              <a:blip r:embed="rId3">
                <a:alphaModFix amt="0"/>
              </a:blip>
              <a:stretch>
                <a:fillRect l="0" t="-118464" r="0" b="-118464"/>
              </a:stretch>
            </a:blipFill>
          </p:spPr>
        </p:sp>
        <p:sp>
          <p:nvSpPr>
            <p:cNvPr name="TextBox 43" id="43"/>
            <p:cNvSpPr txBox="true"/>
            <p:nvPr/>
          </p:nvSpPr>
          <p:spPr>
            <a:xfrm>
              <a:off x="0" y="9525"/>
              <a:ext cx="10119360" cy="1160907"/>
            </a:xfrm>
            <a:prstGeom prst="rect">
              <a:avLst/>
            </a:prstGeom>
          </p:spPr>
          <p:txBody>
            <a:bodyPr anchor="ctr" rtlCol="false" tIns="0" lIns="0" bIns="0" rIns="0"/>
            <a:lstStyle/>
            <a:p>
              <a:pPr algn="l">
                <a:lnSpc>
                  <a:spcPts val="2280"/>
                </a:lnSpc>
              </a:pPr>
              <a:r>
                <a:rPr lang="en-US" sz="1900" i="true">
                  <a:solidFill>
                    <a:srgbClr val="364E64"/>
                  </a:solidFill>
                  <a:latin typeface="EB Garamond Italics"/>
                  <a:ea typeface="EB Garamond Italics"/>
                  <a:cs typeface="EB Garamond Italics"/>
                  <a:sym typeface="EB Garamond Italics"/>
                </a:rPr>
                <a:t>⚠  L'IA n'a pas signalé que inputfile, data et codes n'étaient pas définies dans cleaning.do, rendant le script non reproductible sans la configuration.</a:t>
              </a:r>
            </a:p>
          </p:txBody>
        </p:sp>
      </p:grpSp>
      <p:grpSp>
        <p:nvGrpSpPr>
          <p:cNvPr name="Group 44" id="44"/>
          <p:cNvGrpSpPr/>
          <p:nvPr/>
        </p:nvGrpSpPr>
        <p:grpSpPr>
          <a:xfrm rot="0">
            <a:off x="9826247" y="3749040"/>
            <a:ext cx="7589520" cy="731520"/>
            <a:chOff x="0" y="0"/>
            <a:chExt cx="10119360" cy="975360"/>
          </a:xfrm>
        </p:grpSpPr>
        <p:sp>
          <p:nvSpPr>
            <p:cNvPr name="Freeform 45" id="45"/>
            <p:cNvSpPr/>
            <p:nvPr/>
          </p:nvSpPr>
          <p:spPr>
            <a:xfrm flipH="false" flipV="false" rot="0">
              <a:off x="0" y="0"/>
              <a:ext cx="10119360" cy="975360"/>
            </a:xfrm>
            <a:custGeom>
              <a:avLst/>
              <a:gdLst/>
              <a:ahLst/>
              <a:cxnLst/>
              <a:rect r="r" b="b" t="t" l="l"/>
              <a:pathLst>
                <a:path h="975360" w="10119360">
                  <a:moveTo>
                    <a:pt x="0" y="0"/>
                  </a:moveTo>
                  <a:lnTo>
                    <a:pt x="10119360" y="0"/>
                  </a:lnTo>
                  <a:lnTo>
                    <a:pt x="10119360" y="975360"/>
                  </a:lnTo>
                  <a:lnTo>
                    <a:pt x="0" y="975360"/>
                  </a:lnTo>
                  <a:close/>
                </a:path>
              </a:pathLst>
            </a:custGeom>
            <a:blipFill>
              <a:blip r:embed="rId3">
                <a:alphaModFix amt="0"/>
              </a:blip>
              <a:stretch>
                <a:fillRect l="0" t="-152157" r="0" b="-152157"/>
              </a:stretch>
            </a:blipFill>
          </p:spPr>
        </p:sp>
        <p:sp>
          <p:nvSpPr>
            <p:cNvPr name="TextBox 46" id="46"/>
            <p:cNvSpPr txBox="true"/>
            <p:nvPr/>
          </p:nvSpPr>
          <p:spPr>
            <a:xfrm>
              <a:off x="0" y="9525"/>
              <a:ext cx="10119360" cy="965835"/>
            </a:xfrm>
            <a:prstGeom prst="rect">
              <a:avLst/>
            </a:prstGeom>
          </p:spPr>
          <p:txBody>
            <a:bodyPr anchor="ctr" rtlCol="false" tIns="0" lIns="0" bIns="0" rIns="0"/>
            <a:lstStyle/>
            <a:p>
              <a:pPr algn="l">
                <a:lnSpc>
                  <a:spcPts val="2280"/>
                </a:lnSpc>
              </a:pPr>
              <a:r>
                <a:rPr lang="en-US" sz="1900" b="true">
                  <a:solidFill>
                    <a:srgbClr val="2A6A3A"/>
                  </a:solidFill>
                  <a:latin typeface="EB Garamond Semi-Bold"/>
                  <a:ea typeface="EB Garamond Semi-Bold"/>
                  <a:cs typeface="EB Garamond Semi-Bold"/>
                  <a:sym typeface="EB Garamond Semi-Bold"/>
                </a:rPr>
                <a:t>→ Correction : ajout du bloc de configuration des chemins globaux en tête de cleaning.do, avec instructions de modification pour chaque utilisateur.</a:t>
              </a:r>
            </a:p>
          </p:txBody>
        </p:sp>
      </p:grpSp>
      <p:grpSp>
        <p:nvGrpSpPr>
          <p:cNvPr name="Group 47" id="47"/>
          <p:cNvGrpSpPr/>
          <p:nvPr/>
        </p:nvGrpSpPr>
        <p:grpSpPr>
          <a:xfrm rot="0">
            <a:off x="627383" y="5036953"/>
            <a:ext cx="8249917" cy="2690365"/>
            <a:chOff x="0" y="0"/>
            <a:chExt cx="10999889" cy="3587153"/>
          </a:xfrm>
        </p:grpSpPr>
        <p:sp>
          <p:nvSpPr>
            <p:cNvPr name="Freeform 48" id="48"/>
            <p:cNvSpPr/>
            <p:nvPr/>
          </p:nvSpPr>
          <p:spPr>
            <a:xfrm flipH="false" flipV="false" rot="0">
              <a:off x="13462" y="13589"/>
              <a:ext cx="10972927" cy="3560064"/>
            </a:xfrm>
            <a:custGeom>
              <a:avLst/>
              <a:gdLst/>
              <a:ahLst/>
              <a:cxnLst/>
              <a:rect r="r" b="b" t="t" l="l"/>
              <a:pathLst>
                <a:path h="3560064" w="10972927">
                  <a:moveTo>
                    <a:pt x="127" y="243840"/>
                  </a:moveTo>
                  <a:cubicBezTo>
                    <a:pt x="127" y="109220"/>
                    <a:pt x="109855" y="0"/>
                    <a:pt x="245237" y="0"/>
                  </a:cubicBezTo>
                  <a:lnTo>
                    <a:pt x="10727817" y="0"/>
                  </a:lnTo>
                  <a:cubicBezTo>
                    <a:pt x="10863200" y="0"/>
                    <a:pt x="10972927" y="109220"/>
                    <a:pt x="10972927" y="243840"/>
                  </a:cubicBezTo>
                  <a:lnTo>
                    <a:pt x="10972927" y="3316224"/>
                  </a:lnTo>
                  <a:cubicBezTo>
                    <a:pt x="10972927" y="3450844"/>
                    <a:pt x="10863199" y="3560064"/>
                    <a:pt x="10727817" y="3560064"/>
                  </a:cubicBezTo>
                  <a:lnTo>
                    <a:pt x="245110" y="3560064"/>
                  </a:lnTo>
                  <a:cubicBezTo>
                    <a:pt x="109728" y="3560064"/>
                    <a:pt x="0" y="3450844"/>
                    <a:pt x="0" y="3316224"/>
                  </a:cubicBezTo>
                  <a:close/>
                </a:path>
              </a:pathLst>
            </a:custGeom>
            <a:solidFill>
              <a:srgbClr val="FFFFFF"/>
            </a:solidFill>
          </p:spPr>
        </p:sp>
        <p:sp>
          <p:nvSpPr>
            <p:cNvPr name="Freeform 49" id="49"/>
            <p:cNvSpPr/>
            <p:nvPr/>
          </p:nvSpPr>
          <p:spPr>
            <a:xfrm flipH="false" flipV="false" rot="0">
              <a:off x="0" y="0"/>
              <a:ext cx="10999725" cy="3587242"/>
            </a:xfrm>
            <a:custGeom>
              <a:avLst/>
              <a:gdLst/>
              <a:ahLst/>
              <a:cxnLst/>
              <a:rect r="r" b="b" t="t" l="l"/>
              <a:pathLst>
                <a:path h="3587242" w="10999725">
                  <a:moveTo>
                    <a:pt x="0" y="257429"/>
                  </a:moveTo>
                  <a:cubicBezTo>
                    <a:pt x="0" y="115189"/>
                    <a:pt x="115824" y="0"/>
                    <a:pt x="258572" y="0"/>
                  </a:cubicBezTo>
                  <a:lnTo>
                    <a:pt x="10741152" y="0"/>
                  </a:lnTo>
                  <a:lnTo>
                    <a:pt x="10741152" y="13589"/>
                  </a:lnTo>
                  <a:lnTo>
                    <a:pt x="10741152" y="0"/>
                  </a:lnTo>
                  <a:cubicBezTo>
                    <a:pt x="10883900" y="0"/>
                    <a:pt x="10999725" y="115189"/>
                    <a:pt x="10999725" y="257429"/>
                  </a:cubicBezTo>
                  <a:lnTo>
                    <a:pt x="10986136" y="257429"/>
                  </a:lnTo>
                  <a:lnTo>
                    <a:pt x="10999725" y="257429"/>
                  </a:lnTo>
                  <a:lnTo>
                    <a:pt x="10999725" y="3329813"/>
                  </a:lnTo>
                  <a:lnTo>
                    <a:pt x="10986136" y="3329813"/>
                  </a:lnTo>
                  <a:lnTo>
                    <a:pt x="10999725" y="3329813"/>
                  </a:lnTo>
                  <a:cubicBezTo>
                    <a:pt x="10999725" y="3472053"/>
                    <a:pt x="10883900" y="3587242"/>
                    <a:pt x="10741152" y="3587242"/>
                  </a:cubicBezTo>
                  <a:lnTo>
                    <a:pt x="10741152" y="3573653"/>
                  </a:lnTo>
                  <a:lnTo>
                    <a:pt x="10741152" y="3587242"/>
                  </a:lnTo>
                  <a:lnTo>
                    <a:pt x="258572" y="3587242"/>
                  </a:lnTo>
                  <a:lnTo>
                    <a:pt x="258572" y="3573653"/>
                  </a:lnTo>
                  <a:lnTo>
                    <a:pt x="258572" y="3587242"/>
                  </a:lnTo>
                  <a:cubicBezTo>
                    <a:pt x="115824" y="3587115"/>
                    <a:pt x="0" y="3472053"/>
                    <a:pt x="0" y="3329813"/>
                  </a:cubicBezTo>
                  <a:lnTo>
                    <a:pt x="0" y="257429"/>
                  </a:lnTo>
                  <a:lnTo>
                    <a:pt x="13589" y="257429"/>
                  </a:lnTo>
                  <a:lnTo>
                    <a:pt x="0" y="257429"/>
                  </a:lnTo>
                  <a:moveTo>
                    <a:pt x="27051" y="257429"/>
                  </a:moveTo>
                  <a:lnTo>
                    <a:pt x="27051" y="3329813"/>
                  </a:lnTo>
                  <a:lnTo>
                    <a:pt x="13589" y="3329813"/>
                  </a:lnTo>
                  <a:lnTo>
                    <a:pt x="27051" y="3329813"/>
                  </a:lnTo>
                  <a:cubicBezTo>
                    <a:pt x="27051" y="3456940"/>
                    <a:pt x="130683" y="3560064"/>
                    <a:pt x="258572" y="3560064"/>
                  </a:cubicBezTo>
                  <a:lnTo>
                    <a:pt x="10741152" y="3560064"/>
                  </a:lnTo>
                  <a:cubicBezTo>
                    <a:pt x="10869041" y="3560064"/>
                    <a:pt x="10972674" y="3456940"/>
                    <a:pt x="10972674" y="3329813"/>
                  </a:cubicBezTo>
                  <a:lnTo>
                    <a:pt x="10972674" y="257429"/>
                  </a:lnTo>
                  <a:cubicBezTo>
                    <a:pt x="10972674" y="130302"/>
                    <a:pt x="10869041" y="27178"/>
                    <a:pt x="10741152" y="27178"/>
                  </a:cubicBezTo>
                  <a:lnTo>
                    <a:pt x="258572" y="27178"/>
                  </a:lnTo>
                  <a:lnTo>
                    <a:pt x="258572" y="13589"/>
                  </a:lnTo>
                  <a:lnTo>
                    <a:pt x="258572" y="27051"/>
                  </a:lnTo>
                  <a:cubicBezTo>
                    <a:pt x="130683" y="27051"/>
                    <a:pt x="27051" y="130175"/>
                    <a:pt x="27051" y="257302"/>
                  </a:cubicBezTo>
                  <a:close/>
                </a:path>
              </a:pathLst>
            </a:custGeom>
            <a:solidFill>
              <a:srgbClr val="BDC8D5"/>
            </a:solidFill>
          </p:spPr>
        </p:sp>
      </p:grpSp>
      <p:grpSp>
        <p:nvGrpSpPr>
          <p:cNvPr name="Group 50" id="50"/>
          <p:cNvGrpSpPr/>
          <p:nvPr/>
        </p:nvGrpSpPr>
        <p:grpSpPr>
          <a:xfrm rot="0">
            <a:off x="629917" y="5031867"/>
            <a:ext cx="153419" cy="2695451"/>
            <a:chOff x="0" y="0"/>
            <a:chExt cx="204559" cy="3593935"/>
          </a:xfrm>
        </p:grpSpPr>
        <p:sp>
          <p:nvSpPr>
            <p:cNvPr name="Freeform 51" id="51"/>
            <p:cNvSpPr/>
            <p:nvPr/>
          </p:nvSpPr>
          <p:spPr>
            <a:xfrm flipH="false" flipV="false" rot="0">
              <a:off x="16891" y="16891"/>
              <a:ext cx="170688" cy="3560064"/>
            </a:xfrm>
            <a:custGeom>
              <a:avLst/>
              <a:gdLst/>
              <a:ahLst/>
              <a:cxnLst/>
              <a:rect r="r" b="b" t="t" l="l"/>
              <a:pathLst>
                <a:path h="3560064" w="170688">
                  <a:moveTo>
                    <a:pt x="0" y="0"/>
                  </a:moveTo>
                  <a:lnTo>
                    <a:pt x="170688" y="0"/>
                  </a:lnTo>
                  <a:lnTo>
                    <a:pt x="170688" y="3560064"/>
                  </a:lnTo>
                  <a:lnTo>
                    <a:pt x="0" y="3560064"/>
                  </a:lnTo>
                  <a:close/>
                </a:path>
              </a:pathLst>
            </a:custGeom>
            <a:solidFill>
              <a:srgbClr val="7B8FA1"/>
            </a:solidFill>
          </p:spPr>
        </p:sp>
        <p:sp>
          <p:nvSpPr>
            <p:cNvPr name="Freeform 52" id="52"/>
            <p:cNvSpPr/>
            <p:nvPr/>
          </p:nvSpPr>
          <p:spPr>
            <a:xfrm flipH="false" flipV="false" rot="0">
              <a:off x="0" y="0"/>
              <a:ext cx="204470" cy="3593846"/>
            </a:xfrm>
            <a:custGeom>
              <a:avLst/>
              <a:gdLst/>
              <a:ahLst/>
              <a:cxnLst/>
              <a:rect r="r" b="b" t="t" l="l"/>
              <a:pathLst>
                <a:path h="3593846" w="204470">
                  <a:moveTo>
                    <a:pt x="16891" y="0"/>
                  </a:moveTo>
                  <a:lnTo>
                    <a:pt x="187579" y="0"/>
                  </a:lnTo>
                  <a:cubicBezTo>
                    <a:pt x="196977" y="0"/>
                    <a:pt x="204470" y="7620"/>
                    <a:pt x="204470" y="16891"/>
                  </a:cubicBezTo>
                  <a:lnTo>
                    <a:pt x="204470" y="3576955"/>
                  </a:lnTo>
                  <a:cubicBezTo>
                    <a:pt x="204470" y="3586353"/>
                    <a:pt x="196850" y="3593846"/>
                    <a:pt x="187579" y="3593846"/>
                  </a:cubicBezTo>
                  <a:lnTo>
                    <a:pt x="16891" y="3593846"/>
                  </a:lnTo>
                  <a:cubicBezTo>
                    <a:pt x="7493" y="3593846"/>
                    <a:pt x="0" y="3586226"/>
                    <a:pt x="0" y="3576955"/>
                  </a:cubicBezTo>
                  <a:lnTo>
                    <a:pt x="0" y="16891"/>
                  </a:lnTo>
                  <a:cubicBezTo>
                    <a:pt x="0" y="7620"/>
                    <a:pt x="7620" y="0"/>
                    <a:pt x="16891" y="0"/>
                  </a:cubicBezTo>
                  <a:moveTo>
                    <a:pt x="16891" y="33909"/>
                  </a:moveTo>
                  <a:lnTo>
                    <a:pt x="16891" y="16891"/>
                  </a:lnTo>
                  <a:lnTo>
                    <a:pt x="33909" y="16891"/>
                  </a:lnTo>
                  <a:lnTo>
                    <a:pt x="33909" y="3576955"/>
                  </a:lnTo>
                  <a:lnTo>
                    <a:pt x="16891" y="3576955"/>
                  </a:lnTo>
                  <a:lnTo>
                    <a:pt x="16891" y="3560064"/>
                  </a:lnTo>
                  <a:lnTo>
                    <a:pt x="187579" y="3560064"/>
                  </a:lnTo>
                  <a:lnTo>
                    <a:pt x="187579" y="3576955"/>
                  </a:lnTo>
                  <a:lnTo>
                    <a:pt x="170688" y="3576955"/>
                  </a:lnTo>
                  <a:lnTo>
                    <a:pt x="170688" y="16891"/>
                  </a:lnTo>
                  <a:lnTo>
                    <a:pt x="187579" y="16891"/>
                  </a:lnTo>
                  <a:lnTo>
                    <a:pt x="187579" y="33909"/>
                  </a:lnTo>
                  <a:lnTo>
                    <a:pt x="16891" y="33909"/>
                  </a:lnTo>
                  <a:close/>
                </a:path>
              </a:pathLst>
            </a:custGeom>
            <a:solidFill>
              <a:srgbClr val="7B8FA1"/>
            </a:solidFill>
          </p:spPr>
        </p:sp>
      </p:grpSp>
      <p:grpSp>
        <p:nvGrpSpPr>
          <p:cNvPr name="Group 53" id="53"/>
          <p:cNvGrpSpPr/>
          <p:nvPr/>
        </p:nvGrpSpPr>
        <p:grpSpPr>
          <a:xfrm rot="0">
            <a:off x="1028700" y="5248656"/>
            <a:ext cx="4780283" cy="574043"/>
            <a:chOff x="0" y="0"/>
            <a:chExt cx="6373711" cy="765391"/>
          </a:xfrm>
        </p:grpSpPr>
        <p:sp>
          <p:nvSpPr>
            <p:cNvPr name="Freeform 54" id="54"/>
            <p:cNvSpPr/>
            <p:nvPr/>
          </p:nvSpPr>
          <p:spPr>
            <a:xfrm flipH="false" flipV="false" rot="0">
              <a:off x="16891" y="16891"/>
              <a:ext cx="6339967" cy="731520"/>
            </a:xfrm>
            <a:custGeom>
              <a:avLst/>
              <a:gdLst/>
              <a:ahLst/>
              <a:cxnLst/>
              <a:rect r="r" b="b" t="t" l="l"/>
              <a:pathLst>
                <a:path h="731520" w="6339967">
                  <a:moveTo>
                    <a:pt x="0" y="195072"/>
                  </a:moveTo>
                  <a:cubicBezTo>
                    <a:pt x="0" y="87376"/>
                    <a:pt x="90932" y="0"/>
                    <a:pt x="203073" y="0"/>
                  </a:cubicBezTo>
                  <a:lnTo>
                    <a:pt x="6136894" y="0"/>
                  </a:lnTo>
                  <a:cubicBezTo>
                    <a:pt x="6249035" y="0"/>
                    <a:pt x="6339967" y="87376"/>
                    <a:pt x="6339967" y="195072"/>
                  </a:cubicBezTo>
                  <a:lnTo>
                    <a:pt x="6339967" y="536448"/>
                  </a:lnTo>
                  <a:cubicBezTo>
                    <a:pt x="6339967" y="644144"/>
                    <a:pt x="6249035" y="731520"/>
                    <a:pt x="6136894" y="731520"/>
                  </a:cubicBezTo>
                  <a:lnTo>
                    <a:pt x="203073" y="731520"/>
                  </a:lnTo>
                  <a:cubicBezTo>
                    <a:pt x="90932" y="731520"/>
                    <a:pt x="0" y="644144"/>
                    <a:pt x="0" y="536448"/>
                  </a:cubicBezTo>
                  <a:close/>
                </a:path>
              </a:pathLst>
            </a:custGeom>
            <a:solidFill>
              <a:srgbClr val="7B8FA1"/>
            </a:solidFill>
          </p:spPr>
        </p:sp>
        <p:sp>
          <p:nvSpPr>
            <p:cNvPr name="Freeform 55" id="55"/>
            <p:cNvSpPr/>
            <p:nvPr/>
          </p:nvSpPr>
          <p:spPr>
            <a:xfrm flipH="false" flipV="false" rot="0">
              <a:off x="0" y="0"/>
              <a:ext cx="6373749" cy="765302"/>
            </a:xfrm>
            <a:custGeom>
              <a:avLst/>
              <a:gdLst/>
              <a:ahLst/>
              <a:cxnLst/>
              <a:rect r="r" b="b" t="t" l="l"/>
              <a:pathLst>
                <a:path h="765302" w="6373749">
                  <a:moveTo>
                    <a:pt x="0" y="211963"/>
                  </a:moveTo>
                  <a:cubicBezTo>
                    <a:pt x="0" y="94234"/>
                    <a:pt x="99060" y="0"/>
                    <a:pt x="219964" y="0"/>
                  </a:cubicBezTo>
                  <a:lnTo>
                    <a:pt x="6153785" y="0"/>
                  </a:lnTo>
                  <a:lnTo>
                    <a:pt x="6153785" y="16891"/>
                  </a:lnTo>
                  <a:lnTo>
                    <a:pt x="6153785" y="0"/>
                  </a:lnTo>
                  <a:cubicBezTo>
                    <a:pt x="6274562" y="0"/>
                    <a:pt x="6373749" y="94234"/>
                    <a:pt x="6373749" y="211963"/>
                  </a:cubicBezTo>
                  <a:lnTo>
                    <a:pt x="6356858" y="211963"/>
                  </a:lnTo>
                  <a:lnTo>
                    <a:pt x="6373749" y="211963"/>
                  </a:lnTo>
                  <a:lnTo>
                    <a:pt x="6373749" y="553339"/>
                  </a:lnTo>
                  <a:lnTo>
                    <a:pt x="6356858" y="553339"/>
                  </a:lnTo>
                  <a:lnTo>
                    <a:pt x="6373749" y="553339"/>
                  </a:lnTo>
                  <a:cubicBezTo>
                    <a:pt x="6373749" y="671068"/>
                    <a:pt x="6274689" y="765302"/>
                    <a:pt x="6153785" y="765302"/>
                  </a:cubicBezTo>
                  <a:lnTo>
                    <a:pt x="6153785" y="748411"/>
                  </a:lnTo>
                  <a:lnTo>
                    <a:pt x="6153785" y="765302"/>
                  </a:lnTo>
                  <a:lnTo>
                    <a:pt x="219964" y="765302"/>
                  </a:lnTo>
                  <a:lnTo>
                    <a:pt x="219964" y="748411"/>
                  </a:lnTo>
                  <a:lnTo>
                    <a:pt x="219964" y="765302"/>
                  </a:lnTo>
                  <a:cubicBezTo>
                    <a:pt x="99060" y="765429"/>
                    <a:pt x="0" y="671068"/>
                    <a:pt x="0" y="553339"/>
                  </a:cubicBezTo>
                  <a:lnTo>
                    <a:pt x="0" y="211963"/>
                  </a:lnTo>
                  <a:lnTo>
                    <a:pt x="16891" y="211963"/>
                  </a:lnTo>
                  <a:lnTo>
                    <a:pt x="0" y="211963"/>
                  </a:lnTo>
                  <a:moveTo>
                    <a:pt x="33909" y="211963"/>
                  </a:moveTo>
                  <a:lnTo>
                    <a:pt x="33909" y="553339"/>
                  </a:lnTo>
                  <a:lnTo>
                    <a:pt x="16891" y="553339"/>
                  </a:lnTo>
                  <a:lnTo>
                    <a:pt x="33909" y="553339"/>
                  </a:lnTo>
                  <a:cubicBezTo>
                    <a:pt x="33909" y="651129"/>
                    <a:pt x="116586" y="731520"/>
                    <a:pt x="219964" y="731520"/>
                  </a:cubicBezTo>
                  <a:lnTo>
                    <a:pt x="6153785" y="731520"/>
                  </a:lnTo>
                  <a:cubicBezTo>
                    <a:pt x="6257163" y="731520"/>
                    <a:pt x="6339840" y="651129"/>
                    <a:pt x="6339840" y="553339"/>
                  </a:cubicBezTo>
                  <a:lnTo>
                    <a:pt x="6339840" y="211963"/>
                  </a:lnTo>
                  <a:cubicBezTo>
                    <a:pt x="6339840" y="114173"/>
                    <a:pt x="6257163" y="33782"/>
                    <a:pt x="6153785" y="33782"/>
                  </a:cubicBezTo>
                  <a:lnTo>
                    <a:pt x="219964" y="33782"/>
                  </a:lnTo>
                  <a:lnTo>
                    <a:pt x="219964" y="16891"/>
                  </a:lnTo>
                  <a:lnTo>
                    <a:pt x="219964" y="33909"/>
                  </a:lnTo>
                  <a:cubicBezTo>
                    <a:pt x="116586" y="33909"/>
                    <a:pt x="33909" y="114300"/>
                    <a:pt x="33909" y="211963"/>
                  </a:cubicBezTo>
                  <a:close/>
                </a:path>
              </a:pathLst>
            </a:custGeom>
            <a:solidFill>
              <a:srgbClr val="7B8FA1"/>
            </a:solidFill>
          </p:spPr>
        </p:sp>
      </p:grpSp>
      <p:grpSp>
        <p:nvGrpSpPr>
          <p:cNvPr name="Group 56" id="56"/>
          <p:cNvGrpSpPr/>
          <p:nvPr/>
        </p:nvGrpSpPr>
        <p:grpSpPr>
          <a:xfrm rot="0">
            <a:off x="1028700" y="5248656"/>
            <a:ext cx="4754880" cy="512064"/>
            <a:chOff x="0" y="0"/>
            <a:chExt cx="6339840" cy="682752"/>
          </a:xfrm>
        </p:grpSpPr>
        <p:sp>
          <p:nvSpPr>
            <p:cNvPr name="Freeform 57" id="57"/>
            <p:cNvSpPr/>
            <p:nvPr/>
          </p:nvSpPr>
          <p:spPr>
            <a:xfrm flipH="false" flipV="false" rot="0">
              <a:off x="0" y="0"/>
              <a:ext cx="6339840" cy="682752"/>
            </a:xfrm>
            <a:custGeom>
              <a:avLst/>
              <a:gdLst/>
              <a:ahLst/>
              <a:cxnLst/>
              <a:rect r="r" b="b" t="t" l="l"/>
              <a:pathLst>
                <a:path h="682752" w="6339840">
                  <a:moveTo>
                    <a:pt x="0" y="0"/>
                  </a:moveTo>
                  <a:lnTo>
                    <a:pt x="6339840" y="0"/>
                  </a:lnTo>
                  <a:lnTo>
                    <a:pt x="6339840" y="682752"/>
                  </a:lnTo>
                  <a:lnTo>
                    <a:pt x="0" y="682752"/>
                  </a:lnTo>
                  <a:close/>
                </a:path>
              </a:pathLst>
            </a:custGeom>
            <a:blipFill>
              <a:blip r:embed="rId3">
                <a:alphaModFix amt="0"/>
              </a:blip>
              <a:stretch>
                <a:fillRect l="0" t="-130932" r="0" b="-130932"/>
              </a:stretch>
            </a:blipFill>
          </p:spPr>
        </p:sp>
        <p:sp>
          <p:nvSpPr>
            <p:cNvPr name="TextBox 58" id="58"/>
            <p:cNvSpPr txBox="true"/>
            <p:nvPr/>
          </p:nvSpPr>
          <p:spPr>
            <a:xfrm>
              <a:off x="0" y="9525"/>
              <a:ext cx="6339840" cy="673227"/>
            </a:xfrm>
            <a:prstGeom prst="rect">
              <a:avLst/>
            </a:prstGeom>
          </p:spPr>
          <p:txBody>
            <a:bodyPr anchor="ctr" rtlCol="false" tIns="0" lIns="0" bIns="0" rIns="0"/>
            <a:lstStyle/>
            <a:p>
              <a:pPr algn="ctr">
                <a:lnSpc>
                  <a:spcPts val="2160"/>
                </a:lnSpc>
              </a:pPr>
              <a:r>
                <a:rPr lang="en-US" sz="1800" b="true">
                  <a:solidFill>
                    <a:srgbClr val="FFFFFF"/>
                  </a:solidFill>
                  <a:latin typeface="EB Garamond Semi-Bold"/>
                  <a:ea typeface="EB Garamond Semi-Bold"/>
                  <a:cs typeface="EB Garamond Semi-Bold"/>
                  <a:sym typeface="EB Garamond Semi-Bold"/>
                </a:rPr>
                <a:t>Réponses trop longues/techniques</a:t>
              </a:r>
            </a:p>
          </p:txBody>
        </p:sp>
      </p:grpSp>
      <p:grpSp>
        <p:nvGrpSpPr>
          <p:cNvPr name="Group 59" id="59"/>
          <p:cNvGrpSpPr/>
          <p:nvPr/>
        </p:nvGrpSpPr>
        <p:grpSpPr>
          <a:xfrm rot="0">
            <a:off x="822960" y="5875525"/>
            <a:ext cx="7589520" cy="877824"/>
            <a:chOff x="0" y="0"/>
            <a:chExt cx="10119360" cy="1170432"/>
          </a:xfrm>
        </p:grpSpPr>
        <p:sp>
          <p:nvSpPr>
            <p:cNvPr name="Freeform 60" id="60"/>
            <p:cNvSpPr/>
            <p:nvPr/>
          </p:nvSpPr>
          <p:spPr>
            <a:xfrm flipH="false" flipV="false" rot="0">
              <a:off x="0" y="0"/>
              <a:ext cx="10119360" cy="1170432"/>
            </a:xfrm>
            <a:custGeom>
              <a:avLst/>
              <a:gdLst/>
              <a:ahLst/>
              <a:cxnLst/>
              <a:rect r="r" b="b" t="t" l="l"/>
              <a:pathLst>
                <a:path h="1170432" w="10119360">
                  <a:moveTo>
                    <a:pt x="0" y="0"/>
                  </a:moveTo>
                  <a:lnTo>
                    <a:pt x="10119360" y="0"/>
                  </a:lnTo>
                  <a:lnTo>
                    <a:pt x="10119360" y="1170432"/>
                  </a:lnTo>
                  <a:lnTo>
                    <a:pt x="0" y="1170432"/>
                  </a:lnTo>
                  <a:close/>
                </a:path>
              </a:pathLst>
            </a:custGeom>
            <a:blipFill>
              <a:blip r:embed="rId3">
                <a:alphaModFix amt="0"/>
              </a:blip>
              <a:stretch>
                <a:fillRect l="0" t="-118464" r="0" b="-118464"/>
              </a:stretch>
            </a:blipFill>
          </p:spPr>
        </p:sp>
        <p:sp>
          <p:nvSpPr>
            <p:cNvPr name="TextBox 61" id="61"/>
            <p:cNvSpPr txBox="true"/>
            <p:nvPr/>
          </p:nvSpPr>
          <p:spPr>
            <a:xfrm>
              <a:off x="0" y="9525"/>
              <a:ext cx="10119360" cy="1160907"/>
            </a:xfrm>
            <a:prstGeom prst="rect">
              <a:avLst/>
            </a:prstGeom>
          </p:spPr>
          <p:txBody>
            <a:bodyPr anchor="ctr" rtlCol="false" tIns="0" lIns="0" bIns="0" rIns="0"/>
            <a:lstStyle/>
            <a:p>
              <a:pPr algn="l">
                <a:lnSpc>
                  <a:spcPts val="2280"/>
                </a:lnSpc>
              </a:pPr>
              <a:r>
                <a:rPr lang="en-US" sz="1900" i="true">
                  <a:solidFill>
                    <a:srgbClr val="364E64"/>
                  </a:solidFill>
                  <a:latin typeface="EB Garamond Italics"/>
                  <a:ea typeface="EB Garamond Italics"/>
                  <a:cs typeface="EB Garamond Italics"/>
                  <a:sym typeface="EB Garamond Italics"/>
                </a:rPr>
                <a:t>⚠  Réponses initiales trop longues et trop techniques, difficiles à utiliser directement dans le do-file. Commandes Unix proposées dans un contexte Windows.</a:t>
              </a:r>
            </a:p>
          </p:txBody>
        </p:sp>
      </p:grpSp>
      <p:grpSp>
        <p:nvGrpSpPr>
          <p:cNvPr name="Group 62" id="62"/>
          <p:cNvGrpSpPr/>
          <p:nvPr/>
        </p:nvGrpSpPr>
        <p:grpSpPr>
          <a:xfrm rot="0">
            <a:off x="822960" y="6888994"/>
            <a:ext cx="7589520" cy="728967"/>
            <a:chOff x="0" y="0"/>
            <a:chExt cx="10119360" cy="971956"/>
          </a:xfrm>
        </p:grpSpPr>
        <p:sp>
          <p:nvSpPr>
            <p:cNvPr name="Freeform 63" id="63"/>
            <p:cNvSpPr/>
            <p:nvPr/>
          </p:nvSpPr>
          <p:spPr>
            <a:xfrm flipH="false" flipV="false" rot="0">
              <a:off x="0" y="0"/>
              <a:ext cx="10119360" cy="971956"/>
            </a:xfrm>
            <a:custGeom>
              <a:avLst/>
              <a:gdLst/>
              <a:ahLst/>
              <a:cxnLst/>
              <a:rect r="r" b="b" t="t" l="l"/>
              <a:pathLst>
                <a:path h="971956" w="10119360">
                  <a:moveTo>
                    <a:pt x="0" y="0"/>
                  </a:moveTo>
                  <a:lnTo>
                    <a:pt x="10119360" y="0"/>
                  </a:lnTo>
                  <a:lnTo>
                    <a:pt x="10119360" y="971956"/>
                  </a:lnTo>
                  <a:lnTo>
                    <a:pt x="0" y="971956"/>
                  </a:lnTo>
                  <a:close/>
                </a:path>
              </a:pathLst>
            </a:custGeom>
            <a:blipFill>
              <a:blip r:embed="rId3">
                <a:alphaModFix amt="0"/>
              </a:blip>
              <a:stretch>
                <a:fillRect l="0" t="-152690" r="0" b="-153040"/>
              </a:stretch>
            </a:blipFill>
          </p:spPr>
        </p:sp>
        <p:sp>
          <p:nvSpPr>
            <p:cNvPr name="TextBox 64" id="64"/>
            <p:cNvSpPr txBox="true"/>
            <p:nvPr/>
          </p:nvSpPr>
          <p:spPr>
            <a:xfrm>
              <a:off x="0" y="9525"/>
              <a:ext cx="10119360" cy="962431"/>
            </a:xfrm>
            <a:prstGeom prst="rect">
              <a:avLst/>
            </a:prstGeom>
          </p:spPr>
          <p:txBody>
            <a:bodyPr anchor="ctr" rtlCol="false" tIns="0" lIns="0" bIns="0" rIns="0"/>
            <a:lstStyle/>
            <a:p>
              <a:pPr algn="l">
                <a:lnSpc>
                  <a:spcPts val="2280"/>
                </a:lnSpc>
              </a:pPr>
              <a:r>
                <a:rPr lang="en-US" sz="1900" b="true">
                  <a:solidFill>
                    <a:srgbClr val="2A6A3A"/>
                  </a:solidFill>
                  <a:latin typeface="EB Garamond Semi-Bold"/>
                  <a:ea typeface="EB Garamond Semi-Bold"/>
                  <a:cs typeface="EB Garamond Semi-Bold"/>
                  <a:sym typeface="EB Garamond Semi-Bold"/>
                </a:rPr>
                <a:t>→ Correction : prompts reformulés avec "Réponds en 5 lignes max". Commandes.  Mais Unix traduites en PowerShell.</a:t>
              </a:r>
            </a:p>
          </p:txBody>
        </p:sp>
      </p:grpSp>
      <p:grpSp>
        <p:nvGrpSpPr>
          <p:cNvPr name="Group 65" id="65"/>
          <p:cNvGrpSpPr/>
          <p:nvPr/>
        </p:nvGrpSpPr>
        <p:grpSpPr>
          <a:xfrm rot="0">
            <a:off x="9573773" y="5036953"/>
            <a:ext cx="8249917" cy="2690365"/>
            <a:chOff x="0" y="0"/>
            <a:chExt cx="10999889" cy="3587153"/>
          </a:xfrm>
        </p:grpSpPr>
        <p:sp>
          <p:nvSpPr>
            <p:cNvPr name="Freeform 66" id="66"/>
            <p:cNvSpPr/>
            <p:nvPr/>
          </p:nvSpPr>
          <p:spPr>
            <a:xfrm flipH="false" flipV="false" rot="0">
              <a:off x="13462" y="13589"/>
              <a:ext cx="10972927" cy="3560064"/>
            </a:xfrm>
            <a:custGeom>
              <a:avLst/>
              <a:gdLst/>
              <a:ahLst/>
              <a:cxnLst/>
              <a:rect r="r" b="b" t="t" l="l"/>
              <a:pathLst>
                <a:path h="3560064" w="10972927">
                  <a:moveTo>
                    <a:pt x="127" y="243840"/>
                  </a:moveTo>
                  <a:cubicBezTo>
                    <a:pt x="127" y="109220"/>
                    <a:pt x="109855" y="0"/>
                    <a:pt x="245237" y="0"/>
                  </a:cubicBezTo>
                  <a:lnTo>
                    <a:pt x="10727817" y="0"/>
                  </a:lnTo>
                  <a:cubicBezTo>
                    <a:pt x="10863200" y="0"/>
                    <a:pt x="10972927" y="109220"/>
                    <a:pt x="10972927" y="243840"/>
                  </a:cubicBezTo>
                  <a:lnTo>
                    <a:pt x="10972927" y="3316224"/>
                  </a:lnTo>
                  <a:cubicBezTo>
                    <a:pt x="10972927" y="3450844"/>
                    <a:pt x="10863199" y="3560064"/>
                    <a:pt x="10727817" y="3560064"/>
                  </a:cubicBezTo>
                  <a:lnTo>
                    <a:pt x="245110" y="3560064"/>
                  </a:lnTo>
                  <a:cubicBezTo>
                    <a:pt x="109728" y="3560064"/>
                    <a:pt x="0" y="3450844"/>
                    <a:pt x="0" y="3316224"/>
                  </a:cubicBezTo>
                  <a:close/>
                </a:path>
              </a:pathLst>
            </a:custGeom>
            <a:solidFill>
              <a:srgbClr val="FFFFFF"/>
            </a:solidFill>
          </p:spPr>
        </p:sp>
        <p:sp>
          <p:nvSpPr>
            <p:cNvPr name="Freeform 67" id="67"/>
            <p:cNvSpPr/>
            <p:nvPr/>
          </p:nvSpPr>
          <p:spPr>
            <a:xfrm flipH="false" flipV="false" rot="0">
              <a:off x="0" y="0"/>
              <a:ext cx="10999725" cy="3587242"/>
            </a:xfrm>
            <a:custGeom>
              <a:avLst/>
              <a:gdLst/>
              <a:ahLst/>
              <a:cxnLst/>
              <a:rect r="r" b="b" t="t" l="l"/>
              <a:pathLst>
                <a:path h="3587242" w="10999725">
                  <a:moveTo>
                    <a:pt x="0" y="257429"/>
                  </a:moveTo>
                  <a:cubicBezTo>
                    <a:pt x="0" y="115189"/>
                    <a:pt x="115824" y="0"/>
                    <a:pt x="258572" y="0"/>
                  </a:cubicBezTo>
                  <a:lnTo>
                    <a:pt x="10741152" y="0"/>
                  </a:lnTo>
                  <a:lnTo>
                    <a:pt x="10741152" y="13589"/>
                  </a:lnTo>
                  <a:lnTo>
                    <a:pt x="10741152" y="0"/>
                  </a:lnTo>
                  <a:cubicBezTo>
                    <a:pt x="10883900" y="0"/>
                    <a:pt x="10999725" y="115189"/>
                    <a:pt x="10999725" y="257429"/>
                  </a:cubicBezTo>
                  <a:lnTo>
                    <a:pt x="10986136" y="257429"/>
                  </a:lnTo>
                  <a:lnTo>
                    <a:pt x="10999725" y="257429"/>
                  </a:lnTo>
                  <a:lnTo>
                    <a:pt x="10999725" y="3329813"/>
                  </a:lnTo>
                  <a:lnTo>
                    <a:pt x="10986136" y="3329813"/>
                  </a:lnTo>
                  <a:lnTo>
                    <a:pt x="10999725" y="3329813"/>
                  </a:lnTo>
                  <a:cubicBezTo>
                    <a:pt x="10999725" y="3472053"/>
                    <a:pt x="10883900" y="3587242"/>
                    <a:pt x="10741152" y="3587242"/>
                  </a:cubicBezTo>
                  <a:lnTo>
                    <a:pt x="10741152" y="3573653"/>
                  </a:lnTo>
                  <a:lnTo>
                    <a:pt x="10741152" y="3587242"/>
                  </a:lnTo>
                  <a:lnTo>
                    <a:pt x="258572" y="3587242"/>
                  </a:lnTo>
                  <a:lnTo>
                    <a:pt x="258572" y="3573653"/>
                  </a:lnTo>
                  <a:lnTo>
                    <a:pt x="258572" y="3587242"/>
                  </a:lnTo>
                  <a:cubicBezTo>
                    <a:pt x="115824" y="3587115"/>
                    <a:pt x="0" y="3472053"/>
                    <a:pt x="0" y="3329813"/>
                  </a:cubicBezTo>
                  <a:lnTo>
                    <a:pt x="0" y="257429"/>
                  </a:lnTo>
                  <a:lnTo>
                    <a:pt x="13589" y="257429"/>
                  </a:lnTo>
                  <a:lnTo>
                    <a:pt x="0" y="257429"/>
                  </a:lnTo>
                  <a:moveTo>
                    <a:pt x="27051" y="257429"/>
                  </a:moveTo>
                  <a:lnTo>
                    <a:pt x="27051" y="3329813"/>
                  </a:lnTo>
                  <a:lnTo>
                    <a:pt x="13589" y="3329813"/>
                  </a:lnTo>
                  <a:lnTo>
                    <a:pt x="27051" y="3329813"/>
                  </a:lnTo>
                  <a:cubicBezTo>
                    <a:pt x="27051" y="3456940"/>
                    <a:pt x="130683" y="3560064"/>
                    <a:pt x="258572" y="3560064"/>
                  </a:cubicBezTo>
                  <a:lnTo>
                    <a:pt x="10741152" y="3560064"/>
                  </a:lnTo>
                  <a:cubicBezTo>
                    <a:pt x="10869041" y="3560064"/>
                    <a:pt x="10972674" y="3456940"/>
                    <a:pt x="10972674" y="3329813"/>
                  </a:cubicBezTo>
                  <a:lnTo>
                    <a:pt x="10972674" y="257429"/>
                  </a:lnTo>
                  <a:cubicBezTo>
                    <a:pt x="10972674" y="130302"/>
                    <a:pt x="10869041" y="27178"/>
                    <a:pt x="10741152" y="27178"/>
                  </a:cubicBezTo>
                  <a:lnTo>
                    <a:pt x="258572" y="27178"/>
                  </a:lnTo>
                  <a:lnTo>
                    <a:pt x="258572" y="13589"/>
                  </a:lnTo>
                  <a:lnTo>
                    <a:pt x="258572" y="27051"/>
                  </a:lnTo>
                  <a:cubicBezTo>
                    <a:pt x="130683" y="27051"/>
                    <a:pt x="27051" y="130175"/>
                    <a:pt x="27051" y="257302"/>
                  </a:cubicBezTo>
                  <a:close/>
                </a:path>
              </a:pathLst>
            </a:custGeom>
            <a:solidFill>
              <a:srgbClr val="BDC8D5"/>
            </a:solidFill>
          </p:spPr>
        </p:sp>
      </p:grpSp>
      <p:grpSp>
        <p:nvGrpSpPr>
          <p:cNvPr name="Group 68" id="68"/>
          <p:cNvGrpSpPr/>
          <p:nvPr/>
        </p:nvGrpSpPr>
        <p:grpSpPr>
          <a:xfrm rot="0">
            <a:off x="9499597" y="5036953"/>
            <a:ext cx="153419" cy="2695451"/>
            <a:chOff x="0" y="0"/>
            <a:chExt cx="204559" cy="3593935"/>
          </a:xfrm>
        </p:grpSpPr>
        <p:sp>
          <p:nvSpPr>
            <p:cNvPr name="Freeform 69" id="69"/>
            <p:cNvSpPr/>
            <p:nvPr/>
          </p:nvSpPr>
          <p:spPr>
            <a:xfrm flipH="false" flipV="false" rot="0">
              <a:off x="16891" y="16891"/>
              <a:ext cx="170688" cy="3560064"/>
            </a:xfrm>
            <a:custGeom>
              <a:avLst/>
              <a:gdLst/>
              <a:ahLst/>
              <a:cxnLst/>
              <a:rect r="r" b="b" t="t" l="l"/>
              <a:pathLst>
                <a:path h="3560064" w="170688">
                  <a:moveTo>
                    <a:pt x="0" y="0"/>
                  </a:moveTo>
                  <a:lnTo>
                    <a:pt x="170688" y="0"/>
                  </a:lnTo>
                  <a:lnTo>
                    <a:pt x="170688" y="3560064"/>
                  </a:lnTo>
                  <a:lnTo>
                    <a:pt x="0" y="3560064"/>
                  </a:lnTo>
                  <a:close/>
                </a:path>
              </a:pathLst>
            </a:custGeom>
            <a:solidFill>
              <a:srgbClr val="3A7D5C"/>
            </a:solidFill>
          </p:spPr>
        </p:sp>
        <p:sp>
          <p:nvSpPr>
            <p:cNvPr name="Freeform 70" id="70"/>
            <p:cNvSpPr/>
            <p:nvPr/>
          </p:nvSpPr>
          <p:spPr>
            <a:xfrm flipH="false" flipV="false" rot="0">
              <a:off x="0" y="0"/>
              <a:ext cx="204470" cy="3593846"/>
            </a:xfrm>
            <a:custGeom>
              <a:avLst/>
              <a:gdLst/>
              <a:ahLst/>
              <a:cxnLst/>
              <a:rect r="r" b="b" t="t" l="l"/>
              <a:pathLst>
                <a:path h="3593846" w="204470">
                  <a:moveTo>
                    <a:pt x="16891" y="0"/>
                  </a:moveTo>
                  <a:lnTo>
                    <a:pt x="187579" y="0"/>
                  </a:lnTo>
                  <a:cubicBezTo>
                    <a:pt x="196977" y="0"/>
                    <a:pt x="204470" y="7620"/>
                    <a:pt x="204470" y="16891"/>
                  </a:cubicBezTo>
                  <a:lnTo>
                    <a:pt x="204470" y="3576955"/>
                  </a:lnTo>
                  <a:cubicBezTo>
                    <a:pt x="204470" y="3586353"/>
                    <a:pt x="196850" y="3593846"/>
                    <a:pt x="187579" y="3593846"/>
                  </a:cubicBezTo>
                  <a:lnTo>
                    <a:pt x="16891" y="3593846"/>
                  </a:lnTo>
                  <a:cubicBezTo>
                    <a:pt x="7493" y="3593846"/>
                    <a:pt x="0" y="3586226"/>
                    <a:pt x="0" y="3576955"/>
                  </a:cubicBezTo>
                  <a:lnTo>
                    <a:pt x="0" y="16891"/>
                  </a:lnTo>
                  <a:cubicBezTo>
                    <a:pt x="0" y="7620"/>
                    <a:pt x="7620" y="0"/>
                    <a:pt x="16891" y="0"/>
                  </a:cubicBezTo>
                  <a:moveTo>
                    <a:pt x="16891" y="33909"/>
                  </a:moveTo>
                  <a:lnTo>
                    <a:pt x="16891" y="16891"/>
                  </a:lnTo>
                  <a:lnTo>
                    <a:pt x="33909" y="16891"/>
                  </a:lnTo>
                  <a:lnTo>
                    <a:pt x="33909" y="3576955"/>
                  </a:lnTo>
                  <a:lnTo>
                    <a:pt x="16891" y="3576955"/>
                  </a:lnTo>
                  <a:lnTo>
                    <a:pt x="16891" y="3560064"/>
                  </a:lnTo>
                  <a:lnTo>
                    <a:pt x="187579" y="3560064"/>
                  </a:lnTo>
                  <a:lnTo>
                    <a:pt x="187579" y="3576955"/>
                  </a:lnTo>
                  <a:lnTo>
                    <a:pt x="170688" y="3576955"/>
                  </a:lnTo>
                  <a:lnTo>
                    <a:pt x="170688" y="16891"/>
                  </a:lnTo>
                  <a:lnTo>
                    <a:pt x="187579" y="16891"/>
                  </a:lnTo>
                  <a:lnTo>
                    <a:pt x="187579" y="33909"/>
                  </a:lnTo>
                  <a:lnTo>
                    <a:pt x="16891" y="33909"/>
                  </a:lnTo>
                  <a:close/>
                </a:path>
              </a:pathLst>
            </a:custGeom>
            <a:solidFill>
              <a:srgbClr val="3A7D5C"/>
            </a:solidFill>
          </p:spPr>
        </p:sp>
      </p:grpSp>
      <p:grpSp>
        <p:nvGrpSpPr>
          <p:cNvPr name="Group 71" id="71"/>
          <p:cNvGrpSpPr/>
          <p:nvPr/>
        </p:nvGrpSpPr>
        <p:grpSpPr>
          <a:xfrm rot="0">
            <a:off x="9851650" y="5248656"/>
            <a:ext cx="4780283" cy="574043"/>
            <a:chOff x="0" y="0"/>
            <a:chExt cx="6373711" cy="765391"/>
          </a:xfrm>
        </p:grpSpPr>
        <p:sp>
          <p:nvSpPr>
            <p:cNvPr name="Freeform 72" id="72"/>
            <p:cNvSpPr/>
            <p:nvPr/>
          </p:nvSpPr>
          <p:spPr>
            <a:xfrm flipH="false" flipV="false" rot="0">
              <a:off x="16891" y="16891"/>
              <a:ext cx="6339967" cy="731520"/>
            </a:xfrm>
            <a:custGeom>
              <a:avLst/>
              <a:gdLst/>
              <a:ahLst/>
              <a:cxnLst/>
              <a:rect r="r" b="b" t="t" l="l"/>
              <a:pathLst>
                <a:path h="731520" w="6339967">
                  <a:moveTo>
                    <a:pt x="0" y="195072"/>
                  </a:moveTo>
                  <a:cubicBezTo>
                    <a:pt x="0" y="87376"/>
                    <a:pt x="90932" y="0"/>
                    <a:pt x="203073" y="0"/>
                  </a:cubicBezTo>
                  <a:lnTo>
                    <a:pt x="6136894" y="0"/>
                  </a:lnTo>
                  <a:cubicBezTo>
                    <a:pt x="6249035" y="0"/>
                    <a:pt x="6339967" y="87376"/>
                    <a:pt x="6339967" y="195072"/>
                  </a:cubicBezTo>
                  <a:lnTo>
                    <a:pt x="6339967" y="536448"/>
                  </a:lnTo>
                  <a:cubicBezTo>
                    <a:pt x="6339967" y="644144"/>
                    <a:pt x="6249035" y="731520"/>
                    <a:pt x="6136894" y="731520"/>
                  </a:cubicBezTo>
                  <a:lnTo>
                    <a:pt x="203073" y="731520"/>
                  </a:lnTo>
                  <a:cubicBezTo>
                    <a:pt x="90932" y="731520"/>
                    <a:pt x="0" y="644144"/>
                    <a:pt x="0" y="536448"/>
                  </a:cubicBezTo>
                  <a:close/>
                </a:path>
              </a:pathLst>
            </a:custGeom>
            <a:solidFill>
              <a:srgbClr val="3A7D5C"/>
            </a:solidFill>
          </p:spPr>
        </p:sp>
        <p:sp>
          <p:nvSpPr>
            <p:cNvPr name="Freeform 73" id="73"/>
            <p:cNvSpPr/>
            <p:nvPr/>
          </p:nvSpPr>
          <p:spPr>
            <a:xfrm flipH="false" flipV="false" rot="0">
              <a:off x="0" y="0"/>
              <a:ext cx="6373749" cy="765302"/>
            </a:xfrm>
            <a:custGeom>
              <a:avLst/>
              <a:gdLst/>
              <a:ahLst/>
              <a:cxnLst/>
              <a:rect r="r" b="b" t="t" l="l"/>
              <a:pathLst>
                <a:path h="765302" w="6373749">
                  <a:moveTo>
                    <a:pt x="0" y="211963"/>
                  </a:moveTo>
                  <a:cubicBezTo>
                    <a:pt x="0" y="94234"/>
                    <a:pt x="99060" y="0"/>
                    <a:pt x="219964" y="0"/>
                  </a:cubicBezTo>
                  <a:lnTo>
                    <a:pt x="6153785" y="0"/>
                  </a:lnTo>
                  <a:lnTo>
                    <a:pt x="6153785" y="16891"/>
                  </a:lnTo>
                  <a:lnTo>
                    <a:pt x="6153785" y="0"/>
                  </a:lnTo>
                  <a:cubicBezTo>
                    <a:pt x="6274562" y="0"/>
                    <a:pt x="6373749" y="94234"/>
                    <a:pt x="6373749" y="211963"/>
                  </a:cubicBezTo>
                  <a:lnTo>
                    <a:pt x="6356858" y="211963"/>
                  </a:lnTo>
                  <a:lnTo>
                    <a:pt x="6373749" y="211963"/>
                  </a:lnTo>
                  <a:lnTo>
                    <a:pt x="6373749" y="553339"/>
                  </a:lnTo>
                  <a:lnTo>
                    <a:pt x="6356858" y="553339"/>
                  </a:lnTo>
                  <a:lnTo>
                    <a:pt x="6373749" y="553339"/>
                  </a:lnTo>
                  <a:cubicBezTo>
                    <a:pt x="6373749" y="671068"/>
                    <a:pt x="6274689" y="765302"/>
                    <a:pt x="6153785" y="765302"/>
                  </a:cubicBezTo>
                  <a:lnTo>
                    <a:pt x="6153785" y="748411"/>
                  </a:lnTo>
                  <a:lnTo>
                    <a:pt x="6153785" y="765302"/>
                  </a:lnTo>
                  <a:lnTo>
                    <a:pt x="219964" y="765302"/>
                  </a:lnTo>
                  <a:lnTo>
                    <a:pt x="219964" y="748411"/>
                  </a:lnTo>
                  <a:lnTo>
                    <a:pt x="219964" y="765302"/>
                  </a:lnTo>
                  <a:cubicBezTo>
                    <a:pt x="99060" y="765429"/>
                    <a:pt x="0" y="671068"/>
                    <a:pt x="0" y="553339"/>
                  </a:cubicBezTo>
                  <a:lnTo>
                    <a:pt x="0" y="211963"/>
                  </a:lnTo>
                  <a:lnTo>
                    <a:pt x="16891" y="211963"/>
                  </a:lnTo>
                  <a:lnTo>
                    <a:pt x="0" y="211963"/>
                  </a:lnTo>
                  <a:moveTo>
                    <a:pt x="33909" y="211963"/>
                  </a:moveTo>
                  <a:lnTo>
                    <a:pt x="33909" y="553339"/>
                  </a:lnTo>
                  <a:lnTo>
                    <a:pt x="16891" y="553339"/>
                  </a:lnTo>
                  <a:lnTo>
                    <a:pt x="33909" y="553339"/>
                  </a:lnTo>
                  <a:cubicBezTo>
                    <a:pt x="33909" y="651129"/>
                    <a:pt x="116586" y="731520"/>
                    <a:pt x="219964" y="731520"/>
                  </a:cubicBezTo>
                  <a:lnTo>
                    <a:pt x="6153785" y="731520"/>
                  </a:lnTo>
                  <a:cubicBezTo>
                    <a:pt x="6257163" y="731520"/>
                    <a:pt x="6339840" y="651129"/>
                    <a:pt x="6339840" y="553339"/>
                  </a:cubicBezTo>
                  <a:lnTo>
                    <a:pt x="6339840" y="211963"/>
                  </a:lnTo>
                  <a:cubicBezTo>
                    <a:pt x="6339840" y="114173"/>
                    <a:pt x="6257163" y="33782"/>
                    <a:pt x="6153785" y="33782"/>
                  </a:cubicBezTo>
                  <a:lnTo>
                    <a:pt x="219964" y="33782"/>
                  </a:lnTo>
                  <a:lnTo>
                    <a:pt x="219964" y="16891"/>
                  </a:lnTo>
                  <a:lnTo>
                    <a:pt x="219964" y="33909"/>
                  </a:lnTo>
                  <a:cubicBezTo>
                    <a:pt x="116586" y="33909"/>
                    <a:pt x="33909" y="114300"/>
                    <a:pt x="33909" y="211963"/>
                  </a:cubicBezTo>
                  <a:close/>
                </a:path>
              </a:pathLst>
            </a:custGeom>
            <a:solidFill>
              <a:srgbClr val="3A7D5C"/>
            </a:solidFill>
          </p:spPr>
        </p:sp>
      </p:grpSp>
      <p:grpSp>
        <p:nvGrpSpPr>
          <p:cNvPr name="Group 74" id="74"/>
          <p:cNvGrpSpPr/>
          <p:nvPr/>
        </p:nvGrpSpPr>
        <p:grpSpPr>
          <a:xfrm rot="0">
            <a:off x="10061889" y="5279646"/>
            <a:ext cx="4754880" cy="512064"/>
            <a:chOff x="0" y="0"/>
            <a:chExt cx="6339840" cy="682752"/>
          </a:xfrm>
        </p:grpSpPr>
        <p:sp>
          <p:nvSpPr>
            <p:cNvPr name="Freeform 75" id="75"/>
            <p:cNvSpPr/>
            <p:nvPr/>
          </p:nvSpPr>
          <p:spPr>
            <a:xfrm flipH="false" flipV="false" rot="0">
              <a:off x="0" y="0"/>
              <a:ext cx="6339840" cy="682752"/>
            </a:xfrm>
            <a:custGeom>
              <a:avLst/>
              <a:gdLst/>
              <a:ahLst/>
              <a:cxnLst/>
              <a:rect r="r" b="b" t="t" l="l"/>
              <a:pathLst>
                <a:path h="682752" w="6339840">
                  <a:moveTo>
                    <a:pt x="0" y="0"/>
                  </a:moveTo>
                  <a:lnTo>
                    <a:pt x="6339840" y="0"/>
                  </a:lnTo>
                  <a:lnTo>
                    <a:pt x="6339840" y="682752"/>
                  </a:lnTo>
                  <a:lnTo>
                    <a:pt x="0" y="682752"/>
                  </a:lnTo>
                  <a:close/>
                </a:path>
              </a:pathLst>
            </a:custGeom>
            <a:blipFill>
              <a:blip r:embed="rId3">
                <a:alphaModFix amt="0"/>
              </a:blip>
              <a:stretch>
                <a:fillRect l="0" t="-130932" r="0" b="-130932"/>
              </a:stretch>
            </a:blipFill>
          </p:spPr>
        </p:sp>
        <p:sp>
          <p:nvSpPr>
            <p:cNvPr name="TextBox 76" id="76"/>
            <p:cNvSpPr txBox="true"/>
            <p:nvPr/>
          </p:nvSpPr>
          <p:spPr>
            <a:xfrm>
              <a:off x="0" y="9525"/>
              <a:ext cx="6339840" cy="673227"/>
            </a:xfrm>
            <a:prstGeom prst="rect">
              <a:avLst/>
            </a:prstGeom>
          </p:spPr>
          <p:txBody>
            <a:bodyPr anchor="ctr" rtlCol="false" tIns="0" lIns="0" bIns="0" rIns="0"/>
            <a:lstStyle/>
            <a:p>
              <a:pPr algn="ctr">
                <a:lnSpc>
                  <a:spcPts val="2160"/>
                </a:lnSpc>
              </a:pPr>
              <a:r>
                <a:rPr lang="en-US" sz="1800" b="true">
                  <a:solidFill>
                    <a:srgbClr val="FFFFFF"/>
                  </a:solidFill>
                  <a:latin typeface="EB Garamond Semi-Bold"/>
                  <a:ea typeface="EB Garamond Semi-Bold"/>
                  <a:cs typeface="EB Garamond Semi-Bold"/>
                  <a:sym typeface="EB Garamond Semi-Bold"/>
                </a:rPr>
                <a:t>Déplacement des scripts .do</a:t>
              </a:r>
            </a:p>
          </p:txBody>
        </p:sp>
      </p:grpSp>
      <p:grpSp>
        <p:nvGrpSpPr>
          <p:cNvPr name="Group 77" id="77"/>
          <p:cNvGrpSpPr/>
          <p:nvPr/>
        </p:nvGrpSpPr>
        <p:grpSpPr>
          <a:xfrm rot="0">
            <a:off x="9826247" y="5841749"/>
            <a:ext cx="7589520" cy="768322"/>
            <a:chOff x="0" y="0"/>
            <a:chExt cx="10119360" cy="1024430"/>
          </a:xfrm>
        </p:grpSpPr>
        <p:sp>
          <p:nvSpPr>
            <p:cNvPr name="Freeform 78" id="78"/>
            <p:cNvSpPr/>
            <p:nvPr/>
          </p:nvSpPr>
          <p:spPr>
            <a:xfrm flipH="false" flipV="false" rot="0">
              <a:off x="0" y="0"/>
              <a:ext cx="10119360" cy="1024430"/>
            </a:xfrm>
            <a:custGeom>
              <a:avLst/>
              <a:gdLst/>
              <a:ahLst/>
              <a:cxnLst/>
              <a:rect r="r" b="b" t="t" l="l"/>
              <a:pathLst>
                <a:path h="1024430" w="10119360">
                  <a:moveTo>
                    <a:pt x="0" y="0"/>
                  </a:moveTo>
                  <a:lnTo>
                    <a:pt x="10119360" y="0"/>
                  </a:lnTo>
                  <a:lnTo>
                    <a:pt x="10119360" y="1024430"/>
                  </a:lnTo>
                  <a:lnTo>
                    <a:pt x="0" y="1024430"/>
                  </a:lnTo>
                  <a:close/>
                </a:path>
              </a:pathLst>
            </a:custGeom>
            <a:blipFill>
              <a:blip r:embed="rId3">
                <a:alphaModFix amt="0"/>
              </a:blip>
              <a:stretch>
                <a:fillRect l="0" t="-135347" r="0" b="-149600"/>
              </a:stretch>
            </a:blipFill>
          </p:spPr>
        </p:sp>
        <p:sp>
          <p:nvSpPr>
            <p:cNvPr name="TextBox 79" id="79"/>
            <p:cNvSpPr txBox="true"/>
            <p:nvPr/>
          </p:nvSpPr>
          <p:spPr>
            <a:xfrm>
              <a:off x="0" y="9525"/>
              <a:ext cx="10119360" cy="1014905"/>
            </a:xfrm>
            <a:prstGeom prst="rect">
              <a:avLst/>
            </a:prstGeom>
          </p:spPr>
          <p:txBody>
            <a:bodyPr anchor="ctr" rtlCol="false" tIns="0" lIns="0" bIns="0" rIns="0"/>
            <a:lstStyle/>
            <a:p>
              <a:pPr algn="l">
                <a:lnSpc>
                  <a:spcPts val="2280"/>
                </a:lnSpc>
              </a:pPr>
              <a:r>
                <a:rPr lang="en-US" sz="1900" i="true">
                  <a:solidFill>
                    <a:srgbClr val="364E64"/>
                  </a:solidFill>
                  <a:latin typeface="EB Garamond Italics"/>
                  <a:ea typeface="EB Garamond Italics"/>
                  <a:cs typeface="EB Garamond Italics"/>
                  <a:sym typeface="EB Garamond Italics"/>
                </a:rPr>
                <a:t>⚠  L'IA n'a pas proposé spontanément de déplacer les fichiers .do vers le dossier scripts/. Structure des dossiers créée par nous, non par l'IA.</a:t>
              </a:r>
            </a:p>
          </p:txBody>
        </p:sp>
      </p:grpSp>
      <p:grpSp>
        <p:nvGrpSpPr>
          <p:cNvPr name="Group 80" id="80"/>
          <p:cNvGrpSpPr/>
          <p:nvPr/>
        </p:nvGrpSpPr>
        <p:grpSpPr>
          <a:xfrm rot="0">
            <a:off x="9903971" y="6610072"/>
            <a:ext cx="7589520" cy="731520"/>
            <a:chOff x="0" y="0"/>
            <a:chExt cx="10119360" cy="975360"/>
          </a:xfrm>
        </p:grpSpPr>
        <p:sp>
          <p:nvSpPr>
            <p:cNvPr name="Freeform 81" id="81"/>
            <p:cNvSpPr/>
            <p:nvPr/>
          </p:nvSpPr>
          <p:spPr>
            <a:xfrm flipH="false" flipV="false" rot="0">
              <a:off x="0" y="0"/>
              <a:ext cx="10119360" cy="975360"/>
            </a:xfrm>
            <a:custGeom>
              <a:avLst/>
              <a:gdLst/>
              <a:ahLst/>
              <a:cxnLst/>
              <a:rect r="r" b="b" t="t" l="l"/>
              <a:pathLst>
                <a:path h="975360" w="10119360">
                  <a:moveTo>
                    <a:pt x="0" y="0"/>
                  </a:moveTo>
                  <a:lnTo>
                    <a:pt x="10119360" y="0"/>
                  </a:lnTo>
                  <a:lnTo>
                    <a:pt x="10119360" y="975360"/>
                  </a:lnTo>
                  <a:lnTo>
                    <a:pt x="0" y="975360"/>
                  </a:lnTo>
                  <a:close/>
                </a:path>
              </a:pathLst>
            </a:custGeom>
            <a:blipFill>
              <a:blip r:embed="rId3">
                <a:alphaModFix amt="0"/>
              </a:blip>
              <a:stretch>
                <a:fillRect l="0" t="-152157" r="0" b="-152157"/>
              </a:stretch>
            </a:blipFill>
          </p:spPr>
        </p:sp>
        <p:sp>
          <p:nvSpPr>
            <p:cNvPr name="TextBox 82" id="82"/>
            <p:cNvSpPr txBox="true"/>
            <p:nvPr/>
          </p:nvSpPr>
          <p:spPr>
            <a:xfrm>
              <a:off x="0" y="9525"/>
              <a:ext cx="10119360" cy="965835"/>
            </a:xfrm>
            <a:prstGeom prst="rect">
              <a:avLst/>
            </a:prstGeom>
          </p:spPr>
          <p:txBody>
            <a:bodyPr anchor="ctr" rtlCol="false" tIns="0" lIns="0" bIns="0" rIns="0"/>
            <a:lstStyle/>
            <a:p>
              <a:pPr algn="l">
                <a:lnSpc>
                  <a:spcPts val="2280"/>
                </a:lnSpc>
              </a:pPr>
              <a:r>
                <a:rPr lang="en-US" sz="1900" b="true">
                  <a:solidFill>
                    <a:srgbClr val="2A6A3A"/>
                  </a:solidFill>
                  <a:latin typeface="EB Garamond Semi-Bold"/>
                  <a:ea typeface="EB Garamond Semi-Bold"/>
                  <a:cs typeface="EB Garamond Semi-Bold"/>
                  <a:sym typeface="EB Garamond Semi-Bold"/>
                </a:rPr>
                <a:t>→ Limitation : à signaler dans le README. Les paths relatifs ont été documentés pour garantir la reproductibilité depuis n'importe quel poste.</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C4A6E"/>
        </a:solidFill>
      </p:bgPr>
    </p:bg>
    <p:spTree>
      <p:nvGrpSpPr>
        <p:cNvPr id="1" name=""/>
        <p:cNvGrpSpPr/>
        <p:nvPr/>
      </p:nvGrpSpPr>
      <p:grpSpPr>
        <a:xfrm>
          <a:off x="0" y="0"/>
          <a:ext cx="0" cy="0"/>
          <a:chOff x="0" y="0"/>
          <a:chExt cx="0" cy="0"/>
        </a:xfrm>
      </p:grpSpPr>
      <p:grpSp>
        <p:nvGrpSpPr>
          <p:cNvPr name="Group 2" id="2"/>
          <p:cNvGrpSpPr/>
          <p:nvPr/>
        </p:nvGrpSpPr>
        <p:grpSpPr>
          <a:xfrm rot="0">
            <a:off x="14251943" y="6388103"/>
            <a:ext cx="6426203" cy="6426203"/>
            <a:chOff x="0" y="0"/>
            <a:chExt cx="8568271" cy="8568271"/>
          </a:xfrm>
        </p:grpSpPr>
        <p:sp>
          <p:nvSpPr>
            <p:cNvPr name="Freeform 3" id="3"/>
            <p:cNvSpPr/>
            <p:nvPr/>
          </p:nvSpPr>
          <p:spPr>
            <a:xfrm flipH="false" flipV="false" rot="0">
              <a:off x="16891" y="16891"/>
              <a:ext cx="8534400" cy="8534400"/>
            </a:xfrm>
            <a:custGeom>
              <a:avLst/>
              <a:gdLst/>
              <a:ahLst/>
              <a:cxnLst/>
              <a:rect r="r" b="b" t="t" l="l"/>
              <a:pathLst>
                <a:path h="8534400" w="8534400">
                  <a:moveTo>
                    <a:pt x="0" y="4267200"/>
                  </a:moveTo>
                  <a:cubicBezTo>
                    <a:pt x="0" y="1910461"/>
                    <a:pt x="1910461" y="0"/>
                    <a:pt x="4267200" y="0"/>
                  </a:cubicBezTo>
                  <a:cubicBezTo>
                    <a:pt x="6623939" y="0"/>
                    <a:pt x="8534400" y="1910461"/>
                    <a:pt x="8534400" y="4267200"/>
                  </a:cubicBezTo>
                  <a:cubicBezTo>
                    <a:pt x="8534400" y="6623939"/>
                    <a:pt x="6623939" y="8534400"/>
                    <a:pt x="4267200" y="8534400"/>
                  </a:cubicBezTo>
                  <a:cubicBezTo>
                    <a:pt x="1910461" y="8534400"/>
                    <a:pt x="0" y="6623939"/>
                    <a:pt x="0" y="4267200"/>
                  </a:cubicBezTo>
                  <a:close/>
                </a:path>
              </a:pathLst>
            </a:custGeom>
            <a:solidFill>
              <a:srgbClr val="5B8DB8">
                <a:alpha val="3137"/>
              </a:srgbClr>
            </a:solidFill>
          </p:spPr>
        </p:sp>
        <p:sp>
          <p:nvSpPr>
            <p:cNvPr name="Freeform 4" id="4"/>
            <p:cNvSpPr/>
            <p:nvPr/>
          </p:nvSpPr>
          <p:spPr>
            <a:xfrm flipH="false" flipV="false" rot="0">
              <a:off x="0" y="0"/>
              <a:ext cx="8568182" cy="8568182"/>
            </a:xfrm>
            <a:custGeom>
              <a:avLst/>
              <a:gdLst/>
              <a:ahLst/>
              <a:cxnLst/>
              <a:rect r="r" b="b" t="t" l="l"/>
              <a:pathLst>
                <a:path h="8568182" w="8568182">
                  <a:moveTo>
                    <a:pt x="0" y="4284091"/>
                  </a:moveTo>
                  <a:cubicBezTo>
                    <a:pt x="0" y="1918081"/>
                    <a:pt x="1918081" y="0"/>
                    <a:pt x="4284091" y="0"/>
                  </a:cubicBezTo>
                  <a:lnTo>
                    <a:pt x="4284091" y="16891"/>
                  </a:lnTo>
                  <a:lnTo>
                    <a:pt x="4284091" y="0"/>
                  </a:lnTo>
                  <a:cubicBezTo>
                    <a:pt x="6650101" y="0"/>
                    <a:pt x="8568182" y="1918081"/>
                    <a:pt x="8568182" y="4284091"/>
                  </a:cubicBezTo>
                  <a:lnTo>
                    <a:pt x="8551290" y="4284091"/>
                  </a:lnTo>
                  <a:lnTo>
                    <a:pt x="8568182" y="4284091"/>
                  </a:lnTo>
                  <a:cubicBezTo>
                    <a:pt x="8568182" y="6650101"/>
                    <a:pt x="6650101" y="8568182"/>
                    <a:pt x="4284091" y="8568182"/>
                  </a:cubicBezTo>
                  <a:lnTo>
                    <a:pt x="4284091" y="8551290"/>
                  </a:lnTo>
                  <a:lnTo>
                    <a:pt x="4284091" y="8568182"/>
                  </a:lnTo>
                  <a:cubicBezTo>
                    <a:pt x="1918081" y="8568309"/>
                    <a:pt x="0" y="6650228"/>
                    <a:pt x="0" y="4284091"/>
                  </a:cubicBezTo>
                  <a:lnTo>
                    <a:pt x="16891" y="4284091"/>
                  </a:lnTo>
                  <a:lnTo>
                    <a:pt x="33909" y="4284091"/>
                  </a:lnTo>
                  <a:lnTo>
                    <a:pt x="16891" y="4284091"/>
                  </a:lnTo>
                  <a:lnTo>
                    <a:pt x="0" y="4284091"/>
                  </a:lnTo>
                  <a:moveTo>
                    <a:pt x="33909" y="4284091"/>
                  </a:moveTo>
                  <a:cubicBezTo>
                    <a:pt x="33909" y="4293489"/>
                    <a:pt x="26289" y="4300982"/>
                    <a:pt x="17018" y="4300982"/>
                  </a:cubicBezTo>
                  <a:cubicBezTo>
                    <a:pt x="7747" y="4300982"/>
                    <a:pt x="0" y="4293489"/>
                    <a:pt x="0" y="4284091"/>
                  </a:cubicBezTo>
                  <a:cubicBezTo>
                    <a:pt x="0" y="4274693"/>
                    <a:pt x="7620" y="4267200"/>
                    <a:pt x="16891" y="4267200"/>
                  </a:cubicBezTo>
                  <a:cubicBezTo>
                    <a:pt x="26162" y="4267200"/>
                    <a:pt x="33782" y="4274820"/>
                    <a:pt x="33782" y="4284091"/>
                  </a:cubicBezTo>
                  <a:cubicBezTo>
                    <a:pt x="33909" y="6631432"/>
                    <a:pt x="1936750" y="8534400"/>
                    <a:pt x="4284091" y="8534400"/>
                  </a:cubicBezTo>
                  <a:cubicBezTo>
                    <a:pt x="6631432" y="8534400"/>
                    <a:pt x="8534400" y="6631432"/>
                    <a:pt x="8534400" y="4284091"/>
                  </a:cubicBezTo>
                  <a:cubicBezTo>
                    <a:pt x="8534400" y="1936750"/>
                    <a:pt x="6631432" y="33909"/>
                    <a:pt x="4284091" y="33909"/>
                  </a:cubicBezTo>
                  <a:lnTo>
                    <a:pt x="4284091" y="16891"/>
                  </a:lnTo>
                  <a:lnTo>
                    <a:pt x="4284091" y="33909"/>
                  </a:lnTo>
                  <a:cubicBezTo>
                    <a:pt x="1936750" y="33909"/>
                    <a:pt x="33909" y="1936750"/>
                    <a:pt x="33909" y="4284091"/>
                  </a:cubicBezTo>
                  <a:close/>
                </a:path>
              </a:pathLst>
            </a:custGeom>
            <a:solidFill>
              <a:srgbClr val="5B8DB8"/>
            </a:solidFill>
          </p:spPr>
        </p:sp>
      </p:grpSp>
      <p:grpSp>
        <p:nvGrpSpPr>
          <p:cNvPr name="Group 5" id="5"/>
          <p:cNvGrpSpPr/>
          <p:nvPr/>
        </p:nvGrpSpPr>
        <p:grpSpPr>
          <a:xfrm rot="0">
            <a:off x="-927097" y="-561337"/>
            <a:ext cx="3683003" cy="3683003"/>
            <a:chOff x="0" y="0"/>
            <a:chExt cx="4910671" cy="4910671"/>
          </a:xfrm>
        </p:grpSpPr>
        <p:sp>
          <p:nvSpPr>
            <p:cNvPr name="Freeform 6" id="6"/>
            <p:cNvSpPr/>
            <p:nvPr/>
          </p:nvSpPr>
          <p:spPr>
            <a:xfrm flipH="false" flipV="false" rot="0">
              <a:off x="16891" y="16891"/>
              <a:ext cx="4876800" cy="4876800"/>
            </a:xfrm>
            <a:custGeom>
              <a:avLst/>
              <a:gdLst/>
              <a:ahLst/>
              <a:cxnLst/>
              <a:rect r="r" b="b" t="t" l="l"/>
              <a:pathLst>
                <a:path h="4876800" w="4876800">
                  <a:moveTo>
                    <a:pt x="0" y="2438400"/>
                  </a:moveTo>
                  <a:cubicBezTo>
                    <a:pt x="0" y="1091692"/>
                    <a:pt x="1091692" y="0"/>
                    <a:pt x="2438400" y="0"/>
                  </a:cubicBezTo>
                  <a:cubicBezTo>
                    <a:pt x="3785108" y="0"/>
                    <a:pt x="4876800" y="1091692"/>
                    <a:pt x="4876800" y="2438400"/>
                  </a:cubicBezTo>
                  <a:cubicBezTo>
                    <a:pt x="4876800" y="3785108"/>
                    <a:pt x="3785108" y="4876800"/>
                    <a:pt x="2438400" y="4876800"/>
                  </a:cubicBezTo>
                  <a:cubicBezTo>
                    <a:pt x="1091692" y="4876800"/>
                    <a:pt x="0" y="3785108"/>
                    <a:pt x="0" y="2438400"/>
                  </a:cubicBezTo>
                  <a:close/>
                </a:path>
              </a:pathLst>
            </a:custGeom>
            <a:solidFill>
              <a:srgbClr val="C89A3E">
                <a:alpha val="3137"/>
              </a:srgbClr>
            </a:solidFill>
          </p:spPr>
        </p:sp>
        <p:sp>
          <p:nvSpPr>
            <p:cNvPr name="Freeform 7" id="7"/>
            <p:cNvSpPr/>
            <p:nvPr/>
          </p:nvSpPr>
          <p:spPr>
            <a:xfrm flipH="false" flipV="false" rot="0">
              <a:off x="0" y="0"/>
              <a:ext cx="4910709" cy="4910582"/>
            </a:xfrm>
            <a:custGeom>
              <a:avLst/>
              <a:gdLst/>
              <a:ahLst/>
              <a:cxnLst/>
              <a:rect r="r" b="b" t="t" l="l"/>
              <a:pathLst>
                <a:path h="4910582" w="4910709">
                  <a:moveTo>
                    <a:pt x="0" y="2455291"/>
                  </a:moveTo>
                  <a:cubicBezTo>
                    <a:pt x="0" y="1099312"/>
                    <a:pt x="1099312" y="0"/>
                    <a:pt x="2455291" y="0"/>
                  </a:cubicBezTo>
                  <a:lnTo>
                    <a:pt x="2455291" y="16891"/>
                  </a:lnTo>
                  <a:lnTo>
                    <a:pt x="2455291" y="0"/>
                  </a:lnTo>
                  <a:cubicBezTo>
                    <a:pt x="3811397" y="0"/>
                    <a:pt x="4910709" y="1099312"/>
                    <a:pt x="4910709" y="2455291"/>
                  </a:cubicBezTo>
                  <a:lnTo>
                    <a:pt x="4893818" y="2455291"/>
                  </a:lnTo>
                  <a:lnTo>
                    <a:pt x="4910709" y="2455291"/>
                  </a:lnTo>
                  <a:cubicBezTo>
                    <a:pt x="4910709" y="3811397"/>
                    <a:pt x="3811397" y="4910582"/>
                    <a:pt x="2455418" y="4910582"/>
                  </a:cubicBezTo>
                  <a:lnTo>
                    <a:pt x="2455418" y="4893691"/>
                  </a:lnTo>
                  <a:lnTo>
                    <a:pt x="2455418" y="4910582"/>
                  </a:lnTo>
                  <a:cubicBezTo>
                    <a:pt x="1099312" y="4910709"/>
                    <a:pt x="0" y="3811397"/>
                    <a:pt x="0" y="2455291"/>
                  </a:cubicBezTo>
                  <a:lnTo>
                    <a:pt x="16891" y="2455291"/>
                  </a:lnTo>
                  <a:lnTo>
                    <a:pt x="33909" y="2455291"/>
                  </a:lnTo>
                  <a:lnTo>
                    <a:pt x="16891" y="2455291"/>
                  </a:lnTo>
                  <a:lnTo>
                    <a:pt x="0" y="2455291"/>
                  </a:lnTo>
                  <a:moveTo>
                    <a:pt x="33909" y="2455291"/>
                  </a:moveTo>
                  <a:cubicBezTo>
                    <a:pt x="33909" y="2464689"/>
                    <a:pt x="26289" y="2472182"/>
                    <a:pt x="17018" y="2472182"/>
                  </a:cubicBezTo>
                  <a:cubicBezTo>
                    <a:pt x="7747" y="2472182"/>
                    <a:pt x="0" y="2464689"/>
                    <a:pt x="0" y="2455291"/>
                  </a:cubicBezTo>
                  <a:cubicBezTo>
                    <a:pt x="0" y="2445893"/>
                    <a:pt x="7620" y="2438400"/>
                    <a:pt x="16891" y="2438400"/>
                  </a:cubicBezTo>
                  <a:cubicBezTo>
                    <a:pt x="26162" y="2438400"/>
                    <a:pt x="33782" y="2446020"/>
                    <a:pt x="33782" y="2455291"/>
                  </a:cubicBezTo>
                  <a:cubicBezTo>
                    <a:pt x="33909" y="3792728"/>
                    <a:pt x="1117981" y="4876800"/>
                    <a:pt x="2455291" y="4876800"/>
                  </a:cubicBezTo>
                  <a:cubicBezTo>
                    <a:pt x="3792728" y="4876800"/>
                    <a:pt x="4876800" y="3792728"/>
                    <a:pt x="4876800" y="2455291"/>
                  </a:cubicBezTo>
                  <a:cubicBezTo>
                    <a:pt x="4876800" y="1117981"/>
                    <a:pt x="3792728" y="33909"/>
                    <a:pt x="2455291" y="33909"/>
                  </a:cubicBezTo>
                  <a:lnTo>
                    <a:pt x="2455291" y="16891"/>
                  </a:lnTo>
                  <a:lnTo>
                    <a:pt x="2455291" y="33909"/>
                  </a:lnTo>
                  <a:cubicBezTo>
                    <a:pt x="1117981" y="33909"/>
                    <a:pt x="33909" y="1117981"/>
                    <a:pt x="33909" y="2455291"/>
                  </a:cubicBezTo>
                  <a:close/>
                </a:path>
              </a:pathLst>
            </a:custGeom>
            <a:solidFill>
              <a:srgbClr val="C89A3E"/>
            </a:solidFill>
          </p:spPr>
        </p:sp>
      </p:grpSp>
      <p:grpSp>
        <p:nvGrpSpPr>
          <p:cNvPr name="Group 8" id="8"/>
          <p:cNvGrpSpPr/>
          <p:nvPr/>
        </p:nvGrpSpPr>
        <p:grpSpPr>
          <a:xfrm rot="0">
            <a:off x="-12697" y="-12697"/>
            <a:ext cx="18313403" cy="153419"/>
            <a:chOff x="0" y="0"/>
            <a:chExt cx="24417871" cy="204559"/>
          </a:xfrm>
        </p:grpSpPr>
        <p:sp>
          <p:nvSpPr>
            <p:cNvPr name="Freeform 9" id="9"/>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C89A3E"/>
            </a:solidFill>
          </p:spPr>
        </p:sp>
        <p:sp>
          <p:nvSpPr>
            <p:cNvPr name="Freeform 10" id="10"/>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C89A3E"/>
            </a:solidFill>
          </p:spPr>
        </p:sp>
      </p:grpSp>
      <p:grpSp>
        <p:nvGrpSpPr>
          <p:cNvPr name="Group 11" id="11"/>
          <p:cNvGrpSpPr/>
          <p:nvPr/>
        </p:nvGrpSpPr>
        <p:grpSpPr>
          <a:xfrm rot="0">
            <a:off x="822960" y="402336"/>
            <a:ext cx="16642080" cy="1118845"/>
            <a:chOff x="0" y="0"/>
            <a:chExt cx="22189440" cy="1491793"/>
          </a:xfrm>
        </p:grpSpPr>
        <p:sp>
          <p:nvSpPr>
            <p:cNvPr name="Freeform 12" id="12"/>
            <p:cNvSpPr/>
            <p:nvPr/>
          </p:nvSpPr>
          <p:spPr>
            <a:xfrm flipH="false" flipV="false" rot="0">
              <a:off x="0" y="0"/>
              <a:ext cx="22189439" cy="1491793"/>
            </a:xfrm>
            <a:custGeom>
              <a:avLst/>
              <a:gdLst/>
              <a:ahLst/>
              <a:cxnLst/>
              <a:rect r="r" b="b" t="t" l="l"/>
              <a:pathLst>
                <a:path h="1491793" w="22189439">
                  <a:moveTo>
                    <a:pt x="0" y="0"/>
                  </a:moveTo>
                  <a:lnTo>
                    <a:pt x="22189439" y="0"/>
                  </a:lnTo>
                  <a:lnTo>
                    <a:pt x="22189439" y="1491793"/>
                  </a:lnTo>
                  <a:lnTo>
                    <a:pt x="0" y="1491793"/>
                  </a:lnTo>
                  <a:close/>
                </a:path>
              </a:pathLst>
            </a:custGeom>
            <a:blipFill>
              <a:blip r:embed="rId3">
                <a:alphaModFix amt="0"/>
              </a:blip>
              <a:stretch>
                <a:fillRect l="0" t="-244877" r="0" b="-234777"/>
              </a:stretch>
            </a:blipFill>
          </p:spPr>
        </p:sp>
        <p:sp>
          <p:nvSpPr>
            <p:cNvPr name="TextBox 13" id="13"/>
            <p:cNvSpPr txBox="true"/>
            <p:nvPr/>
          </p:nvSpPr>
          <p:spPr>
            <a:xfrm>
              <a:off x="0" y="9525"/>
              <a:ext cx="22189440" cy="1482268"/>
            </a:xfrm>
            <a:prstGeom prst="rect">
              <a:avLst/>
            </a:prstGeom>
          </p:spPr>
          <p:txBody>
            <a:bodyPr anchor="ctr" rtlCol="false" tIns="0" lIns="0" bIns="0" rIns="0"/>
            <a:lstStyle/>
            <a:p>
              <a:pPr algn="l">
                <a:lnSpc>
                  <a:spcPts val="6480"/>
                </a:lnSpc>
              </a:pPr>
              <a:r>
                <a:rPr lang="en-US" sz="5400" b="true">
                  <a:solidFill>
                    <a:srgbClr val="FFFFFF"/>
                  </a:solidFill>
                  <a:latin typeface="EB Garamond Semi-Bold"/>
                  <a:ea typeface="EB Garamond Semi-Bold"/>
                  <a:cs typeface="EB Garamond Semi-Bold"/>
                  <a:sym typeface="EB Garamond Semi-Bold"/>
                </a:rPr>
                <a:t>Conclusions et Apprentissages</a:t>
              </a:r>
            </a:p>
          </p:txBody>
        </p:sp>
      </p:grpSp>
      <p:grpSp>
        <p:nvGrpSpPr>
          <p:cNvPr name="Group 14" id="14"/>
          <p:cNvGrpSpPr/>
          <p:nvPr/>
        </p:nvGrpSpPr>
        <p:grpSpPr>
          <a:xfrm rot="0">
            <a:off x="822960" y="1426464"/>
            <a:ext cx="16642080" cy="512064"/>
            <a:chOff x="0" y="0"/>
            <a:chExt cx="22189440" cy="682752"/>
          </a:xfrm>
        </p:grpSpPr>
        <p:sp>
          <p:nvSpPr>
            <p:cNvPr name="Freeform 15" id="15"/>
            <p:cNvSpPr/>
            <p:nvPr/>
          </p:nvSpPr>
          <p:spPr>
            <a:xfrm flipH="false" flipV="false" rot="0">
              <a:off x="0" y="0"/>
              <a:ext cx="22189439" cy="682752"/>
            </a:xfrm>
            <a:custGeom>
              <a:avLst/>
              <a:gdLst/>
              <a:ahLst/>
              <a:cxnLst/>
              <a:rect r="r" b="b" t="t" l="l"/>
              <a:pathLst>
                <a:path h="682752" w="22189439">
                  <a:moveTo>
                    <a:pt x="0" y="0"/>
                  </a:moveTo>
                  <a:lnTo>
                    <a:pt x="22189439" y="0"/>
                  </a:lnTo>
                  <a:lnTo>
                    <a:pt x="22189439" y="682752"/>
                  </a:lnTo>
                  <a:lnTo>
                    <a:pt x="0" y="682752"/>
                  </a:lnTo>
                  <a:close/>
                </a:path>
              </a:pathLst>
            </a:custGeom>
            <a:blipFill>
              <a:blip r:embed="rId3">
                <a:alphaModFix amt="0"/>
              </a:blip>
              <a:stretch>
                <a:fillRect l="0" t="-583263" r="0" b="-583263"/>
              </a:stretch>
            </a:blipFill>
          </p:spPr>
        </p:sp>
        <p:sp>
          <p:nvSpPr>
            <p:cNvPr name="TextBox 16" id="16"/>
            <p:cNvSpPr txBox="true"/>
            <p:nvPr/>
          </p:nvSpPr>
          <p:spPr>
            <a:xfrm>
              <a:off x="0" y="9525"/>
              <a:ext cx="22189440" cy="673227"/>
            </a:xfrm>
            <a:prstGeom prst="rect">
              <a:avLst/>
            </a:prstGeom>
          </p:spPr>
          <p:txBody>
            <a:bodyPr anchor="ctr" rtlCol="false" tIns="0" lIns="0" bIns="0" rIns="0"/>
            <a:lstStyle/>
            <a:p>
              <a:pPr algn="l">
                <a:lnSpc>
                  <a:spcPts val="2879"/>
                </a:lnSpc>
              </a:pPr>
              <a:r>
                <a:rPr lang="en-US" sz="2400" i="true">
                  <a:solidFill>
                    <a:srgbClr val="8EB8D4"/>
                  </a:solidFill>
                  <a:latin typeface="EB Garamond Italics"/>
                  <a:ea typeface="EB Garamond Italics"/>
                  <a:cs typeface="EB Garamond Italics"/>
                  <a:sym typeface="EB Garamond Italics"/>
                </a:rPr>
                <a:t>Ce que ce TP nous a appris — sur le pastoralisme, sur l'analyse de données et sur l'IA</a:t>
              </a:r>
            </a:p>
          </p:txBody>
        </p:sp>
      </p:grpSp>
      <p:grpSp>
        <p:nvGrpSpPr>
          <p:cNvPr name="Group 17" id="17"/>
          <p:cNvGrpSpPr/>
          <p:nvPr/>
        </p:nvGrpSpPr>
        <p:grpSpPr>
          <a:xfrm rot="0">
            <a:off x="629917" y="2001517"/>
            <a:ext cx="8249917" cy="3641341"/>
            <a:chOff x="0" y="0"/>
            <a:chExt cx="10999889" cy="4855121"/>
          </a:xfrm>
        </p:grpSpPr>
        <p:sp>
          <p:nvSpPr>
            <p:cNvPr name="Freeform 18" id="18"/>
            <p:cNvSpPr/>
            <p:nvPr/>
          </p:nvSpPr>
          <p:spPr>
            <a:xfrm flipH="false" flipV="false" rot="0">
              <a:off x="13589" y="13589"/>
              <a:ext cx="10972673" cy="4827905"/>
            </a:xfrm>
            <a:custGeom>
              <a:avLst/>
              <a:gdLst/>
              <a:ahLst/>
              <a:cxnLst/>
              <a:rect r="r" b="b" t="t" l="l"/>
              <a:pathLst>
                <a:path h="4827905" w="10972673">
                  <a:moveTo>
                    <a:pt x="0" y="243840"/>
                  </a:moveTo>
                  <a:cubicBezTo>
                    <a:pt x="0" y="109220"/>
                    <a:pt x="109474" y="0"/>
                    <a:pt x="244602" y="0"/>
                  </a:cubicBezTo>
                  <a:lnTo>
                    <a:pt x="10728071" y="0"/>
                  </a:lnTo>
                  <a:cubicBezTo>
                    <a:pt x="10863199" y="0"/>
                    <a:pt x="10972673" y="109220"/>
                    <a:pt x="10972673" y="243840"/>
                  </a:cubicBezTo>
                  <a:lnTo>
                    <a:pt x="10972673" y="4584065"/>
                  </a:lnTo>
                  <a:cubicBezTo>
                    <a:pt x="10972673" y="4718685"/>
                    <a:pt x="10863199" y="4827905"/>
                    <a:pt x="10728071" y="4827905"/>
                  </a:cubicBezTo>
                  <a:lnTo>
                    <a:pt x="244602" y="4827905"/>
                  </a:lnTo>
                  <a:cubicBezTo>
                    <a:pt x="109474" y="4827905"/>
                    <a:pt x="0" y="4718685"/>
                    <a:pt x="0" y="4584065"/>
                  </a:cubicBezTo>
                  <a:close/>
                </a:path>
              </a:pathLst>
            </a:custGeom>
            <a:solidFill>
              <a:srgbClr val="1F3A58"/>
            </a:solidFill>
          </p:spPr>
        </p:sp>
        <p:sp>
          <p:nvSpPr>
            <p:cNvPr name="Freeform 19" id="19"/>
            <p:cNvSpPr/>
            <p:nvPr/>
          </p:nvSpPr>
          <p:spPr>
            <a:xfrm flipH="false" flipV="false" rot="0">
              <a:off x="0" y="0"/>
              <a:ext cx="10999851" cy="4855083"/>
            </a:xfrm>
            <a:custGeom>
              <a:avLst/>
              <a:gdLst/>
              <a:ahLst/>
              <a:cxnLst/>
              <a:rect r="r" b="b" t="t" l="l"/>
              <a:pathLst>
                <a:path h="4855083" w="10999851">
                  <a:moveTo>
                    <a:pt x="0" y="257429"/>
                  </a:moveTo>
                  <a:cubicBezTo>
                    <a:pt x="0" y="115189"/>
                    <a:pt x="115570" y="0"/>
                    <a:pt x="258191" y="0"/>
                  </a:cubicBezTo>
                  <a:lnTo>
                    <a:pt x="10741660" y="0"/>
                  </a:lnTo>
                  <a:lnTo>
                    <a:pt x="10741660" y="13589"/>
                  </a:lnTo>
                  <a:lnTo>
                    <a:pt x="10741660" y="0"/>
                  </a:lnTo>
                  <a:cubicBezTo>
                    <a:pt x="10884153" y="0"/>
                    <a:pt x="10999851" y="115189"/>
                    <a:pt x="10999851" y="257429"/>
                  </a:cubicBezTo>
                  <a:lnTo>
                    <a:pt x="10986262" y="257429"/>
                  </a:lnTo>
                  <a:lnTo>
                    <a:pt x="10999851" y="257429"/>
                  </a:lnTo>
                  <a:lnTo>
                    <a:pt x="10999851" y="4597654"/>
                  </a:lnTo>
                  <a:lnTo>
                    <a:pt x="10986262" y="4597654"/>
                  </a:lnTo>
                  <a:lnTo>
                    <a:pt x="10999851" y="4597654"/>
                  </a:lnTo>
                  <a:cubicBezTo>
                    <a:pt x="10999851" y="4739894"/>
                    <a:pt x="10884281" y="4855083"/>
                    <a:pt x="10741660" y="4855083"/>
                  </a:cubicBezTo>
                  <a:lnTo>
                    <a:pt x="10741660" y="4841494"/>
                  </a:lnTo>
                  <a:lnTo>
                    <a:pt x="10741660" y="4855083"/>
                  </a:lnTo>
                  <a:lnTo>
                    <a:pt x="258191" y="4855083"/>
                  </a:lnTo>
                  <a:lnTo>
                    <a:pt x="258191" y="4841494"/>
                  </a:lnTo>
                  <a:lnTo>
                    <a:pt x="258191" y="4855083"/>
                  </a:lnTo>
                  <a:cubicBezTo>
                    <a:pt x="115570" y="4855083"/>
                    <a:pt x="0" y="4739894"/>
                    <a:pt x="0" y="4597654"/>
                  </a:cubicBezTo>
                  <a:lnTo>
                    <a:pt x="0" y="257429"/>
                  </a:lnTo>
                  <a:lnTo>
                    <a:pt x="13589" y="257429"/>
                  </a:lnTo>
                  <a:lnTo>
                    <a:pt x="0" y="257429"/>
                  </a:lnTo>
                  <a:moveTo>
                    <a:pt x="27051" y="257429"/>
                  </a:moveTo>
                  <a:lnTo>
                    <a:pt x="27051" y="4597654"/>
                  </a:lnTo>
                  <a:lnTo>
                    <a:pt x="13589" y="4597654"/>
                  </a:lnTo>
                  <a:lnTo>
                    <a:pt x="27051" y="4597654"/>
                  </a:lnTo>
                  <a:cubicBezTo>
                    <a:pt x="27051" y="4724781"/>
                    <a:pt x="130429" y="4828032"/>
                    <a:pt x="258191" y="4828032"/>
                  </a:cubicBezTo>
                  <a:lnTo>
                    <a:pt x="10741660" y="4828032"/>
                  </a:lnTo>
                  <a:cubicBezTo>
                    <a:pt x="10869295" y="4828032"/>
                    <a:pt x="10972800" y="4724908"/>
                    <a:pt x="10972800" y="4597654"/>
                  </a:cubicBezTo>
                  <a:lnTo>
                    <a:pt x="10972800" y="257429"/>
                  </a:lnTo>
                  <a:cubicBezTo>
                    <a:pt x="10972800" y="130302"/>
                    <a:pt x="10869422" y="27051"/>
                    <a:pt x="10741660" y="27051"/>
                  </a:cubicBezTo>
                  <a:lnTo>
                    <a:pt x="258191" y="27051"/>
                  </a:lnTo>
                  <a:lnTo>
                    <a:pt x="258191" y="13589"/>
                  </a:lnTo>
                  <a:lnTo>
                    <a:pt x="258191" y="27051"/>
                  </a:lnTo>
                  <a:cubicBezTo>
                    <a:pt x="130556" y="27051"/>
                    <a:pt x="27051" y="130175"/>
                    <a:pt x="27051" y="257429"/>
                  </a:cubicBezTo>
                  <a:close/>
                </a:path>
              </a:pathLst>
            </a:custGeom>
            <a:solidFill>
              <a:srgbClr val="2E5070"/>
            </a:solidFill>
          </p:spPr>
        </p:sp>
      </p:grpSp>
      <p:grpSp>
        <p:nvGrpSpPr>
          <p:cNvPr name="Group 20" id="20"/>
          <p:cNvGrpSpPr/>
          <p:nvPr/>
        </p:nvGrpSpPr>
        <p:grpSpPr>
          <a:xfrm rot="0">
            <a:off x="627383" y="1998983"/>
            <a:ext cx="8255003" cy="135131"/>
            <a:chOff x="0" y="0"/>
            <a:chExt cx="11006671" cy="180175"/>
          </a:xfrm>
        </p:grpSpPr>
        <p:sp>
          <p:nvSpPr>
            <p:cNvPr name="Freeform 21" id="21"/>
            <p:cNvSpPr/>
            <p:nvPr/>
          </p:nvSpPr>
          <p:spPr>
            <a:xfrm flipH="false" flipV="false" rot="0">
              <a:off x="16891" y="16891"/>
              <a:ext cx="10972800" cy="146304"/>
            </a:xfrm>
            <a:custGeom>
              <a:avLst/>
              <a:gdLst/>
              <a:ahLst/>
              <a:cxnLst/>
              <a:rect r="r" b="b" t="t" l="l"/>
              <a:pathLst>
                <a:path h="146304" w="10972800">
                  <a:moveTo>
                    <a:pt x="0" y="0"/>
                  </a:moveTo>
                  <a:lnTo>
                    <a:pt x="10972800" y="0"/>
                  </a:lnTo>
                  <a:lnTo>
                    <a:pt x="10972800" y="146304"/>
                  </a:lnTo>
                  <a:lnTo>
                    <a:pt x="0" y="146304"/>
                  </a:lnTo>
                  <a:close/>
                </a:path>
              </a:pathLst>
            </a:custGeom>
            <a:solidFill>
              <a:srgbClr val="C89A3E"/>
            </a:solidFill>
          </p:spPr>
        </p:sp>
        <p:sp>
          <p:nvSpPr>
            <p:cNvPr name="Freeform 22" id="22"/>
            <p:cNvSpPr/>
            <p:nvPr/>
          </p:nvSpPr>
          <p:spPr>
            <a:xfrm flipH="false" flipV="false" rot="0">
              <a:off x="0" y="0"/>
              <a:ext cx="11006582" cy="180088"/>
            </a:xfrm>
            <a:custGeom>
              <a:avLst/>
              <a:gdLst/>
              <a:ahLst/>
              <a:cxnLst/>
              <a:rect r="r" b="b" t="t" l="l"/>
              <a:pathLst>
                <a:path h="180088" w="11006582">
                  <a:moveTo>
                    <a:pt x="16891" y="0"/>
                  </a:moveTo>
                  <a:lnTo>
                    <a:pt x="10989691" y="0"/>
                  </a:lnTo>
                  <a:cubicBezTo>
                    <a:pt x="10999089" y="0"/>
                    <a:pt x="11006582" y="7620"/>
                    <a:pt x="11006582" y="16891"/>
                  </a:cubicBezTo>
                  <a:lnTo>
                    <a:pt x="11006582" y="163195"/>
                  </a:lnTo>
                  <a:cubicBezTo>
                    <a:pt x="11006582" y="172593"/>
                    <a:pt x="10998962" y="180086"/>
                    <a:pt x="1098969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10989691" y="146304"/>
                  </a:lnTo>
                  <a:lnTo>
                    <a:pt x="10989691" y="163195"/>
                  </a:lnTo>
                  <a:lnTo>
                    <a:pt x="10972800" y="163195"/>
                  </a:lnTo>
                  <a:lnTo>
                    <a:pt x="10972800" y="16891"/>
                  </a:lnTo>
                  <a:lnTo>
                    <a:pt x="10989691" y="16891"/>
                  </a:lnTo>
                  <a:lnTo>
                    <a:pt x="10989691" y="33909"/>
                  </a:lnTo>
                  <a:lnTo>
                    <a:pt x="16891" y="33909"/>
                  </a:lnTo>
                  <a:close/>
                </a:path>
              </a:pathLst>
            </a:custGeom>
            <a:solidFill>
              <a:srgbClr val="C89A3E"/>
            </a:solidFill>
          </p:spPr>
        </p:sp>
      </p:grpSp>
      <p:grpSp>
        <p:nvGrpSpPr>
          <p:cNvPr name="Group 23" id="23"/>
          <p:cNvGrpSpPr/>
          <p:nvPr/>
        </p:nvGrpSpPr>
        <p:grpSpPr>
          <a:xfrm rot="0">
            <a:off x="914400" y="2231136"/>
            <a:ext cx="822960" cy="742721"/>
            <a:chOff x="0" y="0"/>
            <a:chExt cx="1097280" cy="990295"/>
          </a:xfrm>
        </p:grpSpPr>
        <p:sp>
          <p:nvSpPr>
            <p:cNvPr name="Freeform 24" id="24"/>
            <p:cNvSpPr/>
            <p:nvPr/>
          </p:nvSpPr>
          <p:spPr>
            <a:xfrm flipH="false" flipV="false" rot="0">
              <a:off x="0" y="0"/>
              <a:ext cx="1097280" cy="990295"/>
            </a:xfrm>
            <a:custGeom>
              <a:avLst/>
              <a:gdLst/>
              <a:ahLst/>
              <a:cxnLst/>
              <a:rect r="r" b="b" t="t" l="l"/>
              <a:pathLst>
                <a:path h="990295" w="1097280">
                  <a:moveTo>
                    <a:pt x="0" y="0"/>
                  </a:moveTo>
                  <a:lnTo>
                    <a:pt x="1097280" y="0"/>
                  </a:lnTo>
                  <a:lnTo>
                    <a:pt x="1097280" y="990295"/>
                  </a:lnTo>
                  <a:lnTo>
                    <a:pt x="0" y="990295"/>
                  </a:lnTo>
                  <a:close/>
                </a:path>
              </a:pathLst>
            </a:custGeom>
            <a:blipFill>
              <a:blip r:embed="rId3">
                <a:alphaModFix amt="0"/>
              </a:blip>
              <a:stretch>
                <a:fillRect l="-58345" t="0" r="-58345" b="6432"/>
              </a:stretch>
            </a:blipFill>
          </p:spPr>
        </p:sp>
        <p:sp>
          <p:nvSpPr>
            <p:cNvPr name="TextBox 25" id="25"/>
            <p:cNvSpPr txBox="true"/>
            <p:nvPr/>
          </p:nvSpPr>
          <p:spPr>
            <a:xfrm>
              <a:off x="0" y="0"/>
              <a:ext cx="1097280" cy="990295"/>
            </a:xfrm>
            <a:prstGeom prst="rect">
              <a:avLst/>
            </a:prstGeom>
          </p:spPr>
          <p:txBody>
            <a:bodyPr anchor="ctr" rtlCol="false" tIns="0" lIns="0" bIns="0" rIns="0"/>
            <a:lstStyle/>
            <a:p>
              <a:pPr algn="l">
                <a:lnSpc>
                  <a:spcPts val="4320"/>
                </a:lnSpc>
              </a:pPr>
              <a:r>
                <a:rPr lang="en-US" sz="3600" b="true">
                  <a:solidFill>
                    <a:srgbClr val="C89A3E"/>
                  </a:solidFill>
                  <a:latin typeface="EB Garamond Semi-Bold"/>
                  <a:ea typeface="EB Garamond Semi-Bold"/>
                  <a:cs typeface="EB Garamond Semi-Bold"/>
                  <a:sym typeface="EB Garamond Semi-Bold"/>
                </a:rPr>
                <a:t>1</a:t>
              </a:r>
            </a:p>
          </p:txBody>
        </p:sp>
      </p:grpSp>
      <p:grpSp>
        <p:nvGrpSpPr>
          <p:cNvPr name="Group 26" id="26"/>
          <p:cNvGrpSpPr/>
          <p:nvPr/>
        </p:nvGrpSpPr>
        <p:grpSpPr>
          <a:xfrm rot="0">
            <a:off x="1810512" y="2267712"/>
            <a:ext cx="6766560" cy="621792"/>
            <a:chOff x="0" y="0"/>
            <a:chExt cx="9022080" cy="829056"/>
          </a:xfrm>
        </p:grpSpPr>
        <p:sp>
          <p:nvSpPr>
            <p:cNvPr name="Freeform 27" id="27"/>
            <p:cNvSpPr/>
            <p:nvPr/>
          </p:nvSpPr>
          <p:spPr>
            <a:xfrm flipH="false" flipV="false" rot="0">
              <a:off x="0" y="0"/>
              <a:ext cx="9022080" cy="829056"/>
            </a:xfrm>
            <a:custGeom>
              <a:avLst/>
              <a:gdLst/>
              <a:ahLst/>
              <a:cxnLst/>
              <a:rect r="r" b="b" t="t" l="l"/>
              <a:pathLst>
                <a:path h="829056" w="9022080">
                  <a:moveTo>
                    <a:pt x="0" y="0"/>
                  </a:moveTo>
                  <a:lnTo>
                    <a:pt x="9022080" y="0"/>
                  </a:lnTo>
                  <a:lnTo>
                    <a:pt x="9022080" y="829056"/>
                  </a:lnTo>
                  <a:lnTo>
                    <a:pt x="0" y="829056"/>
                  </a:lnTo>
                  <a:close/>
                </a:path>
              </a:pathLst>
            </a:custGeom>
            <a:blipFill>
              <a:blip r:embed="rId3">
                <a:alphaModFix amt="0"/>
              </a:blip>
              <a:stretch>
                <a:fillRect l="0" t="-162043" r="0" b="-162043"/>
              </a:stretch>
            </a:blipFill>
          </p:spPr>
        </p:sp>
        <p:sp>
          <p:nvSpPr>
            <p:cNvPr name="TextBox 28" id="28"/>
            <p:cNvSpPr txBox="true"/>
            <p:nvPr/>
          </p:nvSpPr>
          <p:spPr>
            <a:xfrm>
              <a:off x="0" y="9525"/>
              <a:ext cx="9022080" cy="819531"/>
            </a:xfrm>
            <a:prstGeom prst="rect">
              <a:avLst/>
            </a:prstGeom>
          </p:spPr>
          <p:txBody>
            <a:bodyPr anchor="ctr" rtlCol="false" tIns="0" lIns="0" bIns="0" rIns="0"/>
            <a:lstStyle/>
            <a:p>
              <a:pPr algn="l">
                <a:lnSpc>
                  <a:spcPts val="2999"/>
                </a:lnSpc>
              </a:pPr>
              <a:r>
                <a:rPr lang="en-US" sz="2499" b="true">
                  <a:solidFill>
                    <a:srgbClr val="FFFFFF"/>
                  </a:solidFill>
                  <a:latin typeface="EB Garamond Semi-Bold"/>
                  <a:ea typeface="EB Garamond Semi-Bold"/>
                  <a:cs typeface="EB Garamond Semi-Bold"/>
                  <a:sym typeface="EB Garamond Semi-Bold"/>
                </a:rPr>
                <a:t>L'IA, un accélérateur, pas un remplaçant</a:t>
              </a:r>
            </a:p>
          </p:txBody>
        </p:sp>
      </p:grpSp>
      <p:grpSp>
        <p:nvGrpSpPr>
          <p:cNvPr name="Group 29" id="29"/>
          <p:cNvGrpSpPr/>
          <p:nvPr/>
        </p:nvGrpSpPr>
        <p:grpSpPr>
          <a:xfrm rot="0">
            <a:off x="969264" y="3035808"/>
            <a:ext cx="7644384" cy="2377440"/>
            <a:chOff x="0" y="0"/>
            <a:chExt cx="10192512" cy="3169920"/>
          </a:xfrm>
        </p:grpSpPr>
        <p:sp>
          <p:nvSpPr>
            <p:cNvPr name="Freeform 30" id="30"/>
            <p:cNvSpPr/>
            <p:nvPr/>
          </p:nvSpPr>
          <p:spPr>
            <a:xfrm flipH="false" flipV="false" rot="0">
              <a:off x="0" y="0"/>
              <a:ext cx="10192512" cy="3169920"/>
            </a:xfrm>
            <a:custGeom>
              <a:avLst/>
              <a:gdLst/>
              <a:ahLst/>
              <a:cxnLst/>
              <a:rect r="r" b="b" t="t" l="l"/>
              <a:pathLst>
                <a:path h="3169920" w="10192512">
                  <a:moveTo>
                    <a:pt x="0" y="0"/>
                  </a:moveTo>
                  <a:lnTo>
                    <a:pt x="10192512" y="0"/>
                  </a:lnTo>
                  <a:lnTo>
                    <a:pt x="10192512" y="3169920"/>
                  </a:lnTo>
                  <a:lnTo>
                    <a:pt x="0" y="3169920"/>
                  </a:lnTo>
                  <a:close/>
                </a:path>
              </a:pathLst>
            </a:custGeom>
            <a:blipFill>
              <a:blip r:embed="rId3">
                <a:alphaModFix amt="0"/>
              </a:blip>
              <a:stretch>
                <a:fillRect l="0" t="-12651" r="0" b="-12651"/>
              </a:stretch>
            </a:blipFill>
          </p:spPr>
        </p:sp>
        <p:sp>
          <p:nvSpPr>
            <p:cNvPr name="TextBox 31" id="31"/>
            <p:cNvSpPr txBox="true"/>
            <p:nvPr/>
          </p:nvSpPr>
          <p:spPr>
            <a:xfrm>
              <a:off x="0" y="-9525"/>
              <a:ext cx="10192512" cy="3179445"/>
            </a:xfrm>
            <a:prstGeom prst="rect">
              <a:avLst/>
            </a:prstGeom>
          </p:spPr>
          <p:txBody>
            <a:bodyPr anchor="ctr" rtlCol="false" tIns="0" lIns="0" bIns="0" rIns="0"/>
            <a:lstStyle/>
            <a:p>
              <a:pPr algn="l">
                <a:lnSpc>
                  <a:spcPts val="2400"/>
                </a:lnSpc>
              </a:pPr>
              <a:r>
                <a:rPr lang="en-US" sz="2000">
                  <a:solidFill>
                    <a:srgbClr val="B8CEDE"/>
                  </a:solidFill>
                  <a:latin typeface="EB Garamond"/>
                  <a:ea typeface="EB Garamond"/>
                  <a:cs typeface="EB Garamond"/>
                  <a:sym typeface="EB Garamond"/>
                </a:rPr>
                <a:t>Claude Code a permis d’expliquer plus de 2002 lignes Stata en quelques minutes. Mais chaque explication a dû être vérifiée : l'IA s'est trompée sur sendré et n'a pas détecté plusieurs lacunes critiques. L'IA accélère ; le regard critique reste irremplaçable.</a:t>
              </a:r>
            </a:p>
          </p:txBody>
        </p:sp>
      </p:grpSp>
      <p:grpSp>
        <p:nvGrpSpPr>
          <p:cNvPr name="Group 32" id="32"/>
          <p:cNvGrpSpPr/>
          <p:nvPr/>
        </p:nvGrpSpPr>
        <p:grpSpPr>
          <a:xfrm rot="0">
            <a:off x="9499597" y="2001517"/>
            <a:ext cx="8249917" cy="3641341"/>
            <a:chOff x="0" y="0"/>
            <a:chExt cx="10999889" cy="4855121"/>
          </a:xfrm>
        </p:grpSpPr>
        <p:sp>
          <p:nvSpPr>
            <p:cNvPr name="Freeform 33" id="33"/>
            <p:cNvSpPr/>
            <p:nvPr/>
          </p:nvSpPr>
          <p:spPr>
            <a:xfrm flipH="false" flipV="false" rot="0">
              <a:off x="13589" y="13589"/>
              <a:ext cx="10972673" cy="4827905"/>
            </a:xfrm>
            <a:custGeom>
              <a:avLst/>
              <a:gdLst/>
              <a:ahLst/>
              <a:cxnLst/>
              <a:rect r="r" b="b" t="t" l="l"/>
              <a:pathLst>
                <a:path h="4827905" w="10972673">
                  <a:moveTo>
                    <a:pt x="0" y="243840"/>
                  </a:moveTo>
                  <a:cubicBezTo>
                    <a:pt x="0" y="109220"/>
                    <a:pt x="109474" y="0"/>
                    <a:pt x="244602" y="0"/>
                  </a:cubicBezTo>
                  <a:lnTo>
                    <a:pt x="10728071" y="0"/>
                  </a:lnTo>
                  <a:cubicBezTo>
                    <a:pt x="10863199" y="0"/>
                    <a:pt x="10972673" y="109220"/>
                    <a:pt x="10972673" y="243840"/>
                  </a:cubicBezTo>
                  <a:lnTo>
                    <a:pt x="10972673" y="4584065"/>
                  </a:lnTo>
                  <a:cubicBezTo>
                    <a:pt x="10972673" y="4718685"/>
                    <a:pt x="10863199" y="4827905"/>
                    <a:pt x="10728071" y="4827905"/>
                  </a:cubicBezTo>
                  <a:lnTo>
                    <a:pt x="244602" y="4827905"/>
                  </a:lnTo>
                  <a:cubicBezTo>
                    <a:pt x="109474" y="4827905"/>
                    <a:pt x="0" y="4718685"/>
                    <a:pt x="0" y="4584065"/>
                  </a:cubicBezTo>
                  <a:close/>
                </a:path>
              </a:pathLst>
            </a:custGeom>
            <a:solidFill>
              <a:srgbClr val="1F3A58"/>
            </a:solidFill>
          </p:spPr>
        </p:sp>
        <p:sp>
          <p:nvSpPr>
            <p:cNvPr name="Freeform 34" id="34"/>
            <p:cNvSpPr/>
            <p:nvPr/>
          </p:nvSpPr>
          <p:spPr>
            <a:xfrm flipH="false" flipV="false" rot="0">
              <a:off x="0" y="0"/>
              <a:ext cx="10999851" cy="4855083"/>
            </a:xfrm>
            <a:custGeom>
              <a:avLst/>
              <a:gdLst/>
              <a:ahLst/>
              <a:cxnLst/>
              <a:rect r="r" b="b" t="t" l="l"/>
              <a:pathLst>
                <a:path h="4855083" w="10999851">
                  <a:moveTo>
                    <a:pt x="0" y="257429"/>
                  </a:moveTo>
                  <a:cubicBezTo>
                    <a:pt x="0" y="115189"/>
                    <a:pt x="115570" y="0"/>
                    <a:pt x="258191" y="0"/>
                  </a:cubicBezTo>
                  <a:lnTo>
                    <a:pt x="10741660" y="0"/>
                  </a:lnTo>
                  <a:lnTo>
                    <a:pt x="10741660" y="13589"/>
                  </a:lnTo>
                  <a:lnTo>
                    <a:pt x="10741660" y="0"/>
                  </a:lnTo>
                  <a:cubicBezTo>
                    <a:pt x="10884153" y="0"/>
                    <a:pt x="10999851" y="115189"/>
                    <a:pt x="10999851" y="257429"/>
                  </a:cubicBezTo>
                  <a:lnTo>
                    <a:pt x="10986262" y="257429"/>
                  </a:lnTo>
                  <a:lnTo>
                    <a:pt x="10999851" y="257429"/>
                  </a:lnTo>
                  <a:lnTo>
                    <a:pt x="10999851" y="4597654"/>
                  </a:lnTo>
                  <a:lnTo>
                    <a:pt x="10986262" y="4597654"/>
                  </a:lnTo>
                  <a:lnTo>
                    <a:pt x="10999851" y="4597654"/>
                  </a:lnTo>
                  <a:cubicBezTo>
                    <a:pt x="10999851" y="4739894"/>
                    <a:pt x="10884281" y="4855083"/>
                    <a:pt x="10741660" y="4855083"/>
                  </a:cubicBezTo>
                  <a:lnTo>
                    <a:pt x="10741660" y="4841494"/>
                  </a:lnTo>
                  <a:lnTo>
                    <a:pt x="10741660" y="4855083"/>
                  </a:lnTo>
                  <a:lnTo>
                    <a:pt x="258191" y="4855083"/>
                  </a:lnTo>
                  <a:lnTo>
                    <a:pt x="258191" y="4841494"/>
                  </a:lnTo>
                  <a:lnTo>
                    <a:pt x="258191" y="4855083"/>
                  </a:lnTo>
                  <a:cubicBezTo>
                    <a:pt x="115570" y="4855083"/>
                    <a:pt x="0" y="4739894"/>
                    <a:pt x="0" y="4597654"/>
                  </a:cubicBezTo>
                  <a:lnTo>
                    <a:pt x="0" y="257429"/>
                  </a:lnTo>
                  <a:lnTo>
                    <a:pt x="13589" y="257429"/>
                  </a:lnTo>
                  <a:lnTo>
                    <a:pt x="0" y="257429"/>
                  </a:lnTo>
                  <a:moveTo>
                    <a:pt x="27051" y="257429"/>
                  </a:moveTo>
                  <a:lnTo>
                    <a:pt x="27051" y="4597654"/>
                  </a:lnTo>
                  <a:lnTo>
                    <a:pt x="13589" y="4597654"/>
                  </a:lnTo>
                  <a:lnTo>
                    <a:pt x="27051" y="4597654"/>
                  </a:lnTo>
                  <a:cubicBezTo>
                    <a:pt x="27051" y="4724781"/>
                    <a:pt x="130429" y="4828032"/>
                    <a:pt x="258191" y="4828032"/>
                  </a:cubicBezTo>
                  <a:lnTo>
                    <a:pt x="10741660" y="4828032"/>
                  </a:lnTo>
                  <a:cubicBezTo>
                    <a:pt x="10869295" y="4828032"/>
                    <a:pt x="10972800" y="4724908"/>
                    <a:pt x="10972800" y="4597654"/>
                  </a:cubicBezTo>
                  <a:lnTo>
                    <a:pt x="10972800" y="257429"/>
                  </a:lnTo>
                  <a:cubicBezTo>
                    <a:pt x="10972800" y="130302"/>
                    <a:pt x="10869422" y="27051"/>
                    <a:pt x="10741660" y="27051"/>
                  </a:cubicBezTo>
                  <a:lnTo>
                    <a:pt x="258191" y="27051"/>
                  </a:lnTo>
                  <a:lnTo>
                    <a:pt x="258191" y="13589"/>
                  </a:lnTo>
                  <a:lnTo>
                    <a:pt x="258191" y="27051"/>
                  </a:lnTo>
                  <a:cubicBezTo>
                    <a:pt x="130556" y="27051"/>
                    <a:pt x="27051" y="130175"/>
                    <a:pt x="27051" y="257429"/>
                  </a:cubicBezTo>
                  <a:close/>
                </a:path>
              </a:pathLst>
            </a:custGeom>
            <a:solidFill>
              <a:srgbClr val="2E5070"/>
            </a:solidFill>
          </p:spPr>
        </p:sp>
      </p:grpSp>
      <p:grpSp>
        <p:nvGrpSpPr>
          <p:cNvPr name="Group 35" id="35"/>
          <p:cNvGrpSpPr/>
          <p:nvPr/>
        </p:nvGrpSpPr>
        <p:grpSpPr>
          <a:xfrm rot="0">
            <a:off x="9497063" y="1998983"/>
            <a:ext cx="8255003" cy="135131"/>
            <a:chOff x="0" y="0"/>
            <a:chExt cx="11006671" cy="180175"/>
          </a:xfrm>
        </p:grpSpPr>
        <p:sp>
          <p:nvSpPr>
            <p:cNvPr name="Freeform 36" id="36"/>
            <p:cNvSpPr/>
            <p:nvPr/>
          </p:nvSpPr>
          <p:spPr>
            <a:xfrm flipH="false" flipV="false" rot="0">
              <a:off x="16891" y="16891"/>
              <a:ext cx="10972800" cy="146304"/>
            </a:xfrm>
            <a:custGeom>
              <a:avLst/>
              <a:gdLst/>
              <a:ahLst/>
              <a:cxnLst/>
              <a:rect r="r" b="b" t="t" l="l"/>
              <a:pathLst>
                <a:path h="146304" w="10972800">
                  <a:moveTo>
                    <a:pt x="0" y="0"/>
                  </a:moveTo>
                  <a:lnTo>
                    <a:pt x="10972800" y="0"/>
                  </a:lnTo>
                  <a:lnTo>
                    <a:pt x="10972800" y="146304"/>
                  </a:lnTo>
                  <a:lnTo>
                    <a:pt x="0" y="146304"/>
                  </a:lnTo>
                  <a:close/>
                </a:path>
              </a:pathLst>
            </a:custGeom>
            <a:solidFill>
              <a:srgbClr val="5B8DB8"/>
            </a:solidFill>
          </p:spPr>
        </p:sp>
        <p:sp>
          <p:nvSpPr>
            <p:cNvPr name="Freeform 37" id="37"/>
            <p:cNvSpPr/>
            <p:nvPr/>
          </p:nvSpPr>
          <p:spPr>
            <a:xfrm flipH="false" flipV="false" rot="0">
              <a:off x="0" y="0"/>
              <a:ext cx="11006582" cy="180088"/>
            </a:xfrm>
            <a:custGeom>
              <a:avLst/>
              <a:gdLst/>
              <a:ahLst/>
              <a:cxnLst/>
              <a:rect r="r" b="b" t="t" l="l"/>
              <a:pathLst>
                <a:path h="180088" w="11006582">
                  <a:moveTo>
                    <a:pt x="16891" y="0"/>
                  </a:moveTo>
                  <a:lnTo>
                    <a:pt x="10989691" y="0"/>
                  </a:lnTo>
                  <a:cubicBezTo>
                    <a:pt x="10999089" y="0"/>
                    <a:pt x="11006582" y="7620"/>
                    <a:pt x="11006582" y="16891"/>
                  </a:cubicBezTo>
                  <a:lnTo>
                    <a:pt x="11006582" y="163195"/>
                  </a:lnTo>
                  <a:cubicBezTo>
                    <a:pt x="11006582" y="172593"/>
                    <a:pt x="10998962" y="180086"/>
                    <a:pt x="1098969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10989691" y="146304"/>
                  </a:lnTo>
                  <a:lnTo>
                    <a:pt x="10989691" y="163195"/>
                  </a:lnTo>
                  <a:lnTo>
                    <a:pt x="10972800" y="163195"/>
                  </a:lnTo>
                  <a:lnTo>
                    <a:pt x="10972800" y="16891"/>
                  </a:lnTo>
                  <a:lnTo>
                    <a:pt x="10989691" y="16891"/>
                  </a:lnTo>
                  <a:lnTo>
                    <a:pt x="10989691" y="33909"/>
                  </a:lnTo>
                  <a:lnTo>
                    <a:pt x="16891" y="33909"/>
                  </a:lnTo>
                  <a:close/>
                </a:path>
              </a:pathLst>
            </a:custGeom>
            <a:solidFill>
              <a:srgbClr val="5B8DB8"/>
            </a:solidFill>
          </p:spPr>
        </p:sp>
      </p:grpSp>
      <p:grpSp>
        <p:nvGrpSpPr>
          <p:cNvPr name="Group 38" id="38"/>
          <p:cNvGrpSpPr/>
          <p:nvPr/>
        </p:nvGrpSpPr>
        <p:grpSpPr>
          <a:xfrm rot="0">
            <a:off x="9784080" y="2231136"/>
            <a:ext cx="822960" cy="742721"/>
            <a:chOff x="0" y="0"/>
            <a:chExt cx="1097280" cy="990295"/>
          </a:xfrm>
        </p:grpSpPr>
        <p:sp>
          <p:nvSpPr>
            <p:cNvPr name="Freeform 39" id="39"/>
            <p:cNvSpPr/>
            <p:nvPr/>
          </p:nvSpPr>
          <p:spPr>
            <a:xfrm flipH="false" flipV="false" rot="0">
              <a:off x="0" y="0"/>
              <a:ext cx="1097280" cy="990295"/>
            </a:xfrm>
            <a:custGeom>
              <a:avLst/>
              <a:gdLst/>
              <a:ahLst/>
              <a:cxnLst/>
              <a:rect r="r" b="b" t="t" l="l"/>
              <a:pathLst>
                <a:path h="990295" w="1097280">
                  <a:moveTo>
                    <a:pt x="0" y="0"/>
                  </a:moveTo>
                  <a:lnTo>
                    <a:pt x="1097280" y="0"/>
                  </a:lnTo>
                  <a:lnTo>
                    <a:pt x="1097280" y="990295"/>
                  </a:lnTo>
                  <a:lnTo>
                    <a:pt x="0" y="990295"/>
                  </a:lnTo>
                  <a:close/>
                </a:path>
              </a:pathLst>
            </a:custGeom>
            <a:blipFill>
              <a:blip r:embed="rId3">
                <a:alphaModFix amt="0"/>
              </a:blip>
              <a:stretch>
                <a:fillRect l="-58345" t="0" r="-58345" b="6432"/>
              </a:stretch>
            </a:blipFill>
          </p:spPr>
        </p:sp>
        <p:sp>
          <p:nvSpPr>
            <p:cNvPr name="TextBox 40" id="40"/>
            <p:cNvSpPr txBox="true"/>
            <p:nvPr/>
          </p:nvSpPr>
          <p:spPr>
            <a:xfrm>
              <a:off x="0" y="0"/>
              <a:ext cx="1097280" cy="990295"/>
            </a:xfrm>
            <a:prstGeom prst="rect">
              <a:avLst/>
            </a:prstGeom>
          </p:spPr>
          <p:txBody>
            <a:bodyPr anchor="ctr" rtlCol="false" tIns="0" lIns="0" bIns="0" rIns="0"/>
            <a:lstStyle/>
            <a:p>
              <a:pPr algn="l">
                <a:lnSpc>
                  <a:spcPts val="4320"/>
                </a:lnSpc>
              </a:pPr>
              <a:r>
                <a:rPr lang="en-US" sz="3600" b="true">
                  <a:solidFill>
                    <a:srgbClr val="5B8DB8"/>
                  </a:solidFill>
                  <a:latin typeface="EB Garamond Semi-Bold"/>
                  <a:ea typeface="EB Garamond Semi-Bold"/>
                  <a:cs typeface="EB Garamond Semi-Bold"/>
                  <a:sym typeface="EB Garamond Semi-Bold"/>
                </a:rPr>
                <a:t>2</a:t>
              </a:r>
            </a:p>
          </p:txBody>
        </p:sp>
      </p:grpSp>
      <p:grpSp>
        <p:nvGrpSpPr>
          <p:cNvPr name="Group 41" id="41"/>
          <p:cNvGrpSpPr/>
          <p:nvPr/>
        </p:nvGrpSpPr>
        <p:grpSpPr>
          <a:xfrm rot="0">
            <a:off x="10680192" y="2267712"/>
            <a:ext cx="6766560" cy="621792"/>
            <a:chOff x="0" y="0"/>
            <a:chExt cx="9022080" cy="829056"/>
          </a:xfrm>
        </p:grpSpPr>
        <p:sp>
          <p:nvSpPr>
            <p:cNvPr name="Freeform 42" id="42"/>
            <p:cNvSpPr/>
            <p:nvPr/>
          </p:nvSpPr>
          <p:spPr>
            <a:xfrm flipH="false" flipV="false" rot="0">
              <a:off x="0" y="0"/>
              <a:ext cx="9022080" cy="829056"/>
            </a:xfrm>
            <a:custGeom>
              <a:avLst/>
              <a:gdLst/>
              <a:ahLst/>
              <a:cxnLst/>
              <a:rect r="r" b="b" t="t" l="l"/>
              <a:pathLst>
                <a:path h="829056" w="9022080">
                  <a:moveTo>
                    <a:pt x="0" y="0"/>
                  </a:moveTo>
                  <a:lnTo>
                    <a:pt x="9022080" y="0"/>
                  </a:lnTo>
                  <a:lnTo>
                    <a:pt x="9022080" y="829056"/>
                  </a:lnTo>
                  <a:lnTo>
                    <a:pt x="0" y="829056"/>
                  </a:lnTo>
                  <a:close/>
                </a:path>
              </a:pathLst>
            </a:custGeom>
            <a:blipFill>
              <a:blip r:embed="rId3">
                <a:alphaModFix amt="0"/>
              </a:blip>
              <a:stretch>
                <a:fillRect l="0" t="-162043" r="0" b="-162043"/>
              </a:stretch>
            </a:blipFill>
          </p:spPr>
        </p:sp>
        <p:sp>
          <p:nvSpPr>
            <p:cNvPr name="TextBox 43" id="43"/>
            <p:cNvSpPr txBox="true"/>
            <p:nvPr/>
          </p:nvSpPr>
          <p:spPr>
            <a:xfrm>
              <a:off x="0" y="9525"/>
              <a:ext cx="9022080" cy="819531"/>
            </a:xfrm>
            <a:prstGeom prst="rect">
              <a:avLst/>
            </a:prstGeom>
          </p:spPr>
          <p:txBody>
            <a:bodyPr anchor="ctr" rtlCol="false" tIns="0" lIns="0" bIns="0" rIns="0"/>
            <a:lstStyle/>
            <a:p>
              <a:pPr algn="l">
                <a:lnSpc>
                  <a:spcPts val="2999"/>
                </a:lnSpc>
              </a:pPr>
              <a:r>
                <a:rPr lang="en-US" sz="2499" b="true">
                  <a:solidFill>
                    <a:srgbClr val="FFFFFF"/>
                  </a:solidFill>
                  <a:latin typeface="EB Garamond Semi-Bold"/>
                  <a:ea typeface="EB Garamond Semi-Bold"/>
                  <a:cs typeface="EB Garamond Semi-Bold"/>
                  <a:sym typeface="EB Garamond Semi-Bold"/>
                </a:rPr>
                <a:t>Qualité des données = qualité des résultats</a:t>
              </a:r>
            </a:p>
          </p:txBody>
        </p:sp>
      </p:grpSp>
      <p:grpSp>
        <p:nvGrpSpPr>
          <p:cNvPr name="Group 44" id="44"/>
          <p:cNvGrpSpPr/>
          <p:nvPr/>
        </p:nvGrpSpPr>
        <p:grpSpPr>
          <a:xfrm rot="0">
            <a:off x="9838944" y="3035808"/>
            <a:ext cx="7644384" cy="2377440"/>
            <a:chOff x="0" y="0"/>
            <a:chExt cx="10192512" cy="3169920"/>
          </a:xfrm>
        </p:grpSpPr>
        <p:sp>
          <p:nvSpPr>
            <p:cNvPr name="Freeform 45" id="45"/>
            <p:cNvSpPr/>
            <p:nvPr/>
          </p:nvSpPr>
          <p:spPr>
            <a:xfrm flipH="false" flipV="false" rot="0">
              <a:off x="0" y="0"/>
              <a:ext cx="10192512" cy="3169920"/>
            </a:xfrm>
            <a:custGeom>
              <a:avLst/>
              <a:gdLst/>
              <a:ahLst/>
              <a:cxnLst/>
              <a:rect r="r" b="b" t="t" l="l"/>
              <a:pathLst>
                <a:path h="3169920" w="10192512">
                  <a:moveTo>
                    <a:pt x="0" y="0"/>
                  </a:moveTo>
                  <a:lnTo>
                    <a:pt x="10192512" y="0"/>
                  </a:lnTo>
                  <a:lnTo>
                    <a:pt x="10192512" y="3169920"/>
                  </a:lnTo>
                  <a:lnTo>
                    <a:pt x="0" y="3169920"/>
                  </a:lnTo>
                  <a:close/>
                </a:path>
              </a:pathLst>
            </a:custGeom>
            <a:blipFill>
              <a:blip r:embed="rId3">
                <a:alphaModFix amt="0"/>
              </a:blip>
              <a:stretch>
                <a:fillRect l="0" t="-12651" r="0" b="-12651"/>
              </a:stretch>
            </a:blipFill>
          </p:spPr>
        </p:sp>
        <p:sp>
          <p:nvSpPr>
            <p:cNvPr name="TextBox 46" id="46"/>
            <p:cNvSpPr txBox="true"/>
            <p:nvPr/>
          </p:nvSpPr>
          <p:spPr>
            <a:xfrm>
              <a:off x="0" y="-9525"/>
              <a:ext cx="10192512" cy="3179445"/>
            </a:xfrm>
            <a:prstGeom prst="rect">
              <a:avLst/>
            </a:prstGeom>
          </p:spPr>
          <p:txBody>
            <a:bodyPr anchor="ctr" rtlCol="false" tIns="0" lIns="0" bIns="0" rIns="0"/>
            <a:lstStyle/>
            <a:p>
              <a:pPr algn="l">
                <a:lnSpc>
                  <a:spcPts val="2400"/>
                </a:lnSpc>
              </a:pPr>
              <a:r>
                <a:rPr lang="en-US" sz="2000">
                  <a:solidFill>
                    <a:srgbClr val="B8CEDE"/>
                  </a:solidFill>
                  <a:latin typeface="EB Garamond"/>
                  <a:ea typeface="EB Garamond"/>
                  <a:cs typeface="EB Garamond"/>
                  <a:sym typeface="EB Garamond"/>
                </a:rPr>
                <a:t>Les décisions de nettoyage (bornes prix, coefficient EA, soudure, sendré) conditionnent tous les résultats. Ces choix silencieux auraient été acceptés sans dialogue itératif avec l'IA. L'exercice de critique systématique est une compétence de data scientist.</a:t>
              </a:r>
            </a:p>
          </p:txBody>
        </p:sp>
      </p:grpSp>
      <p:grpSp>
        <p:nvGrpSpPr>
          <p:cNvPr name="Group 47" id="47"/>
          <p:cNvGrpSpPr/>
          <p:nvPr/>
        </p:nvGrpSpPr>
        <p:grpSpPr>
          <a:xfrm rot="0">
            <a:off x="629917" y="5933437"/>
            <a:ext cx="8249917" cy="3641341"/>
            <a:chOff x="0" y="0"/>
            <a:chExt cx="10999889" cy="4855121"/>
          </a:xfrm>
        </p:grpSpPr>
        <p:sp>
          <p:nvSpPr>
            <p:cNvPr name="Freeform 48" id="48"/>
            <p:cNvSpPr/>
            <p:nvPr/>
          </p:nvSpPr>
          <p:spPr>
            <a:xfrm flipH="false" flipV="false" rot="0">
              <a:off x="13589" y="13589"/>
              <a:ext cx="10972673" cy="4827905"/>
            </a:xfrm>
            <a:custGeom>
              <a:avLst/>
              <a:gdLst/>
              <a:ahLst/>
              <a:cxnLst/>
              <a:rect r="r" b="b" t="t" l="l"/>
              <a:pathLst>
                <a:path h="4827905" w="10972673">
                  <a:moveTo>
                    <a:pt x="0" y="243840"/>
                  </a:moveTo>
                  <a:cubicBezTo>
                    <a:pt x="0" y="109220"/>
                    <a:pt x="109474" y="0"/>
                    <a:pt x="244602" y="0"/>
                  </a:cubicBezTo>
                  <a:lnTo>
                    <a:pt x="10728071" y="0"/>
                  </a:lnTo>
                  <a:cubicBezTo>
                    <a:pt x="10863199" y="0"/>
                    <a:pt x="10972673" y="109220"/>
                    <a:pt x="10972673" y="243840"/>
                  </a:cubicBezTo>
                  <a:lnTo>
                    <a:pt x="10972673" y="4584065"/>
                  </a:lnTo>
                  <a:cubicBezTo>
                    <a:pt x="10972673" y="4718685"/>
                    <a:pt x="10863199" y="4827905"/>
                    <a:pt x="10728071" y="4827905"/>
                  </a:cubicBezTo>
                  <a:lnTo>
                    <a:pt x="244602" y="4827905"/>
                  </a:lnTo>
                  <a:cubicBezTo>
                    <a:pt x="109474" y="4827905"/>
                    <a:pt x="0" y="4718685"/>
                    <a:pt x="0" y="4584065"/>
                  </a:cubicBezTo>
                  <a:close/>
                </a:path>
              </a:pathLst>
            </a:custGeom>
            <a:solidFill>
              <a:srgbClr val="1F3A58"/>
            </a:solidFill>
          </p:spPr>
        </p:sp>
        <p:sp>
          <p:nvSpPr>
            <p:cNvPr name="Freeform 49" id="49"/>
            <p:cNvSpPr/>
            <p:nvPr/>
          </p:nvSpPr>
          <p:spPr>
            <a:xfrm flipH="false" flipV="false" rot="0">
              <a:off x="0" y="0"/>
              <a:ext cx="10999851" cy="4855083"/>
            </a:xfrm>
            <a:custGeom>
              <a:avLst/>
              <a:gdLst/>
              <a:ahLst/>
              <a:cxnLst/>
              <a:rect r="r" b="b" t="t" l="l"/>
              <a:pathLst>
                <a:path h="4855083" w="10999851">
                  <a:moveTo>
                    <a:pt x="0" y="257429"/>
                  </a:moveTo>
                  <a:cubicBezTo>
                    <a:pt x="0" y="115189"/>
                    <a:pt x="115570" y="0"/>
                    <a:pt x="258191" y="0"/>
                  </a:cubicBezTo>
                  <a:lnTo>
                    <a:pt x="10741660" y="0"/>
                  </a:lnTo>
                  <a:lnTo>
                    <a:pt x="10741660" y="13589"/>
                  </a:lnTo>
                  <a:lnTo>
                    <a:pt x="10741660" y="0"/>
                  </a:lnTo>
                  <a:cubicBezTo>
                    <a:pt x="10884153" y="0"/>
                    <a:pt x="10999851" y="115189"/>
                    <a:pt x="10999851" y="257429"/>
                  </a:cubicBezTo>
                  <a:lnTo>
                    <a:pt x="10986262" y="257429"/>
                  </a:lnTo>
                  <a:lnTo>
                    <a:pt x="10999851" y="257429"/>
                  </a:lnTo>
                  <a:lnTo>
                    <a:pt x="10999851" y="4597654"/>
                  </a:lnTo>
                  <a:lnTo>
                    <a:pt x="10986262" y="4597654"/>
                  </a:lnTo>
                  <a:lnTo>
                    <a:pt x="10999851" y="4597654"/>
                  </a:lnTo>
                  <a:cubicBezTo>
                    <a:pt x="10999851" y="4739894"/>
                    <a:pt x="10884281" y="4855083"/>
                    <a:pt x="10741660" y="4855083"/>
                  </a:cubicBezTo>
                  <a:lnTo>
                    <a:pt x="10741660" y="4841494"/>
                  </a:lnTo>
                  <a:lnTo>
                    <a:pt x="10741660" y="4855083"/>
                  </a:lnTo>
                  <a:lnTo>
                    <a:pt x="258191" y="4855083"/>
                  </a:lnTo>
                  <a:lnTo>
                    <a:pt x="258191" y="4841494"/>
                  </a:lnTo>
                  <a:lnTo>
                    <a:pt x="258191" y="4855083"/>
                  </a:lnTo>
                  <a:cubicBezTo>
                    <a:pt x="115570" y="4855083"/>
                    <a:pt x="0" y="4739894"/>
                    <a:pt x="0" y="4597654"/>
                  </a:cubicBezTo>
                  <a:lnTo>
                    <a:pt x="0" y="257429"/>
                  </a:lnTo>
                  <a:lnTo>
                    <a:pt x="13589" y="257429"/>
                  </a:lnTo>
                  <a:lnTo>
                    <a:pt x="0" y="257429"/>
                  </a:lnTo>
                  <a:moveTo>
                    <a:pt x="27051" y="257429"/>
                  </a:moveTo>
                  <a:lnTo>
                    <a:pt x="27051" y="4597654"/>
                  </a:lnTo>
                  <a:lnTo>
                    <a:pt x="13589" y="4597654"/>
                  </a:lnTo>
                  <a:lnTo>
                    <a:pt x="27051" y="4597654"/>
                  </a:lnTo>
                  <a:cubicBezTo>
                    <a:pt x="27051" y="4724781"/>
                    <a:pt x="130429" y="4828032"/>
                    <a:pt x="258191" y="4828032"/>
                  </a:cubicBezTo>
                  <a:lnTo>
                    <a:pt x="10741660" y="4828032"/>
                  </a:lnTo>
                  <a:cubicBezTo>
                    <a:pt x="10869295" y="4828032"/>
                    <a:pt x="10972800" y="4724908"/>
                    <a:pt x="10972800" y="4597654"/>
                  </a:cubicBezTo>
                  <a:lnTo>
                    <a:pt x="10972800" y="257429"/>
                  </a:lnTo>
                  <a:cubicBezTo>
                    <a:pt x="10972800" y="130302"/>
                    <a:pt x="10869422" y="27051"/>
                    <a:pt x="10741660" y="27051"/>
                  </a:cubicBezTo>
                  <a:lnTo>
                    <a:pt x="258191" y="27051"/>
                  </a:lnTo>
                  <a:lnTo>
                    <a:pt x="258191" y="13589"/>
                  </a:lnTo>
                  <a:lnTo>
                    <a:pt x="258191" y="27051"/>
                  </a:lnTo>
                  <a:cubicBezTo>
                    <a:pt x="130556" y="27051"/>
                    <a:pt x="27051" y="130175"/>
                    <a:pt x="27051" y="257429"/>
                  </a:cubicBezTo>
                  <a:close/>
                </a:path>
              </a:pathLst>
            </a:custGeom>
            <a:solidFill>
              <a:srgbClr val="2E5070"/>
            </a:solidFill>
          </p:spPr>
        </p:sp>
      </p:grpSp>
      <p:grpSp>
        <p:nvGrpSpPr>
          <p:cNvPr name="Group 50" id="50"/>
          <p:cNvGrpSpPr/>
          <p:nvPr/>
        </p:nvGrpSpPr>
        <p:grpSpPr>
          <a:xfrm rot="0">
            <a:off x="627383" y="5930903"/>
            <a:ext cx="8255003" cy="135131"/>
            <a:chOff x="0" y="0"/>
            <a:chExt cx="11006671" cy="180175"/>
          </a:xfrm>
        </p:grpSpPr>
        <p:sp>
          <p:nvSpPr>
            <p:cNvPr name="Freeform 51" id="51"/>
            <p:cNvSpPr/>
            <p:nvPr/>
          </p:nvSpPr>
          <p:spPr>
            <a:xfrm flipH="false" flipV="false" rot="0">
              <a:off x="16891" y="16891"/>
              <a:ext cx="10972800" cy="146304"/>
            </a:xfrm>
            <a:custGeom>
              <a:avLst/>
              <a:gdLst/>
              <a:ahLst/>
              <a:cxnLst/>
              <a:rect r="r" b="b" t="t" l="l"/>
              <a:pathLst>
                <a:path h="146304" w="10972800">
                  <a:moveTo>
                    <a:pt x="0" y="0"/>
                  </a:moveTo>
                  <a:lnTo>
                    <a:pt x="10972800" y="0"/>
                  </a:lnTo>
                  <a:lnTo>
                    <a:pt x="10972800" y="146304"/>
                  </a:lnTo>
                  <a:lnTo>
                    <a:pt x="0" y="146304"/>
                  </a:lnTo>
                  <a:close/>
                </a:path>
              </a:pathLst>
            </a:custGeom>
            <a:solidFill>
              <a:srgbClr val="3A7D5C"/>
            </a:solidFill>
          </p:spPr>
        </p:sp>
        <p:sp>
          <p:nvSpPr>
            <p:cNvPr name="Freeform 52" id="52"/>
            <p:cNvSpPr/>
            <p:nvPr/>
          </p:nvSpPr>
          <p:spPr>
            <a:xfrm flipH="false" flipV="false" rot="0">
              <a:off x="0" y="0"/>
              <a:ext cx="11006582" cy="180088"/>
            </a:xfrm>
            <a:custGeom>
              <a:avLst/>
              <a:gdLst/>
              <a:ahLst/>
              <a:cxnLst/>
              <a:rect r="r" b="b" t="t" l="l"/>
              <a:pathLst>
                <a:path h="180088" w="11006582">
                  <a:moveTo>
                    <a:pt x="16891" y="0"/>
                  </a:moveTo>
                  <a:lnTo>
                    <a:pt x="10989691" y="0"/>
                  </a:lnTo>
                  <a:cubicBezTo>
                    <a:pt x="10999089" y="0"/>
                    <a:pt x="11006582" y="7620"/>
                    <a:pt x="11006582" y="16891"/>
                  </a:cubicBezTo>
                  <a:lnTo>
                    <a:pt x="11006582" y="163195"/>
                  </a:lnTo>
                  <a:cubicBezTo>
                    <a:pt x="11006582" y="172593"/>
                    <a:pt x="10998962" y="180086"/>
                    <a:pt x="1098969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10989691" y="146304"/>
                  </a:lnTo>
                  <a:lnTo>
                    <a:pt x="10989691" y="163195"/>
                  </a:lnTo>
                  <a:lnTo>
                    <a:pt x="10972800" y="163195"/>
                  </a:lnTo>
                  <a:lnTo>
                    <a:pt x="10972800" y="16891"/>
                  </a:lnTo>
                  <a:lnTo>
                    <a:pt x="10989691" y="16891"/>
                  </a:lnTo>
                  <a:lnTo>
                    <a:pt x="10989691" y="33909"/>
                  </a:lnTo>
                  <a:lnTo>
                    <a:pt x="16891" y="33909"/>
                  </a:lnTo>
                  <a:close/>
                </a:path>
              </a:pathLst>
            </a:custGeom>
            <a:solidFill>
              <a:srgbClr val="3A7D5C"/>
            </a:solidFill>
          </p:spPr>
        </p:sp>
      </p:grpSp>
      <p:grpSp>
        <p:nvGrpSpPr>
          <p:cNvPr name="Group 53" id="53"/>
          <p:cNvGrpSpPr/>
          <p:nvPr/>
        </p:nvGrpSpPr>
        <p:grpSpPr>
          <a:xfrm rot="0">
            <a:off x="914400" y="6163056"/>
            <a:ext cx="822960" cy="742721"/>
            <a:chOff x="0" y="0"/>
            <a:chExt cx="1097280" cy="990295"/>
          </a:xfrm>
        </p:grpSpPr>
        <p:sp>
          <p:nvSpPr>
            <p:cNvPr name="Freeform 54" id="54"/>
            <p:cNvSpPr/>
            <p:nvPr/>
          </p:nvSpPr>
          <p:spPr>
            <a:xfrm flipH="false" flipV="false" rot="0">
              <a:off x="0" y="0"/>
              <a:ext cx="1097280" cy="990295"/>
            </a:xfrm>
            <a:custGeom>
              <a:avLst/>
              <a:gdLst/>
              <a:ahLst/>
              <a:cxnLst/>
              <a:rect r="r" b="b" t="t" l="l"/>
              <a:pathLst>
                <a:path h="990295" w="1097280">
                  <a:moveTo>
                    <a:pt x="0" y="0"/>
                  </a:moveTo>
                  <a:lnTo>
                    <a:pt x="1097280" y="0"/>
                  </a:lnTo>
                  <a:lnTo>
                    <a:pt x="1097280" y="990295"/>
                  </a:lnTo>
                  <a:lnTo>
                    <a:pt x="0" y="990295"/>
                  </a:lnTo>
                  <a:close/>
                </a:path>
              </a:pathLst>
            </a:custGeom>
            <a:blipFill>
              <a:blip r:embed="rId3">
                <a:alphaModFix amt="0"/>
              </a:blip>
              <a:stretch>
                <a:fillRect l="-58345" t="0" r="-58345" b="6432"/>
              </a:stretch>
            </a:blipFill>
          </p:spPr>
        </p:sp>
        <p:sp>
          <p:nvSpPr>
            <p:cNvPr name="TextBox 55" id="55"/>
            <p:cNvSpPr txBox="true"/>
            <p:nvPr/>
          </p:nvSpPr>
          <p:spPr>
            <a:xfrm>
              <a:off x="0" y="0"/>
              <a:ext cx="1097280" cy="990295"/>
            </a:xfrm>
            <a:prstGeom prst="rect">
              <a:avLst/>
            </a:prstGeom>
          </p:spPr>
          <p:txBody>
            <a:bodyPr anchor="ctr" rtlCol="false" tIns="0" lIns="0" bIns="0" rIns="0"/>
            <a:lstStyle/>
            <a:p>
              <a:pPr algn="l">
                <a:lnSpc>
                  <a:spcPts val="4320"/>
                </a:lnSpc>
              </a:pPr>
              <a:r>
                <a:rPr lang="en-US" sz="3600" b="true">
                  <a:solidFill>
                    <a:srgbClr val="3A7D5C"/>
                  </a:solidFill>
                  <a:latin typeface="EB Garamond Semi-Bold"/>
                  <a:ea typeface="EB Garamond Semi-Bold"/>
                  <a:cs typeface="EB Garamond Semi-Bold"/>
                  <a:sym typeface="EB Garamond Semi-Bold"/>
                </a:rPr>
                <a:t>3</a:t>
              </a:r>
            </a:p>
          </p:txBody>
        </p:sp>
      </p:grpSp>
      <p:grpSp>
        <p:nvGrpSpPr>
          <p:cNvPr name="Group 56" id="56"/>
          <p:cNvGrpSpPr/>
          <p:nvPr/>
        </p:nvGrpSpPr>
        <p:grpSpPr>
          <a:xfrm rot="0">
            <a:off x="1810512" y="6199632"/>
            <a:ext cx="6766560" cy="621792"/>
            <a:chOff x="0" y="0"/>
            <a:chExt cx="9022080" cy="829056"/>
          </a:xfrm>
        </p:grpSpPr>
        <p:sp>
          <p:nvSpPr>
            <p:cNvPr name="Freeform 57" id="57"/>
            <p:cNvSpPr/>
            <p:nvPr/>
          </p:nvSpPr>
          <p:spPr>
            <a:xfrm flipH="false" flipV="false" rot="0">
              <a:off x="0" y="0"/>
              <a:ext cx="9022080" cy="829056"/>
            </a:xfrm>
            <a:custGeom>
              <a:avLst/>
              <a:gdLst/>
              <a:ahLst/>
              <a:cxnLst/>
              <a:rect r="r" b="b" t="t" l="l"/>
              <a:pathLst>
                <a:path h="829056" w="9022080">
                  <a:moveTo>
                    <a:pt x="0" y="0"/>
                  </a:moveTo>
                  <a:lnTo>
                    <a:pt x="9022080" y="0"/>
                  </a:lnTo>
                  <a:lnTo>
                    <a:pt x="9022080" y="829056"/>
                  </a:lnTo>
                  <a:lnTo>
                    <a:pt x="0" y="829056"/>
                  </a:lnTo>
                  <a:close/>
                </a:path>
              </a:pathLst>
            </a:custGeom>
            <a:blipFill>
              <a:blip r:embed="rId3">
                <a:alphaModFix amt="0"/>
              </a:blip>
              <a:stretch>
                <a:fillRect l="0" t="-162043" r="0" b="-162043"/>
              </a:stretch>
            </a:blipFill>
          </p:spPr>
        </p:sp>
        <p:sp>
          <p:nvSpPr>
            <p:cNvPr name="TextBox 58" id="58"/>
            <p:cNvSpPr txBox="true"/>
            <p:nvPr/>
          </p:nvSpPr>
          <p:spPr>
            <a:xfrm>
              <a:off x="0" y="9525"/>
              <a:ext cx="9022080" cy="819531"/>
            </a:xfrm>
            <a:prstGeom prst="rect">
              <a:avLst/>
            </a:prstGeom>
          </p:spPr>
          <p:txBody>
            <a:bodyPr anchor="ctr" rtlCol="false" tIns="0" lIns="0" bIns="0" rIns="0"/>
            <a:lstStyle/>
            <a:p>
              <a:pPr algn="l">
                <a:lnSpc>
                  <a:spcPts val="2999"/>
                </a:lnSpc>
              </a:pPr>
              <a:r>
                <a:rPr lang="en-US" sz="2499" b="true">
                  <a:solidFill>
                    <a:srgbClr val="FFFFFF"/>
                  </a:solidFill>
                  <a:latin typeface="EB Garamond Semi-Bold"/>
                  <a:ea typeface="EB Garamond Semi-Bold"/>
                  <a:cs typeface="EB Garamond Semi-Bold"/>
                  <a:sym typeface="EB Garamond Semi-Bold"/>
                </a:rPr>
                <a:t>Résilience pastorale : des stratégies multiples</a:t>
              </a:r>
            </a:p>
          </p:txBody>
        </p:sp>
      </p:grpSp>
      <p:grpSp>
        <p:nvGrpSpPr>
          <p:cNvPr name="Group 59" id="59"/>
          <p:cNvGrpSpPr/>
          <p:nvPr/>
        </p:nvGrpSpPr>
        <p:grpSpPr>
          <a:xfrm rot="0">
            <a:off x="969264" y="6967728"/>
            <a:ext cx="7644384" cy="2377440"/>
            <a:chOff x="0" y="0"/>
            <a:chExt cx="10192512" cy="3169920"/>
          </a:xfrm>
        </p:grpSpPr>
        <p:sp>
          <p:nvSpPr>
            <p:cNvPr name="Freeform 60" id="60"/>
            <p:cNvSpPr/>
            <p:nvPr/>
          </p:nvSpPr>
          <p:spPr>
            <a:xfrm flipH="false" flipV="false" rot="0">
              <a:off x="0" y="0"/>
              <a:ext cx="10192512" cy="3169920"/>
            </a:xfrm>
            <a:custGeom>
              <a:avLst/>
              <a:gdLst/>
              <a:ahLst/>
              <a:cxnLst/>
              <a:rect r="r" b="b" t="t" l="l"/>
              <a:pathLst>
                <a:path h="3169920" w="10192512">
                  <a:moveTo>
                    <a:pt x="0" y="0"/>
                  </a:moveTo>
                  <a:lnTo>
                    <a:pt x="10192512" y="0"/>
                  </a:lnTo>
                  <a:lnTo>
                    <a:pt x="10192512" y="3169920"/>
                  </a:lnTo>
                  <a:lnTo>
                    <a:pt x="0" y="3169920"/>
                  </a:lnTo>
                  <a:close/>
                </a:path>
              </a:pathLst>
            </a:custGeom>
            <a:blipFill>
              <a:blip r:embed="rId3">
                <a:alphaModFix amt="0"/>
              </a:blip>
              <a:stretch>
                <a:fillRect l="0" t="-12651" r="0" b="-12651"/>
              </a:stretch>
            </a:blipFill>
          </p:spPr>
        </p:sp>
        <p:sp>
          <p:nvSpPr>
            <p:cNvPr name="TextBox 61" id="61"/>
            <p:cNvSpPr txBox="true"/>
            <p:nvPr/>
          </p:nvSpPr>
          <p:spPr>
            <a:xfrm>
              <a:off x="0" y="-9525"/>
              <a:ext cx="10192512" cy="3179445"/>
            </a:xfrm>
            <a:prstGeom prst="rect">
              <a:avLst/>
            </a:prstGeom>
          </p:spPr>
          <p:txBody>
            <a:bodyPr anchor="ctr" rtlCol="false" tIns="0" lIns="0" bIns="0" rIns="0"/>
            <a:lstStyle/>
            <a:p>
              <a:pPr algn="l">
                <a:lnSpc>
                  <a:spcPts val="2400"/>
                </a:lnSpc>
              </a:pPr>
              <a:r>
                <a:rPr lang="en-US" sz="2000">
                  <a:solidFill>
                    <a:srgbClr val="B8CEDE"/>
                  </a:solidFill>
                  <a:latin typeface="EB Garamond"/>
                  <a:ea typeface="EB Garamond"/>
                  <a:cs typeface="EB Garamond"/>
                  <a:sym typeface="EB Garamond"/>
                </a:rPr>
                <a:t>Mauritanie et Mali détiennent les cheptels les plus viables (UBT/EA &gt; 6). L'agriculture reste complémentaire dans tous les pays (57–100 %). La migration est avant tout interne, avec un Niger et une Mauritanie qui émigrent plus que les autres.</a:t>
              </a:r>
            </a:p>
          </p:txBody>
        </p:sp>
      </p:grpSp>
      <p:grpSp>
        <p:nvGrpSpPr>
          <p:cNvPr name="Group 62" id="62"/>
          <p:cNvGrpSpPr/>
          <p:nvPr/>
        </p:nvGrpSpPr>
        <p:grpSpPr>
          <a:xfrm rot="0">
            <a:off x="9499597" y="5933437"/>
            <a:ext cx="8249917" cy="3641341"/>
            <a:chOff x="0" y="0"/>
            <a:chExt cx="10999889" cy="4855121"/>
          </a:xfrm>
        </p:grpSpPr>
        <p:sp>
          <p:nvSpPr>
            <p:cNvPr name="Freeform 63" id="63"/>
            <p:cNvSpPr/>
            <p:nvPr/>
          </p:nvSpPr>
          <p:spPr>
            <a:xfrm flipH="false" flipV="false" rot="0">
              <a:off x="13589" y="13589"/>
              <a:ext cx="10972673" cy="4827905"/>
            </a:xfrm>
            <a:custGeom>
              <a:avLst/>
              <a:gdLst/>
              <a:ahLst/>
              <a:cxnLst/>
              <a:rect r="r" b="b" t="t" l="l"/>
              <a:pathLst>
                <a:path h="4827905" w="10972673">
                  <a:moveTo>
                    <a:pt x="0" y="243840"/>
                  </a:moveTo>
                  <a:cubicBezTo>
                    <a:pt x="0" y="109220"/>
                    <a:pt x="109474" y="0"/>
                    <a:pt x="244602" y="0"/>
                  </a:cubicBezTo>
                  <a:lnTo>
                    <a:pt x="10728071" y="0"/>
                  </a:lnTo>
                  <a:cubicBezTo>
                    <a:pt x="10863199" y="0"/>
                    <a:pt x="10972673" y="109220"/>
                    <a:pt x="10972673" y="243840"/>
                  </a:cubicBezTo>
                  <a:lnTo>
                    <a:pt x="10972673" y="4584065"/>
                  </a:lnTo>
                  <a:cubicBezTo>
                    <a:pt x="10972673" y="4718685"/>
                    <a:pt x="10863199" y="4827905"/>
                    <a:pt x="10728071" y="4827905"/>
                  </a:cubicBezTo>
                  <a:lnTo>
                    <a:pt x="244602" y="4827905"/>
                  </a:lnTo>
                  <a:cubicBezTo>
                    <a:pt x="109474" y="4827905"/>
                    <a:pt x="0" y="4718685"/>
                    <a:pt x="0" y="4584065"/>
                  </a:cubicBezTo>
                  <a:close/>
                </a:path>
              </a:pathLst>
            </a:custGeom>
            <a:solidFill>
              <a:srgbClr val="1F3A58"/>
            </a:solidFill>
          </p:spPr>
        </p:sp>
        <p:sp>
          <p:nvSpPr>
            <p:cNvPr name="Freeform 64" id="64"/>
            <p:cNvSpPr/>
            <p:nvPr/>
          </p:nvSpPr>
          <p:spPr>
            <a:xfrm flipH="false" flipV="false" rot="0">
              <a:off x="0" y="0"/>
              <a:ext cx="10999851" cy="4855083"/>
            </a:xfrm>
            <a:custGeom>
              <a:avLst/>
              <a:gdLst/>
              <a:ahLst/>
              <a:cxnLst/>
              <a:rect r="r" b="b" t="t" l="l"/>
              <a:pathLst>
                <a:path h="4855083" w="10999851">
                  <a:moveTo>
                    <a:pt x="0" y="257429"/>
                  </a:moveTo>
                  <a:cubicBezTo>
                    <a:pt x="0" y="115189"/>
                    <a:pt x="115570" y="0"/>
                    <a:pt x="258191" y="0"/>
                  </a:cubicBezTo>
                  <a:lnTo>
                    <a:pt x="10741660" y="0"/>
                  </a:lnTo>
                  <a:lnTo>
                    <a:pt x="10741660" y="13589"/>
                  </a:lnTo>
                  <a:lnTo>
                    <a:pt x="10741660" y="0"/>
                  </a:lnTo>
                  <a:cubicBezTo>
                    <a:pt x="10884153" y="0"/>
                    <a:pt x="10999851" y="115189"/>
                    <a:pt x="10999851" y="257429"/>
                  </a:cubicBezTo>
                  <a:lnTo>
                    <a:pt x="10986262" y="257429"/>
                  </a:lnTo>
                  <a:lnTo>
                    <a:pt x="10999851" y="257429"/>
                  </a:lnTo>
                  <a:lnTo>
                    <a:pt x="10999851" y="4597654"/>
                  </a:lnTo>
                  <a:lnTo>
                    <a:pt x="10986262" y="4597654"/>
                  </a:lnTo>
                  <a:lnTo>
                    <a:pt x="10999851" y="4597654"/>
                  </a:lnTo>
                  <a:cubicBezTo>
                    <a:pt x="10999851" y="4739894"/>
                    <a:pt x="10884281" y="4855083"/>
                    <a:pt x="10741660" y="4855083"/>
                  </a:cubicBezTo>
                  <a:lnTo>
                    <a:pt x="10741660" y="4841494"/>
                  </a:lnTo>
                  <a:lnTo>
                    <a:pt x="10741660" y="4855083"/>
                  </a:lnTo>
                  <a:lnTo>
                    <a:pt x="258191" y="4855083"/>
                  </a:lnTo>
                  <a:lnTo>
                    <a:pt x="258191" y="4841494"/>
                  </a:lnTo>
                  <a:lnTo>
                    <a:pt x="258191" y="4855083"/>
                  </a:lnTo>
                  <a:cubicBezTo>
                    <a:pt x="115570" y="4855083"/>
                    <a:pt x="0" y="4739894"/>
                    <a:pt x="0" y="4597654"/>
                  </a:cubicBezTo>
                  <a:lnTo>
                    <a:pt x="0" y="257429"/>
                  </a:lnTo>
                  <a:lnTo>
                    <a:pt x="13589" y="257429"/>
                  </a:lnTo>
                  <a:lnTo>
                    <a:pt x="0" y="257429"/>
                  </a:lnTo>
                  <a:moveTo>
                    <a:pt x="27051" y="257429"/>
                  </a:moveTo>
                  <a:lnTo>
                    <a:pt x="27051" y="4597654"/>
                  </a:lnTo>
                  <a:lnTo>
                    <a:pt x="13589" y="4597654"/>
                  </a:lnTo>
                  <a:lnTo>
                    <a:pt x="27051" y="4597654"/>
                  </a:lnTo>
                  <a:cubicBezTo>
                    <a:pt x="27051" y="4724781"/>
                    <a:pt x="130429" y="4828032"/>
                    <a:pt x="258191" y="4828032"/>
                  </a:cubicBezTo>
                  <a:lnTo>
                    <a:pt x="10741660" y="4828032"/>
                  </a:lnTo>
                  <a:cubicBezTo>
                    <a:pt x="10869295" y="4828032"/>
                    <a:pt x="10972800" y="4724908"/>
                    <a:pt x="10972800" y="4597654"/>
                  </a:cubicBezTo>
                  <a:lnTo>
                    <a:pt x="10972800" y="257429"/>
                  </a:lnTo>
                  <a:cubicBezTo>
                    <a:pt x="10972800" y="130302"/>
                    <a:pt x="10869422" y="27051"/>
                    <a:pt x="10741660" y="27051"/>
                  </a:cubicBezTo>
                  <a:lnTo>
                    <a:pt x="258191" y="27051"/>
                  </a:lnTo>
                  <a:lnTo>
                    <a:pt x="258191" y="13589"/>
                  </a:lnTo>
                  <a:lnTo>
                    <a:pt x="258191" y="27051"/>
                  </a:lnTo>
                  <a:cubicBezTo>
                    <a:pt x="130556" y="27051"/>
                    <a:pt x="27051" y="130175"/>
                    <a:pt x="27051" y="257429"/>
                  </a:cubicBezTo>
                  <a:close/>
                </a:path>
              </a:pathLst>
            </a:custGeom>
            <a:solidFill>
              <a:srgbClr val="2E5070"/>
            </a:solidFill>
          </p:spPr>
        </p:sp>
      </p:grpSp>
      <p:grpSp>
        <p:nvGrpSpPr>
          <p:cNvPr name="Group 65" id="65"/>
          <p:cNvGrpSpPr/>
          <p:nvPr/>
        </p:nvGrpSpPr>
        <p:grpSpPr>
          <a:xfrm rot="0">
            <a:off x="9497063" y="5930903"/>
            <a:ext cx="8255003" cy="135131"/>
            <a:chOff x="0" y="0"/>
            <a:chExt cx="11006671" cy="180175"/>
          </a:xfrm>
        </p:grpSpPr>
        <p:sp>
          <p:nvSpPr>
            <p:cNvPr name="Freeform 66" id="66"/>
            <p:cNvSpPr/>
            <p:nvPr/>
          </p:nvSpPr>
          <p:spPr>
            <a:xfrm flipH="false" flipV="false" rot="0">
              <a:off x="16891" y="16891"/>
              <a:ext cx="10972800" cy="146304"/>
            </a:xfrm>
            <a:custGeom>
              <a:avLst/>
              <a:gdLst/>
              <a:ahLst/>
              <a:cxnLst/>
              <a:rect r="r" b="b" t="t" l="l"/>
              <a:pathLst>
                <a:path h="146304" w="10972800">
                  <a:moveTo>
                    <a:pt x="0" y="0"/>
                  </a:moveTo>
                  <a:lnTo>
                    <a:pt x="10972800" y="0"/>
                  </a:lnTo>
                  <a:lnTo>
                    <a:pt x="10972800" y="146304"/>
                  </a:lnTo>
                  <a:lnTo>
                    <a:pt x="0" y="146304"/>
                  </a:lnTo>
                  <a:close/>
                </a:path>
              </a:pathLst>
            </a:custGeom>
            <a:solidFill>
              <a:srgbClr val="C0614E"/>
            </a:solidFill>
          </p:spPr>
        </p:sp>
        <p:sp>
          <p:nvSpPr>
            <p:cNvPr name="Freeform 67" id="67"/>
            <p:cNvSpPr/>
            <p:nvPr/>
          </p:nvSpPr>
          <p:spPr>
            <a:xfrm flipH="false" flipV="false" rot="0">
              <a:off x="0" y="0"/>
              <a:ext cx="11006582" cy="180088"/>
            </a:xfrm>
            <a:custGeom>
              <a:avLst/>
              <a:gdLst/>
              <a:ahLst/>
              <a:cxnLst/>
              <a:rect r="r" b="b" t="t" l="l"/>
              <a:pathLst>
                <a:path h="180088" w="11006582">
                  <a:moveTo>
                    <a:pt x="16891" y="0"/>
                  </a:moveTo>
                  <a:lnTo>
                    <a:pt x="10989691" y="0"/>
                  </a:lnTo>
                  <a:cubicBezTo>
                    <a:pt x="10999089" y="0"/>
                    <a:pt x="11006582" y="7620"/>
                    <a:pt x="11006582" y="16891"/>
                  </a:cubicBezTo>
                  <a:lnTo>
                    <a:pt x="11006582" y="163195"/>
                  </a:lnTo>
                  <a:cubicBezTo>
                    <a:pt x="11006582" y="172593"/>
                    <a:pt x="10998962" y="180086"/>
                    <a:pt x="1098969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10989691" y="146304"/>
                  </a:lnTo>
                  <a:lnTo>
                    <a:pt x="10989691" y="163195"/>
                  </a:lnTo>
                  <a:lnTo>
                    <a:pt x="10972800" y="163195"/>
                  </a:lnTo>
                  <a:lnTo>
                    <a:pt x="10972800" y="16891"/>
                  </a:lnTo>
                  <a:lnTo>
                    <a:pt x="10989691" y="16891"/>
                  </a:lnTo>
                  <a:lnTo>
                    <a:pt x="10989691" y="33909"/>
                  </a:lnTo>
                  <a:lnTo>
                    <a:pt x="16891" y="33909"/>
                  </a:lnTo>
                  <a:close/>
                </a:path>
              </a:pathLst>
            </a:custGeom>
            <a:solidFill>
              <a:srgbClr val="C0614E"/>
            </a:solidFill>
          </p:spPr>
        </p:sp>
      </p:grpSp>
      <p:grpSp>
        <p:nvGrpSpPr>
          <p:cNvPr name="Group 68" id="68"/>
          <p:cNvGrpSpPr/>
          <p:nvPr/>
        </p:nvGrpSpPr>
        <p:grpSpPr>
          <a:xfrm rot="0">
            <a:off x="9784080" y="6163056"/>
            <a:ext cx="822960" cy="742721"/>
            <a:chOff x="0" y="0"/>
            <a:chExt cx="1097280" cy="990295"/>
          </a:xfrm>
        </p:grpSpPr>
        <p:sp>
          <p:nvSpPr>
            <p:cNvPr name="Freeform 69" id="69"/>
            <p:cNvSpPr/>
            <p:nvPr/>
          </p:nvSpPr>
          <p:spPr>
            <a:xfrm flipH="false" flipV="false" rot="0">
              <a:off x="0" y="0"/>
              <a:ext cx="1097280" cy="990295"/>
            </a:xfrm>
            <a:custGeom>
              <a:avLst/>
              <a:gdLst/>
              <a:ahLst/>
              <a:cxnLst/>
              <a:rect r="r" b="b" t="t" l="l"/>
              <a:pathLst>
                <a:path h="990295" w="1097280">
                  <a:moveTo>
                    <a:pt x="0" y="0"/>
                  </a:moveTo>
                  <a:lnTo>
                    <a:pt x="1097280" y="0"/>
                  </a:lnTo>
                  <a:lnTo>
                    <a:pt x="1097280" y="990295"/>
                  </a:lnTo>
                  <a:lnTo>
                    <a:pt x="0" y="990295"/>
                  </a:lnTo>
                  <a:close/>
                </a:path>
              </a:pathLst>
            </a:custGeom>
            <a:blipFill>
              <a:blip r:embed="rId3">
                <a:alphaModFix amt="0"/>
              </a:blip>
              <a:stretch>
                <a:fillRect l="-58345" t="0" r="-58345" b="6432"/>
              </a:stretch>
            </a:blipFill>
          </p:spPr>
        </p:sp>
        <p:sp>
          <p:nvSpPr>
            <p:cNvPr name="TextBox 70" id="70"/>
            <p:cNvSpPr txBox="true"/>
            <p:nvPr/>
          </p:nvSpPr>
          <p:spPr>
            <a:xfrm>
              <a:off x="0" y="0"/>
              <a:ext cx="1097280" cy="990295"/>
            </a:xfrm>
            <a:prstGeom prst="rect">
              <a:avLst/>
            </a:prstGeom>
          </p:spPr>
          <p:txBody>
            <a:bodyPr anchor="ctr" rtlCol="false" tIns="0" lIns="0" bIns="0" rIns="0"/>
            <a:lstStyle/>
            <a:p>
              <a:pPr algn="l">
                <a:lnSpc>
                  <a:spcPts val="4320"/>
                </a:lnSpc>
              </a:pPr>
              <a:r>
                <a:rPr lang="en-US" sz="3600" b="true">
                  <a:solidFill>
                    <a:srgbClr val="C0614E"/>
                  </a:solidFill>
                  <a:latin typeface="EB Garamond Semi-Bold"/>
                  <a:ea typeface="EB Garamond Semi-Bold"/>
                  <a:cs typeface="EB Garamond Semi-Bold"/>
                  <a:sym typeface="EB Garamond Semi-Bold"/>
                </a:rPr>
                <a:t>4</a:t>
              </a:r>
            </a:p>
          </p:txBody>
        </p:sp>
      </p:grpSp>
      <p:grpSp>
        <p:nvGrpSpPr>
          <p:cNvPr name="Group 71" id="71"/>
          <p:cNvGrpSpPr/>
          <p:nvPr/>
        </p:nvGrpSpPr>
        <p:grpSpPr>
          <a:xfrm rot="0">
            <a:off x="10680192" y="6199632"/>
            <a:ext cx="6766560" cy="881698"/>
            <a:chOff x="0" y="0"/>
            <a:chExt cx="9022080" cy="1175597"/>
          </a:xfrm>
        </p:grpSpPr>
        <p:sp>
          <p:nvSpPr>
            <p:cNvPr name="Freeform 72" id="72"/>
            <p:cNvSpPr/>
            <p:nvPr/>
          </p:nvSpPr>
          <p:spPr>
            <a:xfrm flipH="false" flipV="false" rot="0">
              <a:off x="0" y="0"/>
              <a:ext cx="9022080" cy="1175597"/>
            </a:xfrm>
            <a:custGeom>
              <a:avLst/>
              <a:gdLst/>
              <a:ahLst/>
              <a:cxnLst/>
              <a:rect r="r" b="b" t="t" l="l"/>
              <a:pathLst>
                <a:path h="1175597" w="9022080">
                  <a:moveTo>
                    <a:pt x="0" y="0"/>
                  </a:moveTo>
                  <a:lnTo>
                    <a:pt x="9022080" y="0"/>
                  </a:lnTo>
                  <a:lnTo>
                    <a:pt x="9022080" y="1175597"/>
                  </a:lnTo>
                  <a:lnTo>
                    <a:pt x="0" y="1175597"/>
                  </a:lnTo>
                  <a:close/>
                </a:path>
              </a:pathLst>
            </a:custGeom>
            <a:blipFill>
              <a:blip r:embed="rId3">
                <a:alphaModFix amt="0"/>
              </a:blip>
              <a:stretch>
                <a:fillRect l="0" t="-114276" r="0" b="-84798"/>
              </a:stretch>
            </a:blipFill>
          </p:spPr>
        </p:sp>
        <p:sp>
          <p:nvSpPr>
            <p:cNvPr name="TextBox 73" id="73"/>
            <p:cNvSpPr txBox="true"/>
            <p:nvPr/>
          </p:nvSpPr>
          <p:spPr>
            <a:xfrm>
              <a:off x="0" y="9525"/>
              <a:ext cx="9022080" cy="1166072"/>
            </a:xfrm>
            <a:prstGeom prst="rect">
              <a:avLst/>
            </a:prstGeom>
          </p:spPr>
          <p:txBody>
            <a:bodyPr anchor="ctr" rtlCol="false" tIns="0" lIns="0" bIns="0" rIns="0"/>
            <a:lstStyle/>
            <a:p>
              <a:pPr algn="l">
                <a:lnSpc>
                  <a:spcPts val="2999"/>
                </a:lnSpc>
              </a:pPr>
              <a:r>
                <a:rPr lang="en-US" sz="2499" b="true">
                  <a:solidFill>
                    <a:srgbClr val="FFFFFF"/>
                  </a:solidFill>
                  <a:latin typeface="EB Garamond Semi-Bold"/>
                  <a:ea typeface="EB Garamond Semi-Bold"/>
                  <a:cs typeface="EB Garamond Semi-Bold"/>
                  <a:sym typeface="EB Garamond Semi-Bold"/>
                </a:rPr>
                <a:t>Le dialogue itératif est plus puissant qu'une seule requête</a:t>
              </a:r>
            </a:p>
          </p:txBody>
        </p:sp>
      </p:grpSp>
      <p:grpSp>
        <p:nvGrpSpPr>
          <p:cNvPr name="Group 74" id="74"/>
          <p:cNvGrpSpPr/>
          <p:nvPr/>
        </p:nvGrpSpPr>
        <p:grpSpPr>
          <a:xfrm rot="0">
            <a:off x="9838944" y="6967728"/>
            <a:ext cx="7644384" cy="2377440"/>
            <a:chOff x="0" y="0"/>
            <a:chExt cx="10192512" cy="3169920"/>
          </a:xfrm>
        </p:grpSpPr>
        <p:sp>
          <p:nvSpPr>
            <p:cNvPr name="Freeform 75" id="75"/>
            <p:cNvSpPr/>
            <p:nvPr/>
          </p:nvSpPr>
          <p:spPr>
            <a:xfrm flipH="false" flipV="false" rot="0">
              <a:off x="0" y="0"/>
              <a:ext cx="10192512" cy="3169920"/>
            </a:xfrm>
            <a:custGeom>
              <a:avLst/>
              <a:gdLst/>
              <a:ahLst/>
              <a:cxnLst/>
              <a:rect r="r" b="b" t="t" l="l"/>
              <a:pathLst>
                <a:path h="3169920" w="10192512">
                  <a:moveTo>
                    <a:pt x="0" y="0"/>
                  </a:moveTo>
                  <a:lnTo>
                    <a:pt x="10192512" y="0"/>
                  </a:lnTo>
                  <a:lnTo>
                    <a:pt x="10192512" y="3169920"/>
                  </a:lnTo>
                  <a:lnTo>
                    <a:pt x="0" y="3169920"/>
                  </a:lnTo>
                  <a:close/>
                </a:path>
              </a:pathLst>
            </a:custGeom>
            <a:blipFill>
              <a:blip r:embed="rId3">
                <a:alphaModFix amt="0"/>
              </a:blip>
              <a:stretch>
                <a:fillRect l="0" t="-12651" r="0" b="-12651"/>
              </a:stretch>
            </a:blipFill>
          </p:spPr>
        </p:sp>
        <p:sp>
          <p:nvSpPr>
            <p:cNvPr name="TextBox 76" id="76"/>
            <p:cNvSpPr txBox="true"/>
            <p:nvPr/>
          </p:nvSpPr>
          <p:spPr>
            <a:xfrm>
              <a:off x="0" y="-9525"/>
              <a:ext cx="10192512" cy="3179445"/>
            </a:xfrm>
            <a:prstGeom prst="rect">
              <a:avLst/>
            </a:prstGeom>
          </p:spPr>
          <p:txBody>
            <a:bodyPr anchor="ctr" rtlCol="false" tIns="0" lIns="0" bIns="0" rIns="0"/>
            <a:lstStyle/>
            <a:p>
              <a:pPr algn="l">
                <a:lnSpc>
                  <a:spcPts val="2400"/>
                </a:lnSpc>
              </a:pPr>
              <a:r>
                <a:rPr lang="en-US" sz="2000">
                  <a:solidFill>
                    <a:srgbClr val="B8CEDE"/>
                  </a:solidFill>
                  <a:latin typeface="EB Garamond"/>
                  <a:ea typeface="EB Garamond"/>
                  <a:cs typeface="EB Garamond"/>
                  <a:sym typeface="EB Garamond"/>
                </a:rPr>
                <a:t>Les meilleures réponses de l'IA sont venues après relances précises ("Vérifie ce résultat", "Propose 3 alternatives"). Un prompt vague génère une réponse générique. Prompt + contexte + contrainte + demande d'explication = prompt utile.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DAHJvti-WBw</dc:identifier>
  <dcterms:modified xsi:type="dcterms:W3CDTF">2011-08-01T06:04:30Z</dcterms:modified>
  <cp:revision>1</cp:revision>
  <dc:title>TP3_Elevage_Pastoral_Sahel (1).pptx</dc:title>
</cp:coreProperties>
</file>